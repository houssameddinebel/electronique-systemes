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7" r:id="rId2"/>
    <p:sldId id="271" r:id="rId3"/>
    <p:sldId id="272" r:id="rId4"/>
    <p:sldId id="290" r:id="rId5"/>
    <p:sldId id="303" r:id="rId6"/>
    <p:sldId id="302" r:id="rId7"/>
    <p:sldId id="305" r:id="rId8"/>
    <p:sldId id="306" r:id="rId9"/>
    <p:sldId id="304" r:id="rId10"/>
    <p:sldId id="299" r:id="rId11"/>
    <p:sldId id="293" r:id="rId12"/>
    <p:sldId id="315" r:id="rId13"/>
    <p:sldId id="311" r:id="rId14"/>
    <p:sldId id="317" r:id="rId15"/>
    <p:sldId id="291" r:id="rId16"/>
    <p:sldId id="292" r:id="rId17"/>
    <p:sldId id="298" r:id="rId18"/>
    <p:sldId id="316" r:id="rId19"/>
    <p:sldId id="312" r:id="rId20"/>
    <p:sldId id="318" r:id="rId21"/>
    <p:sldId id="30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ziz" initials="OA" lastIdx="2" clrIdx="0">
    <p:extLst>
      <p:ext uri="{19B8F6BF-5375-455C-9EA6-DF929625EA0E}">
        <p15:presenceInfo xmlns:p15="http://schemas.microsoft.com/office/powerpoint/2012/main" userId="Azi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33CC"/>
    <a:srgbClr val="64430E"/>
    <a:srgbClr val="4B630F"/>
    <a:srgbClr val="4F1A58"/>
    <a:srgbClr val="0B6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4660"/>
  </p:normalViewPr>
  <p:slideViewPr>
    <p:cSldViewPr snapToGrid="0">
      <p:cViewPr varScale="1">
        <p:scale>
          <a:sx n="67" d="100"/>
          <a:sy n="67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D2684-37C6-427D-A789-BC784710A539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1E153-059A-4831-B872-68D448D0B38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7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60F38-C9AE-4D77-A95C-8ABF16F766A3}" type="datetime1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81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60EA-96A2-4377-9E71-DF4FC4176FE9}" type="datetime1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5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A7F3D-7B9A-4C97-89DB-A2E2E031D79D}" type="datetime1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35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5AD0-642D-4333-A21E-555EB6BA133F}" type="datetime1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9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21FD-328D-420B-A334-100151A7F1B4}" type="datetime1">
              <a:rPr lang="en-US" smtClean="0"/>
              <a:t>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7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BFA-F23D-4CEF-A401-876E7839B6D2}" type="datetime1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61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596E-5750-4B26-A31D-9383A0F16FC9}" type="datetime1">
              <a:rPr lang="en-US" smtClean="0"/>
              <a:t>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8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AED8990-F4DA-46D7-8527-01686EFE815F}" type="datetime1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2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A72D-F3B4-489A-94E0-28182BAE299B}" type="datetime1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3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88F3-EBFB-4E9A-8AAC-62E662C55C03}" type="datetime1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9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7EA1C-FB7B-42BD-8156-51E079B019C1}" type="datetime1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9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471AB0-4FC5-4B4D-B6CC-558062AC61D8}" type="datetime1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74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660A4B8-720E-E2D1-A91D-B849E18A7155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16AA9BB-5949-6F3D-0C2B-315E84D772FA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D2252B-838F-2BEF-6BEC-D4408755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47584" y="6419850"/>
            <a:ext cx="296833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B11191D2-27DC-3168-DA2D-5A29342E0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490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4">
            <a:extLst>
              <a:ext uri="{FF2B5EF4-FFF2-40B4-BE49-F238E27FC236}">
                <a16:creationId xmlns:a16="http://schemas.microsoft.com/office/drawing/2014/main" id="{6DDA8709-2EBD-4C39-3385-AA731F49981F}"/>
              </a:ext>
            </a:extLst>
          </p:cNvPr>
          <p:cNvSpPr txBox="1">
            <a:spLocks/>
          </p:cNvSpPr>
          <p:nvPr/>
        </p:nvSpPr>
        <p:spPr>
          <a:xfrm>
            <a:off x="1066800" y="2254468"/>
            <a:ext cx="10058400" cy="30509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 de Chimie Organique Générale</a:t>
            </a: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 PC-Physique</a:t>
            </a: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Module: M127</a:t>
            </a:r>
            <a:endParaRPr lang="en-US" b="1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436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DAC2-4773-7B03-0328-68AF5166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5A373CB-3CD0-AC03-0925-7D458C29938D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5F5200A-36B5-C4DD-9F4A-DBFB086BC048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C7AACE-EA5B-4A63-E5CC-3E95C9DE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7D54EB2C-229D-C60C-AB22-DD69ADC96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91E7D58-D590-606B-A557-90813AF334E9}"/>
              </a:ext>
            </a:extLst>
          </p:cNvPr>
          <p:cNvSpPr txBox="1"/>
          <p:nvPr/>
        </p:nvSpPr>
        <p:spPr>
          <a:xfrm>
            <a:off x="541021" y="2186128"/>
            <a:ext cx="11109959" cy="2485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MA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</a:t>
            </a:r>
            <a:br>
              <a:rPr lang="fr-MA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MA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FORMULES ET FONCTIONS EN CHIMIE ORGANIQUE</a:t>
            </a:r>
            <a:endParaRPr lang="en-US" sz="36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41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738850" y="1137523"/>
            <a:ext cx="9838662" cy="4719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u="sng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I.	 Ecritures des </a:t>
            </a:r>
            <a:r>
              <a:rPr lang="fr-MA" sz="2400" b="1" kern="1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molècules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organiques</a:t>
            </a:r>
          </a:p>
          <a:p>
            <a:pPr marL="540000"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 1.	Formules développées planes</a:t>
            </a:r>
          </a:p>
          <a:p>
            <a:pPr marL="540000"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 2.	Formules semi-développées planes</a:t>
            </a:r>
          </a:p>
          <a:p>
            <a:pPr marL="540000">
              <a:spcAft>
                <a:spcPts val="800"/>
              </a:spcAft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I. 3.	Formules simplifiées</a:t>
            </a:r>
          </a:p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</a:t>
            </a:r>
            <a:r>
              <a:rPr lang="fr-MA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 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Détermination de la formule brute</a:t>
            </a:r>
          </a:p>
          <a:p>
            <a:pPr marL="540000">
              <a:spcAft>
                <a:spcPts val="800"/>
              </a:spcAft>
            </a:pPr>
            <a:r>
              <a:rPr lang="fr-MA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1.	Détermination de x,  y,  z  et   t</a:t>
            </a:r>
          </a:p>
          <a:p>
            <a:pPr marL="540000">
              <a:spcAft>
                <a:spcPts val="800"/>
              </a:spcAft>
            </a:pPr>
            <a:r>
              <a:rPr lang="fr-MA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2.	Indice d’insaturation</a:t>
            </a:r>
          </a:p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III.	 Fonctions et Groupement fonctionnels</a:t>
            </a:r>
          </a:p>
          <a:p>
            <a:pPr marL="540000"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III. 1.	Groupement fonctionnel (fonction chimique)</a:t>
            </a:r>
          </a:p>
          <a:p>
            <a:pPr marL="540000"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III. 2.	Principales fonctions organiques	</a:t>
            </a:r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</p:spTree>
    <p:extLst>
      <p:ext uri="{BB962C8B-B14F-4D97-AF65-F5344CB8AC3E}">
        <p14:creationId xmlns:p14="http://schemas.microsoft.com/office/powerpoint/2010/main" val="169824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AB828-4B2D-ADD9-5109-DB72D9E85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8455A30-0722-E09F-664C-0A0962E67BBD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8FD328A-0F84-9611-926B-445094C2A1C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FE3FDB-DDDC-7A4A-245C-29D6B39F7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32A185C-AD74-EDCD-EB55-9BF162641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2150BF0-AB14-5F8C-2816-D3CF7147246A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761C354-16B5-F500-90FF-806FC2B5CCED}"/>
              </a:ext>
            </a:extLst>
          </p:cNvPr>
          <p:cNvSpPr txBox="1"/>
          <p:nvPr/>
        </p:nvSpPr>
        <p:spPr>
          <a:xfrm>
            <a:off x="813817" y="1016645"/>
            <a:ext cx="6281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I.   Ecritures des </a:t>
            </a:r>
            <a:r>
              <a:rPr lang="fr-MA" sz="2400" b="1" kern="1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molècules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organiques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9B0AF70-15A9-A992-8A6F-D3D7BBE57BC6}"/>
              </a:ext>
            </a:extLst>
          </p:cNvPr>
          <p:cNvSpPr txBox="1"/>
          <p:nvPr/>
        </p:nvSpPr>
        <p:spPr>
          <a:xfrm>
            <a:off x="813817" y="2541995"/>
            <a:ext cx="10454258" cy="135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fr-M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formule brute d’une molécule indique la nature et le nombre des atomes qui la constituent. </a:t>
            </a:r>
          </a:p>
          <a:p>
            <a:pPr marL="342900" indent="-342900" algn="just">
              <a:lnSpc>
                <a:spcPct val="11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fr-M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atome est représenté par son symbole chimique et le nombre de fois que l’atome apparaît dans la molécule est indiqué en indice à droite du symbole.</a:t>
            </a:r>
            <a:endParaRPr lang="fr-MA" sz="20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2125717-DF0A-89B3-73AD-EDC0CFA69CE1}"/>
              </a:ext>
            </a:extLst>
          </p:cNvPr>
          <p:cNvSpPr txBox="1"/>
          <p:nvPr/>
        </p:nvSpPr>
        <p:spPr>
          <a:xfrm>
            <a:off x="2793207" y="1634430"/>
            <a:ext cx="6281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Formule brute   =&gt; </a:t>
            </a:r>
            <a:r>
              <a:rPr lang="fr-MA" sz="32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CxHyOzNt</a:t>
            </a:r>
            <a:r>
              <a:rPr lang="fr-MA" sz="32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66EC78D-DE48-3396-DBAE-68CF0414ED09}"/>
              </a:ext>
            </a:extLst>
          </p:cNvPr>
          <p:cNvSpPr txBox="1"/>
          <p:nvPr/>
        </p:nvSpPr>
        <p:spPr>
          <a:xfrm>
            <a:off x="813817" y="4036709"/>
            <a:ext cx="6281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A6FF65D1-0538-12CE-4E80-BCE5A4BF0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810980"/>
              </p:ext>
            </p:extLst>
          </p:nvPr>
        </p:nvGraphicFramePr>
        <p:xfrm>
          <a:off x="1322894" y="4740470"/>
          <a:ext cx="9436103" cy="1212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043">
                  <a:extLst>
                    <a:ext uri="{9D8B030D-6E8A-4147-A177-3AD203B41FA5}">
                      <a16:colId xmlns:a16="http://schemas.microsoft.com/office/drawing/2014/main" val="2030153049"/>
                    </a:ext>
                  </a:extLst>
                </a:gridCol>
                <a:gridCol w="1545412">
                  <a:extLst>
                    <a:ext uri="{9D8B030D-6E8A-4147-A177-3AD203B41FA5}">
                      <a16:colId xmlns:a16="http://schemas.microsoft.com/office/drawing/2014/main" val="3913561016"/>
                    </a:ext>
                  </a:extLst>
                </a:gridCol>
                <a:gridCol w="1545412">
                  <a:extLst>
                    <a:ext uri="{9D8B030D-6E8A-4147-A177-3AD203B41FA5}">
                      <a16:colId xmlns:a16="http://schemas.microsoft.com/office/drawing/2014/main" val="957828450"/>
                    </a:ext>
                  </a:extLst>
                </a:gridCol>
                <a:gridCol w="1545412">
                  <a:extLst>
                    <a:ext uri="{9D8B030D-6E8A-4147-A177-3AD203B41FA5}">
                      <a16:colId xmlns:a16="http://schemas.microsoft.com/office/drawing/2014/main" val="2110490411"/>
                    </a:ext>
                  </a:extLst>
                </a:gridCol>
                <a:gridCol w="1545412">
                  <a:extLst>
                    <a:ext uri="{9D8B030D-6E8A-4147-A177-3AD203B41FA5}">
                      <a16:colId xmlns:a16="http://schemas.microsoft.com/office/drawing/2014/main" val="2751810623"/>
                    </a:ext>
                  </a:extLst>
                </a:gridCol>
                <a:gridCol w="1545412">
                  <a:extLst>
                    <a:ext uri="{9D8B030D-6E8A-4147-A177-3AD203B41FA5}">
                      <a16:colId xmlns:a16="http://schemas.microsoft.com/office/drawing/2014/main" val="44920671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Molécule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Dioxyde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Ethanol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Urée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Propanamine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4161002"/>
                  </a:ext>
                </a:extLst>
              </a:tr>
              <a:tr h="572425">
                <a:tc>
                  <a:txBody>
                    <a:bodyPr/>
                    <a:lstStyle/>
                    <a:p>
                      <a:r>
                        <a:rPr lang="fr-F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Formule brute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</a:t>
                      </a:r>
                      <a:r>
                        <a:rPr lang="en-US" sz="1800" kern="1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800" kern="1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sz="1800" kern="1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</a:t>
                      </a:r>
                      <a:r>
                        <a:rPr lang="en-US" sz="1800" kern="1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</a:t>
                      </a:r>
                      <a:r>
                        <a:rPr lang="en-US" sz="1800" kern="1200" baseline="-250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1800" b="0" i="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sz="1800" b="0" i="0" kern="1200" baseline="-250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675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474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14EE6-F268-8D5C-6F1D-3E91F73A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90ADCE5-8352-36C9-F0CC-BB8E0482A989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0DB49C0-20A9-3CAD-FA46-EA931F8274C4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89784E-4455-B63B-B7E4-466CB2E0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6CD20D1B-BDB8-C44D-BB4D-3DCEA7BD2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479D77F-9464-4E43-1338-217D53588A9E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FE2B206-8F80-1145-20DD-D59D1E5B8166}"/>
              </a:ext>
            </a:extLst>
          </p:cNvPr>
          <p:cNvSpPr txBox="1"/>
          <p:nvPr/>
        </p:nvSpPr>
        <p:spPr>
          <a:xfrm>
            <a:off x="813817" y="1016645"/>
            <a:ext cx="6281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I.   Ecritures des </a:t>
            </a:r>
            <a:r>
              <a:rPr lang="fr-MA" sz="2400" b="1" kern="1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molècules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organiques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1DA0C1A-0DAF-1162-7C8F-5548811524D8}"/>
              </a:ext>
            </a:extLst>
          </p:cNvPr>
          <p:cNvSpPr txBox="1"/>
          <p:nvPr/>
        </p:nvSpPr>
        <p:spPr>
          <a:xfrm>
            <a:off x="1017984" y="2043621"/>
            <a:ext cx="10156031" cy="34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MA" sz="2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 formule brute d’un composé organique (</a:t>
            </a:r>
            <a:r>
              <a:rPr lang="fr-MA" sz="24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CxHyOzNt</a:t>
            </a:r>
            <a:r>
              <a:rPr lang="fr-MA" sz="2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ne renseigne pas sur la structure de ce</a:t>
            </a:r>
            <a:r>
              <a:rPr lang="fr-MA" sz="2400" kern="100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MA" sz="2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composé.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Bef>
                <a:spcPts val="70"/>
              </a:spcBef>
              <a:spcAft>
                <a:spcPts val="800"/>
              </a:spcAft>
            </a:pPr>
            <a:r>
              <a:rPr lang="fr-MA" sz="2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existe </a:t>
            </a:r>
            <a:r>
              <a:rPr lang="fr-MA" sz="2400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différentes écritures </a:t>
            </a:r>
            <a:r>
              <a:rPr lang="fr-MA" sz="2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qui permettent de connaître la nature et la forme des liaisons :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10"/>
              </a:spcBef>
              <a:spcAft>
                <a:spcPts val="800"/>
              </a:spcAft>
              <a:buClr>
                <a:srgbClr val="8496B0"/>
              </a:buClr>
              <a:buFont typeface="Wingdings" panose="05000000000000000000" pitchFamily="2" charset="2"/>
              <a:buChar char=""/>
              <a:tabLst>
                <a:tab pos="921385" algn="l"/>
                <a:tab pos="922020" algn="l"/>
              </a:tabLst>
            </a:pPr>
            <a:r>
              <a:rPr lang="fr-MA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écriture développée plane;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10"/>
              </a:spcBef>
              <a:spcAft>
                <a:spcPts val="800"/>
              </a:spcAft>
              <a:buClr>
                <a:srgbClr val="8496B0"/>
              </a:buClr>
              <a:buFont typeface="Wingdings" panose="05000000000000000000" pitchFamily="2" charset="2"/>
              <a:buChar char=""/>
              <a:tabLst>
                <a:tab pos="921385" algn="l"/>
                <a:tab pos="922020" algn="l"/>
              </a:tabLst>
            </a:pPr>
            <a:r>
              <a:rPr lang="fr-MA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écriture</a:t>
            </a:r>
            <a:r>
              <a:rPr lang="fr-MA" sz="2400" b="1" kern="100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MA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semi-développée;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spcBef>
                <a:spcPts val="10"/>
              </a:spcBef>
              <a:spcAft>
                <a:spcPts val="800"/>
              </a:spcAft>
              <a:buClr>
                <a:srgbClr val="8496B0"/>
              </a:buClr>
              <a:buFont typeface="Wingdings" panose="05000000000000000000" pitchFamily="2" charset="2"/>
              <a:buChar char=""/>
              <a:tabLst>
                <a:tab pos="921385" algn="l"/>
                <a:tab pos="922020" algn="l"/>
              </a:tabLst>
            </a:pPr>
            <a:r>
              <a:rPr lang="fr-MA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écriture</a:t>
            </a:r>
            <a:r>
              <a:rPr lang="fr-MA" sz="2400" b="1" kern="100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MA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simplifiée.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996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26CEC-6E50-C33A-10E8-3080D923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F66097A-0DF3-6726-E01A-219E35F1932D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3072D1A-DEE3-9306-DD91-1D0AFB1AD18C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A641BF-7D88-4697-C94E-22FE4269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F2027901-A45B-AB29-636C-BDB8CEA26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D35A28A-C657-334F-4A57-73567F5CD4C3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D86DAB0-856F-64BD-5129-6538BED2A997}"/>
              </a:ext>
            </a:extLst>
          </p:cNvPr>
          <p:cNvSpPr txBox="1"/>
          <p:nvPr/>
        </p:nvSpPr>
        <p:spPr>
          <a:xfrm>
            <a:off x="813817" y="1016645"/>
            <a:ext cx="6281736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I.   Ecritures des </a:t>
            </a:r>
            <a:r>
              <a:rPr lang="fr-MA" sz="2400" b="1" kern="1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molècules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organiques</a:t>
            </a:r>
          </a:p>
          <a:p>
            <a:pPr marL="540000"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 1.	Formules développées planes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860086-33BD-C049-68F8-44C4E642F6F3}"/>
              </a:ext>
            </a:extLst>
          </p:cNvPr>
          <p:cNvSpPr txBox="1"/>
          <p:nvPr/>
        </p:nvSpPr>
        <p:spPr>
          <a:xfrm>
            <a:off x="651892" y="3902832"/>
            <a:ext cx="62817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B1ABF56-3B5D-5EE2-6E7A-AC4F2D59AAF4}"/>
              </a:ext>
            </a:extLst>
          </p:cNvPr>
          <p:cNvSpPr txBox="1"/>
          <p:nvPr/>
        </p:nvSpPr>
        <p:spPr>
          <a:xfrm>
            <a:off x="651892" y="1902934"/>
            <a:ext cx="10378058" cy="123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5"/>
              </a:spcBef>
              <a:spcAft>
                <a:spcPts val="800"/>
              </a:spcAft>
            </a:pPr>
            <a:r>
              <a:rPr lang="fr-MA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formule développée d’une molécule indique l’enchaînement des atomes qui la constituent. </a:t>
            </a:r>
          </a:p>
          <a:p>
            <a:pPr algn="just">
              <a:lnSpc>
                <a:spcPct val="115000"/>
              </a:lnSpc>
              <a:spcBef>
                <a:spcPts val="5"/>
              </a:spcBef>
              <a:spcAft>
                <a:spcPts val="800"/>
              </a:spcAft>
            </a:pPr>
            <a:r>
              <a:rPr lang="fr-MA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On développe toutes les liaisons et on écrit tous les atomes en </a:t>
            </a:r>
            <a:r>
              <a:rPr lang="fr-MA" sz="2000" b="1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respectant la valence </a:t>
            </a:r>
            <a:r>
              <a:rPr lang="fr-MA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de chacun d'eux.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DDD0BAA0-94C4-0C40-F2A4-3CBF951A1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166030"/>
              </p:ext>
            </p:extLst>
          </p:nvPr>
        </p:nvGraphicFramePr>
        <p:xfrm>
          <a:off x="1536480" y="3163561"/>
          <a:ext cx="8393335" cy="736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11686859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9913438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7161773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00420732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6758470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42858062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Atome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 = </a:t>
                      </a:r>
                      <a:r>
                        <a:rPr lang="fr-MA" sz="1800" kern="100" spc="-5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F, </a:t>
                      </a:r>
                      <a:r>
                        <a:rPr lang="fr-MA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Cl, </a:t>
                      </a:r>
                      <a:r>
                        <a:rPr lang="fr-MA" sz="1800" kern="100" spc="-15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Br, </a:t>
                      </a:r>
                      <a:r>
                        <a:rPr lang="fr-MA" sz="1800" kern="100" spc="8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MA" sz="1800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8367546"/>
                  </a:ext>
                </a:extLst>
              </a:tr>
              <a:tr h="349732">
                <a:tc>
                  <a:txBody>
                    <a:bodyPr/>
                    <a:lstStyle/>
                    <a:p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Valence (V)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508146"/>
                  </a:ext>
                </a:extLst>
              </a:tr>
            </a:tbl>
          </a:graphicData>
        </a:graphic>
      </p:graphicFrame>
      <p:graphicFrame>
        <p:nvGraphicFramePr>
          <p:cNvPr id="26" name="Objet 25">
            <a:extLst>
              <a:ext uri="{FF2B5EF4-FFF2-40B4-BE49-F238E27FC236}">
                <a16:creationId xmlns:a16="http://schemas.microsoft.com/office/drawing/2014/main" id="{6AD79CC8-42FF-0C7D-6DAA-E75B2F9D9E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900832"/>
              </p:ext>
            </p:extLst>
          </p:nvPr>
        </p:nvGraphicFramePr>
        <p:xfrm>
          <a:off x="1457137" y="4200849"/>
          <a:ext cx="9120375" cy="1759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5835600" imgH="1125000" progId="ChemDraw.Document.6.0">
                  <p:embed/>
                </p:oleObj>
              </mc:Choice>
              <mc:Fallback>
                <p:oleObj name="CS ChemDraw Drawing" r:id="rId3" imgW="5835600" imgH="112500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57137" y="4200849"/>
                        <a:ext cx="9120375" cy="17590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0BA2F3C7-6722-855A-9979-FB5389221517}"/>
              </a:ext>
            </a:extLst>
          </p:cNvPr>
          <p:cNvCxnSpPr>
            <a:cxnSpLocks/>
          </p:cNvCxnSpPr>
          <p:nvPr/>
        </p:nvCxnSpPr>
        <p:spPr>
          <a:xfrm>
            <a:off x="2914650" y="4391025"/>
            <a:ext cx="0" cy="162877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091A5D2-727C-C242-AD43-82D00D492076}"/>
              </a:ext>
            </a:extLst>
          </p:cNvPr>
          <p:cNvCxnSpPr>
            <a:cxnSpLocks/>
          </p:cNvCxnSpPr>
          <p:nvPr/>
        </p:nvCxnSpPr>
        <p:spPr>
          <a:xfrm>
            <a:off x="5619750" y="4391025"/>
            <a:ext cx="0" cy="162877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71712D0C-E2A9-6A2E-9184-6F5C9B6D21C3}"/>
              </a:ext>
            </a:extLst>
          </p:cNvPr>
          <p:cNvCxnSpPr>
            <a:cxnSpLocks/>
          </p:cNvCxnSpPr>
          <p:nvPr/>
        </p:nvCxnSpPr>
        <p:spPr>
          <a:xfrm>
            <a:off x="8001000" y="4391025"/>
            <a:ext cx="0" cy="162877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198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F1AA0-9E0D-4ED5-EB1B-A2E9C17DD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316729C-0DF1-3063-86FD-19D2C050BD8B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96F2D5A-EC9D-90C7-DB79-647057686CBF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BB9D15-E236-880D-FFA6-2F69DE17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AC141C2E-14FA-FA27-CDD5-AE615822A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D3F62BF-8005-A810-7BD8-CD5B00311574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415199A-6B65-04C4-2A21-F4A68A13D51B}"/>
              </a:ext>
            </a:extLst>
          </p:cNvPr>
          <p:cNvSpPr txBox="1"/>
          <p:nvPr/>
        </p:nvSpPr>
        <p:spPr>
          <a:xfrm>
            <a:off x="813817" y="1016645"/>
            <a:ext cx="6281736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I.   Ecritures des </a:t>
            </a:r>
            <a:r>
              <a:rPr lang="fr-MA" sz="2400" b="1" kern="1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molècules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organiques</a:t>
            </a:r>
          </a:p>
          <a:p>
            <a:pPr marL="540000"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 2.	Formules semi-développées planes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7B8FC57-FF6A-C3BB-3EB7-30ABF1A04308}"/>
              </a:ext>
            </a:extLst>
          </p:cNvPr>
          <p:cNvSpPr txBox="1"/>
          <p:nvPr/>
        </p:nvSpPr>
        <p:spPr>
          <a:xfrm>
            <a:off x="813817" y="3236699"/>
            <a:ext cx="6281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7C5C19F-CA80-07E2-8CEE-D0970104810D}"/>
              </a:ext>
            </a:extLst>
          </p:cNvPr>
          <p:cNvSpPr txBox="1"/>
          <p:nvPr/>
        </p:nvSpPr>
        <p:spPr>
          <a:xfrm>
            <a:off x="813817" y="1936440"/>
            <a:ext cx="10425683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M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liaisons impliquant un atome d’hydrogène ne sont pas représentées. Le nombre d’atomes d’hydrogène est précisé par un indice à droite du symbole 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506A8292-DF88-2872-9EA8-9C7B78B5192A}"/>
              </a:ext>
            </a:extLst>
          </p:cNvPr>
          <p:cNvGrpSpPr/>
          <p:nvPr/>
        </p:nvGrpSpPr>
        <p:grpSpPr>
          <a:xfrm>
            <a:off x="1171575" y="3815112"/>
            <a:ext cx="9848850" cy="1895475"/>
            <a:chOff x="1009650" y="3815112"/>
            <a:chExt cx="9848850" cy="1895475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889A9C88-0739-05DF-8291-D502CF597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0" y="3815112"/>
              <a:ext cx="9848850" cy="1895475"/>
            </a:xfrm>
            <a:prstGeom prst="rect">
              <a:avLst/>
            </a:prstGeom>
          </p:spPr>
        </p:pic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FA116BA3-690F-0BC5-2977-78F046BDE2E4}"/>
                </a:ext>
              </a:extLst>
            </p:cNvPr>
            <p:cNvCxnSpPr>
              <a:cxnSpLocks/>
            </p:cNvCxnSpPr>
            <p:nvPr/>
          </p:nvCxnSpPr>
          <p:spPr>
            <a:xfrm>
              <a:off x="2381250" y="4000500"/>
              <a:ext cx="0" cy="1628775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89ABAD11-D913-40B1-7971-28DB575607CB}"/>
                </a:ext>
              </a:extLst>
            </p:cNvPr>
            <p:cNvCxnSpPr>
              <a:cxnSpLocks/>
            </p:cNvCxnSpPr>
            <p:nvPr/>
          </p:nvCxnSpPr>
          <p:spPr>
            <a:xfrm>
              <a:off x="5153025" y="4000500"/>
              <a:ext cx="0" cy="1628775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DF40239-995C-71BE-ACDC-4BA83DC532AD}"/>
                </a:ext>
              </a:extLst>
            </p:cNvPr>
            <p:cNvCxnSpPr>
              <a:cxnSpLocks/>
            </p:cNvCxnSpPr>
            <p:nvPr/>
          </p:nvCxnSpPr>
          <p:spPr>
            <a:xfrm>
              <a:off x="7734300" y="4000500"/>
              <a:ext cx="0" cy="1628775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3913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C930F-17F2-9FAF-B4CA-9DBA7CCB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E711414-A81B-1A07-B009-4BD712E09F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70081E4-AFA0-15F1-F08B-9B26633CF9AB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361C9A-AED9-6A20-8BD7-2D1B02E2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CB33073C-6BF8-246C-EE26-D4BA17540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D381D7F-766A-2CC4-D4DF-11E228098A21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55ADEF8-CDD2-8200-D839-B4E4206C6A67}"/>
              </a:ext>
            </a:extLst>
          </p:cNvPr>
          <p:cNvSpPr txBox="1"/>
          <p:nvPr/>
        </p:nvSpPr>
        <p:spPr>
          <a:xfrm>
            <a:off x="813817" y="1016645"/>
            <a:ext cx="6281736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I.   Ecritures des </a:t>
            </a:r>
            <a:r>
              <a:rPr lang="fr-MA" sz="2400" b="1" kern="1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molècules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organiques</a:t>
            </a:r>
          </a:p>
          <a:p>
            <a:pPr marL="540000">
              <a:spcAft>
                <a:spcPts val="800"/>
              </a:spcAft>
            </a:pP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I. 3.	Formules simplifiées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2710248-7579-62B2-78FC-1B52CBF19B62}"/>
              </a:ext>
            </a:extLst>
          </p:cNvPr>
          <p:cNvSpPr txBox="1"/>
          <p:nvPr/>
        </p:nvSpPr>
        <p:spPr>
          <a:xfrm>
            <a:off x="775717" y="4017659"/>
            <a:ext cx="6281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Exemples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F15E3BA-9199-30F2-0F9F-FF64464160FF}"/>
              </a:ext>
            </a:extLst>
          </p:cNvPr>
          <p:cNvSpPr txBox="1"/>
          <p:nvPr/>
        </p:nvSpPr>
        <p:spPr>
          <a:xfrm>
            <a:off x="746522" y="1867436"/>
            <a:ext cx="10283428" cy="2227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MA" sz="17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chaîne carbonée est représentée par une ligne brisée (en zig </a:t>
            </a:r>
            <a:r>
              <a:rPr lang="fr-MA" sz="1700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zag</a:t>
            </a:r>
            <a:r>
              <a:rPr lang="fr-MA" sz="17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), Cette représentation utilise les conventions suivantes: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Aft>
                <a:spcPts val="800"/>
              </a:spcAft>
              <a:buClr>
                <a:srgbClr val="8496B0"/>
              </a:buClr>
              <a:buFont typeface="Wingdings" panose="05000000000000000000" pitchFamily="2" charset="2"/>
              <a:buChar char=""/>
              <a:tabLst>
                <a:tab pos="794385" algn="l"/>
                <a:tab pos="795020" algn="l"/>
              </a:tabLst>
            </a:pPr>
            <a:r>
              <a:rPr lang="fr-MA" sz="17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 trait symbolise une liaison</a:t>
            </a:r>
            <a:r>
              <a:rPr lang="fr-MA" sz="1700" kern="100" spc="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FR" sz="17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 ̶ C</a:t>
            </a:r>
            <a:r>
              <a:rPr lang="fr-MA" sz="17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Bef>
                <a:spcPts val="195"/>
              </a:spcBef>
              <a:spcAft>
                <a:spcPts val="800"/>
              </a:spcAft>
              <a:buClr>
                <a:srgbClr val="8496B0"/>
              </a:buClr>
              <a:buFont typeface="Wingdings" panose="05000000000000000000" pitchFamily="2" charset="2"/>
              <a:buChar char=""/>
              <a:tabLst>
                <a:tab pos="794385" algn="l"/>
                <a:tab pos="795020" algn="l"/>
              </a:tabLst>
            </a:pPr>
            <a:r>
              <a:rPr lang="fr-MA" sz="17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Chaque extrémité ou intersection est un </a:t>
            </a:r>
            <a:r>
              <a:rPr lang="fr-MA" sz="1700" kern="1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7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carbone.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Bef>
                <a:spcPts val="195"/>
              </a:spcBef>
              <a:spcAft>
                <a:spcPts val="800"/>
              </a:spcAft>
              <a:buClr>
                <a:srgbClr val="8496B0"/>
              </a:buClr>
              <a:buFont typeface="Wingdings" panose="05000000000000000000" pitchFamily="2" charset="2"/>
              <a:buChar char=""/>
              <a:tabLst>
                <a:tab pos="794385" algn="l"/>
                <a:tab pos="795020" algn="l"/>
              </a:tabLst>
            </a:pPr>
            <a:r>
              <a:rPr lang="fr-MA" sz="17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Les hétéroatomes sont représentés (O, N, Cl, </a:t>
            </a:r>
            <a:r>
              <a:rPr lang="fr-MA" sz="1700" kern="1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7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Br,…).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Bef>
                <a:spcPts val="210"/>
              </a:spcBef>
              <a:spcAft>
                <a:spcPts val="800"/>
              </a:spcAft>
              <a:buClr>
                <a:srgbClr val="8496B0"/>
              </a:buClr>
              <a:buFont typeface="Wingdings" panose="05000000000000000000" pitchFamily="2" charset="2"/>
              <a:buChar char=""/>
              <a:tabLst>
                <a:tab pos="794385" algn="l"/>
                <a:tab pos="795020" algn="l"/>
              </a:tabLst>
            </a:pPr>
            <a:r>
              <a:rPr lang="fr-MA" sz="17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Les atomes liés aux hétéroatomes sont aussi </a:t>
            </a:r>
            <a:r>
              <a:rPr lang="fr-MA" sz="1700" kern="100" spc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7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représentés.</a:t>
            </a:r>
            <a:endParaRPr lang="en-US" sz="17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94AF1E8-9A0F-E8DE-F66B-1D5C68664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687" y="4406082"/>
            <a:ext cx="6352475" cy="1451730"/>
          </a:xfrm>
          <a:prstGeom prst="rect">
            <a:avLst/>
          </a:prstGeom>
        </p:spPr>
      </p:pic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9B55D13D-2637-85AD-434B-7491D62B7388}"/>
              </a:ext>
            </a:extLst>
          </p:cNvPr>
          <p:cNvCxnSpPr>
            <a:cxnSpLocks/>
          </p:cNvCxnSpPr>
          <p:nvPr/>
        </p:nvCxnSpPr>
        <p:spPr>
          <a:xfrm>
            <a:off x="4829175" y="4386991"/>
            <a:ext cx="0" cy="162877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FFB3B05D-53FF-054B-439F-6263B70B6E94}"/>
              </a:ext>
            </a:extLst>
          </p:cNvPr>
          <p:cNvCxnSpPr>
            <a:cxnSpLocks/>
          </p:cNvCxnSpPr>
          <p:nvPr/>
        </p:nvCxnSpPr>
        <p:spPr>
          <a:xfrm>
            <a:off x="7315200" y="4386991"/>
            <a:ext cx="0" cy="162877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771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C04F4-1950-56C0-AD56-20DE1729C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673DC65-01C9-DE64-1808-9AFFE26ECC03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65B0F7A-7D8E-3845-4E28-43574C502DB8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B3497E-5FF3-05E8-7F5E-10537C23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2450158A-5F21-E8A1-7613-FEFFAB3A8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07FB09F-D6F4-12A0-66E1-E2AA8365A42C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A939569-1957-50AA-4DA5-831CCA2F83BF}"/>
              </a:ext>
            </a:extLst>
          </p:cNvPr>
          <p:cNvSpPr txBox="1"/>
          <p:nvPr/>
        </p:nvSpPr>
        <p:spPr>
          <a:xfrm>
            <a:off x="813817" y="1016645"/>
            <a:ext cx="6281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I.   Ecritures des </a:t>
            </a:r>
            <a:r>
              <a:rPr lang="fr-MA" sz="2400" b="1" kern="1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molècules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organiques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5B63507-8CE9-B0BE-D27C-79626DEB79CF}"/>
              </a:ext>
            </a:extLst>
          </p:cNvPr>
          <p:cNvSpPr txBox="1"/>
          <p:nvPr/>
        </p:nvSpPr>
        <p:spPr>
          <a:xfrm>
            <a:off x="813817" y="2026191"/>
            <a:ext cx="10807255" cy="228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fr-MA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atome de carbone est dit: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921385" algn="l"/>
                <a:tab pos="922020" algn="l"/>
              </a:tabLst>
            </a:pPr>
            <a:r>
              <a:rPr lang="fr-MA" sz="20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Primaire (C</a:t>
            </a:r>
            <a:r>
              <a:rPr lang="fr-MA" sz="2000" i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fr-MA" sz="20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s’il est lié à </a:t>
            </a:r>
            <a:r>
              <a:rPr lang="fr-MA" sz="2000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seul atome de carbone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145"/>
              </a:spcBef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921385" algn="l"/>
                <a:tab pos="922020" algn="l"/>
              </a:tabLst>
            </a:pPr>
            <a:r>
              <a:rPr lang="fr-MA" sz="20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Secondaire (C</a:t>
            </a:r>
            <a:r>
              <a:rPr lang="fr-MA" sz="2000" i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fr-MA" sz="20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s’il est lié à </a:t>
            </a:r>
            <a:r>
              <a:rPr lang="fr-MA" sz="2000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deux atomes de carbone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145"/>
              </a:spcBef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921385" algn="l"/>
                <a:tab pos="922020" algn="l"/>
              </a:tabLst>
            </a:pPr>
            <a:r>
              <a:rPr lang="fr-MA" sz="2000" i="1" kern="1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Tertiaire </a:t>
            </a:r>
            <a:r>
              <a:rPr lang="fr-MA" sz="20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</a:t>
            </a:r>
            <a:r>
              <a:rPr lang="fr-MA" sz="2000" i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MA" sz="20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s’il est lié à </a:t>
            </a:r>
            <a:r>
              <a:rPr lang="fr-MA" sz="2000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trois atomes de carbone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Bef>
                <a:spcPts val="135"/>
              </a:spcBef>
              <a:spcAft>
                <a:spcPts val="800"/>
              </a:spcAft>
              <a:buFont typeface="Courier New" panose="02070309020205020404" pitchFamily="49" charset="0"/>
              <a:buChar char="o"/>
              <a:tabLst>
                <a:tab pos="921385" algn="l"/>
                <a:tab pos="922020" algn="l"/>
              </a:tabLst>
            </a:pPr>
            <a:r>
              <a:rPr lang="fr-MA" sz="20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Quaternaire (C</a:t>
            </a:r>
            <a:r>
              <a:rPr lang="fr-MA" sz="2000" i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r>
              <a:rPr lang="fr-MA" sz="2000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s’il est lié à </a:t>
            </a:r>
            <a:r>
              <a:rPr lang="fr-MA" sz="2000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quatre atomes de carbone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A4D617D-13B5-B56F-A95D-4371ABA77B89}"/>
              </a:ext>
            </a:extLst>
          </p:cNvPr>
          <p:cNvSpPr txBox="1"/>
          <p:nvPr/>
        </p:nvSpPr>
        <p:spPr>
          <a:xfrm>
            <a:off x="813817" y="1556908"/>
            <a:ext cx="628173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385"/>
              </a:spcBef>
              <a:spcAft>
                <a:spcPts val="800"/>
              </a:spcAft>
            </a:pPr>
            <a:r>
              <a:rPr lang="fr-MA" sz="1800" b="1" i="1" u="heavy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Remarque</a:t>
            </a:r>
            <a:r>
              <a:rPr lang="fr-MA" sz="1800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104426E-2D3E-154A-9914-55AE14099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338" y="4314638"/>
            <a:ext cx="6010212" cy="199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65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CC21A-C155-72C4-BD55-5F2A5E69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C284E6C-970D-4828-E407-E6AA5C1E6632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293855E-91EF-C0E1-3AEB-DE70532B5769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D3F0AC-CC71-35AC-6557-00229FD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81675" y="6488950"/>
            <a:ext cx="476250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C5989D3B-3A72-C140-57F1-835091582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85C8B6B-38EA-57DF-601D-9DD8BCD58B17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658FA7-7CB2-DE53-25D1-E491899C6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599" y="3169527"/>
            <a:ext cx="5768963" cy="146319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892A635-5037-FEA6-F52D-6305A9ABEB77}"/>
              </a:ext>
            </a:extLst>
          </p:cNvPr>
          <p:cNvSpPr txBox="1"/>
          <p:nvPr/>
        </p:nvSpPr>
        <p:spPr>
          <a:xfrm>
            <a:off x="635350" y="1374565"/>
            <a:ext cx="8917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M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 1.	Détermination de x,  y,  z  et t</a:t>
            </a:r>
            <a:r>
              <a:rPr lang="fr-MA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….   =&gt;  Analyse élémentaire</a:t>
            </a:r>
            <a:endParaRPr lang="fr-MA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4502CFD-47D0-2B2C-82BE-1209F0ACF112}"/>
              </a:ext>
            </a:extLst>
          </p:cNvPr>
          <p:cNvSpPr txBox="1"/>
          <p:nvPr/>
        </p:nvSpPr>
        <p:spPr>
          <a:xfrm>
            <a:off x="892967" y="4590570"/>
            <a:ext cx="5364958" cy="1553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360"/>
              </a:spcBef>
              <a:spcAft>
                <a:spcPts val="800"/>
              </a:spcAft>
            </a:pP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combustion d'une masse </a:t>
            </a: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fr-MA" sz="1600" b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</a:t>
            </a: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d’un échantillon  donne: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20000" lvl="0" indent="-342900" algn="just">
              <a:lnSpc>
                <a:spcPct val="115000"/>
              </a:lnSpc>
              <a:spcBef>
                <a:spcPts val="145"/>
              </a:spcBef>
              <a:spcAft>
                <a:spcPts val="800"/>
              </a:spcAft>
              <a:buClr>
                <a:srgbClr val="8496B0"/>
              </a:buClr>
              <a:buFont typeface="Wingdings" panose="05000000000000000000" pitchFamily="2" charset="2"/>
              <a:buChar char=""/>
              <a:tabLst>
                <a:tab pos="794385" algn="l"/>
                <a:tab pos="795020" algn="l"/>
              </a:tabLst>
            </a:pP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fr-MA" sz="1600" b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CO2</a:t>
            </a: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masse de dioxyde de</a:t>
            </a:r>
            <a:r>
              <a:rPr lang="fr-MA" sz="1600" kern="100" spc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carbone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20000" lvl="0" indent="-342900" algn="just">
              <a:lnSpc>
                <a:spcPct val="115000"/>
              </a:lnSpc>
              <a:spcBef>
                <a:spcPts val="135"/>
              </a:spcBef>
              <a:spcAft>
                <a:spcPts val="800"/>
              </a:spcAft>
              <a:buClr>
                <a:srgbClr val="8496B0"/>
              </a:buClr>
              <a:buFont typeface="Wingdings" panose="05000000000000000000" pitchFamily="2" charset="2"/>
              <a:buChar char=""/>
              <a:tabLst>
                <a:tab pos="794385" algn="l"/>
                <a:tab pos="795020" algn="l"/>
              </a:tabLst>
            </a:pP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</a:t>
            </a:r>
            <a:r>
              <a:rPr lang="fr-MA" sz="1600" b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H2O</a:t>
            </a: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masse d'eau</a:t>
            </a:r>
            <a:r>
              <a:rPr lang="fr-MA" sz="1600" kern="1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formée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20000" indent="-342900" algn="just">
              <a:lnSpc>
                <a:spcPct val="115000"/>
              </a:lnSpc>
              <a:spcBef>
                <a:spcPts val="145"/>
              </a:spcBef>
              <a:spcAft>
                <a:spcPts val="800"/>
              </a:spcAft>
              <a:buClr>
                <a:srgbClr val="8496B0"/>
              </a:buClr>
              <a:buFont typeface="Wingdings" panose="05000000000000000000" pitchFamily="2" charset="2"/>
              <a:buChar char=""/>
              <a:tabLst>
                <a:tab pos="794385" algn="l"/>
                <a:tab pos="795020" algn="l"/>
              </a:tabLst>
            </a:pPr>
            <a:r>
              <a:rPr lang="fr-MA" sz="1600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fr-MA" sz="1600" b="1" kern="100" baseline="-25000" dirty="0">
                <a:latin typeface="Times New Roman" panose="02020603050405020304" pitchFamily="18" charset="0"/>
                <a:cs typeface="Arial" panose="020B0604020202020204" pitchFamily="34" charset="0"/>
              </a:rPr>
              <a:t>N2</a:t>
            </a:r>
            <a:r>
              <a:rPr lang="fr-MA" sz="1600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     </a:t>
            </a:r>
            <a:r>
              <a:rPr lang="fr-MA" sz="1600" kern="100" dirty="0">
                <a:latin typeface="Times New Roman" panose="02020603050405020304" pitchFamily="18" charset="0"/>
                <a:cs typeface="Arial" panose="020B0604020202020204" pitchFamily="34" charset="0"/>
              </a:rPr>
              <a:t>le volume de l’azote dégagé</a:t>
            </a:r>
            <a:endParaRPr lang="en-US" sz="1600" kern="100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A390F36-14F1-CB6F-25C6-E2BEFBA24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756" y="4960639"/>
            <a:ext cx="4224346" cy="1183177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EC5B7868-51C7-1E40-08E2-8F5F5DDB49D0}"/>
              </a:ext>
            </a:extLst>
          </p:cNvPr>
          <p:cNvSpPr txBox="1"/>
          <p:nvPr/>
        </p:nvSpPr>
        <p:spPr>
          <a:xfrm>
            <a:off x="731043" y="871807"/>
            <a:ext cx="891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 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Détermination de la formule brute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F9C16F2-BA17-C892-3DBF-D972D93421B3}"/>
              </a:ext>
            </a:extLst>
          </p:cNvPr>
          <p:cNvSpPr txBox="1"/>
          <p:nvPr/>
        </p:nvSpPr>
        <p:spPr>
          <a:xfrm>
            <a:off x="892966" y="2331040"/>
            <a:ext cx="8917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formule brute générale d'un composé organique s’écrit : </a:t>
            </a:r>
            <a:r>
              <a:rPr lang="fr-MA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CxHyOzNt</a:t>
            </a:r>
            <a:r>
              <a:rPr lang="fr-MA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57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D9509-58CC-73E9-22A7-727ABEEE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92BFFC3-2814-FE4F-0033-BE9AD96B6380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9DBE120-B278-F810-E814-C4D862BB0FCC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E4599A-8B9B-0EBD-C122-E2AD46C5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0725" y="6488950"/>
            <a:ext cx="457200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FB308CD0-1F23-DF6F-F49A-FC93C738C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67E1936-3C62-E5D3-CD52-E1EEFAD19121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17C7C4-5CFD-F5AC-9289-DBE00ABF951A}"/>
              </a:ext>
            </a:extLst>
          </p:cNvPr>
          <p:cNvSpPr txBox="1"/>
          <p:nvPr/>
        </p:nvSpPr>
        <p:spPr>
          <a:xfrm>
            <a:off x="847724" y="1722748"/>
            <a:ext cx="10556081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5"/>
              </a:spcBef>
            </a:pP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 partir de </a:t>
            </a: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m(CO</a:t>
            </a:r>
            <a:r>
              <a:rPr lang="fr-MA" sz="1600" b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m(H</a:t>
            </a:r>
            <a:r>
              <a:rPr lang="fr-MA" sz="1600" b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O) </a:t>
            </a: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et </a:t>
            </a: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V(N</a:t>
            </a:r>
            <a:r>
              <a:rPr lang="fr-MA" sz="1600" b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 </a:t>
            </a: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on peut calculer les masses du C, H, O et N contenues dans </a:t>
            </a: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me</a:t>
            </a: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785"/>
              </a:spcBef>
            </a:pPr>
            <a:r>
              <a:rPr lang="fr-MA" sz="16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somme des masses dans l’échantillon :  </a:t>
            </a:r>
            <a:r>
              <a:rPr lang="fr-MA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me= m(C) + m(H) + m(O) + m(N)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D404877-85A8-D42A-1583-BBC15AB99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4" y="2366197"/>
            <a:ext cx="8952225" cy="125940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9CC7649-9433-CEE0-B83B-7CA63E329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3" y="3693323"/>
            <a:ext cx="9000869" cy="120119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F3A6D7C-4B8D-178B-9D81-2DA1EBBCA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4940038"/>
            <a:ext cx="9000870" cy="1402105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D40C35B7-15C2-2273-6F89-118C31D623E6}"/>
              </a:ext>
            </a:extLst>
          </p:cNvPr>
          <p:cNvSpPr txBox="1"/>
          <p:nvPr/>
        </p:nvSpPr>
        <p:spPr>
          <a:xfrm>
            <a:off x="731043" y="871807"/>
            <a:ext cx="891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 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Détermination de la formule brute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8CC7C46-F956-9388-50A8-9E51D711705C}"/>
              </a:ext>
            </a:extLst>
          </p:cNvPr>
          <p:cNvSpPr txBox="1"/>
          <p:nvPr/>
        </p:nvSpPr>
        <p:spPr>
          <a:xfrm>
            <a:off x="635350" y="1310806"/>
            <a:ext cx="8917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M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 1.	Détermination de x,  y,  z  et t</a:t>
            </a:r>
            <a:r>
              <a:rPr lang="fr-MA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….</a:t>
            </a:r>
            <a:endParaRPr lang="fr-MA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969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0F9E6-998A-C991-9FCB-1BAA2AEED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F692A43-F326-0B37-9CE0-D449F53771AC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E24842A-78AC-23A6-5115-0A19FF2A7A01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01D324-D53A-CBD4-0220-61C967B33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0725" y="6488950"/>
            <a:ext cx="457200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AE996706-3415-162C-9462-7F8E7D88D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DDDB4B3-6242-4305-71DA-FE3C1F0D61B9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7235956-3DD8-636F-D4C9-CB2448E27326}"/>
              </a:ext>
            </a:extLst>
          </p:cNvPr>
          <p:cNvSpPr txBox="1"/>
          <p:nvPr/>
        </p:nvSpPr>
        <p:spPr>
          <a:xfrm>
            <a:off x="731043" y="871807"/>
            <a:ext cx="891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 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Détermination de la formule brute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8B2A9316-CB58-F0BB-D6CA-60DEC309645E}"/>
              </a:ext>
            </a:extLst>
          </p:cNvPr>
          <p:cNvGrpSpPr/>
          <p:nvPr/>
        </p:nvGrpSpPr>
        <p:grpSpPr>
          <a:xfrm>
            <a:off x="1792874" y="2541253"/>
            <a:ext cx="8606252" cy="3598065"/>
            <a:chOff x="2090737" y="1705994"/>
            <a:chExt cx="8334375" cy="3838575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6EC89748-3997-B29B-B670-711928035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0737" y="1705994"/>
              <a:ext cx="8334375" cy="3838575"/>
            </a:xfrm>
            <a:prstGeom prst="rect">
              <a:avLst/>
            </a:prstGeom>
          </p:spPr>
        </p:pic>
        <p:sp>
          <p:nvSpPr>
            <p:cNvPr id="13" name="Flèche : droite 12">
              <a:extLst>
                <a:ext uri="{FF2B5EF4-FFF2-40B4-BE49-F238E27FC236}">
                  <a16:creationId xmlns:a16="http://schemas.microsoft.com/office/drawing/2014/main" id="{CB732D90-0128-6D60-9F31-56548E85074B}"/>
                </a:ext>
              </a:extLst>
            </p:cNvPr>
            <p:cNvSpPr/>
            <p:nvPr/>
          </p:nvSpPr>
          <p:spPr>
            <a:xfrm>
              <a:off x="7102550" y="1975371"/>
              <a:ext cx="457200" cy="214938"/>
            </a:xfrm>
            <a:prstGeom prst="rightArrow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4" name="Flèche : droite 13">
              <a:extLst>
                <a:ext uri="{FF2B5EF4-FFF2-40B4-BE49-F238E27FC236}">
                  <a16:creationId xmlns:a16="http://schemas.microsoft.com/office/drawing/2014/main" id="{ACA3CA81-C190-9145-8218-4464B4700B6E}"/>
                </a:ext>
              </a:extLst>
            </p:cNvPr>
            <p:cNvSpPr/>
            <p:nvPr/>
          </p:nvSpPr>
          <p:spPr>
            <a:xfrm>
              <a:off x="7102550" y="3070528"/>
              <a:ext cx="457200" cy="214938"/>
            </a:xfrm>
            <a:prstGeom prst="rightArrow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5" name="Flèche : droite 14">
              <a:extLst>
                <a:ext uri="{FF2B5EF4-FFF2-40B4-BE49-F238E27FC236}">
                  <a16:creationId xmlns:a16="http://schemas.microsoft.com/office/drawing/2014/main" id="{5E62796B-6C2D-591A-33DF-81C72A9D581C}"/>
                </a:ext>
              </a:extLst>
            </p:cNvPr>
            <p:cNvSpPr/>
            <p:nvPr/>
          </p:nvSpPr>
          <p:spPr>
            <a:xfrm>
              <a:off x="7102550" y="4158596"/>
              <a:ext cx="457200" cy="214938"/>
            </a:xfrm>
            <a:prstGeom prst="rightArrow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>
                <a:ln w="22225">
                  <a:solidFill>
                    <a:schemeClr val="accent2">
                      <a:lumMod val="75000"/>
                    </a:schemeClr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0DE165CA-3E40-4121-90E2-6EE81390C47C}"/>
              </a:ext>
            </a:extLst>
          </p:cNvPr>
          <p:cNvSpPr txBox="1"/>
          <p:nvPr/>
        </p:nvSpPr>
        <p:spPr>
          <a:xfrm>
            <a:off x="813817" y="1906312"/>
            <a:ext cx="6283842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775"/>
              </a:spcBef>
              <a:spcAft>
                <a:spcPts val="800"/>
              </a:spcAft>
            </a:pPr>
            <a:r>
              <a:rPr lang="fr-M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Les pourcentages s’écrivent alors</a:t>
            </a:r>
            <a:r>
              <a:rPr lang="fr-MA" sz="1800" kern="100" spc="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32BD2B7-903B-C388-D0C5-E02380BFBEDA}"/>
              </a:ext>
            </a:extLst>
          </p:cNvPr>
          <p:cNvSpPr txBox="1"/>
          <p:nvPr/>
        </p:nvSpPr>
        <p:spPr>
          <a:xfrm>
            <a:off x="635350" y="1374565"/>
            <a:ext cx="8917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M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 1.	Détermination de x,  y,  z  et t</a:t>
            </a:r>
            <a:r>
              <a:rPr lang="fr-MA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…. </a:t>
            </a:r>
            <a:endParaRPr lang="fr-MA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47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7AA60-1855-87F1-AF45-9391BEBFB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4A45FD5-9859-14EC-A967-6F2A0634846C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ECDB708-ECB2-F61E-2848-7F20DBDBFD46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30A1F9-E448-D144-646B-319AC03E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0725" y="6488950"/>
            <a:ext cx="457200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46375218-B813-8DA1-A96C-B48CB8BAF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69A66C7-8943-22CB-F062-CEE94A1B03E2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07F4F7F-8D34-7031-B174-9C68D0668460}"/>
              </a:ext>
            </a:extLst>
          </p:cNvPr>
          <p:cNvSpPr txBox="1"/>
          <p:nvPr/>
        </p:nvSpPr>
        <p:spPr>
          <a:xfrm>
            <a:off x="512303" y="1846432"/>
            <a:ext cx="9139808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40"/>
              </a:spcBef>
              <a:spcAft>
                <a:spcPts val="800"/>
              </a:spcAft>
            </a:pPr>
            <a:r>
              <a:rPr lang="fr-M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masse molaire de la molécule (</a:t>
            </a:r>
            <a:r>
              <a:rPr lang="fr-MA" sz="1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fr-MA" sz="1800" b="1" kern="1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fr-MA" sz="1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fr-MA" sz="1800" b="1" kern="100" baseline="-25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fr-MA" sz="1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</a:t>
            </a:r>
            <a:r>
              <a:rPr lang="fr-MA" b="1" kern="100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z</a:t>
            </a:r>
            <a:r>
              <a:rPr lang="fr-MA" sz="1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fr-MA" b="1" kern="100" baseline="-25000" dirty="0" err="1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fr-M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r>
              <a:rPr lang="fr-MA" sz="1800" kern="100" spc="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s’écrit: 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M = 12x + y + 16z + 14t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98408A0-9AD7-22E1-9DC2-A008C068790F}"/>
              </a:ext>
            </a:extLst>
          </p:cNvPr>
          <p:cNvSpPr txBox="1"/>
          <p:nvPr/>
        </p:nvSpPr>
        <p:spPr>
          <a:xfrm>
            <a:off x="512303" y="2234947"/>
            <a:ext cx="8536781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360"/>
              </a:spcBef>
              <a:spcAft>
                <a:spcPts val="800"/>
              </a:spcAft>
            </a:pPr>
            <a:r>
              <a:rPr lang="fr-M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somme des pourcentages fait</a:t>
            </a:r>
            <a:r>
              <a:rPr lang="fr-MA" sz="1800" kern="100" spc="2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100%:   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100 = % C + % H + % O + % N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au 12">
                <a:extLst>
                  <a:ext uri="{FF2B5EF4-FFF2-40B4-BE49-F238E27FC236}">
                    <a16:creationId xmlns:a16="http://schemas.microsoft.com/office/drawing/2014/main" id="{5020328A-CD1A-4E18-41CC-93D7EAEC4F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078903"/>
                  </p:ext>
                </p:extLst>
              </p:nvPr>
            </p:nvGraphicFramePr>
            <p:xfrm>
              <a:off x="8501769" y="1903464"/>
              <a:ext cx="3321636" cy="63944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321636">
                      <a:extLst>
                        <a:ext uri="{9D8B030D-6E8A-4147-A177-3AD203B41FA5}">
                          <a16:colId xmlns:a16="http://schemas.microsoft.com/office/drawing/2014/main" val="3153087888"/>
                        </a:ext>
                      </a:extLst>
                    </a:gridCol>
                  </a:tblGrid>
                  <a:tr h="60614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Bef>
                              <a:spcPts val="15"/>
                            </a:spcBef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𝟏𝟐𝐱</m:t>
                                    </m:r>
                                  </m:num>
                                  <m:den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%</m:t>
                                    </m:r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𝐂</m:t>
                                    </m:r>
                                  </m:den>
                                </m:f>
                                <m:r>
                                  <a:rPr lang="fr-MA" sz="16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num>
                                  <m:den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%</m:t>
                                    </m:r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den>
                                </m:f>
                                <m:r>
                                  <a:rPr lang="fr-MA" sz="16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𝟏𝟔</m:t>
                                    </m:r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num>
                                  <m:den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%</m:t>
                                    </m:r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𝑶</m:t>
                                    </m:r>
                                  </m:den>
                                </m:f>
                                <m:r>
                                  <a:rPr lang="fr-MA" sz="16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𝟏𝟒</m:t>
                                    </m:r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num>
                                  <m:den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%</m:t>
                                    </m:r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𝑵</m:t>
                                    </m:r>
                                  </m:den>
                                </m:f>
                                <m:r>
                                  <a:rPr lang="fr-MA" sz="16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6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num>
                                  <m:den>
                                    <m:r>
                                      <a:rPr lang="fr-MA" sz="16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𝟏𝟎𝟎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400" kern="10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441778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au 12">
                <a:extLst>
                  <a:ext uri="{FF2B5EF4-FFF2-40B4-BE49-F238E27FC236}">
                    <a16:creationId xmlns:a16="http://schemas.microsoft.com/office/drawing/2014/main" id="{5020328A-CD1A-4E18-41CC-93D7EAEC4F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078903"/>
                  </p:ext>
                </p:extLst>
              </p:nvPr>
            </p:nvGraphicFramePr>
            <p:xfrm>
              <a:off x="8501769" y="1903464"/>
              <a:ext cx="3321636" cy="63944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3321636">
                      <a:extLst>
                        <a:ext uri="{9D8B030D-6E8A-4147-A177-3AD203B41FA5}">
                          <a16:colId xmlns:a16="http://schemas.microsoft.com/office/drawing/2014/main" val="3153087888"/>
                        </a:ext>
                      </a:extLst>
                    </a:gridCol>
                  </a:tblGrid>
                  <a:tr h="63944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3" t="-1887" r="-549" b="-28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441778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ZoneTexte 14">
            <a:extLst>
              <a:ext uri="{FF2B5EF4-FFF2-40B4-BE49-F238E27FC236}">
                <a16:creationId xmlns:a16="http://schemas.microsoft.com/office/drawing/2014/main" id="{D651C8AB-3144-0DB5-36B9-85AC2AF95D5D}"/>
              </a:ext>
            </a:extLst>
          </p:cNvPr>
          <p:cNvSpPr txBox="1"/>
          <p:nvPr/>
        </p:nvSpPr>
        <p:spPr>
          <a:xfrm>
            <a:off x="731043" y="871807"/>
            <a:ext cx="891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 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Détermination de la formule brute</a:t>
            </a:r>
          </a:p>
        </p:txBody>
      </p:sp>
      <p:grpSp>
        <p:nvGrpSpPr>
          <p:cNvPr id="22" name="Groupe 21">
            <a:extLst>
              <a:ext uri="{FF2B5EF4-FFF2-40B4-BE49-F238E27FC236}">
                <a16:creationId xmlns:a16="http://schemas.microsoft.com/office/drawing/2014/main" id="{9F20B0AA-F7C2-90EA-215C-7701B69800C8}"/>
              </a:ext>
            </a:extLst>
          </p:cNvPr>
          <p:cNvGrpSpPr/>
          <p:nvPr/>
        </p:nvGrpSpPr>
        <p:grpSpPr>
          <a:xfrm>
            <a:off x="3418966" y="2631848"/>
            <a:ext cx="5354067" cy="3661545"/>
            <a:chOff x="3418966" y="2472353"/>
            <a:chExt cx="5354067" cy="3661545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BCF1E8C9-6CEF-1E0B-4B3D-54A9B9683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18966" y="2472353"/>
              <a:ext cx="5354067" cy="3661545"/>
            </a:xfrm>
            <a:prstGeom prst="rect">
              <a:avLst/>
            </a:prstGeom>
          </p:spPr>
        </p:pic>
        <p:sp>
          <p:nvSpPr>
            <p:cNvPr id="18" name="Flèche : droite 17">
              <a:extLst>
                <a:ext uri="{FF2B5EF4-FFF2-40B4-BE49-F238E27FC236}">
                  <a16:creationId xmlns:a16="http://schemas.microsoft.com/office/drawing/2014/main" id="{0ABABA02-1919-27C4-E174-25B44D69D680}"/>
                </a:ext>
              </a:extLst>
            </p:cNvPr>
            <p:cNvSpPr/>
            <p:nvPr/>
          </p:nvSpPr>
          <p:spPr>
            <a:xfrm>
              <a:off x="5701249" y="2796363"/>
              <a:ext cx="1082322" cy="202019"/>
            </a:xfrm>
            <a:prstGeom prst="rightArrow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èche : droite 18">
              <a:extLst>
                <a:ext uri="{FF2B5EF4-FFF2-40B4-BE49-F238E27FC236}">
                  <a16:creationId xmlns:a16="http://schemas.microsoft.com/office/drawing/2014/main" id="{39E82BE2-A938-BDE2-BE8C-588C5BE6E387}"/>
                </a:ext>
              </a:extLst>
            </p:cNvPr>
            <p:cNvSpPr/>
            <p:nvPr/>
          </p:nvSpPr>
          <p:spPr>
            <a:xfrm>
              <a:off x="5701249" y="3739721"/>
              <a:ext cx="1082322" cy="202019"/>
            </a:xfrm>
            <a:prstGeom prst="rightArrow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lèche : droite 19">
              <a:extLst>
                <a:ext uri="{FF2B5EF4-FFF2-40B4-BE49-F238E27FC236}">
                  <a16:creationId xmlns:a16="http://schemas.microsoft.com/office/drawing/2014/main" id="{34B3BF1B-0FBF-A8D1-F254-1F66B88FE5D9}"/>
                </a:ext>
              </a:extLst>
            </p:cNvPr>
            <p:cNvSpPr/>
            <p:nvPr/>
          </p:nvSpPr>
          <p:spPr>
            <a:xfrm>
              <a:off x="5690617" y="4683079"/>
              <a:ext cx="1082322" cy="202019"/>
            </a:xfrm>
            <a:prstGeom prst="rightArrow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lèche : droite 20">
              <a:extLst>
                <a:ext uri="{FF2B5EF4-FFF2-40B4-BE49-F238E27FC236}">
                  <a16:creationId xmlns:a16="http://schemas.microsoft.com/office/drawing/2014/main" id="{9E5278F9-BEBA-7469-58BD-772D023AE6F3}"/>
                </a:ext>
              </a:extLst>
            </p:cNvPr>
            <p:cNvSpPr/>
            <p:nvPr/>
          </p:nvSpPr>
          <p:spPr>
            <a:xfrm>
              <a:off x="5690617" y="5626437"/>
              <a:ext cx="1082322" cy="202019"/>
            </a:xfrm>
            <a:prstGeom prst="rightArrow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EFFF57A8-CEF2-C56C-F1A4-532A76078BBB}"/>
              </a:ext>
            </a:extLst>
          </p:cNvPr>
          <p:cNvSpPr txBox="1"/>
          <p:nvPr/>
        </p:nvSpPr>
        <p:spPr>
          <a:xfrm>
            <a:off x="635350" y="1310806"/>
            <a:ext cx="8917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M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 1.	Détermination de x,  y,  z  et t</a:t>
            </a:r>
            <a:r>
              <a:rPr lang="fr-MA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….</a:t>
            </a:r>
            <a:endParaRPr lang="fr-MA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106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ECBC3-85F4-9F63-921A-3D645D44B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FF2E1BF-B427-472B-0D6D-60F9C9AFCE89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630669E-2BA6-F24C-55CF-A1918E9A5CE3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367210-0462-89CA-B971-E3C56E7CB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0725" y="6488950"/>
            <a:ext cx="457200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7DA1A675-21B0-56D7-B3F6-0756EA626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5CFFE670-193F-F43F-192C-1CE641B8DE88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D26D762-4707-1E6C-E281-913DBEE7EB8C}"/>
              </a:ext>
            </a:extLst>
          </p:cNvPr>
          <p:cNvSpPr txBox="1"/>
          <p:nvPr/>
        </p:nvSpPr>
        <p:spPr>
          <a:xfrm>
            <a:off x="731043" y="871807"/>
            <a:ext cx="8917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II.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 </a:t>
            </a: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Détermination de la formule brute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C13EBFA-B968-CF3F-B490-51C3E9A6A2A5}"/>
              </a:ext>
            </a:extLst>
          </p:cNvPr>
          <p:cNvSpPr txBox="1"/>
          <p:nvPr/>
        </p:nvSpPr>
        <p:spPr>
          <a:xfrm>
            <a:off x="320675" y="1333472"/>
            <a:ext cx="62801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0000">
              <a:spcAft>
                <a:spcPts val="800"/>
              </a:spcAft>
            </a:pPr>
            <a:r>
              <a:rPr lang="fr-MA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2.	Indice d’insaturation </a:t>
            </a:r>
            <a:r>
              <a:rPr lang="fr-MA" b="1" kern="100" dirty="0">
                <a:latin typeface="Times New Roman" panose="02020603050405020304" pitchFamily="18" charset="0"/>
                <a:cs typeface="Arial" panose="020B0604020202020204" pitchFamily="34" charset="0"/>
              </a:rPr>
              <a:t>(degré d’insaturation 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479D35B-B693-79CF-B7C4-4D500BB1284A}"/>
              </a:ext>
            </a:extLst>
          </p:cNvPr>
          <p:cNvSpPr txBox="1"/>
          <p:nvPr/>
        </p:nvSpPr>
        <p:spPr>
          <a:xfrm>
            <a:off x="829183" y="1736822"/>
            <a:ext cx="108574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MA" sz="2000" b="0" i="0" dirty="0">
                <a:solidFill>
                  <a:srgbClr val="000000"/>
                </a:solidFill>
                <a:effectLst/>
                <a:latin typeface="Times-Roman"/>
              </a:rPr>
              <a:t>Le degré d’insaturation (</a:t>
            </a:r>
            <a:r>
              <a:rPr lang="fr-MA" sz="2000" b="1" i="0" dirty="0" err="1">
                <a:solidFill>
                  <a:srgbClr val="000000"/>
                </a:solidFill>
                <a:effectLst/>
                <a:latin typeface="Times-Bold"/>
              </a:rPr>
              <a:t>dI</a:t>
            </a:r>
            <a:r>
              <a:rPr lang="fr-MA" sz="2000" b="0" i="0" dirty="0">
                <a:solidFill>
                  <a:srgbClr val="000000"/>
                </a:solidFill>
                <a:effectLst/>
                <a:latin typeface="Times-Roman"/>
              </a:rPr>
              <a:t>) indique le nombre d’insaturations (cycles ou double liaisons) présents dans une molécule. Ainsi pour un composé organique de formule brute </a:t>
            </a:r>
            <a:r>
              <a:rPr lang="fr-MA" sz="2000" b="1" i="0" dirty="0" err="1">
                <a:solidFill>
                  <a:srgbClr val="000000"/>
                </a:solidFill>
                <a:effectLst/>
                <a:latin typeface="Times-Roman"/>
              </a:rPr>
              <a:t>C</a:t>
            </a:r>
            <a:r>
              <a:rPr lang="fr-MA" sz="2000" b="1" i="0" baseline="-25000" dirty="0" err="1">
                <a:solidFill>
                  <a:srgbClr val="000000"/>
                </a:solidFill>
                <a:effectLst/>
                <a:latin typeface="Times-Roman"/>
              </a:rPr>
              <a:t>x</a:t>
            </a:r>
            <a:r>
              <a:rPr lang="fr-MA" sz="2000" b="1" i="0" dirty="0" err="1">
                <a:solidFill>
                  <a:srgbClr val="000000"/>
                </a:solidFill>
                <a:effectLst/>
                <a:latin typeface="Times-Roman"/>
              </a:rPr>
              <a:t>H</a:t>
            </a:r>
            <a:r>
              <a:rPr lang="fr-MA" sz="2000" b="1" baseline="-25000" dirty="0" err="1">
                <a:solidFill>
                  <a:srgbClr val="000000"/>
                </a:solidFill>
                <a:latin typeface="Times-Roman"/>
              </a:rPr>
              <a:t>y</a:t>
            </a:r>
            <a:r>
              <a:rPr lang="fr-MA" sz="2000" b="1" i="0" dirty="0" err="1">
                <a:solidFill>
                  <a:srgbClr val="000000"/>
                </a:solidFill>
                <a:effectLst/>
                <a:latin typeface="Times-Roman"/>
              </a:rPr>
              <a:t>O</a:t>
            </a:r>
            <a:r>
              <a:rPr lang="fr-MA" sz="2000" b="1" baseline="-25000" dirty="0" err="1">
                <a:solidFill>
                  <a:srgbClr val="000000"/>
                </a:solidFill>
                <a:latin typeface="Times-Roman"/>
              </a:rPr>
              <a:t>z</a:t>
            </a:r>
            <a:r>
              <a:rPr lang="fr-MA" sz="2000" b="1" i="0" dirty="0" err="1">
                <a:solidFill>
                  <a:srgbClr val="000000"/>
                </a:solidFill>
                <a:effectLst/>
                <a:latin typeface="Times-Roman"/>
              </a:rPr>
              <a:t>N</a:t>
            </a:r>
            <a:r>
              <a:rPr lang="fr-MA" sz="2000" b="1" baseline="-25000" dirty="0" err="1">
                <a:solidFill>
                  <a:srgbClr val="000000"/>
                </a:solidFill>
                <a:latin typeface="Times-Roman"/>
              </a:rPr>
              <a:t>t</a:t>
            </a:r>
            <a:r>
              <a:rPr lang="fr-MA" sz="2000" b="0" i="0" dirty="0">
                <a:solidFill>
                  <a:srgbClr val="000000"/>
                </a:solidFill>
                <a:effectLst/>
                <a:latin typeface="Times-Roman"/>
              </a:rPr>
              <a:t>.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4D0E6159-5021-1F55-B6B0-F3A0FD9F9F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03" t="14222" b="1542"/>
          <a:stretch/>
        </p:blipFill>
        <p:spPr>
          <a:xfrm>
            <a:off x="3187451" y="2434266"/>
            <a:ext cx="5683748" cy="69057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88422F4A-AA3E-9B5E-FA75-089C24010F6C}"/>
              </a:ext>
            </a:extLst>
          </p:cNvPr>
          <p:cNvSpPr txBox="1"/>
          <p:nvPr/>
        </p:nvSpPr>
        <p:spPr>
          <a:xfrm>
            <a:off x="731042" y="3086745"/>
            <a:ext cx="9585325" cy="139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rtl="0">
              <a:spcBef>
                <a:spcPts val="5"/>
              </a:spcBef>
              <a:spcAft>
                <a:spcPts val="300"/>
              </a:spcAft>
              <a:buClr>
                <a:srgbClr val="8496B0"/>
              </a:buClr>
              <a:buSzPts val="1200"/>
              <a:buFont typeface="Wingdings" panose="05000000000000000000" pitchFamily="2" charset="2"/>
              <a:buChar char=""/>
              <a:tabLst>
                <a:tab pos="921385" algn="l"/>
                <a:tab pos="922020" algn="l"/>
              </a:tabLst>
            </a:pPr>
            <a:r>
              <a:rPr lang="fr-MA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x: </a:t>
            </a:r>
            <a:r>
              <a:rPr lang="fr-MA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nombre d'atomes de</a:t>
            </a:r>
            <a:r>
              <a:rPr lang="fr-MA" b="1" i="1" kern="100" spc="2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carbone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Bef>
                <a:spcPts val="195"/>
              </a:spcBef>
              <a:spcAft>
                <a:spcPts val="300"/>
              </a:spcAft>
              <a:buClr>
                <a:srgbClr val="8496B0"/>
              </a:buClr>
              <a:buSzPts val="1200"/>
              <a:buFont typeface="Wingdings" panose="05000000000000000000" pitchFamily="2" charset="2"/>
              <a:buChar char=""/>
              <a:tabLst>
                <a:tab pos="921385" algn="l"/>
                <a:tab pos="922020" algn="l"/>
              </a:tabLst>
            </a:pPr>
            <a:r>
              <a:rPr lang="fr-MA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y: </a:t>
            </a:r>
            <a:r>
              <a:rPr lang="fr-MA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nombre d'atomes monovalents (H, </a:t>
            </a:r>
            <a:r>
              <a:rPr lang="fr-MA" b="1" i="1" kern="100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F,  </a:t>
            </a:r>
            <a:r>
              <a:rPr lang="fr-MA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Cl, </a:t>
            </a:r>
            <a:r>
              <a:rPr lang="fr-MA" b="1" i="1" kern="1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Br,</a:t>
            </a:r>
            <a:r>
              <a:rPr lang="fr-MA" b="1" i="1" kern="100" spc="2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I,…)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Bef>
                <a:spcPts val="195"/>
              </a:spcBef>
              <a:spcAft>
                <a:spcPts val="300"/>
              </a:spcAft>
              <a:buClr>
                <a:srgbClr val="8496B0"/>
              </a:buClr>
              <a:buSzPts val="1200"/>
              <a:buFont typeface="Wingdings" panose="05000000000000000000" pitchFamily="2" charset="2"/>
              <a:buChar char=""/>
              <a:tabLst>
                <a:tab pos="921385" algn="l"/>
                <a:tab pos="922020" algn="l"/>
              </a:tabLst>
            </a:pPr>
            <a:r>
              <a:rPr lang="fr-MA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t: </a:t>
            </a:r>
            <a:r>
              <a:rPr lang="fr-MA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nombre d'atomes trivalents (N,</a:t>
            </a:r>
            <a:r>
              <a:rPr lang="fr-MA" b="1" i="1" kern="100" spc="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b="1" i="1" kern="1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P,…)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spcBef>
                <a:spcPts val="195"/>
              </a:spcBef>
              <a:spcAft>
                <a:spcPts val="300"/>
              </a:spcAft>
              <a:buClr>
                <a:srgbClr val="8496B0"/>
              </a:buClr>
              <a:buSzPts val="1200"/>
              <a:buFont typeface="Wingdings" panose="05000000000000000000" pitchFamily="2" charset="2"/>
              <a:buChar char=""/>
              <a:tabLst>
                <a:tab pos="921385" algn="l"/>
                <a:tab pos="922020" algn="l"/>
              </a:tabLst>
            </a:pPr>
            <a:r>
              <a:rPr lang="fr-MA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Les atomes bivalents (O, S,…) n'interviennent pas dans la </a:t>
            </a:r>
            <a:r>
              <a:rPr lang="fr-MA" b="1" kern="100" spc="2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formule.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D0989F2-54D9-DC05-D1C2-CBC1A421F293}"/>
              </a:ext>
            </a:extLst>
          </p:cNvPr>
          <p:cNvSpPr txBox="1"/>
          <p:nvPr/>
        </p:nvSpPr>
        <p:spPr>
          <a:xfrm>
            <a:off x="731042" y="4524330"/>
            <a:ext cx="110718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000" b="1" i="0" u="sng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N.B:</a:t>
            </a:r>
            <a:r>
              <a:rPr lang="fr-MA" sz="20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MA" sz="20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 le nombre de degrés d'insaturation n'est pas un nombre entier naturel, alors la formule brute en question n'existe pas.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1B2F9B2-48AA-1FE2-F8DE-0A2FE5CE9FE7}"/>
              </a:ext>
            </a:extLst>
          </p:cNvPr>
          <p:cNvSpPr txBox="1"/>
          <p:nvPr/>
        </p:nvSpPr>
        <p:spPr>
          <a:xfrm>
            <a:off x="731042" y="5172797"/>
            <a:ext cx="11054557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fr-MA" sz="1800" b="1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Exemples :</a:t>
            </a:r>
            <a:endParaRPr lang="en-US" sz="1600" u="sng" kern="100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fr-MA" sz="1800" b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3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fr-MA" sz="1800" b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16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O :  </a:t>
            </a:r>
            <a:r>
              <a:rPr lang="fr-MA" sz="1800" b="1" i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 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=[(2*3+2)-16]/2 = - 4 &lt;</a:t>
            </a:r>
            <a:r>
              <a:rPr lang="fr-MA" sz="1800" b="1" kern="100" spc="2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0 ;  </a:t>
            </a:r>
            <a:r>
              <a:rPr lang="fr-MA" sz="1800" u="sng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molécule n’existe pas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r>
              <a:rPr lang="fr-MA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</a:t>
            </a:r>
            <a:r>
              <a:rPr lang="fr-MA" sz="1800" b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</a:t>
            </a:r>
            <a:r>
              <a:rPr lang="fr-MA" sz="1800" b="1" kern="1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7</a:t>
            </a:r>
            <a:r>
              <a:rPr lang="fr-MA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Cl :  I =[(2*4+2)-8]/2 = 1 ; </a:t>
            </a:r>
            <a:r>
              <a:rPr lang="fr-M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molécule contient </a:t>
            </a:r>
            <a:r>
              <a:rPr lang="fr-MA" sz="1800" b="1" i="1" u="heavy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une </a:t>
            </a:r>
            <a:r>
              <a:rPr lang="fr-MA" sz="1800" b="1" i="1" u="heavy" kern="100" spc="2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800" b="1" i="1" u="heavy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insaturation</a:t>
            </a:r>
            <a:r>
              <a:rPr lang="fr-MA" sz="1800" b="1" i="1" u="heavy" kern="1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(donc une double liaison ou un</a:t>
            </a:r>
            <a:r>
              <a:rPr lang="fr-MA" sz="1800" kern="1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fr-M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cycle)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965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1B9F8-4464-890A-605D-CB8F7E971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A0D5EEB-70A1-9347-1363-85AAC015872C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BFFE935-AA1C-242D-C297-7D0D52E10005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6D600A-54E7-AC78-9317-0859223D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69858" y="6488950"/>
            <a:ext cx="388067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9F831423-861B-28CC-0A53-CE8F57066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E4421CE-BE5E-3976-0FF4-C292D57B9ACE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BCDB4FB-EC95-3737-49A9-A25D54D55800}"/>
              </a:ext>
            </a:extLst>
          </p:cNvPr>
          <p:cNvSpPr txBox="1"/>
          <p:nvPr/>
        </p:nvSpPr>
        <p:spPr>
          <a:xfrm>
            <a:off x="675630" y="1942140"/>
            <a:ext cx="10882883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MA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L’analyse centésimale d’un composé organique </a:t>
            </a:r>
            <a:r>
              <a:rPr lang="fr-MA" sz="20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MA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MA" sz="20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MA" sz="2000" b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fr-MA" sz="20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fr-MA" sz="2000" b="1" i="0" baseline="-25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MA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MA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 masse moléculaire </a:t>
            </a:r>
            <a:r>
              <a:rPr lang="fr-MA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 = 58 g.mol</a:t>
            </a:r>
            <a:r>
              <a:rPr lang="fr-MA" sz="2000" b="1" i="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fr-MA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donne les pourcentages suivants :</a:t>
            </a:r>
            <a:r>
              <a:rPr lang="fr-M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fr-M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8CF363B-5CDB-7B3A-72C3-129F1E1D5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2888" y="2789848"/>
            <a:ext cx="280105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1DC9AF42-41D8-E577-4199-1B28180D3E0C}"/>
              </a:ext>
            </a:extLst>
          </p:cNvPr>
          <p:cNvSpPr txBox="1"/>
          <p:nvPr/>
        </p:nvSpPr>
        <p:spPr>
          <a:xfrm>
            <a:off x="2940994" y="3252455"/>
            <a:ext cx="83859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C= 62,06 ;                 %H = 10,34 ;                    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894D786F-F84B-0944-D443-94E9C6B7F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063" y="36290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42A48307-814D-BB26-6BBF-26B4419C3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788" y="36290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22D4615-6B18-AEA1-4583-7F2E49533009}"/>
              </a:ext>
            </a:extLst>
          </p:cNvPr>
          <p:cNvSpPr txBox="1"/>
          <p:nvPr/>
        </p:nvSpPr>
        <p:spPr>
          <a:xfrm>
            <a:off x="691505" y="4064110"/>
            <a:ext cx="10356706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M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1-Quelle est sa formule brute ?</a:t>
            </a:r>
          </a:p>
          <a:p>
            <a:pPr>
              <a:lnSpc>
                <a:spcPct val="150000"/>
              </a:lnSpc>
            </a:pPr>
            <a:r>
              <a:rPr lang="fr-MA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2-Proposer des formules semi-développées de ce composé 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100530D-4F37-D2A4-317C-9F22CD091526}"/>
              </a:ext>
            </a:extLst>
          </p:cNvPr>
          <p:cNvSpPr txBox="1"/>
          <p:nvPr/>
        </p:nvSpPr>
        <p:spPr>
          <a:xfrm>
            <a:off x="755181" y="1333642"/>
            <a:ext cx="2711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Exemple 1: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455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87C4B-D1CD-B2B4-878C-B8BE618F3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381CD42-637E-E848-A8B7-E53230C3F06C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B6907A6-A296-65CD-CCED-5EA9A6AF51F5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9974F31-EEF7-2DB3-8AE4-105E8457F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0250" y="6488950"/>
            <a:ext cx="447675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B210A087-84E7-C8AE-F30E-2BD5AAF25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EADAF9E-8289-9099-6710-0E12F2D127C7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EEDC35E-DE26-E8FC-34B2-0D1FBE175ACE}"/>
              </a:ext>
            </a:extLst>
          </p:cNvPr>
          <p:cNvSpPr txBox="1"/>
          <p:nvPr/>
        </p:nvSpPr>
        <p:spPr>
          <a:xfrm>
            <a:off x="594361" y="1745673"/>
            <a:ext cx="105430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Formule brute de ce composé organique </a:t>
            </a:r>
            <a:r>
              <a:rPr lang="fr-MA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MA" sz="18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CxHyOz</a:t>
            </a:r>
            <a:r>
              <a:rPr lang="fr-MA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Sachant que ce composé à %C = 62,06 ; %H = 10,34 ; %O = 27,58 et de masse molaire M= 58 g.mol</a:t>
            </a:r>
            <a:r>
              <a:rPr lang="fr-MA" sz="1800" b="0" i="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F19F1A1-DAB6-05DA-734C-CE2F80DA7CD4}"/>
              </a:ext>
            </a:extLst>
          </p:cNvPr>
          <p:cNvGrpSpPr/>
          <p:nvPr/>
        </p:nvGrpSpPr>
        <p:grpSpPr>
          <a:xfrm>
            <a:off x="661657" y="2459682"/>
            <a:ext cx="5596128" cy="1941992"/>
            <a:chOff x="1060704" y="2012007"/>
            <a:chExt cx="5596128" cy="1941992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6E4755A8-5A09-2AB9-654B-224F701BA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0704" y="2012007"/>
              <a:ext cx="5596128" cy="606533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8B389721-1080-16F8-BDD3-537AA8F08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0704" y="2746453"/>
              <a:ext cx="5596128" cy="566603"/>
            </a:xfrm>
            <a:prstGeom prst="rect">
              <a:avLst/>
            </a:prstGeom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3A6488DB-22E1-AAE8-0E07-DFAF585FB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7746" y="3361597"/>
              <a:ext cx="5529086" cy="592402"/>
            </a:xfrm>
            <a:prstGeom prst="rect">
              <a:avLst/>
            </a:prstGeom>
          </p:spPr>
        </p:pic>
      </p:grpSp>
      <p:sp>
        <p:nvSpPr>
          <p:cNvPr id="16" name="ZoneTexte 15">
            <a:extLst>
              <a:ext uri="{FF2B5EF4-FFF2-40B4-BE49-F238E27FC236}">
                <a16:creationId xmlns:a16="http://schemas.microsoft.com/office/drawing/2014/main" id="{41773875-C1A7-B4E6-654D-5C83AE228DDD}"/>
              </a:ext>
            </a:extLst>
          </p:cNvPr>
          <p:cNvSpPr txBox="1"/>
          <p:nvPr/>
        </p:nvSpPr>
        <p:spPr>
          <a:xfrm>
            <a:off x="6679451" y="3230344"/>
            <a:ext cx="4969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D’où la formule brute de ce composé est </a:t>
            </a:r>
            <a:r>
              <a:rPr lang="fr-MA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MA" sz="105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fr-MA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fr-MA" sz="105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fr-MA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ccolade fermante 16">
            <a:extLst>
              <a:ext uri="{FF2B5EF4-FFF2-40B4-BE49-F238E27FC236}">
                <a16:creationId xmlns:a16="http://schemas.microsoft.com/office/drawing/2014/main" id="{66DB9746-F091-F663-9424-FB50C0F8E026}"/>
              </a:ext>
            </a:extLst>
          </p:cNvPr>
          <p:cNvSpPr/>
          <p:nvPr/>
        </p:nvSpPr>
        <p:spPr>
          <a:xfrm>
            <a:off x="6254496" y="2607500"/>
            <a:ext cx="329184" cy="1638726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3CA7225-30B6-5BAD-3BC6-02A2EAE2CF7E}"/>
              </a:ext>
            </a:extLst>
          </p:cNvPr>
          <p:cNvSpPr txBox="1"/>
          <p:nvPr/>
        </p:nvSpPr>
        <p:spPr>
          <a:xfrm>
            <a:off x="661656" y="4522872"/>
            <a:ext cx="91315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2) Son degré d’instauration </a:t>
            </a:r>
            <a:r>
              <a:rPr lang="fr-MA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x-y/2+1= 3-6/2+1=1</a:t>
            </a:r>
            <a:b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MA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D’où les formules semi-développées possibles de ce composé sont 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1A5DC6A8-1CF0-49DD-28C6-AF5548E82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105641"/>
              </p:ext>
            </p:extLst>
          </p:nvPr>
        </p:nvGraphicFramePr>
        <p:xfrm>
          <a:off x="2032000" y="127061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05375272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0641907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854691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3133191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58182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Données: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C= 62,06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%H = 10,34 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%O = 27,58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M= </a:t>
                      </a:r>
                      <a:r>
                        <a:rPr lang="fr-F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fr-MA" sz="1800" b="1" i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g.mol</a:t>
                      </a:r>
                      <a:r>
                        <a:rPr lang="fr-MA" sz="1800" b="1" i="0" baseline="30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9004572"/>
                  </a:ext>
                </a:extLst>
              </a:tr>
            </a:tbl>
          </a:graphicData>
        </a:graphic>
      </p:graphicFrame>
      <p:pic>
        <p:nvPicPr>
          <p:cNvPr id="20" name="Image 19">
            <a:extLst>
              <a:ext uri="{FF2B5EF4-FFF2-40B4-BE49-F238E27FC236}">
                <a16:creationId xmlns:a16="http://schemas.microsoft.com/office/drawing/2014/main" id="{76755356-C0B7-C22D-48A3-E37F0B4072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7" y="5205174"/>
            <a:ext cx="10673333" cy="101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085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EF6BC-7F59-C24B-C31D-11CC44422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C7B69A2-B8DF-CE38-C8EE-6FA1B0654523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B6E7482-005E-56D0-6EB8-23506FD7FCE1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E7A2ED-1DE1-5E51-64E1-16915462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0250" y="6488950"/>
            <a:ext cx="447675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5DB2BEE3-FCA5-8B4C-6C54-3F779FBB9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75A1A6B-E784-B610-1F47-61CA07858415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C9513C-20FC-928A-DFBD-340328BFF3F0}"/>
              </a:ext>
            </a:extLst>
          </p:cNvPr>
          <p:cNvSpPr txBox="1"/>
          <p:nvPr/>
        </p:nvSpPr>
        <p:spPr>
          <a:xfrm>
            <a:off x="891736" y="1638367"/>
            <a:ext cx="27119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Exemple </a:t>
            </a:r>
            <a:r>
              <a:rPr lang="fr-FR" b="1" u="sng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fr-FR" sz="1800" b="1" u="sng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6DC26C3C-1339-FCA5-CCC8-F70A523BC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99" y="2287071"/>
            <a:ext cx="1062037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54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0BCFD-FE45-8121-9301-AC6F2B3DB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3D254CD-6146-123B-8A5E-B2CD21B0D53D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A1F3B46-B9C3-7C3A-4D30-BF27278D4002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F9C558-FF97-007B-2024-9729F82AF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0250" y="6488950"/>
            <a:ext cx="447675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43DDE0E0-DCCC-B212-CC07-CDF51DDE9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563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9FC1271-F592-5E6E-2F3F-42B3EC7FF508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6BCD5130-F2FE-728B-27C0-0E88A5276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87" y="871345"/>
            <a:ext cx="9915525" cy="543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10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BF37B-07EE-66F4-8A26-0CB8AEBD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1459D47C-12FF-AE30-9B30-3549D1E98B28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9F5121-B7B3-89F6-8394-5B4606A7FF5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95D3E8-B98D-C6A0-6983-E781EE049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0725" y="6488950"/>
            <a:ext cx="457200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2A8954C5-AE01-26D8-1BA3-F72158BCB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6F0CA27-8FF8-61D0-44FE-AA746EB10EBC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AA3F12D-2284-ED68-901D-773DC2524076}"/>
              </a:ext>
            </a:extLst>
          </p:cNvPr>
          <p:cNvSpPr txBox="1"/>
          <p:nvPr/>
        </p:nvSpPr>
        <p:spPr>
          <a:xfrm>
            <a:off x="813817" y="982186"/>
            <a:ext cx="8474562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III.	 Divers Fonctions et Groupement fonctionnels</a:t>
            </a:r>
          </a:p>
          <a:p>
            <a:pPr marL="540000"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III. 1.	Groupement fonctionnel (fonction chimique)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60BA0E3-897C-501D-19BF-DD4535C05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766" y="2490477"/>
            <a:ext cx="4186572" cy="27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A87BF18-9F63-953F-70AC-D8C5BD9CB3CE}"/>
              </a:ext>
            </a:extLst>
          </p:cNvPr>
          <p:cNvSpPr txBox="1"/>
          <p:nvPr/>
        </p:nvSpPr>
        <p:spPr>
          <a:xfrm>
            <a:off x="664083" y="5469901"/>
            <a:ext cx="11187683" cy="811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 carbone porteur</a:t>
            </a:r>
            <a:r>
              <a:rPr lang="fr-FR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du groupe fonctionnel s’appelle carbone fonctionnel.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La valence d'une fonction</a:t>
            </a:r>
            <a:r>
              <a:rPr lang="fr-MA" sz="18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représente le nombre d'atomes d'hydrogène remplacés par des hétéroatomes sur le carbone 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91FB173-3939-43DC-1697-5CC2CC4C0545}"/>
              </a:ext>
            </a:extLst>
          </p:cNvPr>
          <p:cNvSpPr txBox="1"/>
          <p:nvPr/>
        </p:nvSpPr>
        <p:spPr>
          <a:xfrm>
            <a:off x="664083" y="1847074"/>
            <a:ext cx="10725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appelle groupement fonctionnel ou fonction chimique, l’atome ou le groupe d’atomes qui caractérise une famille de composés organiques.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418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9649B-619A-1FF5-A994-EE1CA4E4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5E18284-06B5-ADFC-1FA5-B6139B96EE9B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F19533A-5CC7-1A2F-13D6-7BCA60E9AB6A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4ADBC4-24A4-EF37-26E2-3F5411BC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00725" y="6488950"/>
            <a:ext cx="457200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2D263D-DDA9-EDF6-E160-BD68CCAF4EF9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3CF66E97-B8DC-C362-94D3-179218B86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C33A04D8-AD7D-718D-36EA-129CA7F3DC02}"/>
              </a:ext>
            </a:extLst>
          </p:cNvPr>
          <p:cNvSpPr txBox="1"/>
          <p:nvPr/>
        </p:nvSpPr>
        <p:spPr>
          <a:xfrm>
            <a:off x="303585" y="1130945"/>
            <a:ext cx="8474562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III.	 Fonctions et Groupement </a:t>
            </a:r>
            <a:b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              fonctionnels</a:t>
            </a:r>
          </a:p>
          <a:p>
            <a:pPr marL="540000"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III. 2.	Principales fonctions organiques	</a:t>
            </a:r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EA7A270-159A-D3D0-A0E0-9C7C8F08856D}"/>
              </a:ext>
            </a:extLst>
          </p:cNvPr>
          <p:cNvSpPr txBox="1"/>
          <p:nvPr/>
        </p:nvSpPr>
        <p:spPr>
          <a:xfrm>
            <a:off x="990300" y="2925211"/>
            <a:ext cx="4443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Tableau des principaux groupements fonctionnels des composés organiques </a:t>
            </a:r>
            <a:endParaRPr lang="en-US" b="1" dirty="0"/>
          </a:p>
        </p:txBody>
      </p:sp>
      <p:pic>
        <p:nvPicPr>
          <p:cNvPr id="1024" name="Image 1023">
            <a:extLst>
              <a:ext uri="{FF2B5EF4-FFF2-40B4-BE49-F238E27FC236}">
                <a16:creationId xmlns:a16="http://schemas.microsoft.com/office/drawing/2014/main" id="{01A6EC17-EF03-36FA-1541-EB7CB1F42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942" y="861471"/>
            <a:ext cx="5096197" cy="542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6160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CCF37-384F-BD30-0068-10D225191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E9C1914-9A20-F6BB-80B8-3E9EBF8F01E4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35E7305-B4FD-6D47-E6F0-0B6C82B48159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41BBE2-5EEE-8B91-24F5-0DE21A5F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0250" y="6488950"/>
            <a:ext cx="447675" cy="300231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0008A90F-588C-3D99-0FB9-1C6E3439C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4033F72-DAC1-55D2-158F-3795C800C134}"/>
              </a:ext>
            </a:extLst>
          </p:cNvPr>
          <p:cNvSpPr txBox="1"/>
          <p:nvPr/>
        </p:nvSpPr>
        <p:spPr>
          <a:xfrm>
            <a:off x="813817" y="369049"/>
            <a:ext cx="9838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2 : FORMULES ET FONCTIONS EN CHIMIE ORGANIQUE</a:t>
            </a:r>
          </a:p>
        </p:txBody>
      </p:sp>
      <p:sp>
        <p:nvSpPr>
          <p:cNvPr id="1029" name="ZoneTexte 1028">
            <a:extLst>
              <a:ext uri="{FF2B5EF4-FFF2-40B4-BE49-F238E27FC236}">
                <a16:creationId xmlns:a16="http://schemas.microsoft.com/office/drawing/2014/main" id="{D5CE2C5A-DD80-45A1-9295-D8B3846664EA}"/>
              </a:ext>
            </a:extLst>
          </p:cNvPr>
          <p:cNvSpPr txBox="1"/>
          <p:nvPr/>
        </p:nvSpPr>
        <p:spPr>
          <a:xfrm>
            <a:off x="691361" y="2456119"/>
            <a:ext cx="10237778" cy="351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fr-MA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Lorsqu'une molécule comporte deux ou plusieurs fonctions chimiques: l’une de ces fonctions sera considérée comme fonction principale et les autres comme fonctions secondaires.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fr-FR" sz="2000" b="1" u="sng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Exemple :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1200"/>
              </a:spcAft>
            </a:pPr>
            <a:r>
              <a:rPr lang="fr-FR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</a:t>
            </a:r>
            <a:r>
              <a:rPr lang="fr-FR" sz="2000" b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fr-FR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N-CH</a:t>
            </a:r>
            <a:r>
              <a:rPr lang="fr-FR" sz="2000" b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fr-FR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-CH</a:t>
            </a:r>
            <a:r>
              <a:rPr lang="fr-FR" sz="2000" b="1" kern="1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fr-FR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-COOH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Ce composé comporte deux groupes fonctionnels différents : acide carboxylique et amine.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fr-FR" sz="2000" kern="100" dirty="0">
              <a:latin typeface="Times New Roman" panose="020206030504050203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Le groupement acide carboxylique est la fonction principale et l’autre fonction secondaire est considérée comme substituant.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9FF1BE1-253B-D61C-6C92-453213FD7164}"/>
              </a:ext>
            </a:extLst>
          </p:cNvPr>
          <p:cNvSpPr txBox="1"/>
          <p:nvPr/>
        </p:nvSpPr>
        <p:spPr>
          <a:xfrm>
            <a:off x="813817" y="1130945"/>
            <a:ext cx="8474562" cy="841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fr-MA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III.	 Fonctions et Groupement fonctionnels</a:t>
            </a:r>
          </a:p>
          <a:p>
            <a:pPr marL="540000"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III. 2.	Principales fonctions organiques	</a:t>
            </a:r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58419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Personnalisé 6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000072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7364</TotalTime>
  <Words>1556</Words>
  <Application>Microsoft Office PowerPoint</Application>
  <PresentationFormat>Grand écran</PresentationFormat>
  <Paragraphs>218</Paragraphs>
  <Slides>21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Courier New</vt:lpstr>
      <vt:lpstr>Times New Roman</vt:lpstr>
      <vt:lpstr>Times-Bold</vt:lpstr>
      <vt:lpstr>Times-Roman</vt:lpstr>
      <vt:lpstr>Wingdings</vt:lpstr>
      <vt:lpstr>Rétrospective</vt:lpstr>
      <vt:lpstr>CS ChemDraw Drawing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Aziz</dc:creator>
  <cp:lastModifiedBy>Aziz</cp:lastModifiedBy>
  <cp:revision>46</cp:revision>
  <dcterms:created xsi:type="dcterms:W3CDTF">2024-02-18T09:25:27Z</dcterms:created>
  <dcterms:modified xsi:type="dcterms:W3CDTF">2024-02-29T12:01:17Z</dcterms:modified>
</cp:coreProperties>
</file>