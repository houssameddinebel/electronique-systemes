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7"/>
  </p:notesMasterIdLst>
  <p:sldIdLst>
    <p:sldId id="257" r:id="rId2"/>
    <p:sldId id="271" r:id="rId3"/>
    <p:sldId id="272" r:id="rId4"/>
    <p:sldId id="319" r:id="rId5"/>
    <p:sldId id="323" r:id="rId6"/>
    <p:sldId id="329" r:id="rId7"/>
    <p:sldId id="324" r:id="rId8"/>
    <p:sldId id="330" r:id="rId9"/>
    <p:sldId id="332" r:id="rId10"/>
    <p:sldId id="333" r:id="rId11"/>
    <p:sldId id="325" r:id="rId12"/>
    <p:sldId id="334" r:id="rId13"/>
    <p:sldId id="335" r:id="rId14"/>
    <p:sldId id="336" r:id="rId15"/>
    <p:sldId id="338" r:id="rId16"/>
    <p:sldId id="341" r:id="rId17"/>
    <p:sldId id="342" r:id="rId18"/>
    <p:sldId id="339" r:id="rId19"/>
    <p:sldId id="343" r:id="rId20"/>
    <p:sldId id="344" r:id="rId21"/>
    <p:sldId id="345" r:id="rId22"/>
    <p:sldId id="346" r:id="rId23"/>
    <p:sldId id="337" r:id="rId24"/>
    <p:sldId id="347" r:id="rId25"/>
    <p:sldId id="326" r:id="rId26"/>
    <p:sldId id="348" r:id="rId27"/>
    <p:sldId id="349" r:id="rId28"/>
    <p:sldId id="350" r:id="rId29"/>
    <p:sldId id="351" r:id="rId30"/>
    <p:sldId id="352" r:id="rId31"/>
    <p:sldId id="353" r:id="rId32"/>
    <p:sldId id="354" r:id="rId33"/>
    <p:sldId id="355" r:id="rId34"/>
    <p:sldId id="356" r:id="rId35"/>
    <p:sldId id="327" r:id="rId36"/>
    <p:sldId id="357" r:id="rId37"/>
    <p:sldId id="359" r:id="rId38"/>
    <p:sldId id="358" r:id="rId39"/>
    <p:sldId id="361" r:id="rId40"/>
    <p:sldId id="328" r:id="rId41"/>
    <p:sldId id="362" r:id="rId42"/>
    <p:sldId id="360" r:id="rId43"/>
    <p:sldId id="363" r:id="rId44"/>
    <p:sldId id="364" r:id="rId45"/>
    <p:sldId id="36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ziz" initials="OA" lastIdx="2" clrIdx="0">
    <p:extLst>
      <p:ext uri="{19B8F6BF-5375-455C-9EA6-DF929625EA0E}">
        <p15:presenceInfo xmlns:p15="http://schemas.microsoft.com/office/powerpoint/2012/main" userId="Azi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C57CD"/>
    <a:srgbClr val="993366"/>
    <a:srgbClr val="FF8FE2"/>
    <a:srgbClr val="FF33CC"/>
    <a:srgbClr val="4F1A58"/>
    <a:srgbClr val="9933FF"/>
    <a:srgbClr val="000099"/>
    <a:srgbClr val="0B672A"/>
    <a:srgbClr val="64430E"/>
    <a:srgbClr val="4B63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4660"/>
  </p:normalViewPr>
  <p:slideViewPr>
    <p:cSldViewPr snapToGrid="0">
      <p:cViewPr varScale="1">
        <p:scale>
          <a:sx n="64" d="100"/>
          <a:sy n="64" d="100"/>
        </p:scale>
        <p:origin x="6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6B55BA-E10D-45C8-8100-D775D116180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EB12CCA-A186-43CF-B054-7D2563707828}">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FR"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Isomérie</a:t>
          </a:r>
          <a:endPar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dgm:t>
    </dgm:pt>
    <dgm:pt modelId="{DFB81A6B-B3D9-47AF-A6CA-94DD681E5773}" type="parTrans" cxnId="{EE014591-9B70-4E71-A3DC-1B283387122D}">
      <dgm:prSet/>
      <dgm:spPr/>
      <dgm:t>
        <a:bodyPr/>
        <a:lstStyle/>
        <a:p>
          <a:endParaRPr lang="en-US"/>
        </a:p>
      </dgm:t>
    </dgm:pt>
    <dgm:pt modelId="{FEEE7F00-7554-4C41-8ADC-B28229A6D3D6}" type="sibTrans" cxnId="{EE014591-9B70-4E71-A3DC-1B283387122D}">
      <dgm:prSet/>
      <dgm:spPr/>
      <dgm:t>
        <a:bodyPr/>
        <a:lstStyle/>
        <a:p>
          <a:endParaRPr lang="en-US"/>
        </a:p>
      </dgm:t>
    </dgm:pt>
    <dgm:pt modelId="{E3497A51-78D1-4EB6-87AA-1E6D9AA9DF6C}">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FR" sz="2400" b="1" i="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Isomérie de constitution </a:t>
          </a:r>
          <a:endParaRPr lang="en-US" sz="2400" b="1" i="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endParaRPr>
        </a:p>
      </dgm:t>
    </dgm:pt>
    <dgm:pt modelId="{8803FB47-5B6B-4719-AFC5-02D3C0456EE4}" type="parTrans" cxnId="{388079DC-5E9A-4AEA-8741-7A1D62A550C9}">
      <dgm:prSet>
        <dgm:style>
          <a:lnRef idx="1">
            <a:schemeClr val="accent2"/>
          </a:lnRef>
          <a:fillRef idx="0">
            <a:schemeClr val="accent2"/>
          </a:fillRef>
          <a:effectRef idx="0">
            <a:schemeClr val="accent2"/>
          </a:effectRef>
          <a:fontRef idx="minor">
            <a:schemeClr val="tx1"/>
          </a:fontRef>
        </dgm:style>
      </dgm:prSet>
      <dgm:spPr>
        <a:ln w="28575"/>
      </dgm:spPr>
      <dgm:t>
        <a:bodyPr/>
        <a:lstStyle/>
        <a:p>
          <a:endParaRPr lang="en-US"/>
        </a:p>
      </dgm:t>
    </dgm:pt>
    <dgm:pt modelId="{7C6C0603-6AD5-43F4-8E2D-E473FC103727}" type="sibTrans" cxnId="{388079DC-5E9A-4AEA-8741-7A1D62A550C9}">
      <dgm:prSet/>
      <dgm:spPr/>
      <dgm:t>
        <a:bodyPr/>
        <a:lstStyle/>
        <a:p>
          <a:endParaRPr lang="en-US"/>
        </a:p>
      </dgm:t>
    </dgm:pt>
    <dgm:pt modelId="{074A3669-81A5-4049-94CE-562B88AEF7E4}">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FR" sz="2400" b="1" i="0" kern="120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ea typeface="+mn-ea"/>
              <a:cs typeface="Times New Roman" panose="02020603050405020304" pitchFamily="18" charset="0"/>
            </a:rPr>
            <a:t>Stéréoisomérie</a:t>
          </a:r>
          <a:endParaRPr lang="en-US" sz="2400" b="1" i="0" kern="1200" dirty="0">
            <a:solidFill>
              <a:prstClr val="white"/>
            </a:solidFill>
            <a:latin typeface="Times New Roman" panose="02020603050405020304" pitchFamily="18" charset="0"/>
            <a:ea typeface="+mn-ea"/>
            <a:cs typeface="Times New Roman" panose="02020603050405020304" pitchFamily="18" charset="0"/>
          </a:endParaRPr>
        </a:p>
      </dgm:t>
    </dgm:pt>
    <dgm:pt modelId="{706C721F-BA99-4F3D-B2DB-B399F3B8F867}" type="parTrans" cxnId="{EBAB20A1-446E-4A4B-AE51-708D2A9B4A81}">
      <dgm:prSet>
        <dgm:style>
          <a:lnRef idx="1">
            <a:schemeClr val="accent2"/>
          </a:lnRef>
          <a:fillRef idx="0">
            <a:schemeClr val="accent2"/>
          </a:fillRef>
          <a:effectRef idx="0">
            <a:schemeClr val="accent2"/>
          </a:effectRef>
          <a:fontRef idx="minor">
            <a:schemeClr val="tx1"/>
          </a:fontRef>
        </dgm:style>
      </dgm:prSet>
      <dgm:spPr>
        <a:ln w="28575"/>
      </dgm:spPr>
      <dgm:t>
        <a:bodyPr/>
        <a:lstStyle/>
        <a:p>
          <a:endParaRPr lang="en-US"/>
        </a:p>
      </dgm:t>
    </dgm:pt>
    <dgm:pt modelId="{FD49ECFE-D19F-4D0C-8D8D-3BCE68BE9152}" type="sibTrans" cxnId="{EBAB20A1-446E-4A4B-AE51-708D2A9B4A81}">
      <dgm:prSet/>
      <dgm:spPr/>
      <dgm:t>
        <a:bodyPr/>
        <a:lstStyle/>
        <a:p>
          <a:endParaRPr lang="en-US"/>
        </a:p>
      </dgm:t>
    </dgm:pt>
    <dgm:pt modelId="{2CCFA2B0-F552-4218-8920-0543CE7485E1}" type="pres">
      <dgm:prSet presAssocID="{2D6B55BA-E10D-45C8-8100-D775D1161808}" presName="hierChild1" presStyleCnt="0">
        <dgm:presLayoutVars>
          <dgm:orgChart val="1"/>
          <dgm:chPref val="1"/>
          <dgm:dir/>
          <dgm:animOne val="branch"/>
          <dgm:animLvl val="lvl"/>
          <dgm:resizeHandles/>
        </dgm:presLayoutVars>
      </dgm:prSet>
      <dgm:spPr/>
    </dgm:pt>
    <dgm:pt modelId="{AF1455F2-7366-42E6-8431-FC6A34FDF8E2}" type="pres">
      <dgm:prSet presAssocID="{DEB12CCA-A186-43CF-B054-7D2563707828}" presName="hierRoot1" presStyleCnt="0">
        <dgm:presLayoutVars>
          <dgm:hierBranch val="init"/>
        </dgm:presLayoutVars>
      </dgm:prSet>
      <dgm:spPr/>
    </dgm:pt>
    <dgm:pt modelId="{CD6126A1-DDC1-4B1C-A0F6-91A651D84E64}" type="pres">
      <dgm:prSet presAssocID="{DEB12CCA-A186-43CF-B054-7D2563707828}" presName="rootComposite1" presStyleCnt="0"/>
      <dgm:spPr/>
    </dgm:pt>
    <dgm:pt modelId="{C5AE3A32-E54B-4BA7-B0B5-178905E29A9D}" type="pres">
      <dgm:prSet presAssocID="{DEB12CCA-A186-43CF-B054-7D2563707828}" presName="rootText1" presStyleLbl="node0" presStyleIdx="0" presStyleCnt="1" custScaleX="37405" custScaleY="13694" custLinFactNeighborY="10004">
        <dgm:presLayoutVars>
          <dgm:chPref val="3"/>
        </dgm:presLayoutVars>
      </dgm:prSet>
      <dgm:spPr>
        <a:prstGeom prst="roundRect">
          <a:avLst/>
        </a:prstGeom>
      </dgm:spPr>
    </dgm:pt>
    <dgm:pt modelId="{AA862B7E-1C72-4165-B96F-47C704932E9F}" type="pres">
      <dgm:prSet presAssocID="{DEB12CCA-A186-43CF-B054-7D2563707828}" presName="rootConnector1" presStyleLbl="node1" presStyleIdx="0" presStyleCnt="0"/>
      <dgm:spPr/>
    </dgm:pt>
    <dgm:pt modelId="{45BE83AC-4CFE-4F63-821A-AA1EA740DF59}" type="pres">
      <dgm:prSet presAssocID="{DEB12CCA-A186-43CF-B054-7D2563707828}" presName="hierChild2" presStyleCnt="0"/>
      <dgm:spPr/>
    </dgm:pt>
    <dgm:pt modelId="{9178FCF6-C5BC-4AD2-99DE-96BC3D288706}" type="pres">
      <dgm:prSet presAssocID="{8803FB47-5B6B-4719-AFC5-02D3C0456EE4}" presName="Name37" presStyleLbl="parChTrans1D2" presStyleIdx="0" presStyleCnt="2"/>
      <dgm:spPr/>
    </dgm:pt>
    <dgm:pt modelId="{2E3C9775-5658-4833-8974-31754430A365}" type="pres">
      <dgm:prSet presAssocID="{E3497A51-78D1-4EB6-87AA-1E6D9AA9DF6C}" presName="hierRoot2" presStyleCnt="0">
        <dgm:presLayoutVars>
          <dgm:hierBranch val="init"/>
        </dgm:presLayoutVars>
      </dgm:prSet>
      <dgm:spPr/>
    </dgm:pt>
    <dgm:pt modelId="{6E626F50-4E3F-41F2-8CE6-496A7094478D}" type="pres">
      <dgm:prSet presAssocID="{E3497A51-78D1-4EB6-87AA-1E6D9AA9DF6C}" presName="rootComposite" presStyleCnt="0"/>
      <dgm:spPr/>
    </dgm:pt>
    <dgm:pt modelId="{E090369F-86D8-4A22-BD55-5A7B104BB20F}" type="pres">
      <dgm:prSet presAssocID="{E3497A51-78D1-4EB6-87AA-1E6D9AA9DF6C}" presName="rootText" presStyleLbl="node2" presStyleIdx="0" presStyleCnt="2" custScaleX="36565" custScaleY="13016" custLinFactNeighborX="81" custLinFactNeighborY="-27084">
        <dgm:presLayoutVars>
          <dgm:chPref val="3"/>
        </dgm:presLayoutVars>
      </dgm:prSet>
      <dgm:spPr>
        <a:prstGeom prst="roundRect">
          <a:avLst/>
        </a:prstGeom>
      </dgm:spPr>
    </dgm:pt>
    <dgm:pt modelId="{9EB2BBF2-9E3D-478C-BDCF-E8484AE91DE0}" type="pres">
      <dgm:prSet presAssocID="{E3497A51-78D1-4EB6-87AA-1E6D9AA9DF6C}" presName="rootConnector" presStyleLbl="node2" presStyleIdx="0" presStyleCnt="2"/>
      <dgm:spPr/>
    </dgm:pt>
    <dgm:pt modelId="{D36B0278-018A-437D-9D8C-30923D03B659}" type="pres">
      <dgm:prSet presAssocID="{E3497A51-78D1-4EB6-87AA-1E6D9AA9DF6C}" presName="hierChild4" presStyleCnt="0"/>
      <dgm:spPr/>
    </dgm:pt>
    <dgm:pt modelId="{AA0AD51C-5E33-40B6-8949-807914754D3D}" type="pres">
      <dgm:prSet presAssocID="{E3497A51-78D1-4EB6-87AA-1E6D9AA9DF6C}" presName="hierChild5" presStyleCnt="0"/>
      <dgm:spPr/>
    </dgm:pt>
    <dgm:pt modelId="{2DC264AD-80B1-4C39-9174-AD824AE46CAA}" type="pres">
      <dgm:prSet presAssocID="{706C721F-BA99-4F3D-B2DB-B399F3B8F867}" presName="Name37" presStyleLbl="parChTrans1D2" presStyleIdx="1" presStyleCnt="2"/>
      <dgm:spPr/>
    </dgm:pt>
    <dgm:pt modelId="{133C5E93-0463-4610-A862-C63D68116921}" type="pres">
      <dgm:prSet presAssocID="{074A3669-81A5-4049-94CE-562B88AEF7E4}" presName="hierRoot2" presStyleCnt="0">
        <dgm:presLayoutVars>
          <dgm:hierBranch val="init"/>
        </dgm:presLayoutVars>
      </dgm:prSet>
      <dgm:spPr/>
    </dgm:pt>
    <dgm:pt modelId="{FC785E67-B461-443F-817E-A56B11BE9BDA}" type="pres">
      <dgm:prSet presAssocID="{074A3669-81A5-4049-94CE-562B88AEF7E4}" presName="rootComposite" presStyleCnt="0"/>
      <dgm:spPr/>
    </dgm:pt>
    <dgm:pt modelId="{C4E8D86C-5FDD-4411-B09F-58E2FC556C67}" type="pres">
      <dgm:prSet presAssocID="{074A3669-81A5-4049-94CE-562B88AEF7E4}" presName="rootText" presStyleLbl="node2" presStyleIdx="1" presStyleCnt="2" custScaleX="36565" custScaleY="13016" custLinFactNeighborX="-1994" custLinFactNeighborY="-26967">
        <dgm:presLayoutVars>
          <dgm:chPref val="3"/>
        </dgm:presLayoutVars>
      </dgm:prSet>
      <dgm:spPr>
        <a:prstGeom prst="roundRect">
          <a:avLst/>
        </a:prstGeom>
      </dgm:spPr>
    </dgm:pt>
    <dgm:pt modelId="{E28AE71C-F00B-4AAD-A10A-900006D3B4BC}" type="pres">
      <dgm:prSet presAssocID="{074A3669-81A5-4049-94CE-562B88AEF7E4}" presName="rootConnector" presStyleLbl="node2" presStyleIdx="1" presStyleCnt="2"/>
      <dgm:spPr/>
    </dgm:pt>
    <dgm:pt modelId="{D10B6CFD-2A24-46BC-BC31-77E0795A0F86}" type="pres">
      <dgm:prSet presAssocID="{074A3669-81A5-4049-94CE-562B88AEF7E4}" presName="hierChild4" presStyleCnt="0"/>
      <dgm:spPr/>
    </dgm:pt>
    <dgm:pt modelId="{C612929D-3069-4216-8552-2D60C42DCE14}" type="pres">
      <dgm:prSet presAssocID="{074A3669-81A5-4049-94CE-562B88AEF7E4}" presName="hierChild5" presStyleCnt="0"/>
      <dgm:spPr/>
    </dgm:pt>
    <dgm:pt modelId="{CDE39D71-20EB-470F-B47F-DF0DDA6D2136}" type="pres">
      <dgm:prSet presAssocID="{DEB12CCA-A186-43CF-B054-7D2563707828}" presName="hierChild3" presStyleCnt="0"/>
      <dgm:spPr/>
    </dgm:pt>
  </dgm:ptLst>
  <dgm:cxnLst>
    <dgm:cxn modelId="{294D2F0C-8E3F-4550-A16B-4C433D0C19C4}" type="presOf" srcId="{DEB12CCA-A186-43CF-B054-7D2563707828}" destId="{AA862B7E-1C72-4165-B96F-47C704932E9F}" srcOrd="1" destOrd="0" presId="urn:microsoft.com/office/officeart/2005/8/layout/orgChart1"/>
    <dgm:cxn modelId="{3CB8D019-9D18-46A2-829A-AA6CDA051858}" type="presOf" srcId="{706C721F-BA99-4F3D-B2DB-B399F3B8F867}" destId="{2DC264AD-80B1-4C39-9174-AD824AE46CAA}" srcOrd="0" destOrd="0" presId="urn:microsoft.com/office/officeart/2005/8/layout/orgChart1"/>
    <dgm:cxn modelId="{4958493C-152F-4163-8676-92577D3C7C7B}" type="presOf" srcId="{074A3669-81A5-4049-94CE-562B88AEF7E4}" destId="{E28AE71C-F00B-4AAD-A10A-900006D3B4BC}" srcOrd="1" destOrd="0" presId="urn:microsoft.com/office/officeart/2005/8/layout/orgChart1"/>
    <dgm:cxn modelId="{1516BA6C-6E3B-417F-9DFE-637219FA8868}" type="presOf" srcId="{8803FB47-5B6B-4719-AFC5-02D3C0456EE4}" destId="{9178FCF6-C5BC-4AD2-99DE-96BC3D288706}" srcOrd="0" destOrd="0" presId="urn:microsoft.com/office/officeart/2005/8/layout/orgChart1"/>
    <dgm:cxn modelId="{5C07F475-7B96-4E57-BBD2-E45058E06EB7}" type="presOf" srcId="{074A3669-81A5-4049-94CE-562B88AEF7E4}" destId="{C4E8D86C-5FDD-4411-B09F-58E2FC556C67}" srcOrd="0" destOrd="0" presId="urn:microsoft.com/office/officeart/2005/8/layout/orgChart1"/>
    <dgm:cxn modelId="{EE014591-9B70-4E71-A3DC-1B283387122D}" srcId="{2D6B55BA-E10D-45C8-8100-D775D1161808}" destId="{DEB12CCA-A186-43CF-B054-7D2563707828}" srcOrd="0" destOrd="0" parTransId="{DFB81A6B-B3D9-47AF-A6CA-94DD681E5773}" sibTransId="{FEEE7F00-7554-4C41-8ADC-B28229A6D3D6}"/>
    <dgm:cxn modelId="{4424D79A-2B7A-4180-A888-25E6A0F30DF3}" type="presOf" srcId="{E3497A51-78D1-4EB6-87AA-1E6D9AA9DF6C}" destId="{9EB2BBF2-9E3D-478C-BDCF-E8484AE91DE0}" srcOrd="1" destOrd="0" presId="urn:microsoft.com/office/officeart/2005/8/layout/orgChart1"/>
    <dgm:cxn modelId="{637E16A0-AAA8-4B71-8B16-9E1FA2A177A9}" type="presOf" srcId="{2D6B55BA-E10D-45C8-8100-D775D1161808}" destId="{2CCFA2B0-F552-4218-8920-0543CE7485E1}" srcOrd="0" destOrd="0" presId="urn:microsoft.com/office/officeart/2005/8/layout/orgChart1"/>
    <dgm:cxn modelId="{EBAB20A1-446E-4A4B-AE51-708D2A9B4A81}" srcId="{DEB12CCA-A186-43CF-B054-7D2563707828}" destId="{074A3669-81A5-4049-94CE-562B88AEF7E4}" srcOrd="1" destOrd="0" parTransId="{706C721F-BA99-4F3D-B2DB-B399F3B8F867}" sibTransId="{FD49ECFE-D19F-4D0C-8D8D-3BCE68BE9152}"/>
    <dgm:cxn modelId="{1045E0D1-90F8-49BC-AFBD-A2B448DAFDFC}" type="presOf" srcId="{E3497A51-78D1-4EB6-87AA-1E6D9AA9DF6C}" destId="{E090369F-86D8-4A22-BD55-5A7B104BB20F}" srcOrd="0" destOrd="0" presId="urn:microsoft.com/office/officeart/2005/8/layout/orgChart1"/>
    <dgm:cxn modelId="{388079DC-5E9A-4AEA-8741-7A1D62A550C9}" srcId="{DEB12CCA-A186-43CF-B054-7D2563707828}" destId="{E3497A51-78D1-4EB6-87AA-1E6D9AA9DF6C}" srcOrd="0" destOrd="0" parTransId="{8803FB47-5B6B-4719-AFC5-02D3C0456EE4}" sibTransId="{7C6C0603-6AD5-43F4-8E2D-E473FC103727}"/>
    <dgm:cxn modelId="{23C8DFF7-1527-4385-8AD3-97120B18192C}" type="presOf" srcId="{DEB12CCA-A186-43CF-B054-7D2563707828}" destId="{C5AE3A32-E54B-4BA7-B0B5-178905E29A9D}" srcOrd="0" destOrd="0" presId="urn:microsoft.com/office/officeart/2005/8/layout/orgChart1"/>
    <dgm:cxn modelId="{FFC01287-019E-46A3-993D-F0B8676096CB}" type="presParOf" srcId="{2CCFA2B0-F552-4218-8920-0543CE7485E1}" destId="{AF1455F2-7366-42E6-8431-FC6A34FDF8E2}" srcOrd="0" destOrd="0" presId="urn:microsoft.com/office/officeart/2005/8/layout/orgChart1"/>
    <dgm:cxn modelId="{6D747197-7A19-4B29-9F84-21207DDF49A5}" type="presParOf" srcId="{AF1455F2-7366-42E6-8431-FC6A34FDF8E2}" destId="{CD6126A1-DDC1-4B1C-A0F6-91A651D84E64}" srcOrd="0" destOrd="0" presId="urn:microsoft.com/office/officeart/2005/8/layout/orgChart1"/>
    <dgm:cxn modelId="{BD469C07-C9E6-4932-8895-7B479AA7BE39}" type="presParOf" srcId="{CD6126A1-DDC1-4B1C-A0F6-91A651D84E64}" destId="{C5AE3A32-E54B-4BA7-B0B5-178905E29A9D}" srcOrd="0" destOrd="0" presId="urn:microsoft.com/office/officeart/2005/8/layout/orgChart1"/>
    <dgm:cxn modelId="{B61C43B7-9F81-46E9-811D-591FF24C673E}" type="presParOf" srcId="{CD6126A1-DDC1-4B1C-A0F6-91A651D84E64}" destId="{AA862B7E-1C72-4165-B96F-47C704932E9F}" srcOrd="1" destOrd="0" presId="urn:microsoft.com/office/officeart/2005/8/layout/orgChart1"/>
    <dgm:cxn modelId="{4E384980-5065-4E7E-854C-7EA4400220B7}" type="presParOf" srcId="{AF1455F2-7366-42E6-8431-FC6A34FDF8E2}" destId="{45BE83AC-4CFE-4F63-821A-AA1EA740DF59}" srcOrd="1" destOrd="0" presId="urn:microsoft.com/office/officeart/2005/8/layout/orgChart1"/>
    <dgm:cxn modelId="{D55CFBBE-3DB8-461D-A25E-E5CB3031F400}" type="presParOf" srcId="{45BE83AC-4CFE-4F63-821A-AA1EA740DF59}" destId="{9178FCF6-C5BC-4AD2-99DE-96BC3D288706}" srcOrd="0" destOrd="0" presId="urn:microsoft.com/office/officeart/2005/8/layout/orgChart1"/>
    <dgm:cxn modelId="{F44C08E4-89D5-42F0-B88D-CBA70D7D2B96}" type="presParOf" srcId="{45BE83AC-4CFE-4F63-821A-AA1EA740DF59}" destId="{2E3C9775-5658-4833-8974-31754430A365}" srcOrd="1" destOrd="0" presId="urn:microsoft.com/office/officeart/2005/8/layout/orgChart1"/>
    <dgm:cxn modelId="{F6109930-4387-4B7A-89C1-A24EEFE6921B}" type="presParOf" srcId="{2E3C9775-5658-4833-8974-31754430A365}" destId="{6E626F50-4E3F-41F2-8CE6-496A7094478D}" srcOrd="0" destOrd="0" presId="urn:microsoft.com/office/officeart/2005/8/layout/orgChart1"/>
    <dgm:cxn modelId="{72508A48-0EEA-4AC4-B6C6-6E7E7F1A6179}" type="presParOf" srcId="{6E626F50-4E3F-41F2-8CE6-496A7094478D}" destId="{E090369F-86D8-4A22-BD55-5A7B104BB20F}" srcOrd="0" destOrd="0" presId="urn:microsoft.com/office/officeart/2005/8/layout/orgChart1"/>
    <dgm:cxn modelId="{51EF5D34-52F8-4E87-A34F-671E6BD510E1}" type="presParOf" srcId="{6E626F50-4E3F-41F2-8CE6-496A7094478D}" destId="{9EB2BBF2-9E3D-478C-BDCF-E8484AE91DE0}" srcOrd="1" destOrd="0" presId="urn:microsoft.com/office/officeart/2005/8/layout/orgChart1"/>
    <dgm:cxn modelId="{0E017442-131D-4B24-894B-94C722B379AF}" type="presParOf" srcId="{2E3C9775-5658-4833-8974-31754430A365}" destId="{D36B0278-018A-437D-9D8C-30923D03B659}" srcOrd="1" destOrd="0" presId="urn:microsoft.com/office/officeart/2005/8/layout/orgChart1"/>
    <dgm:cxn modelId="{44E513DC-4999-42F4-B7CA-BFB12820BBF4}" type="presParOf" srcId="{2E3C9775-5658-4833-8974-31754430A365}" destId="{AA0AD51C-5E33-40B6-8949-807914754D3D}" srcOrd="2" destOrd="0" presId="urn:microsoft.com/office/officeart/2005/8/layout/orgChart1"/>
    <dgm:cxn modelId="{A8D32344-7A0E-4672-8500-A1AF840BE6CC}" type="presParOf" srcId="{45BE83AC-4CFE-4F63-821A-AA1EA740DF59}" destId="{2DC264AD-80B1-4C39-9174-AD824AE46CAA}" srcOrd="2" destOrd="0" presId="urn:microsoft.com/office/officeart/2005/8/layout/orgChart1"/>
    <dgm:cxn modelId="{1C7AE2D6-E25B-4F63-8FB4-62BF77458448}" type="presParOf" srcId="{45BE83AC-4CFE-4F63-821A-AA1EA740DF59}" destId="{133C5E93-0463-4610-A862-C63D68116921}" srcOrd="3" destOrd="0" presId="urn:microsoft.com/office/officeart/2005/8/layout/orgChart1"/>
    <dgm:cxn modelId="{25E8145B-1DE4-42EE-BEC0-67AF15E71773}" type="presParOf" srcId="{133C5E93-0463-4610-A862-C63D68116921}" destId="{FC785E67-B461-443F-817E-A56B11BE9BDA}" srcOrd="0" destOrd="0" presId="urn:microsoft.com/office/officeart/2005/8/layout/orgChart1"/>
    <dgm:cxn modelId="{C356BD44-89FD-4EA5-AF29-83B1283A63DD}" type="presParOf" srcId="{FC785E67-B461-443F-817E-A56B11BE9BDA}" destId="{C4E8D86C-5FDD-4411-B09F-58E2FC556C67}" srcOrd="0" destOrd="0" presId="urn:microsoft.com/office/officeart/2005/8/layout/orgChart1"/>
    <dgm:cxn modelId="{F8869DD3-BCD9-4A2A-8B7B-D1807E88AF0A}" type="presParOf" srcId="{FC785E67-B461-443F-817E-A56B11BE9BDA}" destId="{E28AE71C-F00B-4AAD-A10A-900006D3B4BC}" srcOrd="1" destOrd="0" presId="urn:microsoft.com/office/officeart/2005/8/layout/orgChart1"/>
    <dgm:cxn modelId="{D99A6691-D2A3-4F4D-BB02-D21D81CD50D8}" type="presParOf" srcId="{133C5E93-0463-4610-A862-C63D68116921}" destId="{D10B6CFD-2A24-46BC-BC31-77E0795A0F86}" srcOrd="1" destOrd="0" presId="urn:microsoft.com/office/officeart/2005/8/layout/orgChart1"/>
    <dgm:cxn modelId="{1824A7C1-719D-4E3A-BB04-8B0C7A388C79}" type="presParOf" srcId="{133C5E93-0463-4610-A862-C63D68116921}" destId="{C612929D-3069-4216-8552-2D60C42DCE14}" srcOrd="2" destOrd="0" presId="urn:microsoft.com/office/officeart/2005/8/layout/orgChart1"/>
    <dgm:cxn modelId="{E49FD712-7B1C-4849-99F2-61058CABADB2}" type="presParOf" srcId="{AF1455F2-7366-42E6-8431-FC6A34FDF8E2}" destId="{CDE39D71-20EB-470F-B47F-DF0DDA6D2136}"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67949C-0AA8-46F7-9062-CED188A6918B}" type="doc">
      <dgm:prSet loTypeId="urn:microsoft.com/office/officeart/2005/8/layout/orgChart1" loCatId="hierarchy" qsTypeId="urn:microsoft.com/office/officeart/2005/8/quickstyle/3d2" qsCatId="3D" csTypeId="urn:microsoft.com/office/officeart/2005/8/colors/accent1_2" csCatId="accent1" phldr="1"/>
      <dgm:spPr/>
      <dgm:t>
        <a:bodyPr/>
        <a:lstStyle/>
        <a:p>
          <a:endParaRPr lang="en-US"/>
        </a:p>
      </dgm:t>
    </dgm:pt>
    <dgm:pt modelId="{B83706CE-9DD6-427D-9957-0F3A6FD659D0}">
      <dgm:prSet phldrT="[Texte]"/>
      <dgm:spPr>
        <a:solidFill>
          <a:srgbClr val="000099"/>
        </a:solidFill>
      </dgm:spPr>
      <dgm:t>
        <a:bodyPr/>
        <a:lstStyle/>
        <a:p>
          <a:r>
            <a:rPr lang="fr-FR" b="1" dirty="0">
              <a:effectLst/>
              <a:latin typeface="Times New Roman" panose="02020603050405020304" pitchFamily="18" charset="0"/>
              <a:ea typeface="Calibri" panose="020F0502020204030204" pitchFamily="34" charset="0"/>
              <a:cs typeface="Arial" panose="020B0604020202020204" pitchFamily="34" charset="0"/>
            </a:rPr>
            <a:t>Deux stéréoisomères</a:t>
          </a:r>
          <a:endParaRPr lang="en-US" dirty="0"/>
        </a:p>
      </dgm:t>
    </dgm:pt>
    <dgm:pt modelId="{4746F969-F509-4D23-BBDE-51DE6C1DEDE3}" type="parTrans" cxnId="{872B35FB-97D3-4901-B838-F0B8A0E84E2B}">
      <dgm:prSet/>
      <dgm:spPr/>
      <dgm:t>
        <a:bodyPr/>
        <a:lstStyle/>
        <a:p>
          <a:endParaRPr lang="en-US"/>
        </a:p>
      </dgm:t>
    </dgm:pt>
    <dgm:pt modelId="{BA2F7184-0AC1-459E-9D9E-DDCE4CEA7A65}" type="sibTrans" cxnId="{872B35FB-97D3-4901-B838-F0B8A0E84E2B}">
      <dgm:prSet/>
      <dgm:spPr/>
      <dgm:t>
        <a:bodyPr/>
        <a:lstStyle/>
        <a:p>
          <a:endParaRPr lang="en-US"/>
        </a:p>
      </dgm:t>
    </dgm:pt>
    <dgm:pt modelId="{ADE8DB39-F039-41D1-8D5E-E7D2FBFD0CA3}">
      <dgm:prSet phldrT="[Texte]">
        <dgm:style>
          <a:lnRef idx="2">
            <a:schemeClr val="accent2"/>
          </a:lnRef>
          <a:fillRef idx="1">
            <a:schemeClr val="lt1"/>
          </a:fillRef>
          <a:effectRef idx="0">
            <a:schemeClr val="accent2"/>
          </a:effectRef>
          <a:fontRef idx="minor">
            <a:schemeClr val="dk1"/>
          </a:fontRef>
        </dgm:style>
      </dgm:prSet>
      <dgm:spPr>
        <a:ln w="28575"/>
      </dgm:spPr>
      <dgm:t>
        <a:bodyPr/>
        <a:lstStyle/>
        <a:p>
          <a:r>
            <a:rPr lang="fr-FR"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Z</a:t>
          </a:r>
          <a:r>
            <a:rPr lang="fr-FR"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a:t>
          </a:r>
          <a:b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br>
          <a: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(en allemand </a:t>
          </a:r>
          <a:r>
            <a:rPr lang="fr-FR" b="1" dirty="0" err="1">
              <a:solidFill>
                <a:srgbClr val="FF0000"/>
              </a:solidFill>
              <a:effectLst/>
              <a:latin typeface="Times New Roman" panose="02020603050405020304" pitchFamily="18" charset="0"/>
              <a:ea typeface="Calibri" panose="020F0502020204030204" pitchFamily="34" charset="0"/>
              <a:cs typeface="Arial" panose="020B0604020202020204" pitchFamily="34" charset="0"/>
            </a:rPr>
            <a:t>Z</a:t>
          </a:r>
          <a:r>
            <a:rPr lang="fr-FR" dirty="0" err="1">
              <a:solidFill>
                <a:schemeClr val="tx1"/>
              </a:solidFill>
              <a:effectLst/>
              <a:latin typeface="Times New Roman" panose="02020603050405020304" pitchFamily="18" charset="0"/>
              <a:ea typeface="Calibri" panose="020F0502020204030204" pitchFamily="34" charset="0"/>
              <a:cs typeface="Arial" panose="020B0604020202020204" pitchFamily="34" charset="0"/>
            </a:rPr>
            <a:t>usammen</a:t>
          </a:r>
          <a: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 ensemble)</a:t>
          </a:r>
          <a:endParaRPr lang="en-US" dirty="0">
            <a:solidFill>
              <a:schemeClr val="tx1"/>
            </a:solidFill>
          </a:endParaRPr>
        </a:p>
      </dgm:t>
    </dgm:pt>
    <dgm:pt modelId="{4DC175EB-25E6-438E-8820-72AA466730E0}" type="parTrans" cxnId="{379B59B2-A7A3-49CA-8C04-3097BD1C0064}">
      <dgm:prSet>
        <dgm:style>
          <a:lnRef idx="1">
            <a:schemeClr val="accent2"/>
          </a:lnRef>
          <a:fillRef idx="0">
            <a:schemeClr val="accent2"/>
          </a:fillRef>
          <a:effectRef idx="0">
            <a:schemeClr val="accent2"/>
          </a:effectRef>
          <a:fontRef idx="minor">
            <a:schemeClr val="tx1"/>
          </a:fontRef>
        </dgm:style>
      </dgm:prSet>
      <dgm:spPr>
        <a:ln w="28575">
          <a:solidFill>
            <a:srgbClr val="000099"/>
          </a:solidFill>
        </a:ln>
      </dgm:spPr>
      <dgm:t>
        <a:bodyPr/>
        <a:lstStyle/>
        <a:p>
          <a:endParaRPr lang="en-US"/>
        </a:p>
      </dgm:t>
    </dgm:pt>
    <dgm:pt modelId="{BDB9126E-9CB2-4911-A07E-9C573C7D4E02}" type="sibTrans" cxnId="{379B59B2-A7A3-49CA-8C04-3097BD1C0064}">
      <dgm:prSet/>
      <dgm:spPr/>
      <dgm:t>
        <a:bodyPr/>
        <a:lstStyle/>
        <a:p>
          <a:endParaRPr lang="en-US"/>
        </a:p>
      </dgm:t>
    </dgm:pt>
    <dgm:pt modelId="{B7FC38D4-763A-47AD-9CC0-3389CB607DDF}">
      <dgm:prSet phldrT="[Texte]">
        <dgm:style>
          <a:lnRef idx="2">
            <a:schemeClr val="accent2"/>
          </a:lnRef>
          <a:fillRef idx="1">
            <a:schemeClr val="lt1"/>
          </a:fillRef>
          <a:effectRef idx="0">
            <a:schemeClr val="accent2"/>
          </a:effectRef>
          <a:fontRef idx="minor">
            <a:schemeClr val="dk1"/>
          </a:fontRef>
        </dgm:style>
      </dgm:prSet>
      <dgm:spPr>
        <a:ln w="28575"/>
      </dgm:spPr>
      <dgm:t>
        <a:bodyPr/>
        <a:lstStyle/>
        <a:p>
          <a:r>
            <a:rPr lang="fr-FR" b="1"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a:t>
          </a:r>
          <a: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a:t>
          </a:r>
          <a:b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br>
          <a: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a:t>
          </a:r>
          <a:r>
            <a:rPr lang="fr-FR" b="1" dirty="0" err="1">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a:t>
          </a:r>
          <a:r>
            <a:rPr lang="fr-FR" dirty="0" err="1">
              <a:solidFill>
                <a:schemeClr val="tx1"/>
              </a:solidFill>
              <a:effectLst/>
              <a:latin typeface="Times New Roman" panose="02020603050405020304" pitchFamily="18" charset="0"/>
              <a:ea typeface="Calibri" panose="020F0502020204030204" pitchFamily="34" charset="0"/>
              <a:cs typeface="Arial" panose="020B0604020202020204" pitchFamily="34" charset="0"/>
            </a:rPr>
            <a:t>ntgegen</a:t>
          </a:r>
          <a:r>
            <a:rPr lang="fr-FR"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 opposé) </a:t>
          </a:r>
          <a:endParaRPr lang="en-US" dirty="0">
            <a:solidFill>
              <a:schemeClr val="tx1"/>
            </a:solidFill>
          </a:endParaRPr>
        </a:p>
      </dgm:t>
    </dgm:pt>
    <dgm:pt modelId="{BAEE73D7-22F9-4D61-AC6B-1668E5C09AAA}" type="parTrans" cxnId="{122597AC-583C-4C55-9345-8BDD01632B06}">
      <dgm:prSet>
        <dgm:style>
          <a:lnRef idx="1">
            <a:schemeClr val="accent2"/>
          </a:lnRef>
          <a:fillRef idx="0">
            <a:schemeClr val="accent2"/>
          </a:fillRef>
          <a:effectRef idx="0">
            <a:schemeClr val="accent2"/>
          </a:effectRef>
          <a:fontRef idx="minor">
            <a:schemeClr val="tx1"/>
          </a:fontRef>
        </dgm:style>
      </dgm:prSet>
      <dgm:spPr>
        <a:ln w="28575">
          <a:solidFill>
            <a:srgbClr val="000099"/>
          </a:solidFill>
        </a:ln>
      </dgm:spPr>
      <dgm:t>
        <a:bodyPr/>
        <a:lstStyle/>
        <a:p>
          <a:endParaRPr lang="en-US"/>
        </a:p>
      </dgm:t>
    </dgm:pt>
    <dgm:pt modelId="{4F24FC9E-686B-4959-8B4A-A7A7B3C77AF5}" type="sibTrans" cxnId="{122597AC-583C-4C55-9345-8BDD01632B06}">
      <dgm:prSet/>
      <dgm:spPr/>
      <dgm:t>
        <a:bodyPr/>
        <a:lstStyle/>
        <a:p>
          <a:endParaRPr lang="en-US"/>
        </a:p>
      </dgm:t>
    </dgm:pt>
    <dgm:pt modelId="{F2FE96AD-4907-4CE3-98FC-EE7FA8D53CD1}" type="pres">
      <dgm:prSet presAssocID="{7167949C-0AA8-46F7-9062-CED188A6918B}" presName="hierChild1" presStyleCnt="0">
        <dgm:presLayoutVars>
          <dgm:orgChart val="1"/>
          <dgm:chPref val="1"/>
          <dgm:dir/>
          <dgm:animOne val="branch"/>
          <dgm:animLvl val="lvl"/>
          <dgm:resizeHandles/>
        </dgm:presLayoutVars>
      </dgm:prSet>
      <dgm:spPr/>
    </dgm:pt>
    <dgm:pt modelId="{19A388D3-A459-41D9-8A2C-519C15DA19DE}" type="pres">
      <dgm:prSet presAssocID="{B83706CE-9DD6-427D-9957-0F3A6FD659D0}" presName="hierRoot1" presStyleCnt="0">
        <dgm:presLayoutVars>
          <dgm:hierBranch val="init"/>
        </dgm:presLayoutVars>
      </dgm:prSet>
      <dgm:spPr/>
    </dgm:pt>
    <dgm:pt modelId="{4316D28C-44DD-46D6-A78E-72537B8FA91A}" type="pres">
      <dgm:prSet presAssocID="{B83706CE-9DD6-427D-9957-0F3A6FD659D0}" presName="rootComposite1" presStyleCnt="0"/>
      <dgm:spPr/>
    </dgm:pt>
    <dgm:pt modelId="{B4AD68A0-8076-48A7-AA59-85D7335180A3}" type="pres">
      <dgm:prSet presAssocID="{B83706CE-9DD6-427D-9957-0F3A6FD659D0}" presName="rootText1" presStyleLbl="node0" presStyleIdx="0" presStyleCnt="1" custScaleX="84162" custScaleY="33988">
        <dgm:presLayoutVars>
          <dgm:chPref val="3"/>
        </dgm:presLayoutVars>
      </dgm:prSet>
      <dgm:spPr/>
    </dgm:pt>
    <dgm:pt modelId="{0DAA8CE0-0ADA-4FE5-B74D-29C71884B8A6}" type="pres">
      <dgm:prSet presAssocID="{B83706CE-9DD6-427D-9957-0F3A6FD659D0}" presName="rootConnector1" presStyleLbl="node1" presStyleIdx="0" presStyleCnt="0"/>
      <dgm:spPr/>
    </dgm:pt>
    <dgm:pt modelId="{F84BEB81-0282-4F1F-B6A9-86B3F695FE2F}" type="pres">
      <dgm:prSet presAssocID="{B83706CE-9DD6-427D-9957-0F3A6FD659D0}" presName="hierChild2" presStyleCnt="0"/>
      <dgm:spPr/>
    </dgm:pt>
    <dgm:pt modelId="{C2485D4A-71A6-40C2-A51E-8625AE13D00D}" type="pres">
      <dgm:prSet presAssocID="{4DC175EB-25E6-438E-8820-72AA466730E0}" presName="Name37" presStyleLbl="parChTrans1D2" presStyleIdx="0" presStyleCnt="2"/>
      <dgm:spPr/>
    </dgm:pt>
    <dgm:pt modelId="{0C7BF3A6-A5B4-488F-B6FE-B86C78BCC62E}" type="pres">
      <dgm:prSet presAssocID="{ADE8DB39-F039-41D1-8D5E-E7D2FBFD0CA3}" presName="hierRoot2" presStyleCnt="0">
        <dgm:presLayoutVars>
          <dgm:hierBranch val="init"/>
        </dgm:presLayoutVars>
      </dgm:prSet>
      <dgm:spPr/>
    </dgm:pt>
    <dgm:pt modelId="{D5071009-0C34-41C7-B3E6-C0242F8482CC}" type="pres">
      <dgm:prSet presAssocID="{ADE8DB39-F039-41D1-8D5E-E7D2FBFD0CA3}" presName="rootComposite" presStyleCnt="0"/>
      <dgm:spPr/>
    </dgm:pt>
    <dgm:pt modelId="{83547D2A-DB67-42D6-8FBD-AD289724BC87}" type="pres">
      <dgm:prSet presAssocID="{ADE8DB39-F039-41D1-8D5E-E7D2FBFD0CA3}" presName="rootText" presStyleLbl="node2" presStyleIdx="0" presStyleCnt="2" custScaleX="111299" custScaleY="36334">
        <dgm:presLayoutVars>
          <dgm:chPref val="3"/>
        </dgm:presLayoutVars>
      </dgm:prSet>
      <dgm:spPr/>
    </dgm:pt>
    <dgm:pt modelId="{D8568C2C-9234-4A90-A732-66502ACCF163}" type="pres">
      <dgm:prSet presAssocID="{ADE8DB39-F039-41D1-8D5E-E7D2FBFD0CA3}" presName="rootConnector" presStyleLbl="node2" presStyleIdx="0" presStyleCnt="2"/>
      <dgm:spPr/>
    </dgm:pt>
    <dgm:pt modelId="{224F5A1B-A4C8-442E-A792-093A564F6671}" type="pres">
      <dgm:prSet presAssocID="{ADE8DB39-F039-41D1-8D5E-E7D2FBFD0CA3}" presName="hierChild4" presStyleCnt="0"/>
      <dgm:spPr/>
    </dgm:pt>
    <dgm:pt modelId="{2E94A4E2-F284-40E8-A3F4-EE1EC11194ED}" type="pres">
      <dgm:prSet presAssocID="{ADE8DB39-F039-41D1-8D5E-E7D2FBFD0CA3}" presName="hierChild5" presStyleCnt="0"/>
      <dgm:spPr/>
    </dgm:pt>
    <dgm:pt modelId="{239970E0-D6D0-44B6-9A3F-D09497A63229}" type="pres">
      <dgm:prSet presAssocID="{BAEE73D7-22F9-4D61-AC6B-1668E5C09AAA}" presName="Name37" presStyleLbl="parChTrans1D2" presStyleIdx="1" presStyleCnt="2"/>
      <dgm:spPr/>
    </dgm:pt>
    <dgm:pt modelId="{B5F44C07-05E5-4233-9224-CE8D3E479987}" type="pres">
      <dgm:prSet presAssocID="{B7FC38D4-763A-47AD-9CC0-3389CB607DDF}" presName="hierRoot2" presStyleCnt="0">
        <dgm:presLayoutVars>
          <dgm:hierBranch val="init"/>
        </dgm:presLayoutVars>
      </dgm:prSet>
      <dgm:spPr/>
    </dgm:pt>
    <dgm:pt modelId="{B1DD3325-B7F4-4FB0-8FCD-6931F0CE4B02}" type="pres">
      <dgm:prSet presAssocID="{B7FC38D4-763A-47AD-9CC0-3389CB607DDF}" presName="rootComposite" presStyleCnt="0"/>
      <dgm:spPr/>
    </dgm:pt>
    <dgm:pt modelId="{51745EB2-1366-47C9-B361-3A0DA1BE17E8}" type="pres">
      <dgm:prSet presAssocID="{B7FC38D4-763A-47AD-9CC0-3389CB607DDF}" presName="rootText" presStyleLbl="node2" presStyleIdx="1" presStyleCnt="2" custScaleX="113033" custScaleY="36334">
        <dgm:presLayoutVars>
          <dgm:chPref val="3"/>
        </dgm:presLayoutVars>
      </dgm:prSet>
      <dgm:spPr/>
    </dgm:pt>
    <dgm:pt modelId="{63EE000B-2949-4C94-BD73-1ABE00A2F643}" type="pres">
      <dgm:prSet presAssocID="{B7FC38D4-763A-47AD-9CC0-3389CB607DDF}" presName="rootConnector" presStyleLbl="node2" presStyleIdx="1" presStyleCnt="2"/>
      <dgm:spPr/>
    </dgm:pt>
    <dgm:pt modelId="{AC4E85B5-523C-4B47-8748-86BC2D7DAEB3}" type="pres">
      <dgm:prSet presAssocID="{B7FC38D4-763A-47AD-9CC0-3389CB607DDF}" presName="hierChild4" presStyleCnt="0"/>
      <dgm:spPr/>
    </dgm:pt>
    <dgm:pt modelId="{C1DBF2AA-871D-40BC-AF96-0D1100A60DE6}" type="pres">
      <dgm:prSet presAssocID="{B7FC38D4-763A-47AD-9CC0-3389CB607DDF}" presName="hierChild5" presStyleCnt="0"/>
      <dgm:spPr/>
    </dgm:pt>
    <dgm:pt modelId="{C8F49C21-6FA1-4F63-A750-A64FC2BAC945}" type="pres">
      <dgm:prSet presAssocID="{B83706CE-9DD6-427D-9957-0F3A6FD659D0}" presName="hierChild3" presStyleCnt="0"/>
      <dgm:spPr/>
    </dgm:pt>
  </dgm:ptLst>
  <dgm:cxnLst>
    <dgm:cxn modelId="{2E45302D-0291-4369-BA3B-D913F16FCD70}" type="presOf" srcId="{4DC175EB-25E6-438E-8820-72AA466730E0}" destId="{C2485D4A-71A6-40C2-A51E-8625AE13D00D}" srcOrd="0" destOrd="0" presId="urn:microsoft.com/office/officeart/2005/8/layout/orgChart1"/>
    <dgm:cxn modelId="{5C97D03F-3687-467C-88C5-E7C987E3BD96}" type="presOf" srcId="{BAEE73D7-22F9-4D61-AC6B-1668E5C09AAA}" destId="{239970E0-D6D0-44B6-9A3F-D09497A63229}" srcOrd="0" destOrd="0" presId="urn:microsoft.com/office/officeart/2005/8/layout/orgChart1"/>
    <dgm:cxn modelId="{61F3C762-0ADC-45ED-8488-FD4BE8EC1AA5}" type="presOf" srcId="{B7FC38D4-763A-47AD-9CC0-3389CB607DDF}" destId="{63EE000B-2949-4C94-BD73-1ABE00A2F643}" srcOrd="1" destOrd="0" presId="urn:microsoft.com/office/officeart/2005/8/layout/orgChart1"/>
    <dgm:cxn modelId="{9386396C-E312-41F5-9CC5-4DFA91A8A316}" type="presOf" srcId="{7167949C-0AA8-46F7-9062-CED188A6918B}" destId="{F2FE96AD-4907-4CE3-98FC-EE7FA8D53CD1}" srcOrd="0" destOrd="0" presId="urn:microsoft.com/office/officeart/2005/8/layout/orgChart1"/>
    <dgm:cxn modelId="{C3B4E174-430C-4435-9F2F-C3F8D8C60FAD}" type="presOf" srcId="{ADE8DB39-F039-41D1-8D5E-E7D2FBFD0CA3}" destId="{D8568C2C-9234-4A90-A732-66502ACCF163}" srcOrd="1" destOrd="0" presId="urn:microsoft.com/office/officeart/2005/8/layout/orgChart1"/>
    <dgm:cxn modelId="{B7EE8A86-9A99-4A5D-9700-78136E5D2854}" type="presOf" srcId="{ADE8DB39-F039-41D1-8D5E-E7D2FBFD0CA3}" destId="{83547D2A-DB67-42D6-8FBD-AD289724BC87}" srcOrd="0" destOrd="0" presId="urn:microsoft.com/office/officeart/2005/8/layout/orgChart1"/>
    <dgm:cxn modelId="{122597AC-583C-4C55-9345-8BDD01632B06}" srcId="{B83706CE-9DD6-427D-9957-0F3A6FD659D0}" destId="{B7FC38D4-763A-47AD-9CC0-3389CB607DDF}" srcOrd="1" destOrd="0" parTransId="{BAEE73D7-22F9-4D61-AC6B-1668E5C09AAA}" sibTransId="{4F24FC9E-686B-4959-8B4A-A7A7B3C77AF5}"/>
    <dgm:cxn modelId="{379B59B2-A7A3-49CA-8C04-3097BD1C0064}" srcId="{B83706CE-9DD6-427D-9957-0F3A6FD659D0}" destId="{ADE8DB39-F039-41D1-8D5E-E7D2FBFD0CA3}" srcOrd="0" destOrd="0" parTransId="{4DC175EB-25E6-438E-8820-72AA466730E0}" sibTransId="{BDB9126E-9CB2-4911-A07E-9C573C7D4E02}"/>
    <dgm:cxn modelId="{EEC7FBC6-8715-42B3-BF38-64A6E6846291}" type="presOf" srcId="{B83706CE-9DD6-427D-9957-0F3A6FD659D0}" destId="{0DAA8CE0-0ADA-4FE5-B74D-29C71884B8A6}" srcOrd="1" destOrd="0" presId="urn:microsoft.com/office/officeart/2005/8/layout/orgChart1"/>
    <dgm:cxn modelId="{744DF6DB-7CA5-4EB1-9404-4C763357E5A8}" type="presOf" srcId="{B83706CE-9DD6-427D-9957-0F3A6FD659D0}" destId="{B4AD68A0-8076-48A7-AA59-85D7335180A3}" srcOrd="0" destOrd="0" presId="urn:microsoft.com/office/officeart/2005/8/layout/orgChart1"/>
    <dgm:cxn modelId="{A40C84E6-F6CF-46A2-8ADB-33DF2ABF6A73}" type="presOf" srcId="{B7FC38D4-763A-47AD-9CC0-3389CB607DDF}" destId="{51745EB2-1366-47C9-B361-3A0DA1BE17E8}" srcOrd="0" destOrd="0" presId="urn:microsoft.com/office/officeart/2005/8/layout/orgChart1"/>
    <dgm:cxn modelId="{872B35FB-97D3-4901-B838-F0B8A0E84E2B}" srcId="{7167949C-0AA8-46F7-9062-CED188A6918B}" destId="{B83706CE-9DD6-427D-9957-0F3A6FD659D0}" srcOrd="0" destOrd="0" parTransId="{4746F969-F509-4D23-BBDE-51DE6C1DEDE3}" sibTransId="{BA2F7184-0AC1-459E-9D9E-DDCE4CEA7A65}"/>
    <dgm:cxn modelId="{11457E12-45AB-40CC-91E1-2DDEBE5EF7E8}" type="presParOf" srcId="{F2FE96AD-4907-4CE3-98FC-EE7FA8D53CD1}" destId="{19A388D3-A459-41D9-8A2C-519C15DA19DE}" srcOrd="0" destOrd="0" presId="urn:microsoft.com/office/officeart/2005/8/layout/orgChart1"/>
    <dgm:cxn modelId="{1EAC1057-050E-4C34-99F8-3623D7AF5617}" type="presParOf" srcId="{19A388D3-A459-41D9-8A2C-519C15DA19DE}" destId="{4316D28C-44DD-46D6-A78E-72537B8FA91A}" srcOrd="0" destOrd="0" presId="urn:microsoft.com/office/officeart/2005/8/layout/orgChart1"/>
    <dgm:cxn modelId="{786005F2-678E-449E-8DC4-1FFB699D0543}" type="presParOf" srcId="{4316D28C-44DD-46D6-A78E-72537B8FA91A}" destId="{B4AD68A0-8076-48A7-AA59-85D7335180A3}" srcOrd="0" destOrd="0" presId="urn:microsoft.com/office/officeart/2005/8/layout/orgChart1"/>
    <dgm:cxn modelId="{9BE9D63E-E413-489F-8576-FDAE6FCDA625}" type="presParOf" srcId="{4316D28C-44DD-46D6-A78E-72537B8FA91A}" destId="{0DAA8CE0-0ADA-4FE5-B74D-29C71884B8A6}" srcOrd="1" destOrd="0" presId="urn:microsoft.com/office/officeart/2005/8/layout/orgChart1"/>
    <dgm:cxn modelId="{CF698FBE-A6B8-42AB-A6B4-74C865FE3D13}" type="presParOf" srcId="{19A388D3-A459-41D9-8A2C-519C15DA19DE}" destId="{F84BEB81-0282-4F1F-B6A9-86B3F695FE2F}" srcOrd="1" destOrd="0" presId="urn:microsoft.com/office/officeart/2005/8/layout/orgChart1"/>
    <dgm:cxn modelId="{40BD842A-9794-4C54-9735-105EA3E70BCF}" type="presParOf" srcId="{F84BEB81-0282-4F1F-B6A9-86B3F695FE2F}" destId="{C2485D4A-71A6-40C2-A51E-8625AE13D00D}" srcOrd="0" destOrd="0" presId="urn:microsoft.com/office/officeart/2005/8/layout/orgChart1"/>
    <dgm:cxn modelId="{C6427BC0-D1D7-401B-AEFE-D19C01567DC4}" type="presParOf" srcId="{F84BEB81-0282-4F1F-B6A9-86B3F695FE2F}" destId="{0C7BF3A6-A5B4-488F-B6FE-B86C78BCC62E}" srcOrd="1" destOrd="0" presId="urn:microsoft.com/office/officeart/2005/8/layout/orgChart1"/>
    <dgm:cxn modelId="{E55FB672-1D31-4CB2-ABC9-4CF1C605F9AE}" type="presParOf" srcId="{0C7BF3A6-A5B4-488F-B6FE-B86C78BCC62E}" destId="{D5071009-0C34-41C7-B3E6-C0242F8482CC}" srcOrd="0" destOrd="0" presId="urn:microsoft.com/office/officeart/2005/8/layout/orgChart1"/>
    <dgm:cxn modelId="{D567BB3E-3223-45AE-AC66-A664FAA898B1}" type="presParOf" srcId="{D5071009-0C34-41C7-B3E6-C0242F8482CC}" destId="{83547D2A-DB67-42D6-8FBD-AD289724BC87}" srcOrd="0" destOrd="0" presId="urn:microsoft.com/office/officeart/2005/8/layout/orgChart1"/>
    <dgm:cxn modelId="{64753D69-A43B-4267-8319-3F280922FF17}" type="presParOf" srcId="{D5071009-0C34-41C7-B3E6-C0242F8482CC}" destId="{D8568C2C-9234-4A90-A732-66502ACCF163}" srcOrd="1" destOrd="0" presId="urn:microsoft.com/office/officeart/2005/8/layout/orgChart1"/>
    <dgm:cxn modelId="{D06D8767-9D97-4344-B80E-3035C99B0618}" type="presParOf" srcId="{0C7BF3A6-A5B4-488F-B6FE-B86C78BCC62E}" destId="{224F5A1B-A4C8-442E-A792-093A564F6671}" srcOrd="1" destOrd="0" presId="urn:microsoft.com/office/officeart/2005/8/layout/orgChart1"/>
    <dgm:cxn modelId="{CC60B721-C2A8-4EED-9D3B-FFD6E1BFA037}" type="presParOf" srcId="{0C7BF3A6-A5B4-488F-B6FE-B86C78BCC62E}" destId="{2E94A4E2-F284-40E8-A3F4-EE1EC11194ED}" srcOrd="2" destOrd="0" presId="urn:microsoft.com/office/officeart/2005/8/layout/orgChart1"/>
    <dgm:cxn modelId="{AFBA9630-C729-4463-BEBF-73614557C469}" type="presParOf" srcId="{F84BEB81-0282-4F1F-B6A9-86B3F695FE2F}" destId="{239970E0-D6D0-44B6-9A3F-D09497A63229}" srcOrd="2" destOrd="0" presId="urn:microsoft.com/office/officeart/2005/8/layout/orgChart1"/>
    <dgm:cxn modelId="{07665577-0C5E-450F-92C8-AEA31D663A95}" type="presParOf" srcId="{F84BEB81-0282-4F1F-B6A9-86B3F695FE2F}" destId="{B5F44C07-05E5-4233-9224-CE8D3E479987}" srcOrd="3" destOrd="0" presId="urn:microsoft.com/office/officeart/2005/8/layout/orgChart1"/>
    <dgm:cxn modelId="{3400B19D-BE59-4918-828F-40BD0E73A83B}" type="presParOf" srcId="{B5F44C07-05E5-4233-9224-CE8D3E479987}" destId="{B1DD3325-B7F4-4FB0-8FCD-6931F0CE4B02}" srcOrd="0" destOrd="0" presId="urn:microsoft.com/office/officeart/2005/8/layout/orgChart1"/>
    <dgm:cxn modelId="{09E23E43-9BFA-45FE-80EF-20592096DBCE}" type="presParOf" srcId="{B1DD3325-B7F4-4FB0-8FCD-6931F0CE4B02}" destId="{51745EB2-1366-47C9-B361-3A0DA1BE17E8}" srcOrd="0" destOrd="0" presId="urn:microsoft.com/office/officeart/2005/8/layout/orgChart1"/>
    <dgm:cxn modelId="{4F8AA431-0A12-4156-B4E1-16F3D382683C}" type="presParOf" srcId="{B1DD3325-B7F4-4FB0-8FCD-6931F0CE4B02}" destId="{63EE000B-2949-4C94-BD73-1ABE00A2F643}" srcOrd="1" destOrd="0" presId="urn:microsoft.com/office/officeart/2005/8/layout/orgChart1"/>
    <dgm:cxn modelId="{53E0E6EE-1D2D-4902-9779-3D13825078C1}" type="presParOf" srcId="{B5F44C07-05E5-4233-9224-CE8D3E479987}" destId="{AC4E85B5-523C-4B47-8748-86BC2D7DAEB3}" srcOrd="1" destOrd="0" presId="urn:microsoft.com/office/officeart/2005/8/layout/orgChart1"/>
    <dgm:cxn modelId="{626E2CBB-23CF-4579-BEA5-F6B3D6CA68D5}" type="presParOf" srcId="{B5F44C07-05E5-4233-9224-CE8D3E479987}" destId="{C1DBF2AA-871D-40BC-AF96-0D1100A60DE6}" srcOrd="2" destOrd="0" presId="urn:microsoft.com/office/officeart/2005/8/layout/orgChart1"/>
    <dgm:cxn modelId="{BBE0FF3C-EA92-4163-ADC6-B623252315D8}" type="presParOf" srcId="{19A388D3-A459-41D9-8A2C-519C15DA19DE}" destId="{C8F49C21-6FA1-4F63-A750-A64FC2BAC94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2A6279-3EC8-4E19-9B99-94246999640F}" type="doc">
      <dgm:prSet loTypeId="urn:microsoft.com/office/officeart/2005/8/layout/hierarchy6" loCatId="hierarchy" qsTypeId="urn:microsoft.com/office/officeart/2005/8/quickstyle/simple1" qsCatId="simple" csTypeId="urn:microsoft.com/office/officeart/2005/8/colors/accent2_2" csCatId="accent2" phldr="1"/>
      <dgm:spPr/>
      <dgm:t>
        <a:bodyPr/>
        <a:lstStyle/>
        <a:p>
          <a:endParaRPr lang="en-US"/>
        </a:p>
      </dgm:t>
    </dgm:pt>
    <dgm:pt modelId="{A3DEE240-8A32-4F54-816D-6EBF50663E67}">
      <dgm:prSet phldrT="[Texte]" custT="1"/>
      <dgm:spPr>
        <a:effectLst>
          <a:glow rad="63500">
            <a:schemeClr val="accent2">
              <a:satMod val="175000"/>
              <a:alpha val="40000"/>
            </a:schemeClr>
          </a:glow>
        </a:effectLst>
      </dgm:spPr>
      <dgm:t>
        <a:bodyPr/>
        <a:lstStyle/>
        <a:p>
          <a:r>
            <a:rPr lang="fr-FR" sz="2400" b="1" dirty="0">
              <a:latin typeface="Times New Roman" panose="02020603050405020304" pitchFamily="18" charset="0"/>
              <a:cs typeface="Times New Roman" panose="02020603050405020304" pitchFamily="18" charset="0"/>
            </a:rPr>
            <a:t>Isomérie</a:t>
          </a:r>
          <a:endParaRPr lang="en-US" sz="1000" b="1" dirty="0">
            <a:latin typeface="Times New Roman" panose="02020603050405020304" pitchFamily="18" charset="0"/>
            <a:cs typeface="Times New Roman" panose="02020603050405020304" pitchFamily="18" charset="0"/>
          </a:endParaRPr>
        </a:p>
      </dgm:t>
    </dgm:pt>
    <dgm:pt modelId="{E37041A5-8CEC-47BE-A5F2-E207A3F4AF20}" type="parTrans" cxnId="{42CE7AC7-511A-4ABB-B10D-938C43B7AE06}">
      <dgm:prSet/>
      <dgm:spPr/>
      <dgm:t>
        <a:bodyPr/>
        <a:lstStyle/>
        <a:p>
          <a:endParaRPr lang="en-US"/>
        </a:p>
      </dgm:t>
    </dgm:pt>
    <dgm:pt modelId="{4F139BE5-4234-4FD6-82B2-0DF31BD05360}" type="sibTrans" cxnId="{42CE7AC7-511A-4ABB-B10D-938C43B7AE06}">
      <dgm:prSet/>
      <dgm:spPr/>
      <dgm:t>
        <a:bodyPr/>
        <a:lstStyle/>
        <a:p>
          <a:endParaRPr lang="en-US"/>
        </a:p>
      </dgm:t>
    </dgm:pt>
    <dgm:pt modelId="{165C94C9-205D-4B92-A1AC-C2628B80FA65}">
      <dgm:prSet phldrT="[Texte]" custT="1">
        <dgm:style>
          <a:lnRef idx="2">
            <a:schemeClr val="accent2"/>
          </a:lnRef>
          <a:fillRef idx="1">
            <a:schemeClr val="lt1"/>
          </a:fillRef>
          <a:effectRef idx="0">
            <a:schemeClr val="accent2"/>
          </a:effectRef>
          <a:fontRef idx="minor">
            <a:schemeClr val="dk1"/>
          </a:fontRef>
        </dgm:style>
      </dgm:prSet>
      <dgm:spPr>
        <a:solidFill>
          <a:schemeClr val="accent1">
            <a:lumMod val="20000"/>
            <a:lumOff val="80000"/>
          </a:schemeClr>
        </a:solidFill>
        <a:ln>
          <a:noFill/>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fr-FR" sz="1800" b="1" dirty="0">
              <a:latin typeface="Times New Roman" panose="02020603050405020304" pitchFamily="18" charset="0"/>
              <a:cs typeface="Times New Roman" panose="02020603050405020304" pitchFamily="18" charset="0"/>
            </a:rPr>
            <a:t>Stéréoisomérie</a:t>
          </a:r>
          <a:endParaRPr lang="en-US" sz="1800" b="1" dirty="0">
            <a:latin typeface="Times New Roman" panose="02020603050405020304" pitchFamily="18" charset="0"/>
            <a:cs typeface="Times New Roman" panose="02020603050405020304" pitchFamily="18" charset="0"/>
          </a:endParaRPr>
        </a:p>
      </dgm:t>
    </dgm:pt>
    <dgm:pt modelId="{7DC1097A-16D0-44FD-8D4C-CEAEAF05867E}" type="parTrans" cxnId="{4F40830E-42AB-41CF-A116-E9BE84B22C3B}">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3B657C4F-C4E9-4D97-8F28-8AD8ACA01921}" type="sibTrans" cxnId="{4F40830E-42AB-41CF-A116-E9BE84B22C3B}">
      <dgm:prSet/>
      <dgm:spPr/>
      <dgm:t>
        <a:bodyPr/>
        <a:lstStyle/>
        <a:p>
          <a:endParaRPr lang="en-US"/>
        </a:p>
      </dgm:t>
    </dgm:pt>
    <dgm:pt modelId="{FBC1804C-9964-416F-B4F8-AAC7D9BDBA40}">
      <dgm:prSet phldrT="[Texte]" custT="1">
        <dgm:style>
          <a:lnRef idx="2">
            <a:schemeClr val="accent1"/>
          </a:lnRef>
          <a:fillRef idx="1">
            <a:schemeClr val="lt1"/>
          </a:fillRef>
          <a:effectRef idx="0">
            <a:schemeClr val="accent1"/>
          </a:effectRef>
          <a:fontRef idx="minor">
            <a:schemeClr val="dk1"/>
          </a:fontRef>
        </dgm:style>
      </dgm:prSet>
      <dgm:spPr>
        <a:effectLst>
          <a:glow rad="101600">
            <a:schemeClr val="accent1">
              <a:satMod val="175000"/>
              <a:alpha val="40000"/>
            </a:schemeClr>
          </a:glow>
        </a:effectLst>
      </dgm:spPr>
      <dgm:t>
        <a:bodyPr/>
        <a:lstStyle/>
        <a:p>
          <a:r>
            <a:rPr lang="fr-FR" sz="1600" b="1" dirty="0">
              <a:latin typeface="Times New Roman" panose="02020603050405020304" pitchFamily="18" charset="0"/>
              <a:cs typeface="Times New Roman" panose="02020603050405020304" pitchFamily="18" charset="0"/>
            </a:rPr>
            <a:t>Isomérie de conformation</a:t>
          </a:r>
          <a:endParaRPr lang="en-US" sz="1600" b="1" dirty="0">
            <a:latin typeface="Times New Roman" panose="02020603050405020304" pitchFamily="18" charset="0"/>
            <a:cs typeface="Times New Roman" panose="02020603050405020304" pitchFamily="18" charset="0"/>
          </a:endParaRPr>
        </a:p>
      </dgm:t>
    </dgm:pt>
    <dgm:pt modelId="{AE37E6AB-A401-4831-BBE8-DF44C992275F}" type="parTrans" cxnId="{3AC2F69A-C74D-4B1C-920A-18ADE3C616C9}">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17623690-FBA5-4BDD-9BEB-CE2C5B50117C}" type="sibTrans" cxnId="{3AC2F69A-C74D-4B1C-920A-18ADE3C616C9}">
      <dgm:prSet/>
      <dgm:spPr/>
      <dgm:t>
        <a:bodyPr/>
        <a:lstStyle/>
        <a:p>
          <a:endParaRPr lang="en-US"/>
        </a:p>
      </dgm:t>
    </dgm:pt>
    <dgm:pt modelId="{E0BB3507-BEE4-483B-A3E5-D138CE4E9F80}">
      <dgm:prSet phldrT="[Texte]" custT="1">
        <dgm:style>
          <a:lnRef idx="2">
            <a:schemeClr val="accent1"/>
          </a:lnRef>
          <a:fillRef idx="1">
            <a:schemeClr val="lt1"/>
          </a:fillRef>
          <a:effectRef idx="0">
            <a:schemeClr val="accent1"/>
          </a:effectRef>
          <a:fontRef idx="minor">
            <a:schemeClr val="dk1"/>
          </a:fontRef>
        </dgm:style>
      </dgm:prSet>
      <dgm:spPr>
        <a:effectLst>
          <a:glow rad="101600">
            <a:schemeClr val="accent1">
              <a:satMod val="175000"/>
              <a:alpha val="40000"/>
            </a:schemeClr>
          </a:glow>
        </a:effectLst>
      </dgm:spPr>
      <dgm:t>
        <a:bodyPr/>
        <a:lstStyle/>
        <a:p>
          <a:r>
            <a:rPr lang="fr-FR" sz="1600" b="1" dirty="0">
              <a:latin typeface="Times New Roman" panose="02020603050405020304" pitchFamily="18" charset="0"/>
              <a:cs typeface="Times New Roman" panose="02020603050405020304" pitchFamily="18" charset="0"/>
            </a:rPr>
            <a:t>Isomérie de configuration</a:t>
          </a:r>
          <a:endParaRPr lang="en-US" sz="1600" b="1" dirty="0">
            <a:latin typeface="Times New Roman" panose="02020603050405020304" pitchFamily="18" charset="0"/>
            <a:cs typeface="Times New Roman" panose="02020603050405020304" pitchFamily="18" charset="0"/>
          </a:endParaRPr>
        </a:p>
      </dgm:t>
    </dgm:pt>
    <dgm:pt modelId="{30D664F0-C941-4689-9D2C-95C2001F72B5}" type="parTrans" cxnId="{5FF7FC7A-B0E4-45CC-965E-87A1CF7B69D7}">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174A162C-9C45-4FB8-8485-42E3821BEC20}" type="sibTrans" cxnId="{5FF7FC7A-B0E4-45CC-965E-87A1CF7B69D7}">
      <dgm:prSet/>
      <dgm:spPr/>
      <dgm:t>
        <a:bodyPr/>
        <a:lstStyle/>
        <a:p>
          <a:endParaRPr lang="en-US"/>
        </a:p>
      </dgm:t>
    </dgm:pt>
    <dgm:pt modelId="{54DAE1C2-86A4-4246-99A7-98062D0BA31E}">
      <dgm:prSet phldrT="[Texte]" custT="1">
        <dgm:style>
          <a:lnRef idx="2">
            <a:schemeClr val="accent2"/>
          </a:lnRef>
          <a:fillRef idx="1">
            <a:schemeClr val="lt1"/>
          </a:fillRef>
          <a:effectRef idx="0">
            <a:schemeClr val="accent2"/>
          </a:effectRef>
          <a:fontRef idx="minor">
            <a:schemeClr val="dk1"/>
          </a:fontRef>
        </dgm:style>
      </dgm:prSet>
      <dgm:spPr>
        <a:solidFill>
          <a:schemeClr val="accent5">
            <a:lumMod val="20000"/>
            <a:lumOff val="80000"/>
          </a:schemeClr>
        </a:solidFill>
        <a:ln>
          <a:noFill/>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fr-FR" sz="1800" b="1" dirty="0">
              <a:latin typeface="Times New Roman" panose="02020603050405020304" pitchFamily="18" charset="0"/>
              <a:cs typeface="Times New Roman" panose="02020603050405020304" pitchFamily="18" charset="0"/>
            </a:rPr>
            <a:t>Isomérie de constitution</a:t>
          </a:r>
          <a:endParaRPr lang="en-US" sz="1800" b="1" dirty="0">
            <a:latin typeface="Times New Roman" panose="02020603050405020304" pitchFamily="18" charset="0"/>
            <a:cs typeface="Times New Roman" panose="02020603050405020304" pitchFamily="18" charset="0"/>
          </a:endParaRPr>
        </a:p>
      </dgm:t>
    </dgm:pt>
    <dgm:pt modelId="{84159F49-A282-4A76-B876-13686E159996}" type="parTrans" cxnId="{D95459D7-B092-4017-BED6-63A97CF3A9CE}">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92FBDBB8-CB2A-49BA-86CC-AFAC322CF865}" type="sibTrans" cxnId="{D95459D7-B092-4017-BED6-63A97CF3A9CE}">
      <dgm:prSet/>
      <dgm:spPr/>
      <dgm:t>
        <a:bodyPr/>
        <a:lstStyle/>
        <a:p>
          <a:endParaRPr lang="en-US"/>
        </a:p>
      </dgm:t>
    </dgm:pt>
    <dgm:pt modelId="{0D7AA024-BFD8-4DDE-84A8-6F09587A2E1A}">
      <dgm:prSet phldrT="[Texte]" custT="1">
        <dgm:style>
          <a:lnRef idx="2">
            <a:schemeClr val="accent4"/>
          </a:lnRef>
          <a:fillRef idx="1">
            <a:schemeClr val="lt1"/>
          </a:fillRef>
          <a:effectRef idx="0">
            <a:schemeClr val="accent4"/>
          </a:effectRef>
          <a:fontRef idx="minor">
            <a:schemeClr val="dk1"/>
          </a:fontRef>
        </dgm:style>
      </dgm:prSet>
      <dgm:spPr>
        <a:effectLst>
          <a:glow rad="63500">
            <a:schemeClr val="accent5">
              <a:satMod val="175000"/>
              <a:alpha val="40000"/>
            </a:schemeClr>
          </a:glow>
        </a:effectLst>
      </dgm:spPr>
      <dgm:t>
        <a:bodyPr/>
        <a:lstStyle/>
        <a:p>
          <a:r>
            <a:rPr lang="fr-FR" sz="1600" b="1" dirty="0">
              <a:latin typeface="Times New Roman" panose="02020603050405020304" pitchFamily="18" charset="0"/>
              <a:cs typeface="Times New Roman" panose="02020603050405020304" pitchFamily="18" charset="0"/>
            </a:rPr>
            <a:t>Chaine</a:t>
          </a:r>
          <a:endParaRPr lang="en-US" sz="1600" b="1" dirty="0">
            <a:latin typeface="Times New Roman" panose="02020603050405020304" pitchFamily="18" charset="0"/>
            <a:cs typeface="Times New Roman" panose="02020603050405020304" pitchFamily="18" charset="0"/>
          </a:endParaRPr>
        </a:p>
      </dgm:t>
    </dgm:pt>
    <dgm:pt modelId="{5658E681-E5C0-47D2-8E04-B095EF1D9508}" type="parTrans" cxnId="{195090DB-2932-4749-A4C0-9E120CA6DBEE}">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2B041ED2-8BDC-4E43-BC81-C9A51A1ADA4D}" type="sibTrans" cxnId="{195090DB-2932-4749-A4C0-9E120CA6DBEE}">
      <dgm:prSet/>
      <dgm:spPr/>
      <dgm:t>
        <a:bodyPr/>
        <a:lstStyle/>
        <a:p>
          <a:endParaRPr lang="en-US"/>
        </a:p>
      </dgm:t>
    </dgm:pt>
    <dgm:pt modelId="{D82EFB7A-B25A-4D10-B962-6BF54BA665E6}">
      <dgm:prSet custT="1">
        <dgm:style>
          <a:lnRef idx="2">
            <a:schemeClr val="accent4"/>
          </a:lnRef>
          <a:fillRef idx="1">
            <a:schemeClr val="lt1"/>
          </a:fillRef>
          <a:effectRef idx="0">
            <a:schemeClr val="accent4"/>
          </a:effectRef>
          <a:fontRef idx="minor">
            <a:schemeClr val="dk1"/>
          </a:fontRef>
        </dgm:style>
      </dgm:prSet>
      <dgm:spPr>
        <a:effectLst>
          <a:glow rad="63500">
            <a:schemeClr val="accent5">
              <a:satMod val="175000"/>
              <a:alpha val="40000"/>
            </a:schemeClr>
          </a:glow>
        </a:effectLst>
      </dgm:spPr>
      <dgm:t>
        <a:bodyPr/>
        <a:lstStyle/>
        <a:p>
          <a:r>
            <a:rPr lang="fr-FR" sz="1600" b="1" dirty="0">
              <a:latin typeface="Times New Roman" panose="02020603050405020304" pitchFamily="18" charset="0"/>
              <a:cs typeface="Times New Roman" panose="02020603050405020304" pitchFamily="18" charset="0"/>
            </a:rPr>
            <a:t>Position</a:t>
          </a:r>
          <a:endParaRPr lang="en-US" sz="1600" b="1" dirty="0">
            <a:latin typeface="Times New Roman" panose="02020603050405020304" pitchFamily="18" charset="0"/>
            <a:cs typeface="Times New Roman" panose="02020603050405020304" pitchFamily="18" charset="0"/>
          </a:endParaRPr>
        </a:p>
      </dgm:t>
    </dgm:pt>
    <dgm:pt modelId="{41E29D6C-6398-4E16-A1A0-93EBF09DE86E}" type="parTrans" cxnId="{5007B6FF-AE99-4CE9-9A7A-710A3D6B830D}">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B49892A5-29FD-4C76-82B3-E5E5E67D5022}" type="sibTrans" cxnId="{5007B6FF-AE99-4CE9-9A7A-710A3D6B830D}">
      <dgm:prSet/>
      <dgm:spPr/>
      <dgm:t>
        <a:bodyPr/>
        <a:lstStyle/>
        <a:p>
          <a:endParaRPr lang="en-US"/>
        </a:p>
      </dgm:t>
    </dgm:pt>
    <dgm:pt modelId="{C6908D82-4C7D-4986-9FE4-6FA9B9C26F8A}">
      <dgm:prSet custT="1">
        <dgm:style>
          <a:lnRef idx="2">
            <a:schemeClr val="accent4"/>
          </a:lnRef>
          <a:fillRef idx="1">
            <a:schemeClr val="lt1"/>
          </a:fillRef>
          <a:effectRef idx="0">
            <a:schemeClr val="accent4"/>
          </a:effectRef>
          <a:fontRef idx="minor">
            <a:schemeClr val="dk1"/>
          </a:fontRef>
        </dgm:style>
      </dgm:prSet>
      <dgm:spPr>
        <a:effectLst>
          <a:glow rad="63500">
            <a:schemeClr val="accent5">
              <a:satMod val="175000"/>
              <a:alpha val="40000"/>
            </a:schemeClr>
          </a:glow>
        </a:effectLst>
      </dgm:spPr>
      <dgm:t>
        <a:bodyPr/>
        <a:lstStyle/>
        <a:p>
          <a:r>
            <a:rPr lang="fr-FR" sz="1600" b="1" dirty="0">
              <a:latin typeface="Times New Roman" panose="02020603050405020304" pitchFamily="18" charset="0"/>
              <a:cs typeface="Times New Roman" panose="02020603050405020304" pitchFamily="18" charset="0"/>
            </a:rPr>
            <a:t>Fonction</a:t>
          </a:r>
          <a:endParaRPr lang="en-US" sz="1600" b="1" dirty="0">
            <a:latin typeface="Times New Roman" panose="02020603050405020304" pitchFamily="18" charset="0"/>
            <a:cs typeface="Times New Roman" panose="02020603050405020304" pitchFamily="18" charset="0"/>
          </a:endParaRPr>
        </a:p>
      </dgm:t>
    </dgm:pt>
    <dgm:pt modelId="{4B7802A6-B7EA-40C3-AA08-39EF44A09B28}" type="parTrans" cxnId="{4837C9D5-8561-41C6-9235-21B59E08B159}">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676C35DA-84F4-42E2-9DEE-840B3685F682}" type="sibTrans" cxnId="{4837C9D5-8561-41C6-9235-21B59E08B159}">
      <dgm:prSet/>
      <dgm:spPr/>
      <dgm:t>
        <a:bodyPr/>
        <a:lstStyle/>
        <a:p>
          <a:endParaRPr lang="en-US"/>
        </a:p>
      </dgm:t>
    </dgm:pt>
    <dgm:pt modelId="{93A27261-90DE-40F2-BDEB-F4C818F7DBBC}">
      <dgm:prSet custT="1"/>
      <dgm:spPr>
        <a:solidFill>
          <a:srgbClr val="BC57CD"/>
        </a:solidFill>
        <a:ln>
          <a:noFill/>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fr-FR" sz="1600" b="1" dirty="0">
              <a:solidFill>
                <a:schemeClr val="tx1"/>
              </a:solidFill>
              <a:latin typeface="Times New Roman" panose="02020603050405020304" pitchFamily="18" charset="0"/>
              <a:cs typeface="Times New Roman" panose="02020603050405020304" pitchFamily="18" charset="0"/>
            </a:rPr>
            <a:t>Diastéréoisomères</a:t>
          </a:r>
          <a:endParaRPr lang="en-US" sz="1600" b="1" dirty="0">
            <a:solidFill>
              <a:schemeClr val="tx1"/>
            </a:solidFill>
            <a:latin typeface="Times New Roman" panose="02020603050405020304" pitchFamily="18" charset="0"/>
            <a:cs typeface="Times New Roman" panose="02020603050405020304" pitchFamily="18" charset="0"/>
          </a:endParaRPr>
        </a:p>
      </dgm:t>
    </dgm:pt>
    <dgm:pt modelId="{D9A3BC14-A87B-4359-B91A-135DDDF4CBDE}" type="parTrans" cxnId="{EA432E26-2D33-40A7-91D2-C86C78DB5CEC}">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38CCA04D-A848-48B3-A227-55210E08DB79}" type="sibTrans" cxnId="{EA432E26-2D33-40A7-91D2-C86C78DB5CEC}">
      <dgm:prSet/>
      <dgm:spPr/>
      <dgm:t>
        <a:bodyPr/>
        <a:lstStyle/>
        <a:p>
          <a:endParaRPr lang="en-US"/>
        </a:p>
      </dgm:t>
    </dgm:pt>
    <dgm:pt modelId="{47F9A29B-742A-4C19-A62A-74E885F3A486}">
      <dgm:prSet custT="1"/>
      <dgm:spPr>
        <a:solidFill>
          <a:srgbClr val="FF8FE2"/>
        </a:solidFill>
        <a:ln>
          <a:noFill/>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fr-FR" sz="1600" b="1" dirty="0">
              <a:solidFill>
                <a:schemeClr val="tx1"/>
              </a:solidFill>
              <a:latin typeface="Times New Roman" panose="02020603050405020304" pitchFamily="18" charset="0"/>
              <a:cs typeface="Times New Roman" panose="02020603050405020304" pitchFamily="18" charset="0"/>
            </a:rPr>
            <a:t>Enantiomères</a:t>
          </a:r>
          <a:endParaRPr lang="en-US" sz="1600" b="1" dirty="0">
            <a:solidFill>
              <a:schemeClr val="tx1"/>
            </a:solidFill>
            <a:latin typeface="Times New Roman" panose="02020603050405020304" pitchFamily="18" charset="0"/>
            <a:cs typeface="Times New Roman" panose="02020603050405020304" pitchFamily="18" charset="0"/>
          </a:endParaRPr>
        </a:p>
      </dgm:t>
    </dgm:pt>
    <dgm:pt modelId="{0A62EA53-0DEC-4FAD-A512-FFBC25E79B07}" type="parTrans" cxnId="{8EE80750-DC19-4629-93B5-0B6F951CED6E}">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FF1636C0-0523-4151-A6AC-4FD210703C97}" type="sibTrans" cxnId="{8EE80750-DC19-4629-93B5-0B6F951CED6E}">
      <dgm:prSet/>
      <dgm:spPr/>
      <dgm:t>
        <a:bodyPr/>
        <a:lstStyle/>
        <a:p>
          <a:endParaRPr lang="en-US"/>
        </a:p>
      </dgm:t>
    </dgm:pt>
    <dgm:pt modelId="{2BFDFDD6-9ABD-45E9-A983-D56E49F667B8}">
      <dgm:prSet custT="1">
        <dgm:style>
          <a:lnRef idx="2">
            <a:schemeClr val="accent5"/>
          </a:lnRef>
          <a:fillRef idx="1">
            <a:schemeClr val="lt1"/>
          </a:fillRef>
          <a:effectRef idx="0">
            <a:schemeClr val="accent5"/>
          </a:effectRef>
          <a:fontRef idx="minor">
            <a:schemeClr val="dk1"/>
          </a:fontRef>
        </dgm:style>
      </dgm:prSet>
      <dgm:spPr>
        <a:ln>
          <a:solidFill>
            <a:srgbClr val="FF33CC"/>
          </a:solidFill>
        </a:ln>
        <a:effectLst>
          <a:glow rad="139700">
            <a:srgbClr val="FF33CC">
              <a:alpha val="40000"/>
            </a:srgbClr>
          </a:glow>
        </a:effectLst>
      </dgm:spPr>
      <dgm:t>
        <a:bodyPr/>
        <a:lstStyle/>
        <a:p>
          <a:r>
            <a:rPr lang="fr-FR" sz="1050" b="1" dirty="0">
              <a:latin typeface="Times New Roman" panose="02020603050405020304" pitchFamily="18" charset="0"/>
              <a:cs typeface="Times New Roman" panose="02020603050405020304" pitchFamily="18" charset="0"/>
            </a:rPr>
            <a:t>Un ou plusieurs carbones asymétriques, image l’un de l’autre par rapport à un miroir plan</a:t>
          </a:r>
          <a:endParaRPr lang="en-US" sz="1050" b="1" dirty="0">
            <a:latin typeface="Times New Roman" panose="02020603050405020304" pitchFamily="18" charset="0"/>
            <a:cs typeface="Times New Roman" panose="02020603050405020304" pitchFamily="18" charset="0"/>
          </a:endParaRPr>
        </a:p>
      </dgm:t>
    </dgm:pt>
    <dgm:pt modelId="{B665D175-847E-443B-8722-209986F37D83}" type="parTrans" cxnId="{CD04608C-E0ED-4E5E-9050-074CDF372380}">
      <dgm:prSet>
        <dgm:style>
          <a:lnRef idx="1">
            <a:schemeClr val="dk1"/>
          </a:lnRef>
          <a:fillRef idx="0">
            <a:schemeClr val="dk1"/>
          </a:fillRef>
          <a:effectRef idx="0">
            <a:schemeClr val="dk1"/>
          </a:effectRef>
          <a:fontRef idx="minor">
            <a:schemeClr val="tx1"/>
          </a:fontRef>
        </dgm:style>
      </dgm:prSet>
      <dgm:spPr>
        <a:ln w="28575">
          <a:solidFill>
            <a:schemeClr val="tx1"/>
          </a:solidFill>
        </a:ln>
      </dgm:spPr>
      <dgm:t>
        <a:bodyPr/>
        <a:lstStyle/>
        <a:p>
          <a:endParaRPr lang="en-US" sz="1300" b="1">
            <a:latin typeface="Times New Roman" panose="02020603050405020304" pitchFamily="18" charset="0"/>
            <a:cs typeface="Times New Roman" panose="02020603050405020304" pitchFamily="18" charset="0"/>
          </a:endParaRPr>
        </a:p>
      </dgm:t>
    </dgm:pt>
    <dgm:pt modelId="{15E17EDB-95C2-49E8-8223-1F8CBFB2361F}" type="sibTrans" cxnId="{CD04608C-E0ED-4E5E-9050-074CDF372380}">
      <dgm:prSet/>
      <dgm:spPr/>
      <dgm:t>
        <a:bodyPr/>
        <a:lstStyle/>
        <a:p>
          <a:endParaRPr lang="en-US"/>
        </a:p>
      </dgm:t>
    </dgm:pt>
    <dgm:pt modelId="{642AB20C-CFE1-461B-81CA-2E49557860B3}">
      <dgm:prSet custT="1">
        <dgm:style>
          <a:lnRef idx="2">
            <a:schemeClr val="accent2"/>
          </a:lnRef>
          <a:fillRef idx="1">
            <a:schemeClr val="lt1"/>
          </a:fillRef>
          <a:effectRef idx="0">
            <a:schemeClr val="accent2"/>
          </a:effectRef>
          <a:fontRef idx="minor">
            <a:schemeClr val="dk1"/>
          </a:fontRef>
        </dgm:style>
      </dgm:prSet>
      <dgm:spPr>
        <a:ln>
          <a:solidFill>
            <a:srgbClr val="4F1A58"/>
          </a:solidFill>
        </a:ln>
        <a:effectLst>
          <a:glow rad="101600">
            <a:srgbClr val="4F1A58">
              <a:alpha val="60000"/>
            </a:srgbClr>
          </a:glow>
        </a:effectLst>
      </dgm:spPr>
      <dgm:t>
        <a:bodyPr/>
        <a:lstStyle/>
        <a:p>
          <a:r>
            <a:rPr lang="fr-FR" sz="1100" b="1" dirty="0">
              <a:latin typeface="Times New Roman" panose="02020603050405020304" pitchFamily="18" charset="0"/>
              <a:cs typeface="Times New Roman" panose="02020603050405020304" pitchFamily="18" charset="0"/>
            </a:rPr>
            <a:t>Isomérie éthylénique</a:t>
          </a:r>
          <a:br>
            <a:rPr lang="fr-FR" sz="1100" b="1" dirty="0">
              <a:latin typeface="Times New Roman" panose="02020603050405020304" pitchFamily="18" charset="0"/>
              <a:cs typeface="Times New Roman" panose="02020603050405020304" pitchFamily="18" charset="0"/>
            </a:rPr>
          </a:br>
          <a:r>
            <a:rPr lang="fr-FR" sz="1100" b="1" dirty="0">
              <a:latin typeface="Times New Roman" panose="02020603050405020304" pitchFamily="18" charset="0"/>
              <a:cs typeface="Times New Roman" panose="02020603050405020304" pitchFamily="18" charset="0"/>
            </a:rPr>
            <a:t>(isomérie géométrique)</a:t>
          </a:r>
          <a:br>
            <a:rPr lang="fr-FR" sz="1100" b="1" dirty="0">
              <a:latin typeface="Times New Roman" panose="02020603050405020304" pitchFamily="18" charset="0"/>
              <a:cs typeface="Times New Roman" panose="02020603050405020304" pitchFamily="18" charset="0"/>
            </a:rPr>
          </a:br>
          <a:r>
            <a:rPr lang="fr-FR" sz="1100" b="1" dirty="0">
              <a:latin typeface="Times New Roman" panose="02020603050405020304" pitchFamily="18" charset="0"/>
              <a:cs typeface="Times New Roman" panose="02020603050405020304" pitchFamily="18" charset="0"/>
            </a:rPr>
            <a:t>Z/E</a:t>
          </a:r>
          <a:endParaRPr lang="en-US" sz="1100" b="1" dirty="0">
            <a:latin typeface="Times New Roman" panose="02020603050405020304" pitchFamily="18" charset="0"/>
            <a:cs typeface="Times New Roman" panose="02020603050405020304" pitchFamily="18" charset="0"/>
          </a:endParaRPr>
        </a:p>
      </dgm:t>
    </dgm:pt>
    <dgm:pt modelId="{087E307A-574B-45ED-9B05-41AB09697C0E}" type="parTrans" cxnId="{4AE508BD-EC96-4A98-A821-94B6C0663BED}">
      <dgm:prSet>
        <dgm:style>
          <a:lnRef idx="1">
            <a:schemeClr val="dk1"/>
          </a:lnRef>
          <a:fillRef idx="0">
            <a:schemeClr val="dk1"/>
          </a:fillRef>
          <a:effectRef idx="0">
            <a:schemeClr val="dk1"/>
          </a:effectRef>
          <a:fontRef idx="minor">
            <a:schemeClr val="tx1"/>
          </a:fontRef>
        </dgm:style>
      </dgm:prSet>
      <dgm:spPr>
        <a:ln w="28575"/>
      </dgm:spPr>
      <dgm:t>
        <a:bodyPr/>
        <a:lstStyle/>
        <a:p>
          <a:endParaRPr lang="en-US" sz="1300" b="1">
            <a:latin typeface="Times New Roman" panose="02020603050405020304" pitchFamily="18" charset="0"/>
            <a:cs typeface="Times New Roman" panose="02020603050405020304" pitchFamily="18" charset="0"/>
          </a:endParaRPr>
        </a:p>
      </dgm:t>
    </dgm:pt>
    <dgm:pt modelId="{5CD24D0F-C921-43C1-94D8-AA1A765AC1BD}" type="sibTrans" cxnId="{4AE508BD-EC96-4A98-A821-94B6C0663BED}">
      <dgm:prSet/>
      <dgm:spPr/>
      <dgm:t>
        <a:bodyPr/>
        <a:lstStyle/>
        <a:p>
          <a:endParaRPr lang="en-US"/>
        </a:p>
      </dgm:t>
    </dgm:pt>
    <dgm:pt modelId="{81419532-D007-4CDD-8428-B14FFC6CDA0E}">
      <dgm:prSet custT="1">
        <dgm:style>
          <a:lnRef idx="2">
            <a:schemeClr val="accent2"/>
          </a:lnRef>
          <a:fillRef idx="1">
            <a:schemeClr val="lt1"/>
          </a:fillRef>
          <a:effectRef idx="0">
            <a:schemeClr val="accent2"/>
          </a:effectRef>
          <a:fontRef idx="minor">
            <a:schemeClr val="dk1"/>
          </a:fontRef>
        </dgm:style>
      </dgm:prSet>
      <dgm:spPr>
        <a:ln>
          <a:solidFill>
            <a:srgbClr val="4F1A58"/>
          </a:solidFill>
        </a:ln>
        <a:effectLst>
          <a:glow rad="101600">
            <a:srgbClr val="4F1A58">
              <a:alpha val="60000"/>
            </a:srgbClr>
          </a:glow>
        </a:effectLst>
      </dgm:spPr>
      <dgm:t>
        <a:bodyPr/>
        <a:lstStyle/>
        <a:p>
          <a:r>
            <a:rPr lang="fr-FR" sz="1100" b="1" dirty="0">
              <a:latin typeface="Times New Roman" panose="02020603050405020304" pitchFamily="18" charset="0"/>
              <a:cs typeface="Times New Roman" panose="02020603050405020304" pitchFamily="18" charset="0"/>
            </a:rPr>
            <a:t>Molécules comportant plusieurs carbones asymétriques  et non image l’un de l’autre</a:t>
          </a:r>
          <a:endParaRPr lang="en-US" sz="1100" b="1" dirty="0">
            <a:latin typeface="Times New Roman" panose="02020603050405020304" pitchFamily="18" charset="0"/>
            <a:cs typeface="Times New Roman" panose="02020603050405020304" pitchFamily="18" charset="0"/>
          </a:endParaRPr>
        </a:p>
      </dgm:t>
    </dgm:pt>
    <dgm:pt modelId="{B1F7CF74-49AA-46EF-AB7C-D6C25F611B4F}" type="parTrans" cxnId="{3EF38801-1F94-4129-AC81-0C0C89B494F7}">
      <dgm:prSet>
        <dgm:style>
          <a:lnRef idx="1">
            <a:schemeClr val="dk1"/>
          </a:lnRef>
          <a:fillRef idx="0">
            <a:schemeClr val="dk1"/>
          </a:fillRef>
          <a:effectRef idx="0">
            <a:schemeClr val="dk1"/>
          </a:effectRef>
          <a:fontRef idx="minor">
            <a:schemeClr val="tx1"/>
          </a:fontRef>
        </dgm:style>
      </dgm:prSet>
      <dgm:spPr>
        <a:ln w="28575"/>
      </dgm:spPr>
      <dgm:t>
        <a:bodyPr/>
        <a:lstStyle/>
        <a:p>
          <a:endParaRPr lang="en-US" sz="1300" b="1">
            <a:latin typeface="Times New Roman" panose="02020603050405020304" pitchFamily="18" charset="0"/>
            <a:cs typeface="Times New Roman" panose="02020603050405020304" pitchFamily="18" charset="0"/>
          </a:endParaRPr>
        </a:p>
      </dgm:t>
    </dgm:pt>
    <dgm:pt modelId="{DC322020-CA25-4224-A852-ADE566B0384E}" type="sibTrans" cxnId="{3EF38801-1F94-4129-AC81-0C0C89B494F7}">
      <dgm:prSet/>
      <dgm:spPr/>
      <dgm:t>
        <a:bodyPr/>
        <a:lstStyle/>
        <a:p>
          <a:endParaRPr lang="en-US"/>
        </a:p>
      </dgm:t>
    </dgm:pt>
    <dgm:pt modelId="{D1713B25-3AFB-40EB-AC72-29A16938D27B}">
      <dgm:prSet custT="1">
        <dgm:style>
          <a:lnRef idx="2">
            <a:schemeClr val="accent2"/>
          </a:lnRef>
          <a:fillRef idx="1">
            <a:schemeClr val="lt1"/>
          </a:fillRef>
          <a:effectRef idx="0">
            <a:schemeClr val="accent2"/>
          </a:effectRef>
          <a:fontRef idx="minor">
            <a:schemeClr val="dk1"/>
          </a:fontRef>
        </dgm:style>
      </dgm:prSet>
      <dgm:spPr>
        <a:ln>
          <a:solidFill>
            <a:srgbClr val="4F1A58"/>
          </a:solidFill>
        </a:ln>
        <a:effectLst>
          <a:glow rad="101600">
            <a:srgbClr val="4F1A58">
              <a:alpha val="60000"/>
            </a:srgbClr>
          </a:glow>
        </a:effectLst>
      </dgm:spPr>
      <dgm:t>
        <a:bodyPr/>
        <a:lstStyle/>
        <a:p>
          <a:r>
            <a:rPr lang="fr-FR" sz="1100" b="1" dirty="0">
              <a:latin typeface="Times New Roman" panose="02020603050405020304" pitchFamily="18" charset="0"/>
              <a:cs typeface="Times New Roman" panose="02020603050405020304" pitchFamily="18" charset="0"/>
            </a:rPr>
            <a:t>Isomérie cyclanique</a:t>
          </a:r>
          <a:br>
            <a:rPr lang="fr-FR" sz="1100" b="1" dirty="0">
              <a:latin typeface="Times New Roman" panose="02020603050405020304" pitchFamily="18" charset="0"/>
              <a:cs typeface="Times New Roman" panose="02020603050405020304" pitchFamily="18" charset="0"/>
            </a:rPr>
          </a:br>
          <a:r>
            <a:rPr lang="fr-FR" sz="1100" b="1" dirty="0">
              <a:latin typeface="Times New Roman" panose="02020603050405020304" pitchFamily="18" charset="0"/>
              <a:cs typeface="Times New Roman" panose="02020603050405020304" pitchFamily="18" charset="0"/>
            </a:rPr>
            <a:t>(isomérie géométrique)</a:t>
          </a:r>
          <a:br>
            <a:rPr lang="fr-FR" sz="1100" b="1" dirty="0">
              <a:latin typeface="Times New Roman" panose="02020603050405020304" pitchFamily="18" charset="0"/>
              <a:cs typeface="Times New Roman" panose="02020603050405020304" pitchFamily="18" charset="0"/>
            </a:rPr>
          </a:br>
          <a:r>
            <a:rPr lang="fr-FR" sz="1100" b="1" dirty="0">
              <a:latin typeface="Times New Roman" panose="02020603050405020304" pitchFamily="18" charset="0"/>
              <a:cs typeface="Times New Roman" panose="02020603050405020304" pitchFamily="18" charset="0"/>
            </a:rPr>
            <a:t>cis/trans</a:t>
          </a:r>
          <a:endParaRPr lang="en-US" sz="1100" b="1" dirty="0">
            <a:latin typeface="Times New Roman" panose="02020603050405020304" pitchFamily="18" charset="0"/>
            <a:cs typeface="Times New Roman" panose="02020603050405020304" pitchFamily="18" charset="0"/>
          </a:endParaRPr>
        </a:p>
      </dgm:t>
    </dgm:pt>
    <dgm:pt modelId="{98A53B03-ED93-4A23-BC6B-612FF81DAC57}" type="parTrans" cxnId="{574A4A0D-B698-4231-9D5A-881238D1454B}">
      <dgm:prSet>
        <dgm:style>
          <a:lnRef idx="1">
            <a:schemeClr val="dk1"/>
          </a:lnRef>
          <a:fillRef idx="0">
            <a:schemeClr val="dk1"/>
          </a:fillRef>
          <a:effectRef idx="0">
            <a:schemeClr val="dk1"/>
          </a:effectRef>
          <a:fontRef idx="minor">
            <a:schemeClr val="tx1"/>
          </a:fontRef>
        </dgm:style>
      </dgm:prSet>
      <dgm:spPr>
        <a:ln w="28575"/>
      </dgm:spPr>
      <dgm:t>
        <a:bodyPr/>
        <a:lstStyle/>
        <a:p>
          <a:endParaRPr lang="en-US" sz="1300" b="1">
            <a:latin typeface="Times New Roman" panose="02020603050405020304" pitchFamily="18" charset="0"/>
            <a:cs typeface="Times New Roman" panose="02020603050405020304" pitchFamily="18" charset="0"/>
          </a:endParaRPr>
        </a:p>
      </dgm:t>
    </dgm:pt>
    <dgm:pt modelId="{AA6F5384-B11B-44C4-A7EC-23E9861F3583}" type="sibTrans" cxnId="{574A4A0D-B698-4231-9D5A-881238D1454B}">
      <dgm:prSet/>
      <dgm:spPr/>
      <dgm:t>
        <a:bodyPr/>
        <a:lstStyle/>
        <a:p>
          <a:endParaRPr lang="en-US"/>
        </a:p>
      </dgm:t>
    </dgm:pt>
    <dgm:pt modelId="{1FA91AED-E647-4B47-A0E0-724F71C3F6C3}" type="pres">
      <dgm:prSet presAssocID="{702A6279-3EC8-4E19-9B99-94246999640F}" presName="mainComposite" presStyleCnt="0">
        <dgm:presLayoutVars>
          <dgm:chPref val="1"/>
          <dgm:dir/>
          <dgm:animOne val="branch"/>
          <dgm:animLvl val="lvl"/>
          <dgm:resizeHandles val="exact"/>
        </dgm:presLayoutVars>
      </dgm:prSet>
      <dgm:spPr/>
    </dgm:pt>
    <dgm:pt modelId="{8930E1D6-7C5F-4440-98EC-CB6236BA8376}" type="pres">
      <dgm:prSet presAssocID="{702A6279-3EC8-4E19-9B99-94246999640F}" presName="hierFlow" presStyleCnt="0"/>
      <dgm:spPr/>
    </dgm:pt>
    <dgm:pt modelId="{DB5CBDE3-DDDD-4140-97F6-5F4B0C16252F}" type="pres">
      <dgm:prSet presAssocID="{702A6279-3EC8-4E19-9B99-94246999640F}" presName="hierChild1" presStyleCnt="0">
        <dgm:presLayoutVars>
          <dgm:chPref val="1"/>
          <dgm:animOne val="branch"/>
          <dgm:animLvl val="lvl"/>
        </dgm:presLayoutVars>
      </dgm:prSet>
      <dgm:spPr/>
    </dgm:pt>
    <dgm:pt modelId="{D57F588A-FB66-43C5-A4AE-2EC3C4808F6A}" type="pres">
      <dgm:prSet presAssocID="{A3DEE240-8A32-4F54-816D-6EBF50663E67}" presName="Name14" presStyleCnt="0"/>
      <dgm:spPr/>
    </dgm:pt>
    <dgm:pt modelId="{D0F960AB-410A-4DA9-9553-166C68B037E4}" type="pres">
      <dgm:prSet presAssocID="{A3DEE240-8A32-4F54-816D-6EBF50663E67}" presName="level1Shape" presStyleLbl="node0" presStyleIdx="0" presStyleCnt="1" custScaleX="154690" custScaleY="57058">
        <dgm:presLayoutVars>
          <dgm:chPref val="3"/>
        </dgm:presLayoutVars>
      </dgm:prSet>
      <dgm:spPr/>
    </dgm:pt>
    <dgm:pt modelId="{2E16095F-FCD9-4AB7-BE4D-F3EDCD1BD437}" type="pres">
      <dgm:prSet presAssocID="{A3DEE240-8A32-4F54-816D-6EBF50663E67}" presName="hierChild2" presStyleCnt="0"/>
      <dgm:spPr/>
    </dgm:pt>
    <dgm:pt modelId="{749E1980-ED15-4CDA-A6AD-D6C07066DFD8}" type="pres">
      <dgm:prSet presAssocID="{7DC1097A-16D0-44FD-8D4C-CEAEAF05867E}" presName="Name19" presStyleLbl="parChTrans1D2" presStyleIdx="0" presStyleCnt="2" custScaleX="2000000" custScaleY="2000000"/>
      <dgm:spPr/>
    </dgm:pt>
    <dgm:pt modelId="{36409B99-F00D-4DFC-BF5A-363E114530FE}" type="pres">
      <dgm:prSet presAssocID="{165C94C9-205D-4B92-A1AC-C2628B80FA65}" presName="Name21" presStyleCnt="0"/>
      <dgm:spPr/>
    </dgm:pt>
    <dgm:pt modelId="{29474F0C-A3A5-412F-BD6E-E74D368DC9FC}" type="pres">
      <dgm:prSet presAssocID="{165C94C9-205D-4B92-A1AC-C2628B80FA65}" presName="level2Shape" presStyleLbl="node2" presStyleIdx="0" presStyleCnt="2" custScaleX="129331" custScaleY="57058"/>
      <dgm:spPr/>
    </dgm:pt>
    <dgm:pt modelId="{56B6C650-EC4F-4F98-926E-B4B05F5EAA60}" type="pres">
      <dgm:prSet presAssocID="{165C94C9-205D-4B92-A1AC-C2628B80FA65}" presName="hierChild3" presStyleCnt="0"/>
      <dgm:spPr/>
    </dgm:pt>
    <dgm:pt modelId="{43C539C0-AF4C-454A-9F93-805C36314D3F}" type="pres">
      <dgm:prSet presAssocID="{AE37E6AB-A401-4831-BBE8-DF44C992275F}" presName="Name19" presStyleLbl="parChTrans1D3" presStyleIdx="0" presStyleCnt="5" custScaleX="2000000" custScaleY="2000000"/>
      <dgm:spPr/>
    </dgm:pt>
    <dgm:pt modelId="{E2BE50E2-9833-4050-A070-85CE524A5A2A}" type="pres">
      <dgm:prSet presAssocID="{FBC1804C-9964-416F-B4F8-AAC7D9BDBA40}" presName="Name21" presStyleCnt="0"/>
      <dgm:spPr/>
    </dgm:pt>
    <dgm:pt modelId="{40E5051D-D6F0-4E78-A079-A0DB3D53BB71}" type="pres">
      <dgm:prSet presAssocID="{FBC1804C-9964-416F-B4F8-AAC7D9BDBA40}" presName="level2Shape" presStyleLbl="node3" presStyleIdx="0" presStyleCnt="5" custScaleX="107012" custScaleY="57058"/>
      <dgm:spPr/>
    </dgm:pt>
    <dgm:pt modelId="{68C8D98A-0574-4C94-BFB9-1B8518B4AAEC}" type="pres">
      <dgm:prSet presAssocID="{FBC1804C-9964-416F-B4F8-AAC7D9BDBA40}" presName="hierChild3" presStyleCnt="0"/>
      <dgm:spPr/>
    </dgm:pt>
    <dgm:pt modelId="{E2643546-6925-4CFC-B11B-08F8EA921756}" type="pres">
      <dgm:prSet presAssocID="{30D664F0-C941-4689-9D2C-95C2001F72B5}" presName="Name19" presStyleLbl="parChTrans1D3" presStyleIdx="1" presStyleCnt="5" custScaleX="2000000" custScaleY="2000000"/>
      <dgm:spPr/>
    </dgm:pt>
    <dgm:pt modelId="{FB8EFC31-EC03-4D8B-ADD8-D16E76851F07}" type="pres">
      <dgm:prSet presAssocID="{E0BB3507-BEE4-483B-A3E5-D138CE4E9F80}" presName="Name21" presStyleCnt="0"/>
      <dgm:spPr/>
    </dgm:pt>
    <dgm:pt modelId="{95F6E134-08EC-45CE-9D77-E9A5E40B0EF4}" type="pres">
      <dgm:prSet presAssocID="{E0BB3507-BEE4-483B-A3E5-D138CE4E9F80}" presName="level2Shape" presStyleLbl="node3" presStyleIdx="1" presStyleCnt="5" custScaleX="107012" custScaleY="57058"/>
      <dgm:spPr/>
    </dgm:pt>
    <dgm:pt modelId="{B73CF6AE-F675-449C-A41F-33C672635B40}" type="pres">
      <dgm:prSet presAssocID="{E0BB3507-BEE4-483B-A3E5-D138CE4E9F80}" presName="hierChild3" presStyleCnt="0"/>
      <dgm:spPr/>
    </dgm:pt>
    <dgm:pt modelId="{458182B7-7104-449F-98EF-348089323C32}" type="pres">
      <dgm:prSet presAssocID="{D9A3BC14-A87B-4359-B91A-135DDDF4CBDE}" presName="Name19" presStyleLbl="parChTrans1D4" presStyleIdx="0" presStyleCnt="6" custScaleX="2000000" custScaleY="2000000"/>
      <dgm:spPr/>
    </dgm:pt>
    <dgm:pt modelId="{B50C0E00-E051-42B9-B4A5-0F9717CAB45E}" type="pres">
      <dgm:prSet presAssocID="{93A27261-90DE-40F2-BDEB-F4C818F7DBBC}" presName="Name21" presStyleCnt="0"/>
      <dgm:spPr/>
    </dgm:pt>
    <dgm:pt modelId="{507F0FDF-CF0B-4D6C-A042-5F0F3D265D81}" type="pres">
      <dgm:prSet presAssocID="{93A27261-90DE-40F2-BDEB-F4C818F7DBBC}" presName="level2Shape" presStyleLbl="node4" presStyleIdx="0" presStyleCnt="6" custScaleX="133365" custScaleY="57058"/>
      <dgm:spPr/>
    </dgm:pt>
    <dgm:pt modelId="{C6FFD1BE-81E6-4B2F-9B65-26531701655F}" type="pres">
      <dgm:prSet presAssocID="{93A27261-90DE-40F2-BDEB-F4C818F7DBBC}" presName="hierChild3" presStyleCnt="0"/>
      <dgm:spPr/>
    </dgm:pt>
    <dgm:pt modelId="{D511872B-311C-42EC-A327-52EBF2013DBC}" type="pres">
      <dgm:prSet presAssocID="{087E307A-574B-45ED-9B05-41AB09697C0E}" presName="Name19" presStyleLbl="parChTrans1D4" presStyleIdx="1" presStyleCnt="6" custScaleX="2000000" custScaleY="2000000"/>
      <dgm:spPr/>
    </dgm:pt>
    <dgm:pt modelId="{14DC452C-252F-4DEF-9F13-ADF8554F6027}" type="pres">
      <dgm:prSet presAssocID="{642AB20C-CFE1-461B-81CA-2E49557860B3}" presName="Name21" presStyleCnt="0"/>
      <dgm:spPr/>
    </dgm:pt>
    <dgm:pt modelId="{C2EC5C83-7C7F-49FF-AC8B-65CDA0D6AAA3}" type="pres">
      <dgm:prSet presAssocID="{642AB20C-CFE1-461B-81CA-2E49557860B3}" presName="level2Shape" presStyleLbl="node4" presStyleIdx="1" presStyleCnt="6" custScaleX="137854" custScaleY="61020" custLinFactNeighborX="7530"/>
      <dgm:spPr/>
    </dgm:pt>
    <dgm:pt modelId="{98436F04-B4DB-407F-9DFC-0A931F9D5998}" type="pres">
      <dgm:prSet presAssocID="{642AB20C-CFE1-461B-81CA-2E49557860B3}" presName="hierChild3" presStyleCnt="0"/>
      <dgm:spPr/>
    </dgm:pt>
    <dgm:pt modelId="{DD810329-0DB7-4191-9588-51DD5EE475C7}" type="pres">
      <dgm:prSet presAssocID="{B1F7CF74-49AA-46EF-AB7C-D6C25F611B4F}" presName="Name19" presStyleLbl="parChTrans1D4" presStyleIdx="2" presStyleCnt="6" custScaleX="2000000" custScaleY="2000000"/>
      <dgm:spPr/>
    </dgm:pt>
    <dgm:pt modelId="{B5B3B26E-13C9-47AA-9E42-45A3C2465523}" type="pres">
      <dgm:prSet presAssocID="{81419532-D007-4CDD-8428-B14FFC6CDA0E}" presName="Name21" presStyleCnt="0"/>
      <dgm:spPr/>
    </dgm:pt>
    <dgm:pt modelId="{A449A667-6D18-4E33-85EA-480E11153624}" type="pres">
      <dgm:prSet presAssocID="{81419532-D007-4CDD-8428-B14FFC6CDA0E}" presName="level2Shape" presStyleLbl="node4" presStyleIdx="2" presStyleCnt="6" custScaleX="127369" custScaleY="70248" custLinFactNeighborX="-11222" custLinFactNeighborY="88823"/>
      <dgm:spPr/>
    </dgm:pt>
    <dgm:pt modelId="{4D8D667E-C9C8-4983-8D24-0E99C513E2CB}" type="pres">
      <dgm:prSet presAssocID="{81419532-D007-4CDD-8428-B14FFC6CDA0E}" presName="hierChild3" presStyleCnt="0"/>
      <dgm:spPr/>
    </dgm:pt>
    <dgm:pt modelId="{BFC820CB-06D6-44FC-9EB1-07215E76F39C}" type="pres">
      <dgm:prSet presAssocID="{98A53B03-ED93-4A23-BC6B-612FF81DAC57}" presName="Name19" presStyleLbl="parChTrans1D4" presStyleIdx="3" presStyleCnt="6" custScaleX="2000000" custScaleY="2000000"/>
      <dgm:spPr/>
    </dgm:pt>
    <dgm:pt modelId="{7B3D6451-22E7-494A-99AD-0981FDEEE6E8}" type="pres">
      <dgm:prSet presAssocID="{D1713B25-3AFB-40EB-AC72-29A16938D27B}" presName="Name21" presStyleCnt="0"/>
      <dgm:spPr/>
    </dgm:pt>
    <dgm:pt modelId="{E095E9A3-DDB7-4BD4-A967-2B257245F9EA}" type="pres">
      <dgm:prSet presAssocID="{D1713B25-3AFB-40EB-AC72-29A16938D27B}" presName="level2Shape" presStyleLbl="node4" presStyleIdx="3" presStyleCnt="6" custScaleX="115752" custScaleY="64651" custLinFactNeighborX="-19076"/>
      <dgm:spPr/>
    </dgm:pt>
    <dgm:pt modelId="{5ABAB7DC-D301-4A38-A71A-BDC0A34CE952}" type="pres">
      <dgm:prSet presAssocID="{D1713B25-3AFB-40EB-AC72-29A16938D27B}" presName="hierChild3" presStyleCnt="0"/>
      <dgm:spPr/>
    </dgm:pt>
    <dgm:pt modelId="{A7A45DCE-6265-4BB4-B49A-3E4DE319DE24}" type="pres">
      <dgm:prSet presAssocID="{0A62EA53-0DEC-4FAD-A512-FFBC25E79B07}" presName="Name19" presStyleLbl="parChTrans1D4" presStyleIdx="4" presStyleCnt="6" custScaleX="2000000" custScaleY="2000000"/>
      <dgm:spPr/>
    </dgm:pt>
    <dgm:pt modelId="{2D7A6628-1674-409A-8BF4-AE8867D89FFD}" type="pres">
      <dgm:prSet presAssocID="{47F9A29B-742A-4C19-A62A-74E885F3A486}" presName="Name21" presStyleCnt="0"/>
      <dgm:spPr/>
    </dgm:pt>
    <dgm:pt modelId="{EDB02563-ABC6-41FD-B949-EFDA145D02D2}" type="pres">
      <dgm:prSet presAssocID="{47F9A29B-742A-4C19-A62A-74E885F3A486}" presName="level2Shape" presStyleLbl="node4" presStyleIdx="4" presStyleCnt="6" custScaleX="133365" custScaleY="57058" custLinFactNeighborY="123"/>
      <dgm:spPr/>
    </dgm:pt>
    <dgm:pt modelId="{ED565705-8D3A-41C6-A264-4D08F1374DD3}" type="pres">
      <dgm:prSet presAssocID="{47F9A29B-742A-4C19-A62A-74E885F3A486}" presName="hierChild3" presStyleCnt="0"/>
      <dgm:spPr/>
    </dgm:pt>
    <dgm:pt modelId="{2EEEA543-71D8-4317-AB52-0D71F1A11A43}" type="pres">
      <dgm:prSet presAssocID="{B665D175-847E-443B-8722-209986F37D83}" presName="Name19" presStyleLbl="parChTrans1D4" presStyleIdx="5" presStyleCnt="6" custScaleX="2000000" custScaleY="2000000"/>
      <dgm:spPr/>
    </dgm:pt>
    <dgm:pt modelId="{35C5367A-F561-4F1A-9A76-BB24D789A6FB}" type="pres">
      <dgm:prSet presAssocID="{2BFDFDD6-9ABD-45E9-A983-D56E49F667B8}" presName="Name21" presStyleCnt="0"/>
      <dgm:spPr/>
    </dgm:pt>
    <dgm:pt modelId="{0F335E1A-53DD-4A46-89C5-B93E03CE7686}" type="pres">
      <dgm:prSet presAssocID="{2BFDFDD6-9ABD-45E9-A983-D56E49F667B8}" presName="level2Shape" presStyleLbl="node4" presStyleIdx="5" presStyleCnt="6" custScaleX="139926" custScaleY="75101"/>
      <dgm:spPr/>
    </dgm:pt>
    <dgm:pt modelId="{76DDFC86-B96F-4157-8F43-796BBEDC6128}" type="pres">
      <dgm:prSet presAssocID="{2BFDFDD6-9ABD-45E9-A983-D56E49F667B8}" presName="hierChild3" presStyleCnt="0"/>
      <dgm:spPr/>
    </dgm:pt>
    <dgm:pt modelId="{AD4B3DB6-FC8C-49A5-B363-55529DCFDD2D}" type="pres">
      <dgm:prSet presAssocID="{84159F49-A282-4A76-B876-13686E159996}" presName="Name19" presStyleLbl="parChTrans1D2" presStyleIdx="1" presStyleCnt="2" custScaleX="2000000" custScaleY="2000000"/>
      <dgm:spPr/>
    </dgm:pt>
    <dgm:pt modelId="{454CF8D6-4581-4E1F-9C47-75908EB348A2}" type="pres">
      <dgm:prSet presAssocID="{54DAE1C2-86A4-4246-99A7-98062D0BA31E}" presName="Name21" presStyleCnt="0"/>
      <dgm:spPr/>
    </dgm:pt>
    <dgm:pt modelId="{8397EA2B-FD08-4B5D-812F-D421998526E4}" type="pres">
      <dgm:prSet presAssocID="{54DAE1C2-86A4-4246-99A7-98062D0BA31E}" presName="level2Shape" presStyleLbl="node2" presStyleIdx="1" presStyleCnt="2" custScaleX="129331" custScaleY="57058"/>
      <dgm:spPr/>
    </dgm:pt>
    <dgm:pt modelId="{17B24D45-328C-4941-9250-70168396501E}" type="pres">
      <dgm:prSet presAssocID="{54DAE1C2-86A4-4246-99A7-98062D0BA31E}" presName="hierChild3" presStyleCnt="0"/>
      <dgm:spPr/>
    </dgm:pt>
    <dgm:pt modelId="{C640C3D5-89DF-48C7-A844-97C55154A349}" type="pres">
      <dgm:prSet presAssocID="{5658E681-E5C0-47D2-8E04-B095EF1D9508}" presName="Name19" presStyleLbl="parChTrans1D3" presStyleIdx="2" presStyleCnt="5" custScaleX="2000000" custScaleY="2000000"/>
      <dgm:spPr/>
    </dgm:pt>
    <dgm:pt modelId="{A7047DBD-3569-42D6-8F6C-3CC290E05F67}" type="pres">
      <dgm:prSet presAssocID="{0D7AA024-BFD8-4DDE-84A8-6F09587A2E1A}" presName="Name21" presStyleCnt="0"/>
      <dgm:spPr/>
    </dgm:pt>
    <dgm:pt modelId="{F5B4F48E-4E0A-4F5A-A0D5-1D34E4131113}" type="pres">
      <dgm:prSet presAssocID="{0D7AA024-BFD8-4DDE-84A8-6F09587A2E1A}" presName="level2Shape" presStyleLbl="node3" presStyleIdx="2" presStyleCnt="5" custScaleX="107012" custScaleY="57058"/>
      <dgm:spPr/>
    </dgm:pt>
    <dgm:pt modelId="{EC991F17-10E9-4CF5-9A61-585EEFD15DE1}" type="pres">
      <dgm:prSet presAssocID="{0D7AA024-BFD8-4DDE-84A8-6F09587A2E1A}" presName="hierChild3" presStyleCnt="0"/>
      <dgm:spPr/>
    </dgm:pt>
    <dgm:pt modelId="{1392090F-A6A1-48E5-ADBD-9253B3918338}" type="pres">
      <dgm:prSet presAssocID="{41E29D6C-6398-4E16-A1A0-93EBF09DE86E}" presName="Name19" presStyleLbl="parChTrans1D3" presStyleIdx="3" presStyleCnt="5" custScaleX="2000000" custScaleY="2000000"/>
      <dgm:spPr/>
    </dgm:pt>
    <dgm:pt modelId="{8657BA5B-82FE-4D89-8A60-CC35F2581085}" type="pres">
      <dgm:prSet presAssocID="{D82EFB7A-B25A-4D10-B962-6BF54BA665E6}" presName="Name21" presStyleCnt="0"/>
      <dgm:spPr/>
    </dgm:pt>
    <dgm:pt modelId="{67E7A34E-E7DE-4384-B043-E687957FDECF}" type="pres">
      <dgm:prSet presAssocID="{D82EFB7A-B25A-4D10-B962-6BF54BA665E6}" presName="level2Shape" presStyleLbl="node3" presStyleIdx="3" presStyleCnt="5" custScaleX="107012" custScaleY="57058"/>
      <dgm:spPr/>
    </dgm:pt>
    <dgm:pt modelId="{144B2715-2096-42A6-AEFF-038083B591E0}" type="pres">
      <dgm:prSet presAssocID="{D82EFB7A-B25A-4D10-B962-6BF54BA665E6}" presName="hierChild3" presStyleCnt="0"/>
      <dgm:spPr/>
    </dgm:pt>
    <dgm:pt modelId="{91F088A2-5416-4F9F-8ADD-7E18285AFED7}" type="pres">
      <dgm:prSet presAssocID="{4B7802A6-B7EA-40C3-AA08-39EF44A09B28}" presName="Name19" presStyleLbl="parChTrans1D3" presStyleIdx="4" presStyleCnt="5" custScaleX="2000000" custScaleY="2000000"/>
      <dgm:spPr/>
    </dgm:pt>
    <dgm:pt modelId="{FBB3CDBD-C8D2-4323-9265-7DACC1D815B6}" type="pres">
      <dgm:prSet presAssocID="{C6908D82-4C7D-4986-9FE4-6FA9B9C26F8A}" presName="Name21" presStyleCnt="0"/>
      <dgm:spPr/>
    </dgm:pt>
    <dgm:pt modelId="{2BB57B2B-32C3-4EC1-8F2E-EFC261D0F95A}" type="pres">
      <dgm:prSet presAssocID="{C6908D82-4C7D-4986-9FE4-6FA9B9C26F8A}" presName="level2Shape" presStyleLbl="node3" presStyleIdx="4" presStyleCnt="5" custScaleX="107012" custScaleY="57058"/>
      <dgm:spPr/>
    </dgm:pt>
    <dgm:pt modelId="{FCDC6D06-070A-405E-990B-C056C2D6A092}" type="pres">
      <dgm:prSet presAssocID="{C6908D82-4C7D-4986-9FE4-6FA9B9C26F8A}" presName="hierChild3" presStyleCnt="0"/>
      <dgm:spPr/>
    </dgm:pt>
    <dgm:pt modelId="{B7B66D38-ACF1-4657-85A0-5424E08048D7}" type="pres">
      <dgm:prSet presAssocID="{702A6279-3EC8-4E19-9B99-94246999640F}" presName="bgShapesFlow" presStyleCnt="0"/>
      <dgm:spPr/>
    </dgm:pt>
  </dgm:ptLst>
  <dgm:cxnLst>
    <dgm:cxn modelId="{3EF38801-1F94-4129-AC81-0C0C89B494F7}" srcId="{93A27261-90DE-40F2-BDEB-F4C818F7DBBC}" destId="{81419532-D007-4CDD-8428-B14FFC6CDA0E}" srcOrd="1" destOrd="0" parTransId="{B1F7CF74-49AA-46EF-AB7C-D6C25F611B4F}" sibTransId="{DC322020-CA25-4224-A852-ADE566B0384E}"/>
    <dgm:cxn modelId="{574A4A0D-B698-4231-9D5A-881238D1454B}" srcId="{93A27261-90DE-40F2-BDEB-F4C818F7DBBC}" destId="{D1713B25-3AFB-40EB-AC72-29A16938D27B}" srcOrd="2" destOrd="0" parTransId="{98A53B03-ED93-4A23-BC6B-612FF81DAC57}" sibTransId="{AA6F5384-B11B-44C4-A7EC-23E9861F3583}"/>
    <dgm:cxn modelId="{4F40830E-42AB-41CF-A116-E9BE84B22C3B}" srcId="{A3DEE240-8A32-4F54-816D-6EBF50663E67}" destId="{165C94C9-205D-4B92-A1AC-C2628B80FA65}" srcOrd="0" destOrd="0" parTransId="{7DC1097A-16D0-44FD-8D4C-CEAEAF05867E}" sibTransId="{3B657C4F-C4E9-4D97-8F28-8AD8ACA01921}"/>
    <dgm:cxn modelId="{9E19581C-F5DB-4FDE-90B9-4B39DBF18F1D}" type="presOf" srcId="{165C94C9-205D-4B92-A1AC-C2628B80FA65}" destId="{29474F0C-A3A5-412F-BD6E-E74D368DC9FC}" srcOrd="0" destOrd="0" presId="urn:microsoft.com/office/officeart/2005/8/layout/hierarchy6"/>
    <dgm:cxn modelId="{5E74421D-B254-49C9-9DC2-EE94A015D6C6}" type="presOf" srcId="{B665D175-847E-443B-8722-209986F37D83}" destId="{2EEEA543-71D8-4317-AB52-0D71F1A11A43}" srcOrd="0" destOrd="0" presId="urn:microsoft.com/office/officeart/2005/8/layout/hierarchy6"/>
    <dgm:cxn modelId="{D0EC6F21-FEF6-4C99-83F9-ACA90D9F53AC}" type="presOf" srcId="{2BFDFDD6-9ABD-45E9-A983-D56E49F667B8}" destId="{0F335E1A-53DD-4A46-89C5-B93E03CE7686}" srcOrd="0" destOrd="0" presId="urn:microsoft.com/office/officeart/2005/8/layout/hierarchy6"/>
    <dgm:cxn modelId="{EA432E26-2D33-40A7-91D2-C86C78DB5CEC}" srcId="{E0BB3507-BEE4-483B-A3E5-D138CE4E9F80}" destId="{93A27261-90DE-40F2-BDEB-F4C818F7DBBC}" srcOrd="0" destOrd="0" parTransId="{D9A3BC14-A87B-4359-B91A-135DDDF4CBDE}" sibTransId="{38CCA04D-A848-48B3-A227-55210E08DB79}"/>
    <dgm:cxn modelId="{3E4F4727-B44E-48C2-B1B8-371698386E2E}" type="presOf" srcId="{702A6279-3EC8-4E19-9B99-94246999640F}" destId="{1FA91AED-E647-4B47-A0E0-724F71C3F6C3}" srcOrd="0" destOrd="0" presId="urn:microsoft.com/office/officeart/2005/8/layout/hierarchy6"/>
    <dgm:cxn modelId="{7263A62D-B792-49FE-BA7A-66B988B5A81F}" type="presOf" srcId="{0D7AA024-BFD8-4DDE-84A8-6F09587A2E1A}" destId="{F5B4F48E-4E0A-4F5A-A0D5-1D34E4131113}" srcOrd="0" destOrd="0" presId="urn:microsoft.com/office/officeart/2005/8/layout/hierarchy6"/>
    <dgm:cxn modelId="{EB52162E-32C9-4416-8EBD-1A3B0BF455C7}" type="presOf" srcId="{B1F7CF74-49AA-46EF-AB7C-D6C25F611B4F}" destId="{DD810329-0DB7-4191-9588-51DD5EE475C7}" srcOrd="0" destOrd="0" presId="urn:microsoft.com/office/officeart/2005/8/layout/hierarchy6"/>
    <dgm:cxn modelId="{7C557D5C-A4BA-42A8-91B0-1171842F484C}" type="presOf" srcId="{30D664F0-C941-4689-9D2C-95C2001F72B5}" destId="{E2643546-6925-4CFC-B11B-08F8EA921756}" srcOrd="0" destOrd="0" presId="urn:microsoft.com/office/officeart/2005/8/layout/hierarchy6"/>
    <dgm:cxn modelId="{8557B45C-E8B3-4A6D-B40F-BEC2C2EF9678}" type="presOf" srcId="{98A53B03-ED93-4A23-BC6B-612FF81DAC57}" destId="{BFC820CB-06D6-44FC-9EB1-07215E76F39C}" srcOrd="0" destOrd="0" presId="urn:microsoft.com/office/officeart/2005/8/layout/hierarchy6"/>
    <dgm:cxn modelId="{CB74C85E-08BF-49E0-BE37-F50A6D9C63E3}" type="presOf" srcId="{642AB20C-CFE1-461B-81CA-2E49557860B3}" destId="{C2EC5C83-7C7F-49FF-AC8B-65CDA0D6AAA3}" srcOrd="0" destOrd="0" presId="urn:microsoft.com/office/officeart/2005/8/layout/hierarchy6"/>
    <dgm:cxn modelId="{E18C3643-78F6-417C-931A-6E8450E0748E}" type="presOf" srcId="{81419532-D007-4CDD-8428-B14FFC6CDA0E}" destId="{A449A667-6D18-4E33-85EA-480E11153624}" srcOrd="0" destOrd="0" presId="urn:microsoft.com/office/officeart/2005/8/layout/hierarchy6"/>
    <dgm:cxn modelId="{03F5D446-9988-4F5C-AA20-9245E73E1FCB}" type="presOf" srcId="{D9A3BC14-A87B-4359-B91A-135DDDF4CBDE}" destId="{458182B7-7104-449F-98EF-348089323C32}" srcOrd="0" destOrd="0" presId="urn:microsoft.com/office/officeart/2005/8/layout/hierarchy6"/>
    <dgm:cxn modelId="{8EE80750-DC19-4629-93B5-0B6F951CED6E}" srcId="{E0BB3507-BEE4-483B-A3E5-D138CE4E9F80}" destId="{47F9A29B-742A-4C19-A62A-74E885F3A486}" srcOrd="1" destOrd="0" parTransId="{0A62EA53-0DEC-4FAD-A512-FFBC25E79B07}" sibTransId="{FF1636C0-0523-4151-A6AC-4FD210703C97}"/>
    <dgm:cxn modelId="{77F3DB70-C161-4279-B037-65F41F15B275}" type="presOf" srcId="{47F9A29B-742A-4C19-A62A-74E885F3A486}" destId="{EDB02563-ABC6-41FD-B949-EFDA145D02D2}" srcOrd="0" destOrd="0" presId="urn:microsoft.com/office/officeart/2005/8/layout/hierarchy6"/>
    <dgm:cxn modelId="{5FF7FC7A-B0E4-45CC-965E-87A1CF7B69D7}" srcId="{165C94C9-205D-4B92-A1AC-C2628B80FA65}" destId="{E0BB3507-BEE4-483B-A3E5-D138CE4E9F80}" srcOrd="1" destOrd="0" parTransId="{30D664F0-C941-4689-9D2C-95C2001F72B5}" sibTransId="{174A162C-9C45-4FB8-8485-42E3821BEC20}"/>
    <dgm:cxn modelId="{8C51A482-6B48-4C71-9790-BB8892C314B5}" type="presOf" srcId="{93A27261-90DE-40F2-BDEB-F4C818F7DBBC}" destId="{507F0FDF-CF0B-4D6C-A042-5F0F3D265D81}" srcOrd="0" destOrd="0" presId="urn:microsoft.com/office/officeart/2005/8/layout/hierarchy6"/>
    <dgm:cxn modelId="{CD04608C-E0ED-4E5E-9050-074CDF372380}" srcId="{47F9A29B-742A-4C19-A62A-74E885F3A486}" destId="{2BFDFDD6-9ABD-45E9-A983-D56E49F667B8}" srcOrd="0" destOrd="0" parTransId="{B665D175-847E-443B-8722-209986F37D83}" sibTransId="{15E17EDB-95C2-49E8-8223-1F8CBFB2361F}"/>
    <dgm:cxn modelId="{52735597-B238-4DBF-8322-6E81DB0751CC}" type="presOf" srcId="{D1713B25-3AFB-40EB-AC72-29A16938D27B}" destId="{E095E9A3-DDB7-4BD4-A967-2B257245F9EA}" srcOrd="0" destOrd="0" presId="urn:microsoft.com/office/officeart/2005/8/layout/hierarchy6"/>
    <dgm:cxn modelId="{ACB4D69A-9533-4372-9DE7-90704F9BA23A}" type="presOf" srcId="{D82EFB7A-B25A-4D10-B962-6BF54BA665E6}" destId="{67E7A34E-E7DE-4384-B043-E687957FDECF}" srcOrd="0" destOrd="0" presId="urn:microsoft.com/office/officeart/2005/8/layout/hierarchy6"/>
    <dgm:cxn modelId="{3AC2F69A-C74D-4B1C-920A-18ADE3C616C9}" srcId="{165C94C9-205D-4B92-A1AC-C2628B80FA65}" destId="{FBC1804C-9964-416F-B4F8-AAC7D9BDBA40}" srcOrd="0" destOrd="0" parTransId="{AE37E6AB-A401-4831-BBE8-DF44C992275F}" sibTransId="{17623690-FBA5-4BDD-9BEB-CE2C5B50117C}"/>
    <dgm:cxn modelId="{EE60A5A4-3FC9-48DD-8544-03C21E151CA4}" type="presOf" srcId="{087E307A-574B-45ED-9B05-41AB09697C0E}" destId="{D511872B-311C-42EC-A327-52EBF2013DBC}" srcOrd="0" destOrd="0" presId="urn:microsoft.com/office/officeart/2005/8/layout/hierarchy6"/>
    <dgm:cxn modelId="{F7B14ABC-A0D9-4D01-A158-A96EB37F19F7}" type="presOf" srcId="{84159F49-A282-4A76-B876-13686E159996}" destId="{AD4B3DB6-FC8C-49A5-B363-55529DCFDD2D}" srcOrd="0" destOrd="0" presId="urn:microsoft.com/office/officeart/2005/8/layout/hierarchy6"/>
    <dgm:cxn modelId="{4AE508BD-EC96-4A98-A821-94B6C0663BED}" srcId="{93A27261-90DE-40F2-BDEB-F4C818F7DBBC}" destId="{642AB20C-CFE1-461B-81CA-2E49557860B3}" srcOrd="0" destOrd="0" parTransId="{087E307A-574B-45ED-9B05-41AB09697C0E}" sibTransId="{5CD24D0F-C921-43C1-94D8-AA1A765AC1BD}"/>
    <dgm:cxn modelId="{0581C2C1-89C3-46F0-A54A-B4874801A054}" type="presOf" srcId="{C6908D82-4C7D-4986-9FE4-6FA9B9C26F8A}" destId="{2BB57B2B-32C3-4EC1-8F2E-EFC261D0F95A}" srcOrd="0" destOrd="0" presId="urn:microsoft.com/office/officeart/2005/8/layout/hierarchy6"/>
    <dgm:cxn modelId="{2C1ED7C1-0D1F-4378-A01C-732D93E49BC3}" type="presOf" srcId="{5658E681-E5C0-47D2-8E04-B095EF1D9508}" destId="{C640C3D5-89DF-48C7-A844-97C55154A349}" srcOrd="0" destOrd="0" presId="urn:microsoft.com/office/officeart/2005/8/layout/hierarchy6"/>
    <dgm:cxn modelId="{5E1C89C2-1987-4FDC-AFE1-85BAAB3DA379}" type="presOf" srcId="{AE37E6AB-A401-4831-BBE8-DF44C992275F}" destId="{43C539C0-AF4C-454A-9F93-805C36314D3F}" srcOrd="0" destOrd="0" presId="urn:microsoft.com/office/officeart/2005/8/layout/hierarchy6"/>
    <dgm:cxn modelId="{42CE7AC7-511A-4ABB-B10D-938C43B7AE06}" srcId="{702A6279-3EC8-4E19-9B99-94246999640F}" destId="{A3DEE240-8A32-4F54-816D-6EBF50663E67}" srcOrd="0" destOrd="0" parTransId="{E37041A5-8CEC-47BE-A5F2-E207A3F4AF20}" sibTransId="{4F139BE5-4234-4FD6-82B2-0DF31BD05360}"/>
    <dgm:cxn modelId="{75D8C0CB-F86A-4A3A-9ADA-2679B1D92B9A}" type="presOf" srcId="{0A62EA53-0DEC-4FAD-A512-FFBC25E79B07}" destId="{A7A45DCE-6265-4BB4-B49A-3E4DE319DE24}" srcOrd="0" destOrd="0" presId="urn:microsoft.com/office/officeart/2005/8/layout/hierarchy6"/>
    <dgm:cxn modelId="{4837C9D5-8561-41C6-9235-21B59E08B159}" srcId="{54DAE1C2-86A4-4246-99A7-98062D0BA31E}" destId="{C6908D82-4C7D-4986-9FE4-6FA9B9C26F8A}" srcOrd="2" destOrd="0" parTransId="{4B7802A6-B7EA-40C3-AA08-39EF44A09B28}" sibTransId="{676C35DA-84F4-42E2-9DEE-840B3685F682}"/>
    <dgm:cxn modelId="{D95459D7-B092-4017-BED6-63A97CF3A9CE}" srcId="{A3DEE240-8A32-4F54-816D-6EBF50663E67}" destId="{54DAE1C2-86A4-4246-99A7-98062D0BA31E}" srcOrd="1" destOrd="0" parTransId="{84159F49-A282-4A76-B876-13686E159996}" sibTransId="{92FBDBB8-CB2A-49BA-86CC-AFAC322CF865}"/>
    <dgm:cxn modelId="{195090DB-2932-4749-A4C0-9E120CA6DBEE}" srcId="{54DAE1C2-86A4-4246-99A7-98062D0BA31E}" destId="{0D7AA024-BFD8-4DDE-84A8-6F09587A2E1A}" srcOrd="0" destOrd="0" parTransId="{5658E681-E5C0-47D2-8E04-B095EF1D9508}" sibTransId="{2B041ED2-8BDC-4E43-BC81-C9A51A1ADA4D}"/>
    <dgm:cxn modelId="{4886B3DC-F79E-4F9D-92AD-BA1202CEAB10}" type="presOf" srcId="{41E29D6C-6398-4E16-A1A0-93EBF09DE86E}" destId="{1392090F-A6A1-48E5-ADBD-9253B3918338}" srcOrd="0" destOrd="0" presId="urn:microsoft.com/office/officeart/2005/8/layout/hierarchy6"/>
    <dgm:cxn modelId="{79B640E1-E87D-48FA-8597-6AF3DC0E2A80}" type="presOf" srcId="{4B7802A6-B7EA-40C3-AA08-39EF44A09B28}" destId="{91F088A2-5416-4F9F-8ADD-7E18285AFED7}" srcOrd="0" destOrd="0" presId="urn:microsoft.com/office/officeart/2005/8/layout/hierarchy6"/>
    <dgm:cxn modelId="{6D015FE6-0B64-4A47-850A-B0EACC66D10E}" type="presOf" srcId="{FBC1804C-9964-416F-B4F8-AAC7D9BDBA40}" destId="{40E5051D-D6F0-4E78-A079-A0DB3D53BB71}" srcOrd="0" destOrd="0" presId="urn:microsoft.com/office/officeart/2005/8/layout/hierarchy6"/>
    <dgm:cxn modelId="{91C159E7-001E-45FB-903F-93D099F92EB0}" type="presOf" srcId="{A3DEE240-8A32-4F54-816D-6EBF50663E67}" destId="{D0F960AB-410A-4DA9-9553-166C68B037E4}" srcOrd="0" destOrd="0" presId="urn:microsoft.com/office/officeart/2005/8/layout/hierarchy6"/>
    <dgm:cxn modelId="{863E38EA-9760-4571-BFEF-7286DF7B008A}" type="presOf" srcId="{E0BB3507-BEE4-483B-A3E5-D138CE4E9F80}" destId="{95F6E134-08EC-45CE-9D77-E9A5E40B0EF4}" srcOrd="0" destOrd="0" presId="urn:microsoft.com/office/officeart/2005/8/layout/hierarchy6"/>
    <dgm:cxn modelId="{355683EA-8B23-4F62-AF9B-A9D1380186CF}" type="presOf" srcId="{7DC1097A-16D0-44FD-8D4C-CEAEAF05867E}" destId="{749E1980-ED15-4CDA-A6AD-D6C07066DFD8}" srcOrd="0" destOrd="0" presId="urn:microsoft.com/office/officeart/2005/8/layout/hierarchy6"/>
    <dgm:cxn modelId="{2649BAEA-0C24-44DC-A939-DB4AF515C029}" type="presOf" srcId="{54DAE1C2-86A4-4246-99A7-98062D0BA31E}" destId="{8397EA2B-FD08-4B5D-812F-D421998526E4}" srcOrd="0" destOrd="0" presId="urn:microsoft.com/office/officeart/2005/8/layout/hierarchy6"/>
    <dgm:cxn modelId="{5007B6FF-AE99-4CE9-9A7A-710A3D6B830D}" srcId="{54DAE1C2-86A4-4246-99A7-98062D0BA31E}" destId="{D82EFB7A-B25A-4D10-B962-6BF54BA665E6}" srcOrd="1" destOrd="0" parTransId="{41E29D6C-6398-4E16-A1A0-93EBF09DE86E}" sibTransId="{B49892A5-29FD-4C76-82B3-E5E5E67D5022}"/>
    <dgm:cxn modelId="{9482B542-F1EB-4C4C-B0E0-448D7D9288B0}" type="presParOf" srcId="{1FA91AED-E647-4B47-A0E0-724F71C3F6C3}" destId="{8930E1D6-7C5F-4440-98EC-CB6236BA8376}" srcOrd="0" destOrd="0" presId="urn:microsoft.com/office/officeart/2005/8/layout/hierarchy6"/>
    <dgm:cxn modelId="{D46EB991-4ED8-48BD-BDCC-E58CB4426864}" type="presParOf" srcId="{8930E1D6-7C5F-4440-98EC-CB6236BA8376}" destId="{DB5CBDE3-DDDD-4140-97F6-5F4B0C16252F}" srcOrd="0" destOrd="0" presId="urn:microsoft.com/office/officeart/2005/8/layout/hierarchy6"/>
    <dgm:cxn modelId="{9D25B9C1-71ED-4500-8426-B88BA4AC0B04}" type="presParOf" srcId="{DB5CBDE3-DDDD-4140-97F6-5F4B0C16252F}" destId="{D57F588A-FB66-43C5-A4AE-2EC3C4808F6A}" srcOrd="0" destOrd="0" presId="urn:microsoft.com/office/officeart/2005/8/layout/hierarchy6"/>
    <dgm:cxn modelId="{F3B1CFC7-91D2-434F-A68A-48A6ED6E82B2}" type="presParOf" srcId="{D57F588A-FB66-43C5-A4AE-2EC3C4808F6A}" destId="{D0F960AB-410A-4DA9-9553-166C68B037E4}" srcOrd="0" destOrd="0" presId="urn:microsoft.com/office/officeart/2005/8/layout/hierarchy6"/>
    <dgm:cxn modelId="{95C697AB-42E0-446E-99DB-D3A87CD53FE6}" type="presParOf" srcId="{D57F588A-FB66-43C5-A4AE-2EC3C4808F6A}" destId="{2E16095F-FCD9-4AB7-BE4D-F3EDCD1BD437}" srcOrd="1" destOrd="0" presId="urn:microsoft.com/office/officeart/2005/8/layout/hierarchy6"/>
    <dgm:cxn modelId="{E92CEF32-0ABD-487A-AF7F-550884E18237}" type="presParOf" srcId="{2E16095F-FCD9-4AB7-BE4D-F3EDCD1BD437}" destId="{749E1980-ED15-4CDA-A6AD-D6C07066DFD8}" srcOrd="0" destOrd="0" presId="urn:microsoft.com/office/officeart/2005/8/layout/hierarchy6"/>
    <dgm:cxn modelId="{937D7805-8729-4EBB-A4E7-D82EF0805570}" type="presParOf" srcId="{2E16095F-FCD9-4AB7-BE4D-F3EDCD1BD437}" destId="{36409B99-F00D-4DFC-BF5A-363E114530FE}" srcOrd="1" destOrd="0" presId="urn:microsoft.com/office/officeart/2005/8/layout/hierarchy6"/>
    <dgm:cxn modelId="{8FD7D46B-E1A6-4D2A-82DF-BE7A98D7FB55}" type="presParOf" srcId="{36409B99-F00D-4DFC-BF5A-363E114530FE}" destId="{29474F0C-A3A5-412F-BD6E-E74D368DC9FC}" srcOrd="0" destOrd="0" presId="urn:microsoft.com/office/officeart/2005/8/layout/hierarchy6"/>
    <dgm:cxn modelId="{8D8F6944-BB9D-429D-B4B4-05AF5A3EB39F}" type="presParOf" srcId="{36409B99-F00D-4DFC-BF5A-363E114530FE}" destId="{56B6C650-EC4F-4F98-926E-B4B05F5EAA60}" srcOrd="1" destOrd="0" presId="urn:microsoft.com/office/officeart/2005/8/layout/hierarchy6"/>
    <dgm:cxn modelId="{C3DE919A-D27E-4082-92FB-67056DA03909}" type="presParOf" srcId="{56B6C650-EC4F-4F98-926E-B4B05F5EAA60}" destId="{43C539C0-AF4C-454A-9F93-805C36314D3F}" srcOrd="0" destOrd="0" presId="urn:microsoft.com/office/officeart/2005/8/layout/hierarchy6"/>
    <dgm:cxn modelId="{5D07CCA0-8002-492C-9CD3-B708068D43A5}" type="presParOf" srcId="{56B6C650-EC4F-4F98-926E-B4B05F5EAA60}" destId="{E2BE50E2-9833-4050-A070-85CE524A5A2A}" srcOrd="1" destOrd="0" presId="urn:microsoft.com/office/officeart/2005/8/layout/hierarchy6"/>
    <dgm:cxn modelId="{08315D02-1A5A-46B2-8FF1-272EC37CCFDB}" type="presParOf" srcId="{E2BE50E2-9833-4050-A070-85CE524A5A2A}" destId="{40E5051D-D6F0-4E78-A079-A0DB3D53BB71}" srcOrd="0" destOrd="0" presId="urn:microsoft.com/office/officeart/2005/8/layout/hierarchy6"/>
    <dgm:cxn modelId="{BA696C21-A5AA-443E-A1EF-5CF046C76204}" type="presParOf" srcId="{E2BE50E2-9833-4050-A070-85CE524A5A2A}" destId="{68C8D98A-0574-4C94-BFB9-1B8518B4AAEC}" srcOrd="1" destOrd="0" presId="urn:microsoft.com/office/officeart/2005/8/layout/hierarchy6"/>
    <dgm:cxn modelId="{B4337FCB-E8F6-4B65-91D3-728C44B84E72}" type="presParOf" srcId="{56B6C650-EC4F-4F98-926E-B4B05F5EAA60}" destId="{E2643546-6925-4CFC-B11B-08F8EA921756}" srcOrd="2" destOrd="0" presId="urn:microsoft.com/office/officeart/2005/8/layout/hierarchy6"/>
    <dgm:cxn modelId="{A57338FC-1880-44BC-A55B-6D45F577B944}" type="presParOf" srcId="{56B6C650-EC4F-4F98-926E-B4B05F5EAA60}" destId="{FB8EFC31-EC03-4D8B-ADD8-D16E76851F07}" srcOrd="3" destOrd="0" presId="urn:microsoft.com/office/officeart/2005/8/layout/hierarchy6"/>
    <dgm:cxn modelId="{9DE5EBA4-DBC1-4CD2-8BDB-63C4D5C00FBA}" type="presParOf" srcId="{FB8EFC31-EC03-4D8B-ADD8-D16E76851F07}" destId="{95F6E134-08EC-45CE-9D77-E9A5E40B0EF4}" srcOrd="0" destOrd="0" presId="urn:microsoft.com/office/officeart/2005/8/layout/hierarchy6"/>
    <dgm:cxn modelId="{C48394F0-272B-480F-BEF6-077ED8CFAC95}" type="presParOf" srcId="{FB8EFC31-EC03-4D8B-ADD8-D16E76851F07}" destId="{B73CF6AE-F675-449C-A41F-33C672635B40}" srcOrd="1" destOrd="0" presId="urn:microsoft.com/office/officeart/2005/8/layout/hierarchy6"/>
    <dgm:cxn modelId="{63B447E0-936D-4854-9495-C60965CB07A4}" type="presParOf" srcId="{B73CF6AE-F675-449C-A41F-33C672635B40}" destId="{458182B7-7104-449F-98EF-348089323C32}" srcOrd="0" destOrd="0" presId="urn:microsoft.com/office/officeart/2005/8/layout/hierarchy6"/>
    <dgm:cxn modelId="{256F53A8-5B99-4E75-A338-10DC02225228}" type="presParOf" srcId="{B73CF6AE-F675-449C-A41F-33C672635B40}" destId="{B50C0E00-E051-42B9-B4A5-0F9717CAB45E}" srcOrd="1" destOrd="0" presId="urn:microsoft.com/office/officeart/2005/8/layout/hierarchy6"/>
    <dgm:cxn modelId="{491A41FE-D7D1-4F17-B635-5D8D4BF4B941}" type="presParOf" srcId="{B50C0E00-E051-42B9-B4A5-0F9717CAB45E}" destId="{507F0FDF-CF0B-4D6C-A042-5F0F3D265D81}" srcOrd="0" destOrd="0" presId="urn:microsoft.com/office/officeart/2005/8/layout/hierarchy6"/>
    <dgm:cxn modelId="{675365F2-48EC-46F5-954B-0C7AE9F93DDE}" type="presParOf" srcId="{B50C0E00-E051-42B9-B4A5-0F9717CAB45E}" destId="{C6FFD1BE-81E6-4B2F-9B65-26531701655F}" srcOrd="1" destOrd="0" presId="urn:microsoft.com/office/officeart/2005/8/layout/hierarchy6"/>
    <dgm:cxn modelId="{382116C8-8879-4898-AA73-B68FFBBEBFCE}" type="presParOf" srcId="{C6FFD1BE-81E6-4B2F-9B65-26531701655F}" destId="{D511872B-311C-42EC-A327-52EBF2013DBC}" srcOrd="0" destOrd="0" presId="urn:microsoft.com/office/officeart/2005/8/layout/hierarchy6"/>
    <dgm:cxn modelId="{0EE615F6-C53A-4EDA-8331-ABCB9BD3BD94}" type="presParOf" srcId="{C6FFD1BE-81E6-4B2F-9B65-26531701655F}" destId="{14DC452C-252F-4DEF-9F13-ADF8554F6027}" srcOrd="1" destOrd="0" presId="urn:microsoft.com/office/officeart/2005/8/layout/hierarchy6"/>
    <dgm:cxn modelId="{D86C94E8-EA52-4E77-88E5-936EED9FBF29}" type="presParOf" srcId="{14DC452C-252F-4DEF-9F13-ADF8554F6027}" destId="{C2EC5C83-7C7F-49FF-AC8B-65CDA0D6AAA3}" srcOrd="0" destOrd="0" presId="urn:microsoft.com/office/officeart/2005/8/layout/hierarchy6"/>
    <dgm:cxn modelId="{F9C7FE29-0F23-4837-8F9D-83373BA83EFA}" type="presParOf" srcId="{14DC452C-252F-4DEF-9F13-ADF8554F6027}" destId="{98436F04-B4DB-407F-9DFC-0A931F9D5998}" srcOrd="1" destOrd="0" presId="urn:microsoft.com/office/officeart/2005/8/layout/hierarchy6"/>
    <dgm:cxn modelId="{8D4E69E6-8CD5-4670-A8CC-0FCE71005451}" type="presParOf" srcId="{C6FFD1BE-81E6-4B2F-9B65-26531701655F}" destId="{DD810329-0DB7-4191-9588-51DD5EE475C7}" srcOrd="2" destOrd="0" presId="urn:microsoft.com/office/officeart/2005/8/layout/hierarchy6"/>
    <dgm:cxn modelId="{8B4C2664-DB78-4510-BC01-83F186776E22}" type="presParOf" srcId="{C6FFD1BE-81E6-4B2F-9B65-26531701655F}" destId="{B5B3B26E-13C9-47AA-9E42-45A3C2465523}" srcOrd="3" destOrd="0" presId="urn:microsoft.com/office/officeart/2005/8/layout/hierarchy6"/>
    <dgm:cxn modelId="{95273658-B6A2-4E1C-B048-39A2C457D73D}" type="presParOf" srcId="{B5B3B26E-13C9-47AA-9E42-45A3C2465523}" destId="{A449A667-6D18-4E33-85EA-480E11153624}" srcOrd="0" destOrd="0" presId="urn:microsoft.com/office/officeart/2005/8/layout/hierarchy6"/>
    <dgm:cxn modelId="{A504CE63-D22B-4223-B86D-BFF121FE210D}" type="presParOf" srcId="{B5B3B26E-13C9-47AA-9E42-45A3C2465523}" destId="{4D8D667E-C9C8-4983-8D24-0E99C513E2CB}" srcOrd="1" destOrd="0" presId="urn:microsoft.com/office/officeart/2005/8/layout/hierarchy6"/>
    <dgm:cxn modelId="{C88B036B-8933-4957-9765-09D9182DEAC7}" type="presParOf" srcId="{C6FFD1BE-81E6-4B2F-9B65-26531701655F}" destId="{BFC820CB-06D6-44FC-9EB1-07215E76F39C}" srcOrd="4" destOrd="0" presId="urn:microsoft.com/office/officeart/2005/8/layout/hierarchy6"/>
    <dgm:cxn modelId="{DA764F52-9DF0-4650-8C27-D0E6E2BDBC4B}" type="presParOf" srcId="{C6FFD1BE-81E6-4B2F-9B65-26531701655F}" destId="{7B3D6451-22E7-494A-99AD-0981FDEEE6E8}" srcOrd="5" destOrd="0" presId="urn:microsoft.com/office/officeart/2005/8/layout/hierarchy6"/>
    <dgm:cxn modelId="{901D8C6F-346F-47A2-985E-3AED7A694BC8}" type="presParOf" srcId="{7B3D6451-22E7-494A-99AD-0981FDEEE6E8}" destId="{E095E9A3-DDB7-4BD4-A967-2B257245F9EA}" srcOrd="0" destOrd="0" presId="urn:microsoft.com/office/officeart/2005/8/layout/hierarchy6"/>
    <dgm:cxn modelId="{0AB7AF5E-F42A-458A-BC15-F295BA018EB3}" type="presParOf" srcId="{7B3D6451-22E7-494A-99AD-0981FDEEE6E8}" destId="{5ABAB7DC-D301-4A38-A71A-BDC0A34CE952}" srcOrd="1" destOrd="0" presId="urn:microsoft.com/office/officeart/2005/8/layout/hierarchy6"/>
    <dgm:cxn modelId="{2A2CDB0C-BB52-4E3C-977B-2E92359CC71D}" type="presParOf" srcId="{B73CF6AE-F675-449C-A41F-33C672635B40}" destId="{A7A45DCE-6265-4BB4-B49A-3E4DE319DE24}" srcOrd="2" destOrd="0" presId="urn:microsoft.com/office/officeart/2005/8/layout/hierarchy6"/>
    <dgm:cxn modelId="{C5AF6230-8603-48B7-9AA6-214AAAC46A40}" type="presParOf" srcId="{B73CF6AE-F675-449C-A41F-33C672635B40}" destId="{2D7A6628-1674-409A-8BF4-AE8867D89FFD}" srcOrd="3" destOrd="0" presId="urn:microsoft.com/office/officeart/2005/8/layout/hierarchy6"/>
    <dgm:cxn modelId="{A35B5A84-BEEC-4A23-82A3-7BF9AFE572FE}" type="presParOf" srcId="{2D7A6628-1674-409A-8BF4-AE8867D89FFD}" destId="{EDB02563-ABC6-41FD-B949-EFDA145D02D2}" srcOrd="0" destOrd="0" presId="urn:microsoft.com/office/officeart/2005/8/layout/hierarchy6"/>
    <dgm:cxn modelId="{CFCB9AA8-7298-433D-80B7-DE981D142B70}" type="presParOf" srcId="{2D7A6628-1674-409A-8BF4-AE8867D89FFD}" destId="{ED565705-8D3A-41C6-A264-4D08F1374DD3}" srcOrd="1" destOrd="0" presId="urn:microsoft.com/office/officeart/2005/8/layout/hierarchy6"/>
    <dgm:cxn modelId="{353C0F2F-6172-449A-B113-F9814FAD4F8D}" type="presParOf" srcId="{ED565705-8D3A-41C6-A264-4D08F1374DD3}" destId="{2EEEA543-71D8-4317-AB52-0D71F1A11A43}" srcOrd="0" destOrd="0" presId="urn:microsoft.com/office/officeart/2005/8/layout/hierarchy6"/>
    <dgm:cxn modelId="{F3F8A74F-3E7B-46A8-A6A7-4F31536732EA}" type="presParOf" srcId="{ED565705-8D3A-41C6-A264-4D08F1374DD3}" destId="{35C5367A-F561-4F1A-9A76-BB24D789A6FB}" srcOrd="1" destOrd="0" presId="urn:microsoft.com/office/officeart/2005/8/layout/hierarchy6"/>
    <dgm:cxn modelId="{46EC9396-309F-4718-BB2B-C3F6AA187AB3}" type="presParOf" srcId="{35C5367A-F561-4F1A-9A76-BB24D789A6FB}" destId="{0F335E1A-53DD-4A46-89C5-B93E03CE7686}" srcOrd="0" destOrd="0" presId="urn:microsoft.com/office/officeart/2005/8/layout/hierarchy6"/>
    <dgm:cxn modelId="{A1C711E2-33CF-4C3E-B4BE-7A8C64CAE8C7}" type="presParOf" srcId="{35C5367A-F561-4F1A-9A76-BB24D789A6FB}" destId="{76DDFC86-B96F-4157-8F43-796BBEDC6128}" srcOrd="1" destOrd="0" presId="urn:microsoft.com/office/officeart/2005/8/layout/hierarchy6"/>
    <dgm:cxn modelId="{ADBDC7E4-3BF5-4A2B-AA17-ABAD35AA548C}" type="presParOf" srcId="{2E16095F-FCD9-4AB7-BE4D-F3EDCD1BD437}" destId="{AD4B3DB6-FC8C-49A5-B363-55529DCFDD2D}" srcOrd="2" destOrd="0" presId="urn:microsoft.com/office/officeart/2005/8/layout/hierarchy6"/>
    <dgm:cxn modelId="{670443CB-69DF-4E2E-8647-2D7D7989D074}" type="presParOf" srcId="{2E16095F-FCD9-4AB7-BE4D-F3EDCD1BD437}" destId="{454CF8D6-4581-4E1F-9C47-75908EB348A2}" srcOrd="3" destOrd="0" presId="urn:microsoft.com/office/officeart/2005/8/layout/hierarchy6"/>
    <dgm:cxn modelId="{F09AF89C-3591-491C-8506-B62ADA3F6348}" type="presParOf" srcId="{454CF8D6-4581-4E1F-9C47-75908EB348A2}" destId="{8397EA2B-FD08-4B5D-812F-D421998526E4}" srcOrd="0" destOrd="0" presId="urn:microsoft.com/office/officeart/2005/8/layout/hierarchy6"/>
    <dgm:cxn modelId="{312197AE-1B62-495F-BDB5-F404058EDDB5}" type="presParOf" srcId="{454CF8D6-4581-4E1F-9C47-75908EB348A2}" destId="{17B24D45-328C-4941-9250-70168396501E}" srcOrd="1" destOrd="0" presId="urn:microsoft.com/office/officeart/2005/8/layout/hierarchy6"/>
    <dgm:cxn modelId="{BD04C045-DE87-494B-9E1C-F9DF3BB8859C}" type="presParOf" srcId="{17B24D45-328C-4941-9250-70168396501E}" destId="{C640C3D5-89DF-48C7-A844-97C55154A349}" srcOrd="0" destOrd="0" presId="urn:microsoft.com/office/officeart/2005/8/layout/hierarchy6"/>
    <dgm:cxn modelId="{F73042E8-5EEE-447B-9AF2-9D55E3FF87AF}" type="presParOf" srcId="{17B24D45-328C-4941-9250-70168396501E}" destId="{A7047DBD-3569-42D6-8F6C-3CC290E05F67}" srcOrd="1" destOrd="0" presId="urn:microsoft.com/office/officeart/2005/8/layout/hierarchy6"/>
    <dgm:cxn modelId="{11A9CE7F-DD5F-40A2-84E7-5811F4392E9C}" type="presParOf" srcId="{A7047DBD-3569-42D6-8F6C-3CC290E05F67}" destId="{F5B4F48E-4E0A-4F5A-A0D5-1D34E4131113}" srcOrd="0" destOrd="0" presId="urn:microsoft.com/office/officeart/2005/8/layout/hierarchy6"/>
    <dgm:cxn modelId="{4300D9C9-6627-4F65-9D1B-569716CE6A02}" type="presParOf" srcId="{A7047DBD-3569-42D6-8F6C-3CC290E05F67}" destId="{EC991F17-10E9-4CF5-9A61-585EEFD15DE1}" srcOrd="1" destOrd="0" presId="urn:microsoft.com/office/officeart/2005/8/layout/hierarchy6"/>
    <dgm:cxn modelId="{81D2567C-B92C-4506-B0DB-F98F78C2215D}" type="presParOf" srcId="{17B24D45-328C-4941-9250-70168396501E}" destId="{1392090F-A6A1-48E5-ADBD-9253B3918338}" srcOrd="2" destOrd="0" presId="urn:microsoft.com/office/officeart/2005/8/layout/hierarchy6"/>
    <dgm:cxn modelId="{354C4183-6542-45DC-8744-F93B06D12061}" type="presParOf" srcId="{17B24D45-328C-4941-9250-70168396501E}" destId="{8657BA5B-82FE-4D89-8A60-CC35F2581085}" srcOrd="3" destOrd="0" presId="urn:microsoft.com/office/officeart/2005/8/layout/hierarchy6"/>
    <dgm:cxn modelId="{739E2FF3-4950-49DD-B92C-9512E43350CE}" type="presParOf" srcId="{8657BA5B-82FE-4D89-8A60-CC35F2581085}" destId="{67E7A34E-E7DE-4384-B043-E687957FDECF}" srcOrd="0" destOrd="0" presId="urn:microsoft.com/office/officeart/2005/8/layout/hierarchy6"/>
    <dgm:cxn modelId="{86D75FF5-8FCA-4FC0-8CEE-9DF78BE4A42E}" type="presParOf" srcId="{8657BA5B-82FE-4D89-8A60-CC35F2581085}" destId="{144B2715-2096-42A6-AEFF-038083B591E0}" srcOrd="1" destOrd="0" presId="urn:microsoft.com/office/officeart/2005/8/layout/hierarchy6"/>
    <dgm:cxn modelId="{57DF3DCD-F437-4048-B170-AB978C750535}" type="presParOf" srcId="{17B24D45-328C-4941-9250-70168396501E}" destId="{91F088A2-5416-4F9F-8ADD-7E18285AFED7}" srcOrd="4" destOrd="0" presId="urn:microsoft.com/office/officeart/2005/8/layout/hierarchy6"/>
    <dgm:cxn modelId="{8121AAD7-2232-4B05-89C0-D718CEFA3DAF}" type="presParOf" srcId="{17B24D45-328C-4941-9250-70168396501E}" destId="{FBB3CDBD-C8D2-4323-9265-7DACC1D815B6}" srcOrd="5" destOrd="0" presId="urn:microsoft.com/office/officeart/2005/8/layout/hierarchy6"/>
    <dgm:cxn modelId="{54A8F929-FDB8-48D3-8D9C-E31689BE9EAF}" type="presParOf" srcId="{FBB3CDBD-C8D2-4323-9265-7DACC1D815B6}" destId="{2BB57B2B-32C3-4EC1-8F2E-EFC261D0F95A}" srcOrd="0" destOrd="0" presId="urn:microsoft.com/office/officeart/2005/8/layout/hierarchy6"/>
    <dgm:cxn modelId="{5F6E8DB3-888B-4750-98DB-F8AB9CC5199C}" type="presParOf" srcId="{FBB3CDBD-C8D2-4323-9265-7DACC1D815B6}" destId="{FCDC6D06-070A-405E-990B-C056C2D6A092}" srcOrd="1" destOrd="0" presId="urn:microsoft.com/office/officeart/2005/8/layout/hierarchy6"/>
    <dgm:cxn modelId="{ADE49828-DCD7-44CB-855D-147149DC4882}" type="presParOf" srcId="{1FA91AED-E647-4B47-A0E0-724F71C3F6C3}" destId="{B7B66D38-ACF1-4657-85A0-5424E08048D7}"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264AD-80B1-4C39-9174-AD824AE46CAA}">
      <dsp:nvSpPr>
        <dsp:cNvPr id="0" name=""/>
        <dsp:cNvSpPr/>
      </dsp:nvSpPr>
      <dsp:spPr>
        <a:xfrm>
          <a:off x="4984750" y="1676872"/>
          <a:ext cx="2836292" cy="266228"/>
        </a:xfrm>
        <a:custGeom>
          <a:avLst/>
          <a:gdLst/>
          <a:ahLst/>
          <a:cxnLst/>
          <a:rect l="0" t="0" r="0" b="0"/>
          <a:pathLst>
            <a:path>
              <a:moveTo>
                <a:pt x="0" y="0"/>
              </a:moveTo>
              <a:lnTo>
                <a:pt x="2836292" y="0"/>
              </a:lnTo>
              <a:lnTo>
                <a:pt x="2836292" y="266228"/>
              </a:lnTo>
            </a:path>
          </a:pathLst>
        </a:custGeom>
        <a:noFill/>
        <a:ln w="28575" cap="flat" cmpd="sng" algn="ctr">
          <a:solidFill>
            <a:schemeClr val="accent2"/>
          </a:solidFill>
          <a:prstDash val="solid"/>
        </a:ln>
        <a:effectLst/>
      </dsp:spPr>
      <dsp:style>
        <a:lnRef idx="1">
          <a:schemeClr val="accent2"/>
        </a:lnRef>
        <a:fillRef idx="0">
          <a:schemeClr val="accent2"/>
        </a:fillRef>
        <a:effectRef idx="0">
          <a:schemeClr val="accent2"/>
        </a:effectRef>
        <a:fontRef idx="minor">
          <a:schemeClr val="tx1"/>
        </a:fontRef>
      </dsp:style>
    </dsp:sp>
    <dsp:sp modelId="{9178FCF6-C5BC-4AD2-99DE-96BC3D288706}">
      <dsp:nvSpPr>
        <dsp:cNvPr id="0" name=""/>
        <dsp:cNvSpPr/>
      </dsp:nvSpPr>
      <dsp:spPr>
        <a:xfrm>
          <a:off x="1945913" y="1676872"/>
          <a:ext cx="3038836" cy="260034"/>
        </a:xfrm>
        <a:custGeom>
          <a:avLst/>
          <a:gdLst/>
          <a:ahLst/>
          <a:cxnLst/>
          <a:rect l="0" t="0" r="0" b="0"/>
          <a:pathLst>
            <a:path>
              <a:moveTo>
                <a:pt x="3038836" y="0"/>
              </a:moveTo>
              <a:lnTo>
                <a:pt x="0" y="0"/>
              </a:lnTo>
              <a:lnTo>
                <a:pt x="0" y="260034"/>
              </a:lnTo>
            </a:path>
          </a:pathLst>
        </a:custGeom>
        <a:noFill/>
        <a:ln w="28575" cap="flat" cmpd="sng" algn="ctr">
          <a:solidFill>
            <a:schemeClr val="accent2"/>
          </a:solidFill>
          <a:prstDash val="solid"/>
        </a:ln>
        <a:effectLst/>
      </dsp:spPr>
      <dsp:style>
        <a:lnRef idx="1">
          <a:schemeClr val="accent2"/>
        </a:lnRef>
        <a:fillRef idx="0">
          <a:schemeClr val="accent2"/>
        </a:fillRef>
        <a:effectRef idx="0">
          <a:schemeClr val="accent2"/>
        </a:effectRef>
        <a:fontRef idx="minor">
          <a:schemeClr val="tx1"/>
        </a:fontRef>
      </dsp:style>
    </dsp:sp>
    <dsp:sp modelId="{C5AE3A32-E54B-4BA7-B0B5-178905E29A9D}">
      <dsp:nvSpPr>
        <dsp:cNvPr id="0" name=""/>
        <dsp:cNvSpPr/>
      </dsp:nvSpPr>
      <dsp:spPr>
        <a:xfrm>
          <a:off x="3004580" y="951930"/>
          <a:ext cx="3960338" cy="724941"/>
        </a:xfrm>
        <a:prstGeom prst="roundRect">
          <a:avLst/>
        </a:prstGeom>
        <a:solidFill>
          <a:schemeClr val="lt1"/>
        </a:solidFill>
        <a:ln w="28575"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fr-FR" sz="3600" b="1" kern="1200"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Isomérie</a:t>
          </a:r>
          <a:endParaRPr lang="en-US" sz="3600" b="1" kern="1200"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dsp:txBody>
      <dsp:txXfrm>
        <a:off x="3039969" y="987319"/>
        <a:ext cx="3889560" cy="654163"/>
      </dsp:txXfrm>
    </dsp:sp>
    <dsp:sp modelId="{E090369F-86D8-4A22-BD55-5A7B104BB20F}">
      <dsp:nvSpPr>
        <dsp:cNvPr id="0" name=""/>
        <dsp:cNvSpPr/>
      </dsp:nvSpPr>
      <dsp:spPr>
        <a:xfrm>
          <a:off x="10212" y="1936906"/>
          <a:ext cx="3871401" cy="689049"/>
        </a:xfrm>
        <a:prstGeom prst="roundRect">
          <a:avLst/>
        </a:prstGeom>
        <a:solidFill>
          <a:schemeClr val="lt1"/>
        </a:solidFill>
        <a:ln w="28575"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b="1" i="0" kern="120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Isomérie de constitution </a:t>
          </a:r>
          <a:endParaRPr lang="en-US" sz="2400" b="1" i="0" kern="120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endParaRPr>
        </a:p>
      </dsp:txBody>
      <dsp:txXfrm>
        <a:off x="43849" y="1970543"/>
        <a:ext cx="3804127" cy="621775"/>
      </dsp:txXfrm>
    </dsp:sp>
    <dsp:sp modelId="{C4E8D86C-5FDD-4411-B09F-58E2FC556C67}">
      <dsp:nvSpPr>
        <dsp:cNvPr id="0" name=""/>
        <dsp:cNvSpPr/>
      </dsp:nvSpPr>
      <dsp:spPr>
        <a:xfrm>
          <a:off x="5885341" y="1943100"/>
          <a:ext cx="3871401" cy="689049"/>
        </a:xfrm>
        <a:prstGeom prst="roundRect">
          <a:avLst/>
        </a:prstGeom>
        <a:solidFill>
          <a:schemeClr val="lt1"/>
        </a:solidFill>
        <a:ln w="28575" cap="flat" cmpd="sng" algn="ctr">
          <a:solidFill>
            <a:schemeClr val="accent2"/>
          </a:solid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FR" sz="2400" b="1" i="0" kern="1200" cap="none" spc="0" dirty="0">
              <a:ln w="6600">
                <a:solidFill>
                  <a:schemeClr val="accent2"/>
                </a:solidFill>
                <a:prstDash val="solid"/>
              </a:ln>
              <a:solidFill>
                <a:srgbClr val="FFFFFF"/>
              </a:solidFill>
              <a:effectLst>
                <a:outerShdw dist="38100" dir="2700000" algn="tl" rotWithShape="0">
                  <a:schemeClr val="accent2"/>
                </a:outerShdw>
              </a:effectLst>
              <a:latin typeface="Times New Roman" panose="02020603050405020304" pitchFamily="18" charset="0"/>
              <a:ea typeface="+mn-ea"/>
              <a:cs typeface="Times New Roman" panose="02020603050405020304" pitchFamily="18" charset="0"/>
            </a:rPr>
            <a:t>Stéréoisomérie</a:t>
          </a:r>
          <a:endParaRPr lang="en-US" sz="2400" b="1" i="0" kern="1200" dirty="0">
            <a:solidFill>
              <a:prstClr val="white"/>
            </a:solidFill>
            <a:latin typeface="Times New Roman" panose="02020603050405020304" pitchFamily="18" charset="0"/>
            <a:ea typeface="+mn-ea"/>
            <a:cs typeface="Times New Roman" panose="02020603050405020304" pitchFamily="18" charset="0"/>
          </a:endParaRPr>
        </a:p>
      </dsp:txBody>
      <dsp:txXfrm>
        <a:off x="5918978" y="1976737"/>
        <a:ext cx="3804127" cy="6217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9970E0-D6D0-44B6-9A3F-D09497A63229}">
      <dsp:nvSpPr>
        <dsp:cNvPr id="0" name=""/>
        <dsp:cNvSpPr/>
      </dsp:nvSpPr>
      <dsp:spPr>
        <a:xfrm>
          <a:off x="4577906" y="884634"/>
          <a:ext cx="2465638" cy="782748"/>
        </a:xfrm>
        <a:custGeom>
          <a:avLst/>
          <a:gdLst/>
          <a:ahLst/>
          <a:cxnLst/>
          <a:rect l="0" t="0" r="0" b="0"/>
          <a:pathLst>
            <a:path>
              <a:moveTo>
                <a:pt x="0" y="0"/>
              </a:moveTo>
              <a:lnTo>
                <a:pt x="0" y="391374"/>
              </a:lnTo>
              <a:lnTo>
                <a:pt x="2465638" y="391374"/>
              </a:lnTo>
              <a:lnTo>
                <a:pt x="2465638" y="782748"/>
              </a:lnTo>
            </a:path>
          </a:pathLst>
        </a:custGeom>
        <a:noFill/>
        <a:ln w="28575" cap="flat" cmpd="sng" algn="ctr">
          <a:solidFill>
            <a:srgbClr val="000099"/>
          </a:solidFill>
          <a:prstDash val="solid"/>
        </a:ln>
        <a:effectLst/>
        <a:scene3d>
          <a:camera prst="orthographicFront"/>
          <a:lightRig rig="threePt" dir="t">
            <a:rot lat="0" lon="0" rev="7500000"/>
          </a:lightRig>
        </a:scene3d>
        <a:sp3d z="-40000"/>
      </dsp:spPr>
      <dsp:style>
        <a:lnRef idx="1">
          <a:schemeClr val="accent2"/>
        </a:lnRef>
        <a:fillRef idx="0">
          <a:schemeClr val="accent2"/>
        </a:fillRef>
        <a:effectRef idx="0">
          <a:schemeClr val="accent2"/>
        </a:effectRef>
        <a:fontRef idx="minor">
          <a:schemeClr val="tx1"/>
        </a:fontRef>
      </dsp:style>
    </dsp:sp>
    <dsp:sp modelId="{C2485D4A-71A6-40C2-A51E-8625AE13D00D}">
      <dsp:nvSpPr>
        <dsp:cNvPr id="0" name=""/>
        <dsp:cNvSpPr/>
      </dsp:nvSpPr>
      <dsp:spPr>
        <a:xfrm>
          <a:off x="2079951" y="884634"/>
          <a:ext cx="2497954" cy="782748"/>
        </a:xfrm>
        <a:custGeom>
          <a:avLst/>
          <a:gdLst/>
          <a:ahLst/>
          <a:cxnLst/>
          <a:rect l="0" t="0" r="0" b="0"/>
          <a:pathLst>
            <a:path>
              <a:moveTo>
                <a:pt x="2497954" y="0"/>
              </a:moveTo>
              <a:lnTo>
                <a:pt x="2497954" y="391374"/>
              </a:lnTo>
              <a:lnTo>
                <a:pt x="0" y="391374"/>
              </a:lnTo>
              <a:lnTo>
                <a:pt x="0" y="782748"/>
              </a:lnTo>
            </a:path>
          </a:pathLst>
        </a:custGeom>
        <a:noFill/>
        <a:ln w="28575" cap="flat" cmpd="sng" algn="ctr">
          <a:solidFill>
            <a:srgbClr val="000099"/>
          </a:solidFill>
          <a:prstDash val="solid"/>
        </a:ln>
        <a:effectLst/>
        <a:scene3d>
          <a:camera prst="orthographicFront"/>
          <a:lightRig rig="threePt" dir="t">
            <a:rot lat="0" lon="0" rev="7500000"/>
          </a:lightRig>
        </a:scene3d>
        <a:sp3d z="-40000"/>
      </dsp:spPr>
      <dsp:style>
        <a:lnRef idx="1">
          <a:schemeClr val="accent2"/>
        </a:lnRef>
        <a:fillRef idx="0">
          <a:schemeClr val="accent2"/>
        </a:fillRef>
        <a:effectRef idx="0">
          <a:schemeClr val="accent2"/>
        </a:effectRef>
        <a:fontRef idx="minor">
          <a:schemeClr val="tx1"/>
        </a:fontRef>
      </dsp:style>
    </dsp:sp>
    <dsp:sp modelId="{B4AD68A0-8076-48A7-AA59-85D7335180A3}">
      <dsp:nvSpPr>
        <dsp:cNvPr id="0" name=""/>
        <dsp:cNvSpPr/>
      </dsp:nvSpPr>
      <dsp:spPr>
        <a:xfrm>
          <a:off x="3009390" y="251205"/>
          <a:ext cx="3137031" cy="633429"/>
        </a:xfrm>
        <a:prstGeom prst="rect">
          <a:avLst/>
        </a:prstGeom>
        <a:solidFill>
          <a:srgbClr val="000099"/>
        </a:solidFill>
        <a:ln>
          <a:noFill/>
        </a:ln>
        <a:effectLst>
          <a:outerShdw blurRad="38100" dist="25400" dir="2700000" algn="br"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effectLst/>
              <a:latin typeface="Times New Roman" panose="02020603050405020304" pitchFamily="18" charset="0"/>
              <a:ea typeface="Calibri" panose="020F0502020204030204" pitchFamily="34" charset="0"/>
              <a:cs typeface="Arial" panose="020B0604020202020204" pitchFamily="34" charset="0"/>
            </a:rPr>
            <a:t>Deux stéréoisomères</a:t>
          </a:r>
          <a:endParaRPr lang="en-US" sz="2100" kern="1200" dirty="0"/>
        </a:p>
      </dsp:txBody>
      <dsp:txXfrm>
        <a:off x="3009390" y="251205"/>
        <a:ext cx="3137031" cy="633429"/>
      </dsp:txXfrm>
    </dsp:sp>
    <dsp:sp modelId="{83547D2A-DB67-42D6-8FBD-AD289724BC87}">
      <dsp:nvSpPr>
        <dsp:cNvPr id="0" name=""/>
        <dsp:cNvSpPr/>
      </dsp:nvSpPr>
      <dsp:spPr>
        <a:xfrm>
          <a:off x="5687" y="1667383"/>
          <a:ext cx="4148528" cy="677151"/>
        </a:xfrm>
        <a:prstGeom prst="rect">
          <a:avLst/>
        </a:prstGeom>
        <a:solidFill>
          <a:schemeClr val="lt1"/>
        </a:solidFill>
        <a:ln w="28575" cap="flat" cmpd="sng" algn="ctr">
          <a:solidFill>
            <a:schemeClr val="accent2"/>
          </a:solidFill>
          <a:prstDash val="solid"/>
        </a:ln>
        <a:effectLst/>
        <a:scene3d>
          <a:camera prst="orthographicFront"/>
          <a:lightRig rig="threePt" dir="t">
            <a:rot lat="0" lon="0" rev="7500000"/>
          </a:lightRig>
        </a:scene3d>
      </dsp:spPr>
      <dsp:style>
        <a:lnRef idx="2">
          <a:schemeClr val="accent2"/>
        </a:lnRef>
        <a:fillRef idx="1">
          <a:schemeClr val="lt1"/>
        </a:fillRef>
        <a:effectRef idx="0">
          <a:schemeClr val="accent2"/>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Z</a:t>
          </a:r>
          <a:r>
            <a:rPr lang="fr-FR" sz="2100" kern="12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a:t>
          </a:r>
          <a:b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br>
          <a: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(en allemand </a:t>
          </a:r>
          <a:r>
            <a:rPr lang="fr-FR" sz="2100" b="1" kern="1200" dirty="0" err="1">
              <a:solidFill>
                <a:srgbClr val="FF0000"/>
              </a:solidFill>
              <a:effectLst/>
              <a:latin typeface="Times New Roman" panose="02020603050405020304" pitchFamily="18" charset="0"/>
              <a:ea typeface="Calibri" panose="020F0502020204030204" pitchFamily="34" charset="0"/>
              <a:cs typeface="Arial" panose="020B0604020202020204" pitchFamily="34" charset="0"/>
            </a:rPr>
            <a:t>Z</a:t>
          </a:r>
          <a:r>
            <a:rPr lang="fr-FR" sz="2100" kern="1200" dirty="0" err="1">
              <a:solidFill>
                <a:schemeClr val="tx1"/>
              </a:solidFill>
              <a:effectLst/>
              <a:latin typeface="Times New Roman" panose="02020603050405020304" pitchFamily="18" charset="0"/>
              <a:ea typeface="Calibri" panose="020F0502020204030204" pitchFamily="34" charset="0"/>
              <a:cs typeface="Arial" panose="020B0604020202020204" pitchFamily="34" charset="0"/>
            </a:rPr>
            <a:t>usammen</a:t>
          </a:r>
          <a: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 ensemble)</a:t>
          </a:r>
          <a:endParaRPr lang="en-US" sz="2100" kern="1200" dirty="0">
            <a:solidFill>
              <a:schemeClr val="tx1"/>
            </a:solidFill>
          </a:endParaRPr>
        </a:p>
      </dsp:txBody>
      <dsp:txXfrm>
        <a:off x="5687" y="1667383"/>
        <a:ext cx="4148528" cy="677151"/>
      </dsp:txXfrm>
    </dsp:sp>
    <dsp:sp modelId="{51745EB2-1366-47C9-B361-3A0DA1BE17E8}">
      <dsp:nvSpPr>
        <dsp:cNvPr id="0" name=""/>
        <dsp:cNvSpPr/>
      </dsp:nvSpPr>
      <dsp:spPr>
        <a:xfrm>
          <a:off x="4936964" y="1667383"/>
          <a:ext cx="4213161" cy="677151"/>
        </a:xfrm>
        <a:prstGeom prst="rect">
          <a:avLst/>
        </a:prstGeom>
        <a:solidFill>
          <a:schemeClr val="lt1"/>
        </a:solidFill>
        <a:ln w="28575" cap="flat" cmpd="sng" algn="ctr">
          <a:solidFill>
            <a:schemeClr val="accent2"/>
          </a:solidFill>
          <a:prstDash val="solid"/>
        </a:ln>
        <a:effectLst/>
        <a:scene3d>
          <a:camera prst="orthographicFront"/>
          <a:lightRig rig="threePt" dir="t">
            <a:rot lat="0" lon="0" rev="7500000"/>
          </a:lightRig>
        </a:scene3d>
      </dsp:spPr>
      <dsp:style>
        <a:lnRef idx="2">
          <a:schemeClr val="accent2"/>
        </a:lnRef>
        <a:fillRef idx="1">
          <a:schemeClr val="lt1"/>
        </a:fillRef>
        <a:effectRef idx="0">
          <a:schemeClr val="accent2"/>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a:t>
          </a:r>
          <a: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a:t>
          </a:r>
          <a:b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br>
          <a: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a:t>
          </a:r>
          <a:r>
            <a:rPr lang="fr-FR" sz="2100" b="1" kern="1200" dirty="0" err="1">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a:t>
          </a:r>
          <a:r>
            <a:rPr lang="fr-FR" sz="2100" kern="1200" dirty="0" err="1">
              <a:solidFill>
                <a:schemeClr val="tx1"/>
              </a:solidFill>
              <a:effectLst/>
              <a:latin typeface="Times New Roman" panose="02020603050405020304" pitchFamily="18" charset="0"/>
              <a:ea typeface="Calibri" panose="020F0502020204030204" pitchFamily="34" charset="0"/>
              <a:cs typeface="Arial" panose="020B0604020202020204" pitchFamily="34" charset="0"/>
            </a:rPr>
            <a:t>ntgegen</a:t>
          </a:r>
          <a:r>
            <a:rPr lang="fr-FR" sz="2100" kern="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 = opposé) </a:t>
          </a:r>
          <a:endParaRPr lang="en-US" sz="2100" kern="1200" dirty="0">
            <a:solidFill>
              <a:schemeClr val="tx1"/>
            </a:solidFill>
          </a:endParaRPr>
        </a:p>
      </dsp:txBody>
      <dsp:txXfrm>
        <a:off x="4936964" y="1667383"/>
        <a:ext cx="4213161" cy="6771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960AB-410A-4DA9-9553-166C68B037E4}">
      <dsp:nvSpPr>
        <dsp:cNvPr id="0" name=""/>
        <dsp:cNvSpPr/>
      </dsp:nvSpPr>
      <dsp:spPr>
        <a:xfrm>
          <a:off x="5766504" y="978074"/>
          <a:ext cx="2195996" cy="540001"/>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a:glow rad="63500">
            <a:schemeClr val="accent2">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FR" sz="2400" b="1" kern="1200" dirty="0">
              <a:latin typeface="Times New Roman" panose="02020603050405020304" pitchFamily="18" charset="0"/>
              <a:cs typeface="Times New Roman" panose="02020603050405020304" pitchFamily="18" charset="0"/>
            </a:rPr>
            <a:t>Isomérie</a:t>
          </a:r>
          <a:endParaRPr lang="en-US" sz="1000" b="1" kern="1200" dirty="0">
            <a:latin typeface="Times New Roman" panose="02020603050405020304" pitchFamily="18" charset="0"/>
            <a:cs typeface="Times New Roman" panose="02020603050405020304" pitchFamily="18" charset="0"/>
          </a:endParaRPr>
        </a:p>
      </dsp:txBody>
      <dsp:txXfrm>
        <a:off x="5782320" y="993890"/>
        <a:ext cx="2164364" cy="508369"/>
      </dsp:txXfrm>
    </dsp:sp>
    <dsp:sp modelId="{749E1980-ED15-4CDA-A6AD-D6C07066DFD8}">
      <dsp:nvSpPr>
        <dsp:cNvPr id="0" name=""/>
        <dsp:cNvSpPr/>
      </dsp:nvSpPr>
      <dsp:spPr>
        <a:xfrm>
          <a:off x="4433206" y="1518075"/>
          <a:ext cx="2431296" cy="378562"/>
        </a:xfrm>
        <a:custGeom>
          <a:avLst/>
          <a:gdLst/>
          <a:ahLst/>
          <a:cxnLst/>
          <a:rect l="0" t="0" r="0" b="0"/>
          <a:pathLst>
            <a:path>
              <a:moveTo>
                <a:pt x="2431296" y="0"/>
              </a:moveTo>
              <a:lnTo>
                <a:pt x="2431296" y="189281"/>
              </a:lnTo>
              <a:lnTo>
                <a:pt x="0" y="189281"/>
              </a:lnTo>
              <a:lnTo>
                <a:pt x="0"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29474F0C-A3A5-412F-BD6E-E74D368DC9FC}">
      <dsp:nvSpPr>
        <dsp:cNvPr id="0" name=""/>
        <dsp:cNvSpPr/>
      </dsp:nvSpPr>
      <dsp:spPr>
        <a:xfrm>
          <a:off x="3515207" y="1896638"/>
          <a:ext cx="1835996" cy="540001"/>
        </a:xfrm>
        <a:prstGeom prst="roundRect">
          <a:avLst>
            <a:gd name="adj" fmla="val 10000"/>
          </a:avLst>
        </a:prstGeom>
        <a:solidFill>
          <a:schemeClr val="accent1">
            <a:lumMod val="20000"/>
            <a:lumOff val="80000"/>
          </a:schemeClr>
        </a:solidFill>
        <a:ln w="15875" cap="flat" cmpd="sng" algn="ctr">
          <a:noFill/>
          <a:prstDash val="solid"/>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anose="02020603050405020304" pitchFamily="18" charset="0"/>
              <a:cs typeface="Times New Roman" panose="02020603050405020304" pitchFamily="18" charset="0"/>
            </a:rPr>
            <a:t>Stéréoisomérie</a:t>
          </a:r>
          <a:endParaRPr lang="en-US" sz="1800" b="1" kern="1200" dirty="0">
            <a:latin typeface="Times New Roman" panose="02020603050405020304" pitchFamily="18" charset="0"/>
            <a:cs typeface="Times New Roman" panose="02020603050405020304" pitchFamily="18" charset="0"/>
          </a:endParaRPr>
        </a:p>
      </dsp:txBody>
      <dsp:txXfrm>
        <a:off x="3531023" y="1912454"/>
        <a:ext cx="1804364" cy="508369"/>
      </dsp:txXfrm>
    </dsp:sp>
    <dsp:sp modelId="{43C539C0-AF4C-454A-9F93-805C36314D3F}">
      <dsp:nvSpPr>
        <dsp:cNvPr id="0" name=""/>
        <dsp:cNvSpPr/>
      </dsp:nvSpPr>
      <dsp:spPr>
        <a:xfrm>
          <a:off x="3460687" y="2436639"/>
          <a:ext cx="972518" cy="378562"/>
        </a:xfrm>
        <a:custGeom>
          <a:avLst/>
          <a:gdLst/>
          <a:ahLst/>
          <a:cxnLst/>
          <a:rect l="0" t="0" r="0" b="0"/>
          <a:pathLst>
            <a:path>
              <a:moveTo>
                <a:pt x="972518" y="0"/>
              </a:moveTo>
              <a:lnTo>
                <a:pt x="972518" y="189281"/>
              </a:lnTo>
              <a:lnTo>
                <a:pt x="0" y="189281"/>
              </a:lnTo>
              <a:lnTo>
                <a:pt x="0"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40E5051D-D6F0-4E78-A079-A0DB3D53BB71}">
      <dsp:nvSpPr>
        <dsp:cNvPr id="0" name=""/>
        <dsp:cNvSpPr/>
      </dsp:nvSpPr>
      <dsp:spPr>
        <a:xfrm>
          <a:off x="2701110" y="2815202"/>
          <a:ext cx="1519154" cy="540001"/>
        </a:xfrm>
        <a:prstGeom prst="roundRect">
          <a:avLst>
            <a:gd name="adj" fmla="val 10000"/>
          </a:avLst>
        </a:prstGeom>
        <a:solidFill>
          <a:schemeClr val="lt1"/>
        </a:solidFill>
        <a:ln w="15875" cap="flat" cmpd="sng" algn="ctr">
          <a:solidFill>
            <a:schemeClr val="accent1"/>
          </a:solidFill>
          <a:prstDash val="solid"/>
        </a:ln>
        <a:effectLst>
          <a:glow rad="101600">
            <a:schemeClr val="accent1">
              <a:satMod val="175000"/>
              <a:alpha val="40000"/>
            </a:schemeClr>
          </a:glow>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Times New Roman" panose="02020603050405020304" pitchFamily="18" charset="0"/>
              <a:cs typeface="Times New Roman" panose="02020603050405020304" pitchFamily="18" charset="0"/>
            </a:rPr>
            <a:t>Isomérie de conformation</a:t>
          </a:r>
          <a:endParaRPr lang="en-US" sz="1600" b="1" kern="1200" dirty="0">
            <a:latin typeface="Times New Roman" panose="02020603050405020304" pitchFamily="18" charset="0"/>
            <a:cs typeface="Times New Roman" panose="02020603050405020304" pitchFamily="18" charset="0"/>
          </a:endParaRPr>
        </a:p>
      </dsp:txBody>
      <dsp:txXfrm>
        <a:off x="2716926" y="2831018"/>
        <a:ext cx="1487522" cy="508369"/>
      </dsp:txXfrm>
    </dsp:sp>
    <dsp:sp modelId="{E2643546-6925-4CFC-B11B-08F8EA921756}">
      <dsp:nvSpPr>
        <dsp:cNvPr id="0" name=""/>
        <dsp:cNvSpPr/>
      </dsp:nvSpPr>
      <dsp:spPr>
        <a:xfrm>
          <a:off x="4433206" y="2436639"/>
          <a:ext cx="972518" cy="378562"/>
        </a:xfrm>
        <a:custGeom>
          <a:avLst/>
          <a:gdLst/>
          <a:ahLst/>
          <a:cxnLst/>
          <a:rect l="0" t="0" r="0" b="0"/>
          <a:pathLst>
            <a:path>
              <a:moveTo>
                <a:pt x="0" y="0"/>
              </a:moveTo>
              <a:lnTo>
                <a:pt x="0" y="189281"/>
              </a:lnTo>
              <a:lnTo>
                <a:pt x="972518" y="189281"/>
              </a:lnTo>
              <a:lnTo>
                <a:pt x="972518"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95F6E134-08EC-45CE-9D77-E9A5E40B0EF4}">
      <dsp:nvSpPr>
        <dsp:cNvPr id="0" name=""/>
        <dsp:cNvSpPr/>
      </dsp:nvSpPr>
      <dsp:spPr>
        <a:xfrm>
          <a:off x="4646147" y="2815202"/>
          <a:ext cx="1519154" cy="540001"/>
        </a:xfrm>
        <a:prstGeom prst="roundRect">
          <a:avLst>
            <a:gd name="adj" fmla="val 10000"/>
          </a:avLst>
        </a:prstGeom>
        <a:solidFill>
          <a:schemeClr val="lt1"/>
        </a:solidFill>
        <a:ln w="15875" cap="flat" cmpd="sng" algn="ctr">
          <a:solidFill>
            <a:schemeClr val="accent1"/>
          </a:solidFill>
          <a:prstDash val="solid"/>
        </a:ln>
        <a:effectLst>
          <a:glow rad="101600">
            <a:schemeClr val="accent1">
              <a:satMod val="175000"/>
              <a:alpha val="40000"/>
            </a:schemeClr>
          </a:glow>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Times New Roman" panose="02020603050405020304" pitchFamily="18" charset="0"/>
              <a:cs typeface="Times New Roman" panose="02020603050405020304" pitchFamily="18" charset="0"/>
            </a:rPr>
            <a:t>Isomérie de configuration</a:t>
          </a:r>
          <a:endParaRPr lang="en-US" sz="1600" b="1" kern="1200" dirty="0">
            <a:latin typeface="Times New Roman" panose="02020603050405020304" pitchFamily="18" charset="0"/>
            <a:cs typeface="Times New Roman" panose="02020603050405020304" pitchFamily="18" charset="0"/>
          </a:endParaRPr>
        </a:p>
      </dsp:txBody>
      <dsp:txXfrm>
        <a:off x="4661963" y="2831018"/>
        <a:ext cx="1487522" cy="508369"/>
      </dsp:txXfrm>
    </dsp:sp>
    <dsp:sp modelId="{458182B7-7104-449F-98EF-348089323C32}">
      <dsp:nvSpPr>
        <dsp:cNvPr id="0" name=""/>
        <dsp:cNvSpPr/>
      </dsp:nvSpPr>
      <dsp:spPr>
        <a:xfrm>
          <a:off x="3131149" y="3355203"/>
          <a:ext cx="2274575" cy="378562"/>
        </a:xfrm>
        <a:custGeom>
          <a:avLst/>
          <a:gdLst/>
          <a:ahLst/>
          <a:cxnLst/>
          <a:rect l="0" t="0" r="0" b="0"/>
          <a:pathLst>
            <a:path>
              <a:moveTo>
                <a:pt x="2274575" y="0"/>
              </a:moveTo>
              <a:lnTo>
                <a:pt x="2274575" y="189281"/>
              </a:lnTo>
              <a:lnTo>
                <a:pt x="0" y="189281"/>
              </a:lnTo>
              <a:lnTo>
                <a:pt x="0"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507F0FDF-CF0B-4D6C-A042-5F0F3D265D81}">
      <dsp:nvSpPr>
        <dsp:cNvPr id="0" name=""/>
        <dsp:cNvSpPr/>
      </dsp:nvSpPr>
      <dsp:spPr>
        <a:xfrm>
          <a:off x="2184517" y="3733766"/>
          <a:ext cx="1893264" cy="540001"/>
        </a:xfrm>
        <a:prstGeom prst="roundRect">
          <a:avLst>
            <a:gd name="adj" fmla="val 10000"/>
          </a:avLst>
        </a:prstGeom>
        <a:solidFill>
          <a:srgbClr val="BC57CD"/>
        </a:solidFill>
        <a:ln w="15875" cap="flat" cmpd="sng" algn="ctr">
          <a:noFill/>
          <a:prstDash val="solid"/>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schemeClr val="tx1"/>
              </a:solidFill>
              <a:latin typeface="Times New Roman" panose="02020603050405020304" pitchFamily="18" charset="0"/>
              <a:cs typeface="Times New Roman" panose="02020603050405020304" pitchFamily="18" charset="0"/>
            </a:rPr>
            <a:t>Diastéréoisomères</a:t>
          </a:r>
          <a:endParaRPr lang="en-US" sz="1600" b="1" kern="1200" dirty="0">
            <a:solidFill>
              <a:schemeClr val="tx1"/>
            </a:solidFill>
            <a:latin typeface="Times New Roman" panose="02020603050405020304" pitchFamily="18" charset="0"/>
            <a:cs typeface="Times New Roman" panose="02020603050405020304" pitchFamily="18" charset="0"/>
          </a:endParaRPr>
        </a:p>
      </dsp:txBody>
      <dsp:txXfrm>
        <a:off x="2200333" y="3749582"/>
        <a:ext cx="1861632" cy="508369"/>
      </dsp:txXfrm>
    </dsp:sp>
    <dsp:sp modelId="{D511872B-311C-42EC-A327-52EBF2013DBC}">
      <dsp:nvSpPr>
        <dsp:cNvPr id="0" name=""/>
        <dsp:cNvSpPr/>
      </dsp:nvSpPr>
      <dsp:spPr>
        <a:xfrm>
          <a:off x="1086477" y="4273767"/>
          <a:ext cx="2044672" cy="378562"/>
        </a:xfrm>
        <a:custGeom>
          <a:avLst/>
          <a:gdLst/>
          <a:ahLst/>
          <a:cxnLst/>
          <a:rect l="0" t="0" r="0" b="0"/>
          <a:pathLst>
            <a:path>
              <a:moveTo>
                <a:pt x="2044672" y="0"/>
              </a:moveTo>
              <a:lnTo>
                <a:pt x="2044672" y="189281"/>
              </a:lnTo>
              <a:lnTo>
                <a:pt x="0" y="189281"/>
              </a:lnTo>
              <a:lnTo>
                <a:pt x="0" y="378562"/>
              </a:lnTo>
            </a:path>
          </a:pathLst>
        </a:custGeom>
        <a:noFill/>
        <a:ln w="2857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C2EC5C83-7C7F-49FF-AC8B-65CDA0D6AAA3}">
      <dsp:nvSpPr>
        <dsp:cNvPr id="0" name=""/>
        <dsp:cNvSpPr/>
      </dsp:nvSpPr>
      <dsp:spPr>
        <a:xfrm>
          <a:off x="107981" y="4652330"/>
          <a:ext cx="1956990" cy="577497"/>
        </a:xfrm>
        <a:prstGeom prst="roundRect">
          <a:avLst>
            <a:gd name="adj" fmla="val 10000"/>
          </a:avLst>
        </a:prstGeom>
        <a:solidFill>
          <a:schemeClr val="lt1"/>
        </a:solidFill>
        <a:ln w="15875" cap="flat" cmpd="sng" algn="ctr">
          <a:solidFill>
            <a:srgbClr val="4F1A58"/>
          </a:solidFill>
          <a:prstDash val="solid"/>
        </a:ln>
        <a:effectLst>
          <a:glow rad="101600">
            <a:srgbClr val="4F1A58">
              <a:alpha val="60000"/>
            </a:srgbClr>
          </a:glow>
        </a:effectLst>
      </dsp:spPr>
      <dsp:style>
        <a:lnRef idx="2">
          <a:schemeClr val="accent2"/>
        </a:lnRef>
        <a:fillRef idx="1">
          <a:schemeClr val="lt1"/>
        </a:fillRef>
        <a:effectRef idx="0">
          <a:schemeClr val="accent2"/>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latin typeface="Times New Roman" panose="02020603050405020304" pitchFamily="18" charset="0"/>
              <a:cs typeface="Times New Roman" panose="02020603050405020304" pitchFamily="18" charset="0"/>
            </a:rPr>
            <a:t>Isomérie éthylénique</a:t>
          </a:r>
          <a:br>
            <a:rPr lang="fr-FR" sz="1100" b="1" kern="1200" dirty="0">
              <a:latin typeface="Times New Roman" panose="02020603050405020304" pitchFamily="18" charset="0"/>
              <a:cs typeface="Times New Roman" panose="02020603050405020304" pitchFamily="18" charset="0"/>
            </a:rPr>
          </a:br>
          <a:r>
            <a:rPr lang="fr-FR" sz="1100" b="1" kern="1200" dirty="0">
              <a:latin typeface="Times New Roman" panose="02020603050405020304" pitchFamily="18" charset="0"/>
              <a:cs typeface="Times New Roman" panose="02020603050405020304" pitchFamily="18" charset="0"/>
            </a:rPr>
            <a:t>(isomérie géométrique)</a:t>
          </a:r>
          <a:br>
            <a:rPr lang="fr-FR" sz="1100" b="1" kern="1200" dirty="0">
              <a:latin typeface="Times New Roman" panose="02020603050405020304" pitchFamily="18" charset="0"/>
              <a:cs typeface="Times New Roman" panose="02020603050405020304" pitchFamily="18" charset="0"/>
            </a:rPr>
          </a:br>
          <a:r>
            <a:rPr lang="fr-FR" sz="1100" b="1" kern="1200" dirty="0">
              <a:latin typeface="Times New Roman" panose="02020603050405020304" pitchFamily="18" charset="0"/>
              <a:cs typeface="Times New Roman" panose="02020603050405020304" pitchFamily="18" charset="0"/>
            </a:rPr>
            <a:t>Z/E</a:t>
          </a:r>
          <a:endParaRPr lang="en-US" sz="1100" b="1" kern="1200" dirty="0">
            <a:latin typeface="Times New Roman" panose="02020603050405020304" pitchFamily="18" charset="0"/>
            <a:cs typeface="Times New Roman" panose="02020603050405020304" pitchFamily="18" charset="0"/>
          </a:endParaRPr>
        </a:p>
      </dsp:txBody>
      <dsp:txXfrm>
        <a:off x="124895" y="4669244"/>
        <a:ext cx="1923162" cy="543669"/>
      </dsp:txXfrm>
    </dsp:sp>
    <dsp:sp modelId="{DD810329-0DB7-4191-9588-51DD5EE475C7}">
      <dsp:nvSpPr>
        <dsp:cNvPr id="0" name=""/>
        <dsp:cNvSpPr/>
      </dsp:nvSpPr>
      <dsp:spPr>
        <a:xfrm>
          <a:off x="3083002" y="4273767"/>
          <a:ext cx="91440" cy="1219190"/>
        </a:xfrm>
        <a:custGeom>
          <a:avLst/>
          <a:gdLst/>
          <a:ahLst/>
          <a:cxnLst/>
          <a:rect l="0" t="0" r="0" b="0"/>
          <a:pathLst>
            <a:path>
              <a:moveTo>
                <a:pt x="48147" y="0"/>
              </a:moveTo>
              <a:lnTo>
                <a:pt x="48147" y="609595"/>
              </a:lnTo>
              <a:lnTo>
                <a:pt x="45720" y="609595"/>
              </a:lnTo>
              <a:lnTo>
                <a:pt x="45720" y="1219190"/>
              </a:lnTo>
            </a:path>
          </a:pathLst>
        </a:custGeom>
        <a:noFill/>
        <a:ln w="2857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A449A667-6D18-4E33-85EA-480E11153624}">
      <dsp:nvSpPr>
        <dsp:cNvPr id="0" name=""/>
        <dsp:cNvSpPr/>
      </dsp:nvSpPr>
      <dsp:spPr>
        <a:xfrm>
          <a:off x="2224650" y="5492957"/>
          <a:ext cx="1808144" cy="664832"/>
        </a:xfrm>
        <a:prstGeom prst="roundRect">
          <a:avLst>
            <a:gd name="adj" fmla="val 10000"/>
          </a:avLst>
        </a:prstGeom>
        <a:solidFill>
          <a:schemeClr val="lt1"/>
        </a:solidFill>
        <a:ln w="15875" cap="flat" cmpd="sng" algn="ctr">
          <a:solidFill>
            <a:srgbClr val="4F1A58"/>
          </a:solidFill>
          <a:prstDash val="solid"/>
        </a:ln>
        <a:effectLst>
          <a:glow rad="101600">
            <a:srgbClr val="4F1A58">
              <a:alpha val="60000"/>
            </a:srgbClr>
          </a:glow>
        </a:effectLst>
      </dsp:spPr>
      <dsp:style>
        <a:lnRef idx="2">
          <a:schemeClr val="accent2"/>
        </a:lnRef>
        <a:fillRef idx="1">
          <a:schemeClr val="lt1"/>
        </a:fillRef>
        <a:effectRef idx="0">
          <a:schemeClr val="accent2"/>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latin typeface="Times New Roman" panose="02020603050405020304" pitchFamily="18" charset="0"/>
              <a:cs typeface="Times New Roman" panose="02020603050405020304" pitchFamily="18" charset="0"/>
            </a:rPr>
            <a:t>Molécules comportant plusieurs carbones asymétriques  et non image l’un de l’autre</a:t>
          </a:r>
          <a:endParaRPr lang="en-US" sz="1100" b="1" kern="1200" dirty="0">
            <a:latin typeface="Times New Roman" panose="02020603050405020304" pitchFamily="18" charset="0"/>
            <a:cs typeface="Times New Roman" panose="02020603050405020304" pitchFamily="18" charset="0"/>
          </a:endParaRPr>
        </a:p>
      </dsp:txBody>
      <dsp:txXfrm>
        <a:off x="2244122" y="5512429"/>
        <a:ext cx="1769200" cy="625888"/>
      </dsp:txXfrm>
    </dsp:sp>
    <dsp:sp modelId="{BFC820CB-06D6-44FC-9EB1-07215E76F39C}">
      <dsp:nvSpPr>
        <dsp:cNvPr id="0" name=""/>
        <dsp:cNvSpPr/>
      </dsp:nvSpPr>
      <dsp:spPr>
        <a:xfrm>
          <a:off x="3131149" y="4273767"/>
          <a:ext cx="2037645" cy="378562"/>
        </a:xfrm>
        <a:custGeom>
          <a:avLst/>
          <a:gdLst/>
          <a:ahLst/>
          <a:cxnLst/>
          <a:rect l="0" t="0" r="0" b="0"/>
          <a:pathLst>
            <a:path>
              <a:moveTo>
                <a:pt x="0" y="0"/>
              </a:moveTo>
              <a:lnTo>
                <a:pt x="0" y="189281"/>
              </a:lnTo>
              <a:lnTo>
                <a:pt x="2037645" y="189281"/>
              </a:lnTo>
              <a:lnTo>
                <a:pt x="2037645" y="378562"/>
              </a:lnTo>
            </a:path>
          </a:pathLst>
        </a:custGeom>
        <a:noFill/>
        <a:ln w="28575" cap="flat" cmpd="sng" algn="ctr">
          <a:solidFill>
            <a:schemeClr val="dk1"/>
          </a:solidFill>
          <a:prstDash val="solid"/>
        </a:ln>
        <a:effectLst/>
      </dsp:spPr>
      <dsp:style>
        <a:lnRef idx="1">
          <a:schemeClr val="dk1"/>
        </a:lnRef>
        <a:fillRef idx="0">
          <a:schemeClr val="dk1"/>
        </a:fillRef>
        <a:effectRef idx="0">
          <a:schemeClr val="dk1"/>
        </a:effectRef>
        <a:fontRef idx="minor">
          <a:schemeClr val="tx1"/>
        </a:fontRef>
      </dsp:style>
    </dsp:sp>
    <dsp:sp modelId="{E095E9A3-DDB7-4BD4-A967-2B257245F9EA}">
      <dsp:nvSpPr>
        <dsp:cNvPr id="0" name=""/>
        <dsp:cNvSpPr/>
      </dsp:nvSpPr>
      <dsp:spPr>
        <a:xfrm>
          <a:off x="4347181" y="4652330"/>
          <a:ext cx="1643228" cy="611861"/>
        </a:xfrm>
        <a:prstGeom prst="roundRect">
          <a:avLst>
            <a:gd name="adj" fmla="val 10000"/>
          </a:avLst>
        </a:prstGeom>
        <a:solidFill>
          <a:schemeClr val="lt1"/>
        </a:solidFill>
        <a:ln w="15875" cap="flat" cmpd="sng" algn="ctr">
          <a:solidFill>
            <a:srgbClr val="4F1A58"/>
          </a:solidFill>
          <a:prstDash val="solid"/>
        </a:ln>
        <a:effectLst>
          <a:glow rad="101600">
            <a:srgbClr val="4F1A58">
              <a:alpha val="60000"/>
            </a:srgbClr>
          </a:glow>
        </a:effectLst>
      </dsp:spPr>
      <dsp:style>
        <a:lnRef idx="2">
          <a:schemeClr val="accent2"/>
        </a:lnRef>
        <a:fillRef idx="1">
          <a:schemeClr val="lt1"/>
        </a:fillRef>
        <a:effectRef idx="0">
          <a:schemeClr val="accent2"/>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latin typeface="Times New Roman" panose="02020603050405020304" pitchFamily="18" charset="0"/>
              <a:cs typeface="Times New Roman" panose="02020603050405020304" pitchFamily="18" charset="0"/>
            </a:rPr>
            <a:t>Isomérie cyclanique</a:t>
          </a:r>
          <a:br>
            <a:rPr lang="fr-FR" sz="1100" b="1" kern="1200" dirty="0">
              <a:latin typeface="Times New Roman" panose="02020603050405020304" pitchFamily="18" charset="0"/>
              <a:cs typeface="Times New Roman" panose="02020603050405020304" pitchFamily="18" charset="0"/>
            </a:rPr>
          </a:br>
          <a:r>
            <a:rPr lang="fr-FR" sz="1100" b="1" kern="1200" dirty="0">
              <a:latin typeface="Times New Roman" panose="02020603050405020304" pitchFamily="18" charset="0"/>
              <a:cs typeface="Times New Roman" panose="02020603050405020304" pitchFamily="18" charset="0"/>
            </a:rPr>
            <a:t>(isomérie géométrique)</a:t>
          </a:r>
          <a:br>
            <a:rPr lang="fr-FR" sz="1100" b="1" kern="1200" dirty="0">
              <a:latin typeface="Times New Roman" panose="02020603050405020304" pitchFamily="18" charset="0"/>
              <a:cs typeface="Times New Roman" panose="02020603050405020304" pitchFamily="18" charset="0"/>
            </a:rPr>
          </a:br>
          <a:r>
            <a:rPr lang="fr-FR" sz="1100" b="1" kern="1200" dirty="0">
              <a:latin typeface="Times New Roman" panose="02020603050405020304" pitchFamily="18" charset="0"/>
              <a:cs typeface="Times New Roman" panose="02020603050405020304" pitchFamily="18" charset="0"/>
            </a:rPr>
            <a:t>cis/trans</a:t>
          </a:r>
          <a:endParaRPr lang="en-US" sz="1100" b="1" kern="1200" dirty="0">
            <a:latin typeface="Times New Roman" panose="02020603050405020304" pitchFamily="18" charset="0"/>
            <a:cs typeface="Times New Roman" panose="02020603050405020304" pitchFamily="18" charset="0"/>
          </a:endParaRPr>
        </a:p>
      </dsp:txBody>
      <dsp:txXfrm>
        <a:off x="4365102" y="4670251"/>
        <a:ext cx="1607386" cy="576019"/>
      </dsp:txXfrm>
    </dsp:sp>
    <dsp:sp modelId="{A7A45DCE-6265-4BB4-B49A-3E4DE319DE24}">
      <dsp:nvSpPr>
        <dsp:cNvPr id="0" name=""/>
        <dsp:cNvSpPr/>
      </dsp:nvSpPr>
      <dsp:spPr>
        <a:xfrm>
          <a:off x="5405724" y="3355203"/>
          <a:ext cx="2274575" cy="379726"/>
        </a:xfrm>
        <a:custGeom>
          <a:avLst/>
          <a:gdLst/>
          <a:ahLst/>
          <a:cxnLst/>
          <a:rect l="0" t="0" r="0" b="0"/>
          <a:pathLst>
            <a:path>
              <a:moveTo>
                <a:pt x="0" y="0"/>
              </a:moveTo>
              <a:lnTo>
                <a:pt x="0" y="189863"/>
              </a:lnTo>
              <a:lnTo>
                <a:pt x="2274575" y="189863"/>
              </a:lnTo>
              <a:lnTo>
                <a:pt x="2274575" y="379726"/>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EDB02563-ABC6-41FD-B949-EFDA145D02D2}">
      <dsp:nvSpPr>
        <dsp:cNvPr id="0" name=""/>
        <dsp:cNvSpPr/>
      </dsp:nvSpPr>
      <dsp:spPr>
        <a:xfrm>
          <a:off x="6733667" y="3734930"/>
          <a:ext cx="1893264" cy="540001"/>
        </a:xfrm>
        <a:prstGeom prst="roundRect">
          <a:avLst>
            <a:gd name="adj" fmla="val 10000"/>
          </a:avLst>
        </a:prstGeom>
        <a:solidFill>
          <a:srgbClr val="FF8FE2"/>
        </a:solidFill>
        <a:ln w="15875" cap="flat" cmpd="sng" algn="ctr">
          <a:noFill/>
          <a:prstDash val="solid"/>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solidFill>
                <a:schemeClr val="tx1"/>
              </a:solidFill>
              <a:latin typeface="Times New Roman" panose="02020603050405020304" pitchFamily="18" charset="0"/>
              <a:cs typeface="Times New Roman" panose="02020603050405020304" pitchFamily="18" charset="0"/>
            </a:rPr>
            <a:t>Enantiomères</a:t>
          </a:r>
          <a:endParaRPr lang="en-US" sz="1600" b="1" kern="1200" dirty="0">
            <a:solidFill>
              <a:schemeClr val="tx1"/>
            </a:solidFill>
            <a:latin typeface="Times New Roman" panose="02020603050405020304" pitchFamily="18" charset="0"/>
            <a:cs typeface="Times New Roman" panose="02020603050405020304" pitchFamily="18" charset="0"/>
          </a:endParaRPr>
        </a:p>
      </dsp:txBody>
      <dsp:txXfrm>
        <a:off x="6749483" y="3750746"/>
        <a:ext cx="1861632" cy="508369"/>
      </dsp:txXfrm>
    </dsp:sp>
    <dsp:sp modelId="{2EEEA543-71D8-4317-AB52-0D71F1A11A43}">
      <dsp:nvSpPr>
        <dsp:cNvPr id="0" name=""/>
        <dsp:cNvSpPr/>
      </dsp:nvSpPr>
      <dsp:spPr>
        <a:xfrm>
          <a:off x="7634580" y="4274931"/>
          <a:ext cx="91440" cy="377398"/>
        </a:xfrm>
        <a:custGeom>
          <a:avLst/>
          <a:gdLst/>
          <a:ahLst/>
          <a:cxnLst/>
          <a:rect l="0" t="0" r="0" b="0"/>
          <a:pathLst>
            <a:path>
              <a:moveTo>
                <a:pt x="45720" y="0"/>
              </a:moveTo>
              <a:lnTo>
                <a:pt x="45720" y="377398"/>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0F335E1A-53DD-4A46-89C5-B93E03CE7686}">
      <dsp:nvSpPr>
        <dsp:cNvPr id="0" name=""/>
        <dsp:cNvSpPr/>
      </dsp:nvSpPr>
      <dsp:spPr>
        <a:xfrm>
          <a:off x="6687097" y="4652330"/>
          <a:ext cx="1986404" cy="710761"/>
        </a:xfrm>
        <a:prstGeom prst="roundRect">
          <a:avLst>
            <a:gd name="adj" fmla="val 10000"/>
          </a:avLst>
        </a:prstGeom>
        <a:solidFill>
          <a:schemeClr val="lt1"/>
        </a:solidFill>
        <a:ln w="15875" cap="flat" cmpd="sng" algn="ctr">
          <a:solidFill>
            <a:srgbClr val="FF33CC"/>
          </a:solidFill>
          <a:prstDash val="solid"/>
        </a:ln>
        <a:effectLst>
          <a:glow rad="139700">
            <a:srgbClr val="FF33CC">
              <a:alpha val="40000"/>
            </a:srgb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fr-FR" sz="1050" b="1" kern="1200" dirty="0">
              <a:latin typeface="Times New Roman" panose="02020603050405020304" pitchFamily="18" charset="0"/>
              <a:cs typeface="Times New Roman" panose="02020603050405020304" pitchFamily="18" charset="0"/>
            </a:rPr>
            <a:t>Un ou plusieurs carbones asymétriques, image l’un de l’autre par rapport à un miroir plan</a:t>
          </a:r>
          <a:endParaRPr lang="en-US" sz="1050" b="1" kern="1200" dirty="0">
            <a:latin typeface="Times New Roman" panose="02020603050405020304" pitchFamily="18" charset="0"/>
            <a:cs typeface="Times New Roman" panose="02020603050405020304" pitchFamily="18" charset="0"/>
          </a:endParaRPr>
        </a:p>
      </dsp:txBody>
      <dsp:txXfrm>
        <a:off x="6707914" y="4673147"/>
        <a:ext cx="1944770" cy="669127"/>
      </dsp:txXfrm>
    </dsp:sp>
    <dsp:sp modelId="{AD4B3DB6-FC8C-49A5-B363-55529DCFDD2D}">
      <dsp:nvSpPr>
        <dsp:cNvPr id="0" name=""/>
        <dsp:cNvSpPr/>
      </dsp:nvSpPr>
      <dsp:spPr>
        <a:xfrm>
          <a:off x="6864502" y="1518075"/>
          <a:ext cx="2431296" cy="378562"/>
        </a:xfrm>
        <a:custGeom>
          <a:avLst/>
          <a:gdLst/>
          <a:ahLst/>
          <a:cxnLst/>
          <a:rect l="0" t="0" r="0" b="0"/>
          <a:pathLst>
            <a:path>
              <a:moveTo>
                <a:pt x="0" y="0"/>
              </a:moveTo>
              <a:lnTo>
                <a:pt x="0" y="189281"/>
              </a:lnTo>
              <a:lnTo>
                <a:pt x="2431296" y="189281"/>
              </a:lnTo>
              <a:lnTo>
                <a:pt x="2431296"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8397EA2B-FD08-4B5D-812F-D421998526E4}">
      <dsp:nvSpPr>
        <dsp:cNvPr id="0" name=""/>
        <dsp:cNvSpPr/>
      </dsp:nvSpPr>
      <dsp:spPr>
        <a:xfrm>
          <a:off x="8377801" y="1896638"/>
          <a:ext cx="1835996" cy="540001"/>
        </a:xfrm>
        <a:prstGeom prst="roundRect">
          <a:avLst>
            <a:gd name="adj" fmla="val 10000"/>
          </a:avLst>
        </a:prstGeom>
        <a:solidFill>
          <a:schemeClr val="accent5">
            <a:lumMod val="20000"/>
            <a:lumOff val="80000"/>
          </a:schemeClr>
        </a:solidFill>
        <a:ln w="15875" cap="flat" cmpd="sng" algn="ctr">
          <a:noFill/>
          <a:prstDash val="solid"/>
        </a:ln>
        <a:effectLst>
          <a:outerShdw blurRad="76200" dist="12700" dir="2700000" sy="-23000" kx="-800400" algn="bl" rotWithShape="0">
            <a:prstClr val="black">
              <a:alpha val="2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2">
          <a:schemeClr val="accent2"/>
        </a:lnRef>
        <a:fillRef idx="1">
          <a:schemeClr val="lt1"/>
        </a:fillRef>
        <a:effectRef idx="0">
          <a:schemeClr val="accent2"/>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b="1" kern="1200" dirty="0">
              <a:latin typeface="Times New Roman" panose="02020603050405020304" pitchFamily="18" charset="0"/>
              <a:cs typeface="Times New Roman" panose="02020603050405020304" pitchFamily="18" charset="0"/>
            </a:rPr>
            <a:t>Isomérie de constitution</a:t>
          </a:r>
          <a:endParaRPr lang="en-US" sz="1800" b="1" kern="1200" dirty="0">
            <a:latin typeface="Times New Roman" panose="02020603050405020304" pitchFamily="18" charset="0"/>
            <a:cs typeface="Times New Roman" panose="02020603050405020304" pitchFamily="18" charset="0"/>
          </a:endParaRPr>
        </a:p>
      </dsp:txBody>
      <dsp:txXfrm>
        <a:off x="8393617" y="1912454"/>
        <a:ext cx="1804364" cy="508369"/>
      </dsp:txXfrm>
    </dsp:sp>
    <dsp:sp modelId="{C640C3D5-89DF-48C7-A844-97C55154A349}">
      <dsp:nvSpPr>
        <dsp:cNvPr id="0" name=""/>
        <dsp:cNvSpPr/>
      </dsp:nvSpPr>
      <dsp:spPr>
        <a:xfrm>
          <a:off x="7350762" y="2436639"/>
          <a:ext cx="1945037" cy="378562"/>
        </a:xfrm>
        <a:custGeom>
          <a:avLst/>
          <a:gdLst/>
          <a:ahLst/>
          <a:cxnLst/>
          <a:rect l="0" t="0" r="0" b="0"/>
          <a:pathLst>
            <a:path>
              <a:moveTo>
                <a:pt x="1945037" y="0"/>
              </a:moveTo>
              <a:lnTo>
                <a:pt x="1945037" y="189281"/>
              </a:lnTo>
              <a:lnTo>
                <a:pt x="0" y="189281"/>
              </a:lnTo>
              <a:lnTo>
                <a:pt x="0"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F5B4F48E-4E0A-4F5A-A0D5-1D34E4131113}">
      <dsp:nvSpPr>
        <dsp:cNvPr id="0" name=""/>
        <dsp:cNvSpPr/>
      </dsp:nvSpPr>
      <dsp:spPr>
        <a:xfrm>
          <a:off x="6591185" y="2815202"/>
          <a:ext cx="1519154" cy="540001"/>
        </a:xfrm>
        <a:prstGeom prst="roundRect">
          <a:avLst>
            <a:gd name="adj" fmla="val 10000"/>
          </a:avLst>
        </a:prstGeom>
        <a:solidFill>
          <a:schemeClr val="lt1"/>
        </a:solidFill>
        <a:ln w="15875" cap="flat" cmpd="sng" algn="ctr">
          <a:solidFill>
            <a:schemeClr val="accent4"/>
          </a:solidFill>
          <a:prstDash val="solid"/>
        </a:ln>
        <a:effectLst>
          <a:glow rad="63500">
            <a:schemeClr val="accent5">
              <a:satMod val="175000"/>
              <a:alpha val="40000"/>
            </a:schemeClr>
          </a:glow>
        </a:effectLst>
      </dsp:spPr>
      <dsp:style>
        <a:lnRef idx="2">
          <a:schemeClr val="accent4"/>
        </a:lnRef>
        <a:fillRef idx="1">
          <a:schemeClr val="lt1"/>
        </a:fillRef>
        <a:effectRef idx="0">
          <a:schemeClr val="accent4"/>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Times New Roman" panose="02020603050405020304" pitchFamily="18" charset="0"/>
              <a:cs typeface="Times New Roman" panose="02020603050405020304" pitchFamily="18" charset="0"/>
            </a:rPr>
            <a:t>Chaine</a:t>
          </a:r>
          <a:endParaRPr lang="en-US" sz="1600" b="1" kern="1200" dirty="0">
            <a:latin typeface="Times New Roman" panose="02020603050405020304" pitchFamily="18" charset="0"/>
            <a:cs typeface="Times New Roman" panose="02020603050405020304" pitchFamily="18" charset="0"/>
          </a:endParaRPr>
        </a:p>
      </dsp:txBody>
      <dsp:txXfrm>
        <a:off x="6607001" y="2831018"/>
        <a:ext cx="1487522" cy="508369"/>
      </dsp:txXfrm>
    </dsp:sp>
    <dsp:sp modelId="{1392090F-A6A1-48E5-ADBD-9253B3918338}">
      <dsp:nvSpPr>
        <dsp:cNvPr id="0" name=""/>
        <dsp:cNvSpPr/>
      </dsp:nvSpPr>
      <dsp:spPr>
        <a:xfrm>
          <a:off x="9250079" y="2436639"/>
          <a:ext cx="91440" cy="378562"/>
        </a:xfrm>
        <a:custGeom>
          <a:avLst/>
          <a:gdLst/>
          <a:ahLst/>
          <a:cxnLst/>
          <a:rect l="0" t="0" r="0" b="0"/>
          <a:pathLst>
            <a:path>
              <a:moveTo>
                <a:pt x="45720" y="0"/>
              </a:moveTo>
              <a:lnTo>
                <a:pt x="45720"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67E7A34E-E7DE-4384-B043-E687957FDECF}">
      <dsp:nvSpPr>
        <dsp:cNvPr id="0" name=""/>
        <dsp:cNvSpPr/>
      </dsp:nvSpPr>
      <dsp:spPr>
        <a:xfrm>
          <a:off x="8536222" y="2815202"/>
          <a:ext cx="1519154" cy="540001"/>
        </a:xfrm>
        <a:prstGeom prst="roundRect">
          <a:avLst>
            <a:gd name="adj" fmla="val 10000"/>
          </a:avLst>
        </a:prstGeom>
        <a:solidFill>
          <a:schemeClr val="lt1"/>
        </a:solidFill>
        <a:ln w="15875" cap="flat" cmpd="sng" algn="ctr">
          <a:solidFill>
            <a:schemeClr val="accent4"/>
          </a:solidFill>
          <a:prstDash val="solid"/>
        </a:ln>
        <a:effectLst>
          <a:glow rad="63500">
            <a:schemeClr val="accent5">
              <a:satMod val="175000"/>
              <a:alpha val="40000"/>
            </a:schemeClr>
          </a:glow>
        </a:effectLst>
      </dsp:spPr>
      <dsp:style>
        <a:lnRef idx="2">
          <a:schemeClr val="accent4"/>
        </a:lnRef>
        <a:fillRef idx="1">
          <a:schemeClr val="lt1"/>
        </a:fillRef>
        <a:effectRef idx="0">
          <a:schemeClr val="accent4"/>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Times New Roman" panose="02020603050405020304" pitchFamily="18" charset="0"/>
              <a:cs typeface="Times New Roman" panose="02020603050405020304" pitchFamily="18" charset="0"/>
            </a:rPr>
            <a:t>Position</a:t>
          </a:r>
          <a:endParaRPr lang="en-US" sz="1600" b="1" kern="1200" dirty="0">
            <a:latin typeface="Times New Roman" panose="02020603050405020304" pitchFamily="18" charset="0"/>
            <a:cs typeface="Times New Roman" panose="02020603050405020304" pitchFamily="18" charset="0"/>
          </a:endParaRPr>
        </a:p>
      </dsp:txBody>
      <dsp:txXfrm>
        <a:off x="8552038" y="2831018"/>
        <a:ext cx="1487522" cy="508369"/>
      </dsp:txXfrm>
    </dsp:sp>
    <dsp:sp modelId="{91F088A2-5416-4F9F-8ADD-7E18285AFED7}">
      <dsp:nvSpPr>
        <dsp:cNvPr id="0" name=""/>
        <dsp:cNvSpPr/>
      </dsp:nvSpPr>
      <dsp:spPr>
        <a:xfrm>
          <a:off x="9295799" y="2436639"/>
          <a:ext cx="1945037" cy="378562"/>
        </a:xfrm>
        <a:custGeom>
          <a:avLst/>
          <a:gdLst/>
          <a:ahLst/>
          <a:cxnLst/>
          <a:rect l="0" t="0" r="0" b="0"/>
          <a:pathLst>
            <a:path>
              <a:moveTo>
                <a:pt x="0" y="0"/>
              </a:moveTo>
              <a:lnTo>
                <a:pt x="0" y="189281"/>
              </a:lnTo>
              <a:lnTo>
                <a:pt x="1945037" y="189281"/>
              </a:lnTo>
              <a:lnTo>
                <a:pt x="1945037" y="378562"/>
              </a:lnTo>
            </a:path>
          </a:pathLst>
        </a:custGeom>
        <a:noFill/>
        <a:ln w="28575" cap="flat" cmpd="sng" algn="ctr">
          <a:solidFill>
            <a:schemeClr val="tx1"/>
          </a:solidFill>
          <a:prstDash val="solid"/>
        </a:ln>
        <a:effectLst/>
      </dsp:spPr>
      <dsp:style>
        <a:lnRef idx="1">
          <a:schemeClr val="dk1"/>
        </a:lnRef>
        <a:fillRef idx="0">
          <a:schemeClr val="dk1"/>
        </a:fillRef>
        <a:effectRef idx="0">
          <a:schemeClr val="dk1"/>
        </a:effectRef>
        <a:fontRef idx="minor">
          <a:schemeClr val="tx1"/>
        </a:fontRef>
      </dsp:style>
    </dsp:sp>
    <dsp:sp modelId="{2BB57B2B-32C3-4EC1-8F2E-EFC261D0F95A}">
      <dsp:nvSpPr>
        <dsp:cNvPr id="0" name=""/>
        <dsp:cNvSpPr/>
      </dsp:nvSpPr>
      <dsp:spPr>
        <a:xfrm>
          <a:off x="10481259" y="2815202"/>
          <a:ext cx="1519154" cy="540001"/>
        </a:xfrm>
        <a:prstGeom prst="roundRect">
          <a:avLst>
            <a:gd name="adj" fmla="val 10000"/>
          </a:avLst>
        </a:prstGeom>
        <a:solidFill>
          <a:schemeClr val="lt1"/>
        </a:solidFill>
        <a:ln w="15875" cap="flat" cmpd="sng" algn="ctr">
          <a:solidFill>
            <a:schemeClr val="accent4"/>
          </a:solidFill>
          <a:prstDash val="solid"/>
        </a:ln>
        <a:effectLst>
          <a:glow rad="63500">
            <a:schemeClr val="accent5">
              <a:satMod val="175000"/>
              <a:alpha val="40000"/>
            </a:schemeClr>
          </a:glow>
        </a:effectLst>
      </dsp:spPr>
      <dsp:style>
        <a:lnRef idx="2">
          <a:schemeClr val="accent4"/>
        </a:lnRef>
        <a:fillRef idx="1">
          <a:schemeClr val="lt1"/>
        </a:fillRef>
        <a:effectRef idx="0">
          <a:schemeClr val="accent4"/>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1" kern="1200" dirty="0">
              <a:latin typeface="Times New Roman" panose="02020603050405020304" pitchFamily="18" charset="0"/>
              <a:cs typeface="Times New Roman" panose="02020603050405020304" pitchFamily="18" charset="0"/>
            </a:rPr>
            <a:t>Fonction</a:t>
          </a:r>
          <a:endParaRPr lang="en-US" sz="1600" b="1" kern="1200" dirty="0">
            <a:latin typeface="Times New Roman" panose="02020603050405020304" pitchFamily="18" charset="0"/>
            <a:cs typeface="Times New Roman" panose="02020603050405020304" pitchFamily="18" charset="0"/>
          </a:endParaRPr>
        </a:p>
      </dsp:txBody>
      <dsp:txXfrm>
        <a:off x="10497075" y="2831018"/>
        <a:ext cx="1487522" cy="50836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D2684-37C6-427D-A789-BC784710A539}" type="datetimeFigureOut">
              <a:rPr lang="en-US" smtClean="0"/>
              <a:t>4/12/2024</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1E153-059A-4831-B872-68D448D0B38F}" type="slidenum">
              <a:rPr lang="en-US" smtClean="0"/>
              <a:t>‹N°›</a:t>
            </a:fld>
            <a:endParaRPr lang="en-US"/>
          </a:p>
        </p:txBody>
      </p:sp>
    </p:spTree>
    <p:extLst>
      <p:ext uri="{BB962C8B-B14F-4D97-AF65-F5344CB8AC3E}">
        <p14:creationId xmlns:p14="http://schemas.microsoft.com/office/powerpoint/2010/main" val="371167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F2560F38-C9AE-4D77-A95C-8ABF16F766A3}"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814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01760EA-96A2-4377-9E71-DF4FC4176FE9}"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81155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92A7F3D-7B9A-4C97-89DB-A2E2E031D79D}"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35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1615AD0-642D-4333-A21E-555EB6BA133F}" type="datetime1">
              <a:rPr lang="en-US" smtClean="0"/>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68479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97280" y="2582335"/>
            <a:ext cx="493776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920" y="2582334"/>
            <a:ext cx="493776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28521FD-328D-420B-A334-100151A7F1B4}" type="datetime1">
              <a:rPr lang="en-US" smtClean="0"/>
              <a:t>4/12/2024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2089379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4AD4BFA-F23D-4CEF-A401-876E7839B6D2}" type="datetime1">
              <a:rPr lang="en-US" smtClean="0"/>
              <a:t>4/12/2024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4164261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B91596E-5750-4B26-A31D-9383A0F16FC9}" type="datetime1">
              <a:rPr lang="en-US" smtClean="0"/>
              <a:t>4/12/2024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160486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AED8990-F4DA-46D7-8527-01686EFE815F}" type="datetime1">
              <a:rPr lang="en-US" smtClean="0"/>
              <a:t>4/12/2024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2D09504-E352-447E-8708-9E29931D3037}" type="slidenum">
              <a:rPr lang="en-US" smtClean="0"/>
              <a:t>‹N°›</a:t>
            </a:fld>
            <a:endParaRPr lang="en-US"/>
          </a:p>
        </p:txBody>
      </p:sp>
    </p:spTree>
    <p:extLst>
      <p:ext uri="{BB962C8B-B14F-4D97-AF65-F5344CB8AC3E}">
        <p14:creationId xmlns:p14="http://schemas.microsoft.com/office/powerpoint/2010/main" val="4148028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295A72D-F3B4-489A-94E0-28182BAE299B}" type="datetime1">
              <a:rPr lang="en-US" smtClean="0"/>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209930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77288F3-EBFB-4E9A-8AAC-62E662C55C03}"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101029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27EA1C-FB7B-42BD-8156-51E079B019C1}" type="datetime1">
              <a:rPr lang="en-US" smtClean="0"/>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D09504-E352-447E-8708-9E29931D3037}" type="slidenum">
              <a:rPr lang="en-US" smtClean="0"/>
              <a:t>‹N°›</a:t>
            </a:fld>
            <a:endParaRPr lang="en-US"/>
          </a:p>
        </p:txBody>
      </p:sp>
    </p:spTree>
    <p:extLst>
      <p:ext uri="{BB962C8B-B14F-4D97-AF65-F5344CB8AC3E}">
        <p14:creationId xmlns:p14="http://schemas.microsoft.com/office/powerpoint/2010/main" val="3538393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6471AB0-4FC5-4B4D-B6CC-558062AC61D8}" type="datetime1">
              <a:rPr lang="en-US" smtClean="0"/>
              <a:t>4/12/2024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2D09504-E352-447E-8708-9E29931D3037}" type="slidenum">
              <a:rPr lang="en-US" smtClean="0"/>
              <a:t>‹N°›</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7402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0.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8.emf"/></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61.png"/><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3.emf"/><Relationship Id="rId7" Type="http://schemas.openxmlformats.org/officeDocument/2006/relationships/image" Target="../media/image67.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 Id="rId9" Type="http://schemas.openxmlformats.org/officeDocument/2006/relationships/image" Target="../media/image69.emf"/></Relationships>
</file>

<file path=ppt/slides/_rels/slide4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4.emf"/><Relationship Id="rId5" Type="http://schemas.openxmlformats.org/officeDocument/2006/relationships/image" Target="../media/image73.emf"/><Relationship Id="rId4" Type="http://schemas.openxmlformats.org/officeDocument/2006/relationships/image" Target="../media/image72.emf"/></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660A4B8-720E-E2D1-A91D-B849E18A7155}"/>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A16AA9BB-5949-6F3D-0C2B-315E84D772FA}"/>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E5D2252B-838F-2BEF-6BEC-D4408755D292}"/>
              </a:ext>
            </a:extLst>
          </p:cNvPr>
          <p:cNvSpPr>
            <a:spLocks noGrp="1"/>
          </p:cNvSpPr>
          <p:nvPr>
            <p:ph type="sldNum" sz="quarter" idx="12"/>
          </p:nvPr>
        </p:nvSpPr>
        <p:spPr>
          <a:xfrm>
            <a:off x="5947584" y="6419850"/>
            <a:ext cx="296833"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B11191D2-27DC-3168-DA2D-5A29342E0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490"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Titre 4">
            <a:extLst>
              <a:ext uri="{FF2B5EF4-FFF2-40B4-BE49-F238E27FC236}">
                <a16:creationId xmlns:a16="http://schemas.microsoft.com/office/drawing/2014/main" id="{6DDA8709-2EBD-4C39-3385-AA731F49981F}"/>
              </a:ext>
            </a:extLst>
          </p:cNvPr>
          <p:cNvSpPr txBox="1">
            <a:spLocks/>
          </p:cNvSpPr>
          <p:nvPr/>
        </p:nvSpPr>
        <p:spPr>
          <a:xfrm>
            <a:off x="1066800" y="2254468"/>
            <a:ext cx="10058400" cy="3050957"/>
          </a:xfrm>
          <a:prstGeom prst="rect">
            <a:avLst/>
          </a:prstGeom>
        </p:spPr>
        <p:style>
          <a:lnRef idx="2">
            <a:schemeClr val="accent2"/>
          </a:lnRef>
          <a:fillRef idx="1">
            <a:schemeClr val="lt1"/>
          </a:fillRef>
          <a:effectRef idx="0">
            <a:schemeClr val="accent2"/>
          </a:effectRef>
          <a:fontRef idx="minor">
            <a:schemeClr val="dk1"/>
          </a:fontRef>
        </p:style>
        <p:txBody>
          <a:bodyPr>
            <a:normAutofit fontScale="97500" lnSpcReduction="10000"/>
          </a:bodyPr>
          <a:lstStyle>
            <a:lvl1pPr algn="l" defTabSz="914400" rtl="0" eaLnBrk="1" latinLnBrk="0" hangingPunct="1">
              <a:lnSpc>
                <a:spcPct val="85000"/>
              </a:lnSpc>
              <a:spcBef>
                <a:spcPct val="0"/>
              </a:spcBef>
              <a:buNone/>
              <a:defRPr sz="4800" kern="1200" spc="-50"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Cours de Chimie Organique Générale</a:t>
            </a: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Filière: PC-Physique</a:t>
            </a: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b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br>
            <a:r>
              <a:rPr lang="fr-FR"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rPr>
              <a:t>Module: M127</a:t>
            </a:r>
            <a:endParaRPr lang="en-US" b="1" spc="0" dirty="0">
              <a:ln w="22225">
                <a:solidFill>
                  <a:schemeClr val="accent2"/>
                </a:solidFill>
                <a:prstDash val="solid"/>
              </a:ln>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9436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DAC2-4773-7B03-0328-68AF51669C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5A373CB-3CD0-AC03-0925-7D458C29938D}"/>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E5F5200A-36B5-C4DD-9F4A-DBFB086BC048}"/>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5FC7AACE-EA5B-4A63-E5CC-3E95C9DE3934}"/>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7D54EB2C-229D-C60C-AB22-DD69ADC96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191E7D58-D590-606B-A557-90813AF334E9}"/>
              </a:ext>
            </a:extLst>
          </p:cNvPr>
          <p:cNvSpPr txBox="1"/>
          <p:nvPr/>
        </p:nvSpPr>
        <p:spPr>
          <a:xfrm>
            <a:off x="541020" y="2680218"/>
            <a:ext cx="11109959" cy="823752"/>
          </a:xfrm>
          <a:prstGeom prst="rect">
            <a:avLst/>
          </a:prstGeom>
          <a:noFill/>
        </p:spPr>
        <p:txBody>
          <a:bodyPr wrap="square" rtlCol="0">
            <a:spAutoFit/>
          </a:bodyPr>
          <a:lstStyle/>
          <a:p>
            <a:pPr algn="ctr">
              <a:lnSpc>
                <a:spcPct val="150000"/>
              </a:lnSpc>
            </a:pPr>
            <a:r>
              <a:rPr lang="fr-MA" sz="3600" b="1" dirty="0">
                <a:solidFill>
                  <a:srgbClr val="000099"/>
                </a:solidFill>
                <a:latin typeface="Times New Roman" panose="02020603050405020304" pitchFamily="18" charset="0"/>
                <a:cs typeface="Times New Roman" panose="02020603050405020304" pitchFamily="18" charset="0"/>
              </a:rPr>
              <a:t>Chapitre 4 : ISOMERIE</a:t>
            </a:r>
          </a:p>
        </p:txBody>
      </p:sp>
    </p:spTree>
    <p:extLst>
      <p:ext uri="{BB962C8B-B14F-4D97-AF65-F5344CB8AC3E}">
        <p14:creationId xmlns:p14="http://schemas.microsoft.com/office/powerpoint/2010/main" val="985841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EBC8C-0015-686C-0014-B8E9E9F119E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C4EA63D-6E6E-E9BE-E308-18E816E8B87A}"/>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3AF8FB06-BD7F-12A5-E22B-E359CA21A74E}"/>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1EE812D3-79DC-21AA-FA78-B8BA7CDD53D2}"/>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DE25BE6D-5E81-63BD-D82F-E4CDF34FE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D9CF3FDE-B871-ABB1-811E-AD0DB41F2DA6}"/>
              </a:ext>
            </a:extLst>
          </p:cNvPr>
          <p:cNvSpPr txBox="1"/>
          <p:nvPr/>
        </p:nvSpPr>
        <p:spPr>
          <a:xfrm>
            <a:off x="813817" y="740330"/>
            <a:ext cx="9838662" cy="51911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	Définition de l’isomérie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indent="625475">
              <a:spcBef>
                <a:spcPts val="800"/>
              </a:spcBef>
            </a:pPr>
            <a:r>
              <a:rPr lang="fr-FR" b="1" kern="100" dirty="0">
                <a:latin typeface="Times New Roman" panose="02020603050405020304" pitchFamily="18" charset="0"/>
                <a:cs typeface="Arial" panose="020B0604020202020204" pitchFamily="34" charset="0"/>
              </a:rPr>
              <a:t>II. 1.	Isomérie de chaîne</a:t>
            </a:r>
            <a:endParaRPr lang="en-US" b="1" kern="100" dirty="0">
              <a:latin typeface="Times New Roman" panose="02020603050405020304" pitchFamily="18" charset="0"/>
              <a:cs typeface="Arial" panose="020B0604020202020204" pitchFamily="34" charset="0"/>
            </a:endParaRPr>
          </a:p>
          <a:p>
            <a:pPr indent="625475">
              <a:spcBef>
                <a:spcPts val="800"/>
              </a:spcBef>
            </a:pPr>
            <a:r>
              <a:rPr lang="fr-FR" b="1" kern="100" dirty="0">
                <a:latin typeface="Times New Roman" panose="02020603050405020304" pitchFamily="18" charset="0"/>
                <a:cs typeface="Arial" panose="020B0604020202020204" pitchFamily="34" charset="0"/>
              </a:rPr>
              <a:t>II. 2.	Isomérie de fonction</a:t>
            </a:r>
            <a:endParaRPr lang="en-US" b="1" kern="100" dirty="0">
              <a:latin typeface="Times New Roman" panose="02020603050405020304" pitchFamily="18" charset="0"/>
              <a:cs typeface="Arial" panose="020B0604020202020204" pitchFamily="34" charset="0"/>
            </a:endParaRPr>
          </a:p>
          <a:p>
            <a:pPr indent="625475">
              <a:spcBef>
                <a:spcPts val="800"/>
              </a:spcBef>
            </a:pPr>
            <a:r>
              <a:rPr lang="fr-FR" b="1" kern="100" dirty="0">
                <a:latin typeface="Times New Roman" panose="02020603050405020304" pitchFamily="18" charset="0"/>
                <a:cs typeface="Arial" panose="020B0604020202020204" pitchFamily="34" charset="0"/>
              </a:rPr>
              <a:t>II. 3.	Isomérie de position</a:t>
            </a:r>
            <a:endParaRPr lang="en-US" b="1" kern="100" dirty="0">
              <a:latin typeface="Times New Roman" panose="02020603050405020304" pitchFamily="18" charset="0"/>
              <a:cs typeface="Arial" panose="020B0604020202020204" pitchFamily="34" charset="0"/>
            </a:endParaRPr>
          </a:p>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IV.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	Nomenclatures spéciales</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indent="625475">
              <a:spcBef>
                <a:spcPts val="800"/>
              </a:spcBef>
            </a:pPr>
            <a:r>
              <a:rPr lang="fr-FR" b="1" kern="100" dirty="0">
                <a:latin typeface="Times New Roman" panose="02020603050405020304" pitchFamily="18" charset="0"/>
                <a:cs typeface="Arial" panose="020B0604020202020204" pitchFamily="34" charset="0"/>
              </a:rPr>
              <a:t>VI. 1.	Nomenclature </a:t>
            </a:r>
            <a:r>
              <a:rPr lang="fr-FR" b="1" kern="100" dirty="0" err="1">
                <a:latin typeface="Times New Roman" panose="02020603050405020304" pitchFamily="18" charset="0"/>
                <a:cs typeface="Arial" panose="020B0604020202020204" pitchFamily="34" charset="0"/>
              </a:rPr>
              <a:t>Threo</a:t>
            </a:r>
            <a:r>
              <a:rPr lang="fr-FR" b="1" kern="100" dirty="0">
                <a:latin typeface="Times New Roman" panose="02020603050405020304" pitchFamily="18" charset="0"/>
                <a:cs typeface="Arial" panose="020B0604020202020204" pitchFamily="34" charset="0"/>
              </a:rPr>
              <a:t> et </a:t>
            </a:r>
            <a:r>
              <a:rPr lang="fr-FR" b="1" kern="100" dirty="0" err="1">
                <a:latin typeface="Times New Roman" panose="02020603050405020304" pitchFamily="18" charset="0"/>
                <a:cs typeface="Arial" panose="020B0604020202020204" pitchFamily="34" charset="0"/>
              </a:rPr>
              <a:t>Erhyto</a:t>
            </a:r>
            <a:endParaRPr lang="en-US" b="1" kern="100" dirty="0">
              <a:latin typeface="Times New Roman" panose="02020603050405020304" pitchFamily="18" charset="0"/>
              <a:cs typeface="Arial" panose="020B0604020202020204" pitchFamily="34" charset="0"/>
            </a:endParaRPr>
          </a:p>
          <a:p>
            <a:pPr indent="625475">
              <a:spcBef>
                <a:spcPts val="800"/>
              </a:spcBef>
            </a:pPr>
            <a:r>
              <a:rPr lang="fr-FR" b="1" kern="100" dirty="0">
                <a:latin typeface="Times New Roman" panose="02020603050405020304" pitchFamily="18" charset="0"/>
                <a:cs typeface="Arial" panose="020B0604020202020204" pitchFamily="34" charset="0"/>
              </a:rPr>
              <a:t>VI. 2.	Configurations D et L</a:t>
            </a:r>
            <a:endParaRPr lang="en-US" b="1" kern="100" dirty="0">
              <a:latin typeface="Times New Roman" panose="02020603050405020304" pitchFamily="18" charset="0"/>
              <a:cs typeface="Arial" panose="020B0604020202020204" pitchFamily="34" charset="0"/>
            </a:endParaRPr>
          </a:p>
          <a:p>
            <a:pPr defTabSz="358775">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8" name="ZoneTexte 7">
            <a:extLst>
              <a:ext uri="{FF2B5EF4-FFF2-40B4-BE49-F238E27FC236}">
                <a16:creationId xmlns:a16="http://schemas.microsoft.com/office/drawing/2014/main" id="{29CEB35E-1390-D04B-F549-8113232585F5}"/>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Tree>
    <p:extLst>
      <p:ext uri="{BB962C8B-B14F-4D97-AF65-F5344CB8AC3E}">
        <p14:creationId xmlns:p14="http://schemas.microsoft.com/office/powerpoint/2010/main" val="169824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584252"/>
            <a:ext cx="6281530" cy="579967"/>
          </a:xfrm>
          <a:prstGeom prst="rect">
            <a:avLst/>
          </a:prstGeom>
          <a:noFill/>
        </p:spPr>
        <p:txBody>
          <a:bodyPr wrap="square">
            <a:spAutoFit/>
          </a:bodyPr>
          <a:lstStyle/>
          <a:p>
            <a:pPr>
              <a:lnSpc>
                <a:spcPct val="150000"/>
              </a:lnSpc>
              <a:spcAft>
                <a:spcPts val="800"/>
              </a:spcAft>
              <a:tabLst>
                <a:tab pos="447675" algn="l"/>
              </a:tabLst>
            </a:pPr>
            <a:r>
              <a:rPr lang="fr-MA" sz="2400" b="1" kern="100" dirty="0">
                <a:solidFill>
                  <a:schemeClr val="accent2">
                    <a:lumMod val="60000"/>
                    <a:lumOff val="40000"/>
                  </a:schemeClr>
                </a:solidFill>
                <a:latin typeface="Times New Roman" panose="02020603050405020304" pitchFamily="18" charset="0"/>
                <a:cs typeface="Arial" panose="020B0604020202020204" pitchFamily="34" charset="0"/>
              </a:rPr>
              <a:t>I.	Définition de l’isomérie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EAD36023-6228-CF03-8738-893785CD75FE}"/>
              </a:ext>
            </a:extLst>
          </p:cNvPr>
          <p:cNvSpPr txBox="1"/>
          <p:nvPr/>
        </p:nvSpPr>
        <p:spPr>
          <a:xfrm>
            <a:off x="813816" y="1411843"/>
            <a:ext cx="10566487" cy="458074"/>
          </a:xfrm>
          <a:prstGeom prst="rect">
            <a:avLst/>
          </a:prstGeom>
          <a:noFill/>
        </p:spPr>
        <p:txBody>
          <a:bodyPr wrap="square">
            <a:spAutoFit/>
          </a:bodyPr>
          <a:lstStyle/>
          <a:p>
            <a:pPr>
              <a:lnSpc>
                <a:spcPct val="150000"/>
              </a:lnSpc>
            </a:pPr>
            <a:r>
              <a:rPr lang="fr-MA" b="0" i="0" dirty="0">
                <a:solidFill>
                  <a:srgbClr val="4D5156"/>
                </a:solidFill>
                <a:effectLst/>
                <a:latin typeface="Times New Roman" panose="02020603050405020304" pitchFamily="18" charset="0"/>
                <a:cs typeface="Times New Roman" panose="02020603050405020304" pitchFamily="18" charset="0"/>
              </a:rPr>
              <a:t>On parle d'</a:t>
            </a:r>
            <a:r>
              <a:rPr lang="fr-MA" b="1" i="0" dirty="0">
                <a:solidFill>
                  <a:srgbClr val="5F6368"/>
                </a:solidFill>
                <a:effectLst/>
                <a:latin typeface="Times New Roman" panose="02020603050405020304" pitchFamily="18" charset="0"/>
                <a:cs typeface="Times New Roman" panose="02020603050405020304" pitchFamily="18" charset="0"/>
              </a:rPr>
              <a:t>isomérie</a:t>
            </a:r>
            <a:r>
              <a:rPr lang="fr-MA" b="0" i="0" dirty="0">
                <a:solidFill>
                  <a:srgbClr val="4D5156"/>
                </a:solidFill>
                <a:effectLst/>
                <a:latin typeface="Times New Roman" panose="02020603050405020304" pitchFamily="18" charset="0"/>
                <a:cs typeface="Times New Roman" panose="02020603050405020304" pitchFamily="18" charset="0"/>
              </a:rPr>
              <a:t> quand deux molécules possèdent la même formule brute mais ont des structures différentes. </a:t>
            </a:r>
            <a:endParaRPr lang="en-US" dirty="0">
              <a:latin typeface="Times New Roman" panose="02020603050405020304" pitchFamily="18" charset="0"/>
              <a:cs typeface="Times New Roman" panose="02020603050405020304" pitchFamily="18" charset="0"/>
            </a:endParaRPr>
          </a:p>
        </p:txBody>
      </p:sp>
      <p:graphicFrame>
        <p:nvGraphicFramePr>
          <p:cNvPr id="11" name="Diagramme 10">
            <a:extLst>
              <a:ext uri="{FF2B5EF4-FFF2-40B4-BE49-F238E27FC236}">
                <a16:creationId xmlns:a16="http://schemas.microsoft.com/office/drawing/2014/main" id="{7E0372C9-12C6-4AC2-DBB0-09AD7D0D89DF}"/>
              </a:ext>
            </a:extLst>
          </p:cNvPr>
          <p:cNvGraphicFramePr/>
          <p:nvPr>
            <p:extLst>
              <p:ext uri="{D42A27DB-BD31-4B8C-83A1-F6EECF244321}">
                <p14:modId xmlns:p14="http://schemas.microsoft.com/office/powerpoint/2010/main" val="2520048006"/>
              </p:ext>
            </p:extLst>
          </p:nvPr>
        </p:nvGraphicFramePr>
        <p:xfrm>
          <a:off x="1111250" y="1033259"/>
          <a:ext cx="9969500" cy="4482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Flèche : bas 11">
            <a:extLst>
              <a:ext uri="{FF2B5EF4-FFF2-40B4-BE49-F238E27FC236}">
                <a16:creationId xmlns:a16="http://schemas.microsoft.com/office/drawing/2014/main" id="{785C5404-B86F-1692-0430-35A9F84654C5}"/>
              </a:ext>
            </a:extLst>
          </p:cNvPr>
          <p:cNvSpPr/>
          <p:nvPr/>
        </p:nvSpPr>
        <p:spPr>
          <a:xfrm>
            <a:off x="2892478" y="3776862"/>
            <a:ext cx="337930" cy="596348"/>
          </a:xfrm>
          <a:prstGeom prst="downArrow">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èche : bas 12">
            <a:extLst>
              <a:ext uri="{FF2B5EF4-FFF2-40B4-BE49-F238E27FC236}">
                <a16:creationId xmlns:a16="http://schemas.microsoft.com/office/drawing/2014/main" id="{D40E369B-EFC0-789E-4F66-8C7087E32EFD}"/>
              </a:ext>
            </a:extLst>
          </p:cNvPr>
          <p:cNvSpPr/>
          <p:nvPr/>
        </p:nvSpPr>
        <p:spPr>
          <a:xfrm>
            <a:off x="8849141" y="3766758"/>
            <a:ext cx="337930" cy="596348"/>
          </a:xfrm>
          <a:prstGeom prst="downArrow">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a:extLst>
              <a:ext uri="{FF2B5EF4-FFF2-40B4-BE49-F238E27FC236}">
                <a16:creationId xmlns:a16="http://schemas.microsoft.com/office/drawing/2014/main" id="{42BAC6EA-FCF8-9F33-942B-3D1201060A0B}"/>
              </a:ext>
            </a:extLst>
          </p:cNvPr>
          <p:cNvSpPr txBox="1"/>
          <p:nvPr/>
        </p:nvSpPr>
        <p:spPr>
          <a:xfrm>
            <a:off x="1261443" y="4456214"/>
            <a:ext cx="3600000" cy="923330"/>
          </a:xfrm>
          <a:prstGeom prst="rect">
            <a:avLst/>
          </a:prstGeom>
          <a:noFill/>
        </p:spPr>
        <p:txBody>
          <a:bodyPr wrap="square">
            <a:spAutoFit/>
          </a:bodyPr>
          <a:lstStyle/>
          <a:p>
            <a:pPr algn="just"/>
            <a:r>
              <a:rPr lang="fr-FR" sz="1800" dirty="0">
                <a:solidFill>
                  <a:srgbClr val="000000"/>
                </a:solidFill>
                <a:effectLst/>
                <a:latin typeface="Times New Roman" panose="02020603050405020304" pitchFamily="18" charset="0"/>
                <a:ea typeface="Calibri" panose="020F0502020204030204" pitchFamily="34" charset="0"/>
              </a:rPr>
              <a:t>Les isomères de constitution ont même formule brute mais des formules planes différentes</a:t>
            </a:r>
            <a:endParaRPr lang="en-US" dirty="0"/>
          </a:p>
        </p:txBody>
      </p:sp>
      <p:sp>
        <p:nvSpPr>
          <p:cNvPr id="17" name="ZoneTexte 16">
            <a:extLst>
              <a:ext uri="{FF2B5EF4-FFF2-40B4-BE49-F238E27FC236}">
                <a16:creationId xmlns:a16="http://schemas.microsoft.com/office/drawing/2014/main" id="{716EF577-CC5E-770A-3F7D-2C66B1B2AD93}"/>
              </a:ext>
            </a:extLst>
          </p:cNvPr>
          <p:cNvSpPr txBox="1"/>
          <p:nvPr/>
        </p:nvSpPr>
        <p:spPr>
          <a:xfrm>
            <a:off x="7218106" y="4416165"/>
            <a:ext cx="3600000" cy="1664879"/>
          </a:xfrm>
          <a:prstGeom prst="rect">
            <a:avLst/>
          </a:prstGeom>
          <a:noFill/>
        </p:spPr>
        <p:txBody>
          <a:bodyPr wrap="square">
            <a:spAutoFit/>
          </a:bodyPr>
          <a:lstStyle/>
          <a:p>
            <a:pPr algn="just">
              <a:lnSpc>
                <a:spcPct val="115000"/>
              </a:lnSpc>
              <a:spcAft>
                <a:spcPts val="800"/>
              </a:spcAft>
            </a:pPr>
            <a:r>
              <a:rPr lang="fr-FR"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stéréoisomères ont la même formule semi-développée plane mais diffèrent par la position relative dans l’espace des atomes qui les constituent.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37628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55932"/>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8" name="ZoneTexte 7">
            <a:extLst>
              <a:ext uri="{FF2B5EF4-FFF2-40B4-BE49-F238E27FC236}">
                <a16:creationId xmlns:a16="http://schemas.microsoft.com/office/drawing/2014/main" id="{EA699679-19A3-8E04-ED72-2CAB68AECFE4}"/>
              </a:ext>
            </a:extLst>
          </p:cNvPr>
          <p:cNvSpPr txBox="1"/>
          <p:nvPr/>
        </p:nvSpPr>
        <p:spPr>
          <a:xfrm>
            <a:off x="813817" y="1411843"/>
            <a:ext cx="4493679" cy="39068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Il existe trois types d’isomérie de constitution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Flèche : droite 8">
            <a:extLst>
              <a:ext uri="{FF2B5EF4-FFF2-40B4-BE49-F238E27FC236}">
                <a16:creationId xmlns:a16="http://schemas.microsoft.com/office/drawing/2014/main" id="{44233284-30B5-BFAA-618E-918C93D46CBC}"/>
              </a:ext>
            </a:extLst>
          </p:cNvPr>
          <p:cNvSpPr/>
          <p:nvPr/>
        </p:nvSpPr>
        <p:spPr>
          <a:xfrm>
            <a:off x="5436706" y="1520687"/>
            <a:ext cx="569843" cy="228600"/>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Accolade ouvrante 9">
            <a:extLst>
              <a:ext uri="{FF2B5EF4-FFF2-40B4-BE49-F238E27FC236}">
                <a16:creationId xmlns:a16="http://schemas.microsoft.com/office/drawing/2014/main" id="{008E7D5E-3464-822B-89AB-051EF656B2F1}"/>
              </a:ext>
            </a:extLst>
          </p:cNvPr>
          <p:cNvSpPr/>
          <p:nvPr/>
        </p:nvSpPr>
        <p:spPr>
          <a:xfrm>
            <a:off x="6126646" y="944216"/>
            <a:ext cx="323850" cy="1343025"/>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1" name="ZoneTexte 10">
            <a:extLst>
              <a:ext uri="{FF2B5EF4-FFF2-40B4-BE49-F238E27FC236}">
                <a16:creationId xmlns:a16="http://schemas.microsoft.com/office/drawing/2014/main" id="{3123440B-E6B2-4B2F-9927-127F64251936}"/>
              </a:ext>
            </a:extLst>
          </p:cNvPr>
          <p:cNvSpPr txBox="1"/>
          <p:nvPr/>
        </p:nvSpPr>
        <p:spPr>
          <a:xfrm>
            <a:off x="6358145" y="934329"/>
            <a:ext cx="2922105" cy="1682512"/>
          </a:xfrm>
          <a:prstGeom prst="rect">
            <a:avLst/>
          </a:prstGeom>
          <a:noFill/>
        </p:spPr>
        <p:txBody>
          <a:bodyPr wrap="square" rtlCol="0">
            <a:spAutoFit/>
          </a:bodyPr>
          <a:lstStyle/>
          <a:p>
            <a:pPr marL="285750" indent="-285750">
              <a:lnSpc>
                <a:spcPct val="150000"/>
              </a:lnSpc>
              <a:spcBef>
                <a:spcPts val="800"/>
              </a:spcBef>
              <a:buFont typeface="Wingdings" panose="05000000000000000000" pitchFamily="2" charset="2"/>
              <a:buChar char="q"/>
            </a:pPr>
            <a:r>
              <a:rPr lang="fr-FR" sz="1600" b="1" kern="100" dirty="0">
                <a:solidFill>
                  <a:schemeClr val="accent2">
                    <a:lumMod val="60000"/>
                    <a:lumOff val="40000"/>
                  </a:schemeClr>
                </a:solidFill>
                <a:latin typeface="Times New Roman" panose="02020603050405020304" pitchFamily="18" charset="0"/>
                <a:cs typeface="Arial" panose="020B0604020202020204" pitchFamily="34" charset="0"/>
              </a:rPr>
              <a:t>Isomérie de chaîne</a:t>
            </a:r>
            <a:endParaRPr lang="en-US" sz="16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marL="285750" indent="-285750">
              <a:lnSpc>
                <a:spcPct val="150000"/>
              </a:lnSpc>
              <a:spcBef>
                <a:spcPts val="800"/>
              </a:spcBef>
              <a:buFont typeface="Wingdings" panose="05000000000000000000" pitchFamily="2" charset="2"/>
              <a:buChar char="q"/>
            </a:pPr>
            <a:r>
              <a:rPr lang="fr-FR" sz="1600" b="1" kern="100" dirty="0">
                <a:solidFill>
                  <a:schemeClr val="accent2">
                    <a:lumMod val="60000"/>
                    <a:lumOff val="40000"/>
                  </a:schemeClr>
                </a:solidFill>
                <a:latin typeface="Times New Roman" panose="02020603050405020304" pitchFamily="18" charset="0"/>
                <a:cs typeface="Arial" panose="020B0604020202020204" pitchFamily="34" charset="0"/>
              </a:rPr>
              <a:t>Isomérie de fonction</a:t>
            </a:r>
            <a:endParaRPr lang="en-US" sz="1600" b="1" kern="100" dirty="0">
              <a:solidFill>
                <a:schemeClr val="accent2">
                  <a:lumMod val="60000"/>
                  <a:lumOff val="40000"/>
                </a:schemeClr>
              </a:solidFill>
              <a:latin typeface="Times New Roman" panose="02020603050405020304" pitchFamily="18" charset="0"/>
              <a:cs typeface="Arial" panose="020B0604020202020204" pitchFamily="34" charset="0"/>
            </a:endParaRPr>
          </a:p>
          <a:p>
            <a:pPr marL="285750" indent="-285750">
              <a:lnSpc>
                <a:spcPct val="150000"/>
              </a:lnSpc>
              <a:spcBef>
                <a:spcPts val="800"/>
              </a:spcBef>
              <a:buFont typeface="Wingdings" panose="05000000000000000000" pitchFamily="2" charset="2"/>
              <a:buChar char="q"/>
            </a:pPr>
            <a:r>
              <a:rPr lang="fr-FR" sz="1600" b="1" kern="100" dirty="0">
                <a:solidFill>
                  <a:schemeClr val="accent2">
                    <a:lumMod val="60000"/>
                    <a:lumOff val="40000"/>
                  </a:schemeClr>
                </a:solidFill>
                <a:latin typeface="Times New Roman" panose="02020603050405020304" pitchFamily="18" charset="0"/>
                <a:cs typeface="Arial" panose="020B0604020202020204" pitchFamily="34" charset="0"/>
              </a:rPr>
              <a:t>Isomérie de position</a:t>
            </a:r>
            <a:endParaRPr lang="en-US" sz="1600" b="1" kern="100" dirty="0">
              <a:solidFill>
                <a:schemeClr val="accent2">
                  <a:lumMod val="60000"/>
                  <a:lumOff val="40000"/>
                </a:schemeClr>
              </a:solidFill>
              <a:latin typeface="Times New Roman" panose="02020603050405020304" pitchFamily="18" charset="0"/>
              <a:cs typeface="Arial" panose="020B0604020202020204" pitchFamily="34" charset="0"/>
            </a:endParaRPr>
          </a:p>
          <a:p>
            <a:endParaRPr lang="en-US" b="1" dirty="0">
              <a:solidFill>
                <a:schemeClr val="accent2">
                  <a:lumMod val="60000"/>
                  <a:lumOff val="40000"/>
                </a:schemeClr>
              </a:solidFill>
            </a:endParaRPr>
          </a:p>
        </p:txBody>
      </p:sp>
      <p:sp>
        <p:nvSpPr>
          <p:cNvPr id="13" name="ZoneTexte 12">
            <a:extLst>
              <a:ext uri="{FF2B5EF4-FFF2-40B4-BE49-F238E27FC236}">
                <a16:creationId xmlns:a16="http://schemas.microsoft.com/office/drawing/2014/main" id="{6CA5C562-0B5A-CFCA-8FAB-C95595183A93}"/>
              </a:ext>
            </a:extLst>
          </p:cNvPr>
          <p:cNvSpPr txBox="1"/>
          <p:nvPr/>
        </p:nvSpPr>
        <p:spPr>
          <a:xfrm>
            <a:off x="993085" y="2564240"/>
            <a:ext cx="6281530"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 1.	Isomérie de chaîne</a:t>
            </a:r>
            <a:endParaRPr lang="en-US" b="1" kern="100" dirty="0">
              <a:latin typeface="Times New Roman" panose="02020603050405020304" pitchFamily="18" charset="0"/>
              <a:cs typeface="Arial" panose="020B0604020202020204" pitchFamily="34" charset="0"/>
            </a:endParaRPr>
          </a:p>
        </p:txBody>
      </p:sp>
      <p:sp>
        <p:nvSpPr>
          <p:cNvPr id="15" name="ZoneTexte 14">
            <a:extLst>
              <a:ext uri="{FF2B5EF4-FFF2-40B4-BE49-F238E27FC236}">
                <a16:creationId xmlns:a16="http://schemas.microsoft.com/office/drawing/2014/main" id="{C03E3EA4-C2E8-B9FC-985D-69D432B590D0}"/>
              </a:ext>
            </a:extLst>
          </p:cNvPr>
          <p:cNvSpPr txBox="1"/>
          <p:nvPr/>
        </p:nvSpPr>
        <p:spPr>
          <a:xfrm>
            <a:off x="813817" y="3049186"/>
            <a:ext cx="8230792" cy="390685"/>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L'enchaînement des carbones </a:t>
            </a: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de la chaîne principale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(squelette) est différent.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7" name="ZoneTexte 16">
            <a:extLst>
              <a:ext uri="{FF2B5EF4-FFF2-40B4-BE49-F238E27FC236}">
                <a16:creationId xmlns:a16="http://schemas.microsoft.com/office/drawing/2014/main" id="{D182D2BF-C308-2F0C-0617-A26832D5134B}"/>
              </a:ext>
            </a:extLst>
          </p:cNvPr>
          <p:cNvSpPr txBox="1"/>
          <p:nvPr/>
        </p:nvSpPr>
        <p:spPr>
          <a:xfrm>
            <a:off x="813817" y="3499943"/>
            <a:ext cx="6281530" cy="390684"/>
          </a:xfrm>
          <a:prstGeom prst="rect">
            <a:avLst/>
          </a:prstGeom>
          <a:noFill/>
        </p:spPr>
        <p:txBody>
          <a:bodyPr wrap="square">
            <a:spAutoFit/>
          </a:bodyPr>
          <a:lstStyle/>
          <a:p>
            <a:pPr algn="just">
              <a:lnSpc>
                <a:spcPct val="115000"/>
              </a:lnSpc>
              <a:spcBef>
                <a:spcPts val="600"/>
              </a:spcBef>
              <a:spcAft>
                <a:spcPts val="1200"/>
              </a:spcAft>
            </a:pP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
            </a:r>
            <a:r>
              <a:rPr lang="fr-FR" sz="1800"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6</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a:t>
            </a:r>
            <a:r>
              <a:rPr lang="fr-FR" sz="1800"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14</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9" name="Rectangle 2">
            <a:extLst>
              <a:ext uri="{FF2B5EF4-FFF2-40B4-BE49-F238E27FC236}">
                <a16:creationId xmlns:a16="http://schemas.microsoft.com/office/drawing/2014/main" id="{5ECBE42B-76B8-0A44-836B-E3B7588314CB}"/>
              </a:ext>
            </a:extLst>
          </p:cNvPr>
          <p:cNvSpPr>
            <a:spLocks noChangeArrowheads="1"/>
          </p:cNvSpPr>
          <p:nvPr/>
        </p:nvSpPr>
        <p:spPr bwMode="auto">
          <a:xfrm>
            <a:off x="1958974" y="4372382"/>
            <a:ext cx="1697675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22" name="Objet 21">
            <a:extLst>
              <a:ext uri="{FF2B5EF4-FFF2-40B4-BE49-F238E27FC236}">
                <a16:creationId xmlns:a16="http://schemas.microsoft.com/office/drawing/2014/main" id="{08D6229C-02A4-85BC-62FA-7BE750A380FA}"/>
              </a:ext>
            </a:extLst>
          </p:cNvPr>
          <p:cNvGraphicFramePr>
            <a:graphicFrameLocks noChangeAspect="1"/>
          </p:cNvGraphicFramePr>
          <p:nvPr>
            <p:extLst>
              <p:ext uri="{D42A27DB-BD31-4B8C-83A1-F6EECF244321}">
                <p14:modId xmlns:p14="http://schemas.microsoft.com/office/powerpoint/2010/main" val="1129856712"/>
              </p:ext>
            </p:extLst>
          </p:nvPr>
        </p:nvGraphicFramePr>
        <p:xfrm>
          <a:off x="941411" y="3766766"/>
          <a:ext cx="2770151" cy="1500932"/>
        </p:xfrm>
        <a:graphic>
          <a:graphicData uri="http://schemas.openxmlformats.org/presentationml/2006/ole">
            <mc:AlternateContent xmlns:mc="http://schemas.openxmlformats.org/markup-compatibility/2006">
              <mc:Choice xmlns:v="urn:schemas-microsoft-com:vml" Requires="v">
                <p:oleObj name="CS ChemDraw Drawing" r:id="rId3" imgW="5858889" imgH="936335" progId="ChemDraw.Document.6.0">
                  <p:embed/>
                </p:oleObj>
              </mc:Choice>
              <mc:Fallback>
                <p:oleObj name="CS ChemDraw Drawing" r:id="rId3" imgW="5858889" imgH="936335" progId="ChemDraw.Document.6.0">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r="79234" b="29327"/>
                      <a:stretch>
                        <a:fillRect/>
                      </a:stretch>
                    </p:blipFill>
                    <p:spPr bwMode="auto">
                      <a:xfrm>
                        <a:off x="941411" y="3766766"/>
                        <a:ext cx="2770151" cy="1500932"/>
                      </a:xfrm>
                      <a:prstGeom prst="rect">
                        <a:avLst/>
                      </a:prstGeom>
                      <a:noFill/>
                    </p:spPr>
                  </p:pic>
                </p:oleObj>
              </mc:Fallback>
            </mc:AlternateContent>
          </a:graphicData>
        </a:graphic>
      </p:graphicFrame>
      <p:graphicFrame>
        <p:nvGraphicFramePr>
          <p:cNvPr id="24" name="Objet 23">
            <a:extLst>
              <a:ext uri="{FF2B5EF4-FFF2-40B4-BE49-F238E27FC236}">
                <a16:creationId xmlns:a16="http://schemas.microsoft.com/office/drawing/2014/main" id="{77AB9B71-2B62-A929-BB12-FC8395ABAEDB}"/>
              </a:ext>
            </a:extLst>
          </p:cNvPr>
          <p:cNvGraphicFramePr>
            <a:graphicFrameLocks noChangeAspect="1"/>
          </p:cNvGraphicFramePr>
          <p:nvPr>
            <p:extLst>
              <p:ext uri="{D42A27DB-BD31-4B8C-83A1-F6EECF244321}">
                <p14:modId xmlns:p14="http://schemas.microsoft.com/office/powerpoint/2010/main" val="2060712737"/>
              </p:ext>
            </p:extLst>
          </p:nvPr>
        </p:nvGraphicFramePr>
        <p:xfrm>
          <a:off x="4691081" y="3877838"/>
          <a:ext cx="2659446" cy="1389860"/>
        </p:xfrm>
        <a:graphic>
          <a:graphicData uri="http://schemas.openxmlformats.org/presentationml/2006/ole">
            <mc:AlternateContent xmlns:mc="http://schemas.openxmlformats.org/markup-compatibility/2006">
              <mc:Choice xmlns:v="urn:schemas-microsoft-com:vml" Requires="v">
                <p:oleObj name="CS ChemDraw Drawing" r:id="rId5" imgW="5858889" imgH="936335" progId="ChemDraw.Document.6.0">
                  <p:embed/>
                </p:oleObj>
              </mc:Choice>
              <mc:Fallback>
                <p:oleObj name="CS ChemDraw Drawing" r:id="rId5" imgW="5858889" imgH="936335" progId="ChemDraw.Document.6.0">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l="26173" r="52222" b="29327"/>
                      <a:stretch>
                        <a:fillRect/>
                      </a:stretch>
                    </p:blipFill>
                    <p:spPr bwMode="auto">
                      <a:xfrm>
                        <a:off x="4691081" y="3877838"/>
                        <a:ext cx="2659446" cy="1389860"/>
                      </a:xfrm>
                      <a:prstGeom prst="rect">
                        <a:avLst/>
                      </a:prstGeom>
                      <a:noFill/>
                    </p:spPr>
                  </p:pic>
                </p:oleObj>
              </mc:Fallback>
            </mc:AlternateContent>
          </a:graphicData>
        </a:graphic>
      </p:graphicFrame>
      <p:graphicFrame>
        <p:nvGraphicFramePr>
          <p:cNvPr id="26" name="Objet 25">
            <a:extLst>
              <a:ext uri="{FF2B5EF4-FFF2-40B4-BE49-F238E27FC236}">
                <a16:creationId xmlns:a16="http://schemas.microsoft.com/office/drawing/2014/main" id="{7193C2A6-3556-0A0B-7D27-9768EA6C245D}"/>
              </a:ext>
            </a:extLst>
          </p:cNvPr>
          <p:cNvGraphicFramePr>
            <a:graphicFrameLocks noChangeAspect="1"/>
          </p:cNvGraphicFramePr>
          <p:nvPr>
            <p:extLst>
              <p:ext uri="{D42A27DB-BD31-4B8C-83A1-F6EECF244321}">
                <p14:modId xmlns:p14="http://schemas.microsoft.com/office/powerpoint/2010/main" val="4130491165"/>
              </p:ext>
            </p:extLst>
          </p:nvPr>
        </p:nvGraphicFramePr>
        <p:xfrm>
          <a:off x="8639533" y="3904218"/>
          <a:ext cx="2254988" cy="1363480"/>
        </p:xfrm>
        <a:graphic>
          <a:graphicData uri="http://schemas.openxmlformats.org/presentationml/2006/ole">
            <mc:AlternateContent xmlns:mc="http://schemas.openxmlformats.org/markup-compatibility/2006">
              <mc:Choice xmlns:v="urn:schemas-microsoft-com:vml" Requires="v">
                <p:oleObj name="CS ChemDraw Drawing" r:id="rId6" imgW="5858889" imgH="936335" progId="ChemDraw.Document.6.0">
                  <p:embed/>
                </p:oleObj>
              </mc:Choice>
              <mc:Fallback>
                <p:oleObj name="CS ChemDraw Drawing" r:id="rId6" imgW="5858889" imgH="936335" progId="ChemDraw.Document.6.0">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l="49225" r="32178" b="29327"/>
                      <a:stretch>
                        <a:fillRect/>
                      </a:stretch>
                    </p:blipFill>
                    <p:spPr bwMode="auto">
                      <a:xfrm>
                        <a:off x="8639533" y="3904218"/>
                        <a:ext cx="2254988" cy="1363480"/>
                      </a:xfrm>
                      <a:prstGeom prst="rect">
                        <a:avLst/>
                      </a:prstGeom>
                      <a:noFill/>
                    </p:spPr>
                  </p:pic>
                </p:oleObj>
              </mc:Fallback>
            </mc:AlternateContent>
          </a:graphicData>
        </a:graphic>
      </p:graphicFrame>
      <p:sp>
        <p:nvSpPr>
          <p:cNvPr id="32" name="ZoneTexte 31">
            <a:extLst>
              <a:ext uri="{FF2B5EF4-FFF2-40B4-BE49-F238E27FC236}">
                <a16:creationId xmlns:a16="http://schemas.microsoft.com/office/drawing/2014/main" id="{8F81048E-C575-968E-C2F2-8F5141C7930C}"/>
              </a:ext>
            </a:extLst>
          </p:cNvPr>
          <p:cNvSpPr txBox="1"/>
          <p:nvPr/>
        </p:nvSpPr>
        <p:spPr>
          <a:xfrm>
            <a:off x="813817" y="5623742"/>
            <a:ext cx="10684910" cy="646331"/>
          </a:xfrm>
          <a:prstGeom prst="rect">
            <a:avLst/>
          </a:prstGeom>
          <a:noFill/>
        </p:spPr>
        <p:txBody>
          <a:bodyPr wrap="square">
            <a:spAutoFit/>
          </a:bodyPr>
          <a:lstStyle/>
          <a:p>
            <a:r>
              <a:rPr lang="fr-FR" b="1" i="1" kern="100">
                <a:solidFill>
                  <a:srgbClr val="000000"/>
                </a:solidFill>
                <a:latin typeface="Times New Roman" panose="02020603050405020304" pitchFamily="18" charset="0"/>
                <a:cs typeface="Arial" panose="020B0604020202020204" pitchFamily="34" charset="0"/>
              </a:rPr>
              <a:t>Remarque :</a:t>
            </a:r>
            <a:r>
              <a:rPr lang="fr-FR" sz="18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MA" kern="100">
                <a:solidFill>
                  <a:srgbClr val="000000"/>
                </a:solidFill>
                <a:latin typeface="Times New Roman" panose="02020603050405020304" pitchFamily="18" charset="0"/>
                <a:cs typeface="Arial" panose="020B0604020202020204" pitchFamily="34" charset="0"/>
              </a:rPr>
              <a:t>Les </a:t>
            </a:r>
            <a:r>
              <a:rPr lang="fr-MA" kern="100" dirty="0">
                <a:solidFill>
                  <a:srgbClr val="000000"/>
                </a:solidFill>
                <a:latin typeface="Times New Roman" panose="02020603050405020304" pitchFamily="18" charset="0"/>
                <a:cs typeface="Arial" panose="020B0604020202020204" pitchFamily="34" charset="0"/>
              </a:rPr>
              <a:t>isomères de chaine ont des propriétés chimiques (réactivité) identiques et des propriétés physiques différentes (températures de changement d'état, miscibilité, densité …)</a:t>
            </a:r>
            <a:endParaRPr lang="en-US" kern="100" dirty="0">
              <a:solidFill>
                <a:srgbClr val="000000"/>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24679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55932"/>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3" name="ZoneTexte 12">
            <a:extLst>
              <a:ext uri="{FF2B5EF4-FFF2-40B4-BE49-F238E27FC236}">
                <a16:creationId xmlns:a16="http://schemas.microsoft.com/office/drawing/2014/main" id="{6CA5C562-0B5A-CFCA-8FAB-C95595183A93}"/>
              </a:ext>
            </a:extLst>
          </p:cNvPr>
          <p:cNvSpPr txBox="1"/>
          <p:nvPr/>
        </p:nvSpPr>
        <p:spPr>
          <a:xfrm>
            <a:off x="993085" y="1355840"/>
            <a:ext cx="6281530"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 2.	Isomérie de fonction</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1DF2A61C-1F7B-1AFC-7A58-2299CB0C5757}"/>
              </a:ext>
            </a:extLst>
          </p:cNvPr>
          <p:cNvSpPr txBox="1"/>
          <p:nvPr/>
        </p:nvSpPr>
        <p:spPr>
          <a:xfrm>
            <a:off x="813817" y="1816369"/>
            <a:ext cx="9467636" cy="369332"/>
          </a:xfrm>
          <a:prstGeom prst="rect">
            <a:avLst/>
          </a:prstGeom>
          <a:noFill/>
        </p:spPr>
        <p:txBody>
          <a:bodyPr wrap="square">
            <a:spAutoFit/>
          </a:bodyPr>
          <a:lstStyle/>
          <a:p>
            <a:r>
              <a:rPr lang="fr-FR" dirty="0">
                <a:solidFill>
                  <a:srgbClr val="000000"/>
                </a:solidFill>
                <a:latin typeface="Times New Roman" panose="02020603050405020304" pitchFamily="18" charset="0"/>
                <a:ea typeface="Calibri" panose="020F0502020204030204" pitchFamily="34" charset="0"/>
              </a:rPr>
              <a:t>L</a:t>
            </a:r>
            <a:r>
              <a:rPr lang="fr-FR" sz="1800" dirty="0">
                <a:solidFill>
                  <a:srgbClr val="000000"/>
                </a:solidFill>
                <a:effectLst/>
                <a:latin typeface="Times New Roman" panose="02020603050405020304" pitchFamily="18" charset="0"/>
                <a:ea typeface="Calibri" panose="020F0502020204030204" pitchFamily="34" charset="0"/>
              </a:rPr>
              <a:t>es isomères de </a:t>
            </a:r>
            <a:r>
              <a:rPr lang="fr-FR" dirty="0">
                <a:solidFill>
                  <a:srgbClr val="000000"/>
                </a:solidFill>
                <a:latin typeface="Times New Roman" panose="02020603050405020304" pitchFamily="18" charset="0"/>
                <a:ea typeface="Calibri" panose="020F0502020204030204" pitchFamily="34" charset="0"/>
              </a:rPr>
              <a:t>fonction </a:t>
            </a:r>
            <a:r>
              <a:rPr lang="fr-FR" sz="1800" dirty="0">
                <a:solidFill>
                  <a:srgbClr val="000000"/>
                </a:solidFill>
                <a:effectLst/>
                <a:latin typeface="Times New Roman" panose="02020603050405020304" pitchFamily="18" charset="0"/>
                <a:ea typeface="Calibri" panose="020F0502020204030204" pitchFamily="34" charset="0"/>
              </a:rPr>
              <a:t>ont la même formule brute mais des fonctions différentes. </a:t>
            </a:r>
            <a:endParaRPr lang="en-US" dirty="0"/>
          </a:p>
        </p:txBody>
      </p:sp>
      <p:sp>
        <p:nvSpPr>
          <p:cNvPr id="14" name="ZoneTexte 13">
            <a:extLst>
              <a:ext uri="{FF2B5EF4-FFF2-40B4-BE49-F238E27FC236}">
                <a16:creationId xmlns:a16="http://schemas.microsoft.com/office/drawing/2014/main" id="{BAF8549B-ACF3-53F3-8CF3-A7E0F88E45A2}"/>
              </a:ext>
            </a:extLst>
          </p:cNvPr>
          <p:cNvSpPr txBox="1"/>
          <p:nvPr/>
        </p:nvSpPr>
        <p:spPr>
          <a:xfrm>
            <a:off x="813817" y="2306087"/>
            <a:ext cx="6281530" cy="390684"/>
          </a:xfrm>
          <a:prstGeom prst="rect">
            <a:avLst/>
          </a:prstGeom>
          <a:noFill/>
        </p:spPr>
        <p:txBody>
          <a:bodyPr wrap="square">
            <a:spAutoFit/>
          </a:bodyPr>
          <a:lstStyle/>
          <a:p>
            <a:pPr algn="just">
              <a:lnSpc>
                <a:spcPct val="115000"/>
              </a:lnSpc>
              <a:spcBef>
                <a:spcPts val="600"/>
              </a:spcBef>
              <a:spcAft>
                <a:spcPts val="1200"/>
              </a:spcAft>
            </a:pP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1 :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
            </a:r>
            <a:r>
              <a:rPr lang="fr-FR" kern="100" baseline="-25000" dirty="0">
                <a:solidFill>
                  <a:srgbClr val="000000"/>
                </a:solidFill>
                <a:latin typeface="Times New Roman" panose="02020603050405020304" pitchFamily="18" charset="0"/>
                <a:ea typeface="Calibri" panose="020F0502020204030204" pitchFamily="34" charset="0"/>
                <a:cs typeface="Arial" panose="020B0604020202020204" pitchFamily="34" charset="0"/>
              </a:rPr>
              <a:t>3</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a:t>
            </a:r>
            <a:r>
              <a:rPr lang="fr-FR" sz="1800" kern="100" baseline="-25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8</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6" name="Image 15">
            <a:extLst>
              <a:ext uri="{FF2B5EF4-FFF2-40B4-BE49-F238E27FC236}">
                <a16:creationId xmlns:a16="http://schemas.microsoft.com/office/drawing/2014/main" id="{600A3858-421C-39A3-A8DD-FC1A752D900D}"/>
              </a:ext>
            </a:extLst>
          </p:cNvPr>
          <p:cNvPicPr>
            <a:picLocks noChangeAspect="1"/>
          </p:cNvPicPr>
          <p:nvPr/>
        </p:nvPicPr>
        <p:blipFill rotWithShape="1">
          <a:blip r:embed="rId3"/>
          <a:srcRect r="29750" b="24541"/>
          <a:stretch/>
        </p:blipFill>
        <p:spPr>
          <a:xfrm>
            <a:off x="2807803" y="2835546"/>
            <a:ext cx="1523555" cy="978153"/>
          </a:xfrm>
          <a:prstGeom prst="rect">
            <a:avLst/>
          </a:prstGeom>
        </p:spPr>
      </p:pic>
      <p:pic>
        <p:nvPicPr>
          <p:cNvPr id="18" name="Image 17">
            <a:extLst>
              <a:ext uri="{FF2B5EF4-FFF2-40B4-BE49-F238E27FC236}">
                <a16:creationId xmlns:a16="http://schemas.microsoft.com/office/drawing/2014/main" id="{C5721C18-CBF2-C9A4-6649-06C33366A22A}"/>
              </a:ext>
            </a:extLst>
          </p:cNvPr>
          <p:cNvPicPr>
            <a:picLocks noChangeAspect="1"/>
          </p:cNvPicPr>
          <p:nvPr/>
        </p:nvPicPr>
        <p:blipFill rotWithShape="1">
          <a:blip r:embed="rId4"/>
          <a:srcRect r="27428" b="27837"/>
          <a:stretch/>
        </p:blipFill>
        <p:spPr>
          <a:xfrm>
            <a:off x="6987243" y="2817157"/>
            <a:ext cx="1746802" cy="1044018"/>
          </a:xfrm>
          <a:prstGeom prst="rect">
            <a:avLst/>
          </a:prstGeom>
        </p:spPr>
      </p:pic>
      <p:sp>
        <p:nvSpPr>
          <p:cNvPr id="20" name="ZoneTexte 19">
            <a:extLst>
              <a:ext uri="{FF2B5EF4-FFF2-40B4-BE49-F238E27FC236}">
                <a16:creationId xmlns:a16="http://schemas.microsoft.com/office/drawing/2014/main" id="{E786FF26-3755-97AC-488B-417D65C6EA8D}"/>
              </a:ext>
            </a:extLst>
          </p:cNvPr>
          <p:cNvSpPr txBox="1"/>
          <p:nvPr/>
        </p:nvSpPr>
        <p:spPr>
          <a:xfrm>
            <a:off x="813817" y="3802762"/>
            <a:ext cx="6281530" cy="390684"/>
          </a:xfrm>
          <a:prstGeom prst="rect">
            <a:avLst/>
          </a:prstGeom>
          <a:noFill/>
        </p:spPr>
        <p:txBody>
          <a:bodyPr wrap="square">
            <a:spAutoFit/>
          </a:bodyPr>
          <a:lstStyle/>
          <a:p>
            <a:pPr algn="just">
              <a:lnSpc>
                <a:spcPct val="115000"/>
              </a:lnSpc>
              <a:spcBef>
                <a:spcPts val="600"/>
              </a:spcBef>
              <a:spcAft>
                <a:spcPts val="1200"/>
              </a:spcAft>
            </a:pP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Exemple 2 :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a:t>
            </a:r>
            <a:r>
              <a:rPr lang="fr-FR" kern="100" baseline="-25000" dirty="0">
                <a:solidFill>
                  <a:srgbClr val="000000"/>
                </a:solidFill>
                <a:latin typeface="Times New Roman" panose="02020603050405020304" pitchFamily="18" charset="0"/>
                <a:ea typeface="Calibri" panose="020F0502020204030204" pitchFamily="34" charset="0"/>
                <a:cs typeface="Arial" panose="020B0604020202020204" pitchFamily="34" charset="0"/>
              </a:rPr>
              <a:t>3</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a:t>
            </a:r>
            <a:r>
              <a:rPr lang="fr-FR" kern="100" baseline="-25000" dirty="0">
                <a:solidFill>
                  <a:srgbClr val="000000"/>
                </a:solidFill>
                <a:latin typeface="Times New Roman" panose="02020603050405020304" pitchFamily="18" charset="0"/>
                <a:ea typeface="Calibri" panose="020F0502020204030204" pitchFamily="34" charset="0"/>
                <a:cs typeface="Arial" panose="020B0604020202020204" pitchFamily="34" charset="0"/>
              </a:rPr>
              <a:t>6</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3" name="Image 22">
            <a:extLst>
              <a:ext uri="{FF2B5EF4-FFF2-40B4-BE49-F238E27FC236}">
                <a16:creationId xmlns:a16="http://schemas.microsoft.com/office/drawing/2014/main" id="{C2E71464-C6EA-AE66-7646-EE3925E9D1A5}"/>
              </a:ext>
            </a:extLst>
          </p:cNvPr>
          <p:cNvPicPr>
            <a:picLocks noChangeAspect="1"/>
          </p:cNvPicPr>
          <p:nvPr/>
        </p:nvPicPr>
        <p:blipFill rotWithShape="1">
          <a:blip r:embed="rId5"/>
          <a:srcRect r="29788" b="29285"/>
          <a:stretch/>
        </p:blipFill>
        <p:spPr>
          <a:xfrm>
            <a:off x="1890918" y="4316657"/>
            <a:ext cx="1287946" cy="1358534"/>
          </a:xfrm>
          <a:prstGeom prst="rect">
            <a:avLst/>
          </a:prstGeom>
        </p:spPr>
      </p:pic>
      <p:pic>
        <p:nvPicPr>
          <p:cNvPr id="27" name="Image 26">
            <a:extLst>
              <a:ext uri="{FF2B5EF4-FFF2-40B4-BE49-F238E27FC236}">
                <a16:creationId xmlns:a16="http://schemas.microsoft.com/office/drawing/2014/main" id="{F4E96582-8DC3-080E-1454-3717F69D1B8C}"/>
              </a:ext>
            </a:extLst>
          </p:cNvPr>
          <p:cNvPicPr>
            <a:picLocks noChangeAspect="1"/>
          </p:cNvPicPr>
          <p:nvPr/>
        </p:nvPicPr>
        <p:blipFill rotWithShape="1">
          <a:blip r:embed="rId6"/>
          <a:srcRect r="31287" b="28744"/>
          <a:stretch/>
        </p:blipFill>
        <p:spPr>
          <a:xfrm>
            <a:off x="5008433" y="4674700"/>
            <a:ext cx="1500498" cy="982750"/>
          </a:xfrm>
          <a:prstGeom prst="rect">
            <a:avLst/>
          </a:prstGeom>
        </p:spPr>
      </p:pic>
      <p:pic>
        <p:nvPicPr>
          <p:cNvPr id="29" name="Image 28">
            <a:extLst>
              <a:ext uri="{FF2B5EF4-FFF2-40B4-BE49-F238E27FC236}">
                <a16:creationId xmlns:a16="http://schemas.microsoft.com/office/drawing/2014/main" id="{73596C50-D402-B03B-2689-611D6B954842}"/>
              </a:ext>
            </a:extLst>
          </p:cNvPr>
          <p:cNvPicPr>
            <a:picLocks noChangeAspect="1"/>
          </p:cNvPicPr>
          <p:nvPr/>
        </p:nvPicPr>
        <p:blipFill rotWithShape="1">
          <a:blip r:embed="rId7"/>
          <a:srcRect r="33674" b="29230"/>
          <a:stretch/>
        </p:blipFill>
        <p:spPr>
          <a:xfrm>
            <a:off x="8504041" y="4674700"/>
            <a:ext cx="1500498" cy="821697"/>
          </a:xfrm>
          <a:prstGeom prst="rect">
            <a:avLst/>
          </a:prstGeom>
        </p:spPr>
      </p:pic>
      <p:sp>
        <p:nvSpPr>
          <p:cNvPr id="31" name="ZoneTexte 30">
            <a:extLst>
              <a:ext uri="{FF2B5EF4-FFF2-40B4-BE49-F238E27FC236}">
                <a16:creationId xmlns:a16="http://schemas.microsoft.com/office/drawing/2014/main" id="{2A7531C8-AA8E-F6DB-A001-A4DA03012922}"/>
              </a:ext>
            </a:extLst>
          </p:cNvPr>
          <p:cNvSpPr txBox="1"/>
          <p:nvPr/>
        </p:nvSpPr>
        <p:spPr>
          <a:xfrm>
            <a:off x="813817" y="5814043"/>
            <a:ext cx="10169811" cy="390684"/>
          </a:xfrm>
          <a:prstGeom prst="rect">
            <a:avLst/>
          </a:prstGeom>
          <a:noFill/>
        </p:spPr>
        <p:txBody>
          <a:bodyPr wrap="square">
            <a:spAutoFit/>
          </a:bodyPr>
          <a:lstStyle/>
          <a:p>
            <a:pPr algn="just">
              <a:lnSpc>
                <a:spcPct val="115000"/>
              </a:lnSpc>
              <a:spcAft>
                <a:spcPts val="800"/>
              </a:spcAft>
            </a:pPr>
            <a:r>
              <a:rPr lang="fr-FR" b="1" i="1" kern="100" dirty="0">
                <a:solidFill>
                  <a:srgbClr val="000000"/>
                </a:solidFill>
                <a:latin typeface="Times New Roman" panose="02020603050405020304" pitchFamily="18" charset="0"/>
                <a:cs typeface="Arial" panose="020B0604020202020204" pitchFamily="34" charset="0"/>
              </a:rPr>
              <a:t>Remarque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Leurs propriétés physiques et chimiques sont différentes.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12643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755C393A-1B6C-014D-1D4F-51F7FFF6A31C}"/>
              </a:ext>
            </a:extLst>
          </p:cNvPr>
          <p:cNvSpPr txBox="1"/>
          <p:nvPr/>
        </p:nvSpPr>
        <p:spPr>
          <a:xfrm>
            <a:off x="993085" y="1355840"/>
            <a:ext cx="6281530"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 3.	Isomérie de position</a:t>
            </a:r>
            <a:endParaRPr lang="en-US" b="1" kern="100" dirty="0">
              <a:latin typeface="Times New Roman" panose="02020603050405020304" pitchFamily="18" charset="0"/>
              <a:cs typeface="Arial" panose="020B0604020202020204" pitchFamily="34" charset="0"/>
            </a:endParaRPr>
          </a:p>
        </p:txBody>
      </p:sp>
      <p:sp>
        <p:nvSpPr>
          <p:cNvPr id="9" name="ZoneTexte 8">
            <a:extLst>
              <a:ext uri="{FF2B5EF4-FFF2-40B4-BE49-F238E27FC236}">
                <a16:creationId xmlns:a16="http://schemas.microsoft.com/office/drawing/2014/main" id="{6F401B28-54F4-E2B7-84FB-7B5E59E72900}"/>
              </a:ext>
            </a:extLst>
          </p:cNvPr>
          <p:cNvSpPr txBox="1"/>
          <p:nvPr/>
        </p:nvSpPr>
        <p:spPr>
          <a:xfrm>
            <a:off x="813817" y="1725173"/>
            <a:ext cx="10745392" cy="646331"/>
          </a:xfrm>
          <a:prstGeom prst="rect">
            <a:avLst/>
          </a:prstGeom>
          <a:noFill/>
        </p:spPr>
        <p:txBody>
          <a:bodyPr wrap="square">
            <a:spAutoFit/>
          </a:bodyPr>
          <a:lstStyle/>
          <a:p>
            <a:r>
              <a:rPr lang="fr-MA" dirty="0">
                <a:solidFill>
                  <a:srgbClr val="000000"/>
                </a:solidFill>
                <a:latin typeface="Times New Roman" panose="02020603050405020304" pitchFamily="18" charset="0"/>
              </a:rPr>
              <a:t>Les isomères de position ont le même squelette carboné et ne se différencient que par la position d’un atome, d’un groupe d’atomes (fonction) ou d’une liaison multiple. </a:t>
            </a:r>
            <a:endParaRPr lang="en-US" dirty="0">
              <a:solidFill>
                <a:srgbClr val="000000"/>
              </a:solidFill>
              <a:latin typeface="Times New Roman" panose="02020603050405020304" pitchFamily="18" charset="0"/>
            </a:endParaRPr>
          </a:p>
        </p:txBody>
      </p:sp>
      <p:grpSp>
        <p:nvGrpSpPr>
          <p:cNvPr id="16" name="Groupe 15">
            <a:extLst>
              <a:ext uri="{FF2B5EF4-FFF2-40B4-BE49-F238E27FC236}">
                <a16:creationId xmlns:a16="http://schemas.microsoft.com/office/drawing/2014/main" id="{5E2EBC83-533E-F398-D6D5-A73E37A4F295}"/>
              </a:ext>
            </a:extLst>
          </p:cNvPr>
          <p:cNvGrpSpPr/>
          <p:nvPr/>
        </p:nvGrpSpPr>
        <p:grpSpPr>
          <a:xfrm>
            <a:off x="3146517" y="2392839"/>
            <a:ext cx="5898964" cy="3321974"/>
            <a:chOff x="3146517" y="2392839"/>
            <a:chExt cx="5898964" cy="3321974"/>
          </a:xfrm>
        </p:grpSpPr>
        <p:pic>
          <p:nvPicPr>
            <p:cNvPr id="10" name="Image 9">
              <a:extLst>
                <a:ext uri="{FF2B5EF4-FFF2-40B4-BE49-F238E27FC236}">
                  <a16:creationId xmlns:a16="http://schemas.microsoft.com/office/drawing/2014/main" id="{1D1DFEB8-AA95-9374-6287-D28EAA6DC2F3}"/>
                </a:ext>
              </a:extLst>
            </p:cNvPr>
            <p:cNvPicPr>
              <a:picLocks noChangeAspect="1"/>
            </p:cNvPicPr>
            <p:nvPr/>
          </p:nvPicPr>
          <p:blipFill rotWithShape="1">
            <a:blip r:embed="rId3"/>
            <a:srcRect r="30732" b="32887"/>
            <a:stretch/>
          </p:blipFill>
          <p:spPr>
            <a:xfrm>
              <a:off x="3871868" y="2392839"/>
              <a:ext cx="4448264" cy="3321974"/>
            </a:xfrm>
            <a:prstGeom prst="rect">
              <a:avLst/>
            </a:prstGeom>
          </p:spPr>
        </p:pic>
        <p:cxnSp>
          <p:nvCxnSpPr>
            <p:cNvPr id="12" name="Connecteur droit 11">
              <a:extLst>
                <a:ext uri="{FF2B5EF4-FFF2-40B4-BE49-F238E27FC236}">
                  <a16:creationId xmlns:a16="http://schemas.microsoft.com/office/drawing/2014/main" id="{DE1DE4D3-43BC-34C8-148E-711B81AE96C3}"/>
                </a:ext>
              </a:extLst>
            </p:cNvPr>
            <p:cNvCxnSpPr/>
            <p:nvPr/>
          </p:nvCxnSpPr>
          <p:spPr>
            <a:xfrm>
              <a:off x="3146518" y="3429000"/>
              <a:ext cx="5898963" cy="0"/>
            </a:xfrm>
            <a:prstGeom prst="line">
              <a:avLst/>
            </a:prstGeom>
            <a:ln w="28575"/>
          </p:spPr>
          <p:style>
            <a:lnRef idx="2">
              <a:schemeClr val="accent2"/>
            </a:lnRef>
            <a:fillRef idx="0">
              <a:schemeClr val="accent2"/>
            </a:fillRef>
            <a:effectRef idx="1">
              <a:schemeClr val="accent2"/>
            </a:effectRef>
            <a:fontRef idx="minor">
              <a:schemeClr val="tx1"/>
            </a:fontRef>
          </p:style>
        </p:cxnSp>
        <p:cxnSp>
          <p:nvCxnSpPr>
            <p:cNvPr id="13" name="Connecteur droit 12">
              <a:extLst>
                <a:ext uri="{FF2B5EF4-FFF2-40B4-BE49-F238E27FC236}">
                  <a16:creationId xmlns:a16="http://schemas.microsoft.com/office/drawing/2014/main" id="{6ACBD360-E0E6-386A-37BB-50EC2790ECC5}"/>
                </a:ext>
              </a:extLst>
            </p:cNvPr>
            <p:cNvCxnSpPr/>
            <p:nvPr/>
          </p:nvCxnSpPr>
          <p:spPr>
            <a:xfrm>
              <a:off x="3146517" y="4784030"/>
              <a:ext cx="5898963" cy="0"/>
            </a:xfrm>
            <a:prstGeom prst="line">
              <a:avLst/>
            </a:prstGeom>
            <a:ln w="28575"/>
          </p:spPr>
          <p:style>
            <a:lnRef idx="2">
              <a:schemeClr val="accent2"/>
            </a:lnRef>
            <a:fillRef idx="0">
              <a:schemeClr val="accent2"/>
            </a:fillRef>
            <a:effectRef idx="1">
              <a:schemeClr val="accent2"/>
            </a:effectRef>
            <a:fontRef idx="minor">
              <a:schemeClr val="tx1"/>
            </a:fontRef>
          </p:style>
        </p:cxnSp>
      </p:grpSp>
      <p:sp>
        <p:nvSpPr>
          <p:cNvPr id="15" name="ZoneTexte 14">
            <a:extLst>
              <a:ext uri="{FF2B5EF4-FFF2-40B4-BE49-F238E27FC236}">
                <a16:creationId xmlns:a16="http://schemas.microsoft.com/office/drawing/2014/main" id="{B5B08C03-CEFD-C316-194C-1AA6863F1C8E}"/>
              </a:ext>
            </a:extLst>
          </p:cNvPr>
          <p:cNvSpPr txBox="1"/>
          <p:nvPr/>
        </p:nvSpPr>
        <p:spPr>
          <a:xfrm>
            <a:off x="813817" y="5714813"/>
            <a:ext cx="10948091" cy="646331"/>
          </a:xfrm>
          <a:prstGeom prst="rect">
            <a:avLst/>
          </a:prstGeom>
          <a:noFill/>
        </p:spPr>
        <p:txBody>
          <a:bodyPr wrap="square">
            <a:spAutoFit/>
          </a:bodyPr>
          <a:lstStyle/>
          <a:p>
            <a:r>
              <a:rPr lang="fr-MA" sz="1800" b="0" i="0" dirty="0">
                <a:solidFill>
                  <a:srgbClr val="000000"/>
                </a:solidFill>
                <a:effectLst/>
                <a:latin typeface="Times New Roman" panose="02020603050405020304" pitchFamily="18" charset="0"/>
                <a:cs typeface="Times New Roman" panose="02020603050405020304" pitchFamily="18" charset="0"/>
              </a:rPr>
              <a:t>Les propriétés chimiques sont habituellement voisines, mais leurs propriétés physiques sont différentes (température d'ébullition, densité, ...)</a:t>
            </a:r>
            <a:r>
              <a:rPr lang="fr-MA"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7" name="ZoneTexte 16">
            <a:extLst>
              <a:ext uri="{FF2B5EF4-FFF2-40B4-BE49-F238E27FC236}">
                <a16:creationId xmlns:a16="http://schemas.microsoft.com/office/drawing/2014/main" id="{2042DBA4-983D-7626-BE9A-07DB4C8200DF}"/>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256423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755C393A-1B6C-014D-1D4F-51F7FFF6A31C}"/>
              </a:ext>
            </a:extLst>
          </p:cNvPr>
          <p:cNvSpPr txBox="1"/>
          <p:nvPr/>
        </p:nvSpPr>
        <p:spPr>
          <a:xfrm>
            <a:off x="993085" y="1355840"/>
            <a:ext cx="6281530" cy="369332"/>
          </a:xfrm>
          <a:prstGeom prst="rect">
            <a:avLst/>
          </a:prstGeom>
          <a:noFill/>
        </p:spPr>
        <p:txBody>
          <a:bodyPr wrap="square">
            <a:spAutoFit/>
          </a:bodyPr>
          <a:lstStyle/>
          <a:p>
            <a:pPr indent="625475">
              <a:spcBef>
                <a:spcPts val="800"/>
              </a:spcBef>
            </a:pPr>
            <a:r>
              <a:rPr lang="fr-FR" b="1" u="sng" kern="100" dirty="0">
                <a:latin typeface="Times New Roman" panose="02020603050405020304" pitchFamily="18" charset="0"/>
                <a:cs typeface="Arial" panose="020B0604020202020204" pitchFamily="34" charset="0"/>
              </a:rPr>
              <a:t>Isomérie-tautomérie</a:t>
            </a:r>
            <a:endParaRPr lang="en-US" b="1" u="sng" kern="100" dirty="0">
              <a:latin typeface="Times New Roman" panose="02020603050405020304" pitchFamily="18" charset="0"/>
              <a:cs typeface="Arial" panose="020B0604020202020204" pitchFamily="34" charset="0"/>
            </a:endParaRPr>
          </a:p>
        </p:txBody>
      </p:sp>
      <p:sp>
        <p:nvSpPr>
          <p:cNvPr id="11" name="ZoneTexte 10">
            <a:extLst>
              <a:ext uri="{FF2B5EF4-FFF2-40B4-BE49-F238E27FC236}">
                <a16:creationId xmlns:a16="http://schemas.microsoft.com/office/drawing/2014/main" id="{47629F1B-C446-6DF1-5A26-56E8D0DF1DB5}"/>
              </a:ext>
            </a:extLst>
          </p:cNvPr>
          <p:cNvSpPr txBox="1"/>
          <p:nvPr/>
        </p:nvSpPr>
        <p:spPr>
          <a:xfrm>
            <a:off x="813817" y="1605904"/>
            <a:ext cx="10646000" cy="878895"/>
          </a:xfrm>
          <a:prstGeom prst="rect">
            <a:avLst/>
          </a:prstGeom>
          <a:noFill/>
        </p:spPr>
        <p:txBody>
          <a:bodyPr wrap="square">
            <a:spAutoFit/>
          </a:bodyPr>
          <a:lstStyle/>
          <a:p>
            <a:pPr>
              <a:lnSpc>
                <a:spcPct val="150000"/>
              </a:lnSpc>
            </a:pPr>
            <a:r>
              <a:rPr lang="fr-FR" sz="1800" dirty="0">
                <a:solidFill>
                  <a:srgbClr val="000000"/>
                </a:solidFill>
                <a:effectLst/>
                <a:latin typeface="Times New Roman" panose="02020603050405020304" pitchFamily="18" charset="0"/>
                <a:ea typeface="Calibri" panose="020F0502020204030204" pitchFamily="34" charset="0"/>
              </a:rPr>
              <a:t>La tautomérie représente un cas particulier de l'isomérie de fonction. Elle concerne les cétones, les aldéhydes, les amides et les imines.</a:t>
            </a:r>
            <a:endParaRPr lang="en-US" dirty="0"/>
          </a:p>
        </p:txBody>
      </p:sp>
      <p:sp>
        <p:nvSpPr>
          <p:cNvPr id="17" name="ZoneTexte 16">
            <a:extLst>
              <a:ext uri="{FF2B5EF4-FFF2-40B4-BE49-F238E27FC236}">
                <a16:creationId xmlns:a16="http://schemas.microsoft.com/office/drawing/2014/main" id="{0CB97236-E243-85A1-275B-A236E02CEC26}"/>
              </a:ext>
            </a:extLst>
          </p:cNvPr>
          <p:cNvSpPr txBox="1"/>
          <p:nvPr/>
        </p:nvSpPr>
        <p:spPr>
          <a:xfrm>
            <a:off x="813817" y="2519897"/>
            <a:ext cx="6281530" cy="374077"/>
          </a:xfrm>
          <a:prstGeom prst="rect">
            <a:avLst/>
          </a:prstGeom>
          <a:noFill/>
        </p:spPr>
        <p:txBody>
          <a:bodyPr wrap="square">
            <a:spAutoFit/>
          </a:bodyPr>
          <a:lstStyle/>
          <a:p>
            <a:pPr marL="285750" lvl="0" indent="-285750" rtl="0">
              <a:lnSpc>
                <a:spcPct val="107000"/>
              </a:lnSpc>
              <a:spcAft>
                <a:spcPts val="800"/>
              </a:spcAft>
              <a:buSzPts val="1200"/>
              <a:buFont typeface="Wingdings" panose="05000000000000000000" pitchFamily="2" charset="2"/>
              <a:buChar char="q"/>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Tautomérie des aldéhydes et des cétones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0" name="Image 19">
            <a:extLst>
              <a:ext uri="{FF2B5EF4-FFF2-40B4-BE49-F238E27FC236}">
                <a16:creationId xmlns:a16="http://schemas.microsoft.com/office/drawing/2014/main" id="{30EEC2A8-ED83-07E3-FC38-0FD8DB861D3F}"/>
              </a:ext>
            </a:extLst>
          </p:cNvPr>
          <p:cNvPicPr>
            <a:picLocks noChangeAspect="1"/>
          </p:cNvPicPr>
          <p:nvPr/>
        </p:nvPicPr>
        <p:blipFill>
          <a:blip r:embed="rId3"/>
          <a:stretch>
            <a:fillRect/>
          </a:stretch>
        </p:blipFill>
        <p:spPr>
          <a:xfrm>
            <a:off x="3618229" y="4302368"/>
            <a:ext cx="4955542" cy="1319878"/>
          </a:xfrm>
          <a:prstGeom prst="rect">
            <a:avLst/>
          </a:prstGeom>
        </p:spPr>
      </p:pic>
      <p:sp>
        <p:nvSpPr>
          <p:cNvPr id="22" name="ZoneTexte 21">
            <a:extLst>
              <a:ext uri="{FF2B5EF4-FFF2-40B4-BE49-F238E27FC236}">
                <a16:creationId xmlns:a16="http://schemas.microsoft.com/office/drawing/2014/main" id="{0A916365-4DD4-6465-E29F-5FB68B9D9EE5}"/>
              </a:ext>
            </a:extLst>
          </p:cNvPr>
          <p:cNvSpPr txBox="1"/>
          <p:nvPr/>
        </p:nvSpPr>
        <p:spPr>
          <a:xfrm>
            <a:off x="813817" y="2918809"/>
            <a:ext cx="10745392" cy="878895"/>
          </a:xfrm>
          <a:prstGeom prst="rect">
            <a:avLst/>
          </a:prstGeom>
          <a:noFill/>
        </p:spPr>
        <p:txBody>
          <a:bodyPr wrap="square">
            <a:spAutoFit/>
          </a:bodyPr>
          <a:lstStyle/>
          <a:p>
            <a:pPr algn="just">
              <a:lnSpc>
                <a:spcPct val="150000"/>
              </a:lnSpc>
              <a:spcAft>
                <a:spcPts val="800"/>
              </a:spcAft>
            </a:pPr>
            <a:r>
              <a:rPr lang="fr-FR" sz="1800" kern="100" dirty="0">
                <a:effectLst/>
                <a:latin typeface="Times New Roman" panose="02020603050405020304" pitchFamily="18" charset="0"/>
                <a:ea typeface="Calibri" panose="020F0502020204030204" pitchFamily="34" charset="0"/>
                <a:cs typeface="Arial" panose="020B0604020202020204" pitchFamily="34" charset="0"/>
              </a:rPr>
              <a:t>L'aldéhyde avec son énol et la cétone avec son énol sont appelés des formes tautomères. L'hydrogène porté par le carbone en position α du carbonyle migre sur l’oxygène car cet hydrogène est légèrement acide.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5" name="ZoneTexte 24">
            <a:extLst>
              <a:ext uri="{FF2B5EF4-FFF2-40B4-BE49-F238E27FC236}">
                <a16:creationId xmlns:a16="http://schemas.microsoft.com/office/drawing/2014/main" id="{D4D2012B-5283-E1E1-BFF5-7961C375B256}"/>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53709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934075" y="6419850"/>
            <a:ext cx="323850"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755C393A-1B6C-014D-1D4F-51F7FFF6A31C}"/>
              </a:ext>
            </a:extLst>
          </p:cNvPr>
          <p:cNvSpPr txBox="1"/>
          <p:nvPr/>
        </p:nvSpPr>
        <p:spPr>
          <a:xfrm>
            <a:off x="993085" y="1435352"/>
            <a:ext cx="6281530" cy="369332"/>
          </a:xfrm>
          <a:prstGeom prst="rect">
            <a:avLst/>
          </a:prstGeom>
          <a:noFill/>
        </p:spPr>
        <p:txBody>
          <a:bodyPr wrap="square">
            <a:spAutoFit/>
          </a:bodyPr>
          <a:lstStyle/>
          <a:p>
            <a:pPr indent="625475">
              <a:spcBef>
                <a:spcPts val="800"/>
              </a:spcBef>
            </a:pPr>
            <a:r>
              <a:rPr lang="fr-FR" b="1" u="sng" kern="100" dirty="0">
                <a:latin typeface="Times New Roman" panose="02020603050405020304" pitchFamily="18" charset="0"/>
                <a:cs typeface="Arial" panose="020B0604020202020204" pitchFamily="34" charset="0"/>
              </a:rPr>
              <a:t>Isomérie-tautomérie</a:t>
            </a:r>
            <a:endParaRPr lang="en-US" b="1" u="sng" kern="100" dirty="0">
              <a:latin typeface="Times New Roman" panose="02020603050405020304" pitchFamily="18" charset="0"/>
              <a:cs typeface="Arial" panose="020B0604020202020204" pitchFamily="34" charset="0"/>
            </a:endParaRPr>
          </a:p>
        </p:txBody>
      </p:sp>
      <p:sp>
        <p:nvSpPr>
          <p:cNvPr id="17" name="ZoneTexte 16">
            <a:extLst>
              <a:ext uri="{FF2B5EF4-FFF2-40B4-BE49-F238E27FC236}">
                <a16:creationId xmlns:a16="http://schemas.microsoft.com/office/drawing/2014/main" id="{0CB97236-E243-85A1-275B-A236E02CEC26}"/>
              </a:ext>
            </a:extLst>
          </p:cNvPr>
          <p:cNvSpPr txBox="1"/>
          <p:nvPr/>
        </p:nvSpPr>
        <p:spPr>
          <a:xfrm>
            <a:off x="813817" y="2092515"/>
            <a:ext cx="6281530" cy="374077"/>
          </a:xfrm>
          <a:prstGeom prst="rect">
            <a:avLst/>
          </a:prstGeom>
          <a:noFill/>
        </p:spPr>
        <p:txBody>
          <a:bodyPr wrap="square">
            <a:spAutoFit/>
          </a:bodyPr>
          <a:lstStyle/>
          <a:p>
            <a:pPr marL="285750" lvl="0" indent="-285750" rtl="0">
              <a:lnSpc>
                <a:spcPct val="107000"/>
              </a:lnSpc>
              <a:spcAft>
                <a:spcPts val="800"/>
              </a:spcAft>
              <a:buSzPts val="1200"/>
              <a:buFont typeface="Wingdings" panose="05000000000000000000" pitchFamily="2" charset="2"/>
              <a:buChar char="q"/>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Tautomérie des amides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685CFC8E-0257-D888-A71B-DCEEF8FF504F}"/>
              </a:ext>
            </a:extLst>
          </p:cNvPr>
          <p:cNvSpPr txBox="1"/>
          <p:nvPr/>
        </p:nvSpPr>
        <p:spPr>
          <a:xfrm>
            <a:off x="813816" y="2676073"/>
            <a:ext cx="10824905" cy="878895"/>
          </a:xfrm>
          <a:prstGeom prst="rect">
            <a:avLst/>
          </a:prstGeom>
          <a:noFill/>
        </p:spPr>
        <p:txBody>
          <a:bodyPr wrap="square">
            <a:spAutoFit/>
          </a:bodyPr>
          <a:lstStyle/>
          <a:p>
            <a:pPr>
              <a:lnSpc>
                <a:spcPct val="150000"/>
              </a:lnSpc>
            </a:pPr>
            <a:r>
              <a:rPr lang="fr-FR" sz="1800" dirty="0">
                <a:effectLst/>
                <a:latin typeface="Times New Roman" panose="02020603050405020304" pitchFamily="18" charset="0"/>
                <a:ea typeface="Calibri" panose="020F0502020204030204" pitchFamily="34" charset="0"/>
              </a:rPr>
              <a:t>La tautomérie des amides se produit par migration d’un hydrogène porté par l’azote vers l’oxygène du carbonyle. Cela donne une </a:t>
            </a:r>
            <a:r>
              <a:rPr lang="fr-FR" sz="1800" dirty="0" err="1">
                <a:effectLst/>
                <a:latin typeface="Times New Roman" panose="02020603050405020304" pitchFamily="18" charset="0"/>
                <a:ea typeface="Calibri" panose="020F0502020204030204" pitchFamily="34" charset="0"/>
              </a:rPr>
              <a:t>iminol</a:t>
            </a:r>
            <a:r>
              <a:rPr lang="fr-FR" sz="1800" dirty="0">
                <a:effectLst/>
                <a:latin typeface="Times New Roman" panose="02020603050405020304" pitchFamily="18" charset="0"/>
                <a:ea typeface="Calibri" panose="020F0502020204030204" pitchFamily="34" charset="0"/>
              </a:rPr>
              <a:t>, qui est l'isomère tautomère de l'amide initial.</a:t>
            </a:r>
            <a:endParaRPr lang="en-US" dirty="0"/>
          </a:p>
        </p:txBody>
      </p:sp>
      <p:pic>
        <p:nvPicPr>
          <p:cNvPr id="13" name="Image 12">
            <a:extLst>
              <a:ext uri="{FF2B5EF4-FFF2-40B4-BE49-F238E27FC236}">
                <a16:creationId xmlns:a16="http://schemas.microsoft.com/office/drawing/2014/main" id="{4CF0B193-FEEE-C322-39A5-7CAA54918FF5}"/>
              </a:ext>
            </a:extLst>
          </p:cNvPr>
          <p:cNvPicPr>
            <a:picLocks noChangeAspect="1"/>
          </p:cNvPicPr>
          <p:nvPr/>
        </p:nvPicPr>
        <p:blipFill>
          <a:blip r:embed="rId3"/>
          <a:stretch>
            <a:fillRect/>
          </a:stretch>
        </p:blipFill>
        <p:spPr>
          <a:xfrm>
            <a:off x="3122241" y="3838406"/>
            <a:ext cx="5464026" cy="1774034"/>
          </a:xfrm>
          <a:prstGeom prst="rect">
            <a:avLst/>
          </a:prstGeom>
        </p:spPr>
      </p:pic>
      <p:sp>
        <p:nvSpPr>
          <p:cNvPr id="14" name="ZoneTexte 13">
            <a:extLst>
              <a:ext uri="{FF2B5EF4-FFF2-40B4-BE49-F238E27FC236}">
                <a16:creationId xmlns:a16="http://schemas.microsoft.com/office/drawing/2014/main" id="{13A81A54-B398-21E1-BF05-A0A67296D558}"/>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419934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56270" y="6419850"/>
            <a:ext cx="401655"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755C393A-1B6C-014D-1D4F-51F7FFF6A31C}"/>
              </a:ext>
            </a:extLst>
          </p:cNvPr>
          <p:cNvSpPr txBox="1"/>
          <p:nvPr/>
        </p:nvSpPr>
        <p:spPr>
          <a:xfrm>
            <a:off x="993085" y="1435352"/>
            <a:ext cx="6281530" cy="369332"/>
          </a:xfrm>
          <a:prstGeom prst="rect">
            <a:avLst/>
          </a:prstGeom>
          <a:noFill/>
        </p:spPr>
        <p:txBody>
          <a:bodyPr wrap="square">
            <a:spAutoFit/>
          </a:bodyPr>
          <a:lstStyle/>
          <a:p>
            <a:pPr indent="625475">
              <a:spcBef>
                <a:spcPts val="800"/>
              </a:spcBef>
            </a:pPr>
            <a:r>
              <a:rPr lang="fr-FR" b="1" u="sng" kern="100" dirty="0">
                <a:latin typeface="Times New Roman" panose="02020603050405020304" pitchFamily="18" charset="0"/>
                <a:cs typeface="Arial" panose="020B0604020202020204" pitchFamily="34" charset="0"/>
              </a:rPr>
              <a:t>Isomérie-tautomérie</a:t>
            </a:r>
            <a:endParaRPr lang="en-US" b="1" u="sng" kern="100" dirty="0">
              <a:latin typeface="Times New Roman" panose="02020603050405020304" pitchFamily="18" charset="0"/>
              <a:cs typeface="Arial" panose="020B0604020202020204" pitchFamily="34" charset="0"/>
            </a:endParaRPr>
          </a:p>
        </p:txBody>
      </p:sp>
      <p:sp>
        <p:nvSpPr>
          <p:cNvPr id="17" name="ZoneTexte 16">
            <a:extLst>
              <a:ext uri="{FF2B5EF4-FFF2-40B4-BE49-F238E27FC236}">
                <a16:creationId xmlns:a16="http://schemas.microsoft.com/office/drawing/2014/main" id="{0CB97236-E243-85A1-275B-A236E02CEC26}"/>
              </a:ext>
            </a:extLst>
          </p:cNvPr>
          <p:cNvSpPr txBox="1"/>
          <p:nvPr/>
        </p:nvSpPr>
        <p:spPr>
          <a:xfrm>
            <a:off x="813817" y="2092515"/>
            <a:ext cx="6281530" cy="374077"/>
          </a:xfrm>
          <a:prstGeom prst="rect">
            <a:avLst/>
          </a:prstGeom>
          <a:noFill/>
        </p:spPr>
        <p:txBody>
          <a:bodyPr wrap="square">
            <a:spAutoFit/>
          </a:bodyPr>
          <a:lstStyle/>
          <a:p>
            <a:pPr marL="285750" lvl="0" indent="-285750" rtl="0">
              <a:lnSpc>
                <a:spcPct val="107000"/>
              </a:lnSpc>
              <a:spcAft>
                <a:spcPts val="800"/>
              </a:spcAft>
              <a:buSzPts val="1200"/>
              <a:buFont typeface="Wingdings" panose="05000000000000000000" pitchFamily="2" charset="2"/>
              <a:buChar char="q"/>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Tautomérie des imines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87FD100C-0F5E-13E6-3FF9-2E4B24B3B236}"/>
              </a:ext>
            </a:extLst>
          </p:cNvPr>
          <p:cNvSpPr txBox="1"/>
          <p:nvPr/>
        </p:nvSpPr>
        <p:spPr>
          <a:xfrm>
            <a:off x="813817" y="2466592"/>
            <a:ext cx="10564366" cy="878895"/>
          </a:xfrm>
          <a:prstGeom prst="rect">
            <a:avLst/>
          </a:prstGeom>
          <a:noFill/>
        </p:spPr>
        <p:txBody>
          <a:bodyPr wrap="square">
            <a:spAutoFit/>
          </a:bodyPr>
          <a:lstStyle/>
          <a:p>
            <a:pPr>
              <a:lnSpc>
                <a:spcPct val="150000"/>
              </a:lnSpc>
            </a:pPr>
            <a:r>
              <a:rPr lang="fr-FR" sz="1800" dirty="0">
                <a:effectLst/>
                <a:latin typeface="Times New Roman" panose="02020603050405020304" pitchFamily="18" charset="0"/>
                <a:ea typeface="Calibri" panose="020F0502020204030204" pitchFamily="34" charset="0"/>
              </a:rPr>
              <a:t>La tautomérie des imines concerne le transfert d'un hydrogène du carbone adjacent vers l'atome de d'azote. Cela donne une </a:t>
            </a:r>
            <a:r>
              <a:rPr lang="fr-FR" sz="1800" dirty="0" err="1">
                <a:effectLst/>
                <a:latin typeface="Times New Roman" panose="02020603050405020304" pitchFamily="18" charset="0"/>
                <a:ea typeface="Calibri" panose="020F0502020204030204" pitchFamily="34" charset="0"/>
              </a:rPr>
              <a:t>énamine</a:t>
            </a:r>
            <a:r>
              <a:rPr lang="fr-FR" sz="1800" dirty="0">
                <a:effectLst/>
                <a:latin typeface="Times New Roman" panose="02020603050405020304" pitchFamily="18" charset="0"/>
                <a:ea typeface="Calibri" panose="020F0502020204030204" pitchFamily="34" charset="0"/>
              </a:rPr>
              <a:t> qui est l'isomère tautomère de l'imine.</a:t>
            </a:r>
            <a:endParaRPr lang="en-US" dirty="0"/>
          </a:p>
        </p:txBody>
      </p:sp>
      <p:pic>
        <p:nvPicPr>
          <p:cNvPr id="10" name="Image 9">
            <a:extLst>
              <a:ext uri="{FF2B5EF4-FFF2-40B4-BE49-F238E27FC236}">
                <a16:creationId xmlns:a16="http://schemas.microsoft.com/office/drawing/2014/main" id="{3BA96165-C2EB-F257-C294-2B94E2165DE3}"/>
              </a:ext>
            </a:extLst>
          </p:cNvPr>
          <p:cNvPicPr>
            <a:picLocks noChangeAspect="1"/>
          </p:cNvPicPr>
          <p:nvPr/>
        </p:nvPicPr>
        <p:blipFill>
          <a:blip r:embed="rId3"/>
          <a:stretch>
            <a:fillRect/>
          </a:stretch>
        </p:blipFill>
        <p:spPr>
          <a:xfrm>
            <a:off x="3304871" y="3512514"/>
            <a:ext cx="4729520" cy="1806249"/>
          </a:xfrm>
          <a:prstGeom prst="rect">
            <a:avLst/>
          </a:prstGeom>
        </p:spPr>
      </p:pic>
      <p:sp>
        <p:nvSpPr>
          <p:cNvPr id="11" name="ZoneTexte 10">
            <a:extLst>
              <a:ext uri="{FF2B5EF4-FFF2-40B4-BE49-F238E27FC236}">
                <a16:creationId xmlns:a16="http://schemas.microsoft.com/office/drawing/2014/main" id="{39267A49-AB70-C9F3-6ED0-CCC76EB99505}"/>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	Isomérie de constitution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83862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III. 1.	</a:t>
            </a:r>
            <a:r>
              <a:rPr lang="fr-MA" b="1" kern="100" dirty="0">
                <a:latin typeface="Times New Roman" panose="02020603050405020304" pitchFamily="18" charset="0"/>
                <a:cs typeface="Arial" panose="020B0604020202020204" pitchFamily="34" charset="0"/>
              </a:rPr>
              <a:t>Représentations conventionnelles des molécules organiques</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7287A490-0137-18CB-7948-A89EFE5E5FF7}"/>
              </a:ext>
            </a:extLst>
          </p:cNvPr>
          <p:cNvSpPr txBox="1"/>
          <p:nvPr/>
        </p:nvSpPr>
        <p:spPr>
          <a:xfrm>
            <a:off x="813816" y="1742441"/>
            <a:ext cx="10636061" cy="709233"/>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Il existe différentes manières pour représenter les molécules organiques. Les plus courantes sont la représentation de </a:t>
            </a: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Cram,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projection de </a:t>
            </a: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Newman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la projection de </a:t>
            </a:r>
            <a:r>
              <a:rPr lang="fr-FR" sz="1800" b="1"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Fischer.</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E27C26CD-7ED4-F8FC-DAC8-BDBC78C90933}"/>
              </a:ext>
            </a:extLst>
          </p:cNvPr>
          <p:cNvSpPr txBox="1"/>
          <p:nvPr/>
        </p:nvSpPr>
        <p:spPr>
          <a:xfrm>
            <a:off x="837421" y="2553235"/>
            <a:ext cx="5444109"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ts val="1200"/>
              <a:buFont typeface="Wingdings" panose="05000000000000000000" pitchFamily="2" charset="2"/>
              <a:buChar char="v"/>
            </a:pPr>
            <a:r>
              <a:rPr lang="fr-FR"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rPr>
              <a:t>Représentation de </a:t>
            </a:r>
            <a:r>
              <a:rPr lang="fr-FR" sz="1800" b="1" i="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rPr>
              <a:t>Cram</a:t>
            </a:r>
            <a:endParaRPr lang="en-US"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endParaRPr>
          </a:p>
        </p:txBody>
      </p:sp>
      <p:pic>
        <p:nvPicPr>
          <p:cNvPr id="18" name="Image 17">
            <a:extLst>
              <a:ext uri="{FF2B5EF4-FFF2-40B4-BE49-F238E27FC236}">
                <a16:creationId xmlns:a16="http://schemas.microsoft.com/office/drawing/2014/main" id="{A7247D3B-F1C6-4EA1-58FC-6C5C7FF2996A}"/>
              </a:ext>
            </a:extLst>
          </p:cNvPr>
          <p:cNvPicPr>
            <a:picLocks noChangeAspect="1"/>
          </p:cNvPicPr>
          <p:nvPr/>
        </p:nvPicPr>
        <p:blipFill>
          <a:blip r:embed="rId3"/>
          <a:stretch>
            <a:fillRect/>
          </a:stretch>
        </p:blipFill>
        <p:spPr>
          <a:xfrm>
            <a:off x="7356467" y="3430521"/>
            <a:ext cx="1980000" cy="1106331"/>
          </a:xfrm>
          <a:prstGeom prst="rect">
            <a:avLst/>
          </a:prstGeom>
        </p:spPr>
      </p:pic>
      <p:pic>
        <p:nvPicPr>
          <p:cNvPr id="20" name="Image 19">
            <a:extLst>
              <a:ext uri="{FF2B5EF4-FFF2-40B4-BE49-F238E27FC236}">
                <a16:creationId xmlns:a16="http://schemas.microsoft.com/office/drawing/2014/main" id="{4877F5CE-5E83-5839-3589-7F8F5BFF05DF}"/>
              </a:ext>
            </a:extLst>
          </p:cNvPr>
          <p:cNvPicPr>
            <a:picLocks noChangeAspect="1"/>
          </p:cNvPicPr>
          <p:nvPr/>
        </p:nvPicPr>
        <p:blipFill>
          <a:blip r:embed="rId4"/>
          <a:stretch>
            <a:fillRect/>
          </a:stretch>
        </p:blipFill>
        <p:spPr>
          <a:xfrm>
            <a:off x="7531113" y="4924790"/>
            <a:ext cx="1907595" cy="1168845"/>
          </a:xfrm>
          <a:prstGeom prst="rect">
            <a:avLst/>
          </a:prstGeom>
        </p:spPr>
      </p:pic>
      <p:grpSp>
        <p:nvGrpSpPr>
          <p:cNvPr id="29" name="Groupe 28">
            <a:extLst>
              <a:ext uri="{FF2B5EF4-FFF2-40B4-BE49-F238E27FC236}">
                <a16:creationId xmlns:a16="http://schemas.microsoft.com/office/drawing/2014/main" id="{06F87586-AE2F-FA04-E698-9B0E555CC086}"/>
              </a:ext>
            </a:extLst>
          </p:cNvPr>
          <p:cNvGrpSpPr/>
          <p:nvPr/>
        </p:nvGrpSpPr>
        <p:grpSpPr>
          <a:xfrm>
            <a:off x="1154700" y="3958491"/>
            <a:ext cx="1846145" cy="1558056"/>
            <a:chOff x="1125655" y="3668651"/>
            <a:chExt cx="1846145" cy="1558056"/>
          </a:xfrm>
        </p:grpSpPr>
        <p:pic>
          <p:nvPicPr>
            <p:cNvPr id="16" name="Image 15">
              <a:extLst>
                <a:ext uri="{FF2B5EF4-FFF2-40B4-BE49-F238E27FC236}">
                  <a16:creationId xmlns:a16="http://schemas.microsoft.com/office/drawing/2014/main" id="{77E23661-E863-CDCC-0C94-A47989DA3D3F}"/>
                </a:ext>
              </a:extLst>
            </p:cNvPr>
            <p:cNvPicPr>
              <a:picLocks noChangeAspect="1"/>
            </p:cNvPicPr>
            <p:nvPr/>
          </p:nvPicPr>
          <p:blipFill rotWithShape="1">
            <a:blip r:embed="rId5"/>
            <a:srcRect r="56676"/>
            <a:stretch/>
          </p:blipFill>
          <p:spPr>
            <a:xfrm>
              <a:off x="1125655" y="3668651"/>
              <a:ext cx="1846145" cy="1168845"/>
            </a:xfrm>
            <a:prstGeom prst="rect">
              <a:avLst/>
            </a:prstGeom>
          </p:spPr>
        </p:pic>
        <p:sp>
          <p:nvSpPr>
            <p:cNvPr id="21" name="ZoneTexte 20">
              <a:extLst>
                <a:ext uri="{FF2B5EF4-FFF2-40B4-BE49-F238E27FC236}">
                  <a16:creationId xmlns:a16="http://schemas.microsoft.com/office/drawing/2014/main" id="{5DC9FB5E-4160-5D3B-A488-85290824B69D}"/>
                </a:ext>
              </a:extLst>
            </p:cNvPr>
            <p:cNvSpPr txBox="1"/>
            <p:nvPr/>
          </p:nvSpPr>
          <p:spPr>
            <a:xfrm>
              <a:off x="1673656" y="4918930"/>
              <a:ext cx="841897" cy="307777"/>
            </a:xfrm>
            <a:prstGeom prst="rect">
              <a:avLst/>
            </a:prstGeom>
            <a:noFill/>
          </p:spPr>
          <p:txBody>
            <a:bodyPr wrap="none" rtlCol="0">
              <a:spAutoFit/>
            </a:bodyPr>
            <a:lstStyle/>
            <a:p>
              <a:r>
                <a:rPr lang="fr-FR" sz="1400" b="1" dirty="0">
                  <a:latin typeface="Times New Roman" panose="02020603050405020304" pitchFamily="18" charset="0"/>
                  <a:cs typeface="Times New Roman" panose="02020603050405020304" pitchFamily="18" charset="0"/>
                </a:rPr>
                <a:t>méthane</a:t>
              </a:r>
              <a:endParaRPr lang="en-US" sz="1400" b="1" dirty="0">
                <a:latin typeface="Times New Roman" panose="02020603050405020304" pitchFamily="18" charset="0"/>
                <a:cs typeface="Times New Roman" panose="02020603050405020304" pitchFamily="18" charset="0"/>
              </a:endParaRPr>
            </a:p>
          </p:txBody>
        </p:sp>
      </p:grpSp>
      <p:sp>
        <p:nvSpPr>
          <p:cNvPr id="22" name="ZoneTexte 21">
            <a:extLst>
              <a:ext uri="{FF2B5EF4-FFF2-40B4-BE49-F238E27FC236}">
                <a16:creationId xmlns:a16="http://schemas.microsoft.com/office/drawing/2014/main" id="{5E95D573-15DB-3193-6F15-4747B81BBEC5}"/>
              </a:ext>
            </a:extLst>
          </p:cNvPr>
          <p:cNvSpPr txBox="1"/>
          <p:nvPr/>
        </p:nvSpPr>
        <p:spPr>
          <a:xfrm>
            <a:off x="8105181" y="4576932"/>
            <a:ext cx="692818" cy="307777"/>
          </a:xfrm>
          <a:prstGeom prst="rect">
            <a:avLst/>
          </a:prstGeom>
          <a:noFill/>
        </p:spPr>
        <p:txBody>
          <a:bodyPr wrap="none" rtlCol="0">
            <a:spAutoFit/>
          </a:bodyPr>
          <a:lstStyle/>
          <a:p>
            <a:r>
              <a:rPr lang="fr-FR" sz="1400" b="1" dirty="0">
                <a:latin typeface="Times New Roman" panose="02020603050405020304" pitchFamily="18" charset="0"/>
                <a:cs typeface="Times New Roman" panose="02020603050405020304" pitchFamily="18" charset="0"/>
              </a:rPr>
              <a:t>éthane</a:t>
            </a:r>
            <a:endParaRPr lang="en-US" sz="1400" b="1" dirty="0">
              <a:latin typeface="Times New Roman" panose="02020603050405020304" pitchFamily="18" charset="0"/>
              <a:cs typeface="Times New Roman" panose="02020603050405020304" pitchFamily="18" charset="0"/>
            </a:endParaRPr>
          </a:p>
        </p:txBody>
      </p:sp>
      <p:pic>
        <p:nvPicPr>
          <p:cNvPr id="24" name="Image 23">
            <a:extLst>
              <a:ext uri="{FF2B5EF4-FFF2-40B4-BE49-F238E27FC236}">
                <a16:creationId xmlns:a16="http://schemas.microsoft.com/office/drawing/2014/main" id="{7557D0F1-E274-2E87-E53D-AFEAE0ED2ED3}"/>
              </a:ext>
            </a:extLst>
          </p:cNvPr>
          <p:cNvPicPr>
            <a:picLocks noChangeAspect="1"/>
          </p:cNvPicPr>
          <p:nvPr/>
        </p:nvPicPr>
        <p:blipFill rotWithShape="1">
          <a:blip r:embed="rId5"/>
          <a:srcRect l="42779"/>
          <a:stretch/>
        </p:blipFill>
        <p:spPr>
          <a:xfrm>
            <a:off x="3716049" y="4154425"/>
            <a:ext cx="2438320" cy="1168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5" name="ZoneTexte 24">
            <a:extLst>
              <a:ext uri="{FF2B5EF4-FFF2-40B4-BE49-F238E27FC236}">
                <a16:creationId xmlns:a16="http://schemas.microsoft.com/office/drawing/2014/main" id="{7AC483EF-1A6B-6921-D36C-92146C217E2E}"/>
              </a:ext>
            </a:extLst>
          </p:cNvPr>
          <p:cNvSpPr txBox="1"/>
          <p:nvPr/>
        </p:nvSpPr>
        <p:spPr>
          <a:xfrm>
            <a:off x="9651635" y="3870651"/>
            <a:ext cx="1904689" cy="307777"/>
          </a:xfrm>
          <a:prstGeom prst="rect">
            <a:avLst/>
          </a:prstGeom>
          <a:noFill/>
        </p:spPr>
        <p:txBody>
          <a:bodyPr wrap="none" rtlCol="0">
            <a:spAutoFit/>
          </a:bodyPr>
          <a:lstStyle/>
          <a:p>
            <a:r>
              <a:rPr lang="fr-FR" sz="1400" b="1" dirty="0">
                <a:latin typeface="Times New Roman" panose="02020603050405020304" pitchFamily="18" charset="0"/>
                <a:cs typeface="Times New Roman" panose="02020603050405020304" pitchFamily="18" charset="0"/>
              </a:rPr>
              <a:t>Conformation éclipsée</a:t>
            </a:r>
            <a:endParaRPr lang="en-US" sz="1400" b="1" dirty="0">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A24DDE4B-0B86-8607-D4E6-B03AA9DD5795}"/>
              </a:ext>
            </a:extLst>
          </p:cNvPr>
          <p:cNvSpPr txBox="1"/>
          <p:nvPr/>
        </p:nvSpPr>
        <p:spPr>
          <a:xfrm>
            <a:off x="9715363" y="5421357"/>
            <a:ext cx="1874231" cy="307777"/>
          </a:xfrm>
          <a:prstGeom prst="rect">
            <a:avLst/>
          </a:prstGeom>
          <a:noFill/>
        </p:spPr>
        <p:txBody>
          <a:bodyPr wrap="none" rtlCol="0">
            <a:spAutoFit/>
          </a:bodyPr>
          <a:lstStyle/>
          <a:p>
            <a:r>
              <a:rPr lang="fr-FR" sz="1400" b="1" dirty="0">
                <a:latin typeface="Times New Roman" panose="02020603050405020304" pitchFamily="18" charset="0"/>
                <a:cs typeface="Times New Roman" panose="02020603050405020304" pitchFamily="18" charset="0"/>
              </a:rPr>
              <a:t>Conformation décalée</a:t>
            </a:r>
            <a:endParaRPr lang="en-US" sz="1400" b="1" dirty="0">
              <a:latin typeface="Times New Roman" panose="02020603050405020304" pitchFamily="18" charset="0"/>
              <a:cs typeface="Times New Roman" panose="02020603050405020304" pitchFamily="18" charset="0"/>
            </a:endParaRPr>
          </a:p>
        </p:txBody>
      </p:sp>
      <p:sp>
        <p:nvSpPr>
          <p:cNvPr id="28" name="ZoneTexte 27">
            <a:extLst>
              <a:ext uri="{FF2B5EF4-FFF2-40B4-BE49-F238E27FC236}">
                <a16:creationId xmlns:a16="http://schemas.microsoft.com/office/drawing/2014/main" id="{336DA588-2063-76A7-4A5D-9E87FE3775E1}"/>
              </a:ext>
            </a:extLst>
          </p:cNvPr>
          <p:cNvSpPr txBox="1"/>
          <p:nvPr/>
        </p:nvSpPr>
        <p:spPr>
          <a:xfrm>
            <a:off x="813816" y="2978193"/>
            <a:ext cx="11043567" cy="646331"/>
          </a:xfrm>
          <a:prstGeom prst="rect">
            <a:avLst/>
          </a:prstGeom>
          <a:noFill/>
        </p:spPr>
        <p:txBody>
          <a:bodyPr wrap="square">
            <a:spAutoFit/>
          </a:bodyPr>
          <a:lstStyle/>
          <a:p>
            <a:r>
              <a:rPr lang="fr-MA" dirty="0">
                <a:solidFill>
                  <a:srgbClr val="000000"/>
                </a:solidFill>
                <a:latin typeface="Times New Roman" panose="02020603050405020304" pitchFamily="18" charset="0"/>
                <a:cs typeface="Times New Roman" panose="02020603050405020304" pitchFamily="18" charset="0"/>
              </a:rPr>
              <a:t>Pour un carbone sp</a:t>
            </a:r>
            <a:r>
              <a:rPr lang="fr-MA" baseline="30000" dirty="0">
                <a:solidFill>
                  <a:srgbClr val="000000"/>
                </a:solidFill>
                <a:latin typeface="Times New Roman" panose="02020603050405020304" pitchFamily="18" charset="0"/>
                <a:cs typeface="Times New Roman" panose="02020603050405020304" pitchFamily="18" charset="0"/>
              </a:rPr>
              <a:t>3</a:t>
            </a:r>
            <a:r>
              <a:rPr lang="fr-MA" dirty="0">
                <a:solidFill>
                  <a:srgbClr val="000000"/>
                </a:solidFill>
                <a:latin typeface="Times New Roman" panose="02020603050405020304" pitchFamily="18" charset="0"/>
                <a:cs typeface="Times New Roman" panose="02020603050405020304" pitchFamily="18" charset="0"/>
              </a:rPr>
              <a:t>, o</a:t>
            </a:r>
            <a:r>
              <a:rPr lang="fr-MA" sz="1800" b="0" i="0" dirty="0">
                <a:solidFill>
                  <a:srgbClr val="000000"/>
                </a:solidFill>
                <a:effectLst/>
                <a:latin typeface="Times New Roman" panose="02020603050405020304" pitchFamily="18" charset="0"/>
                <a:cs typeface="Times New Roman" panose="02020603050405020304" pitchFamily="18" charset="0"/>
              </a:rPr>
              <a:t>n dessine deux liaisons dans le plan de la feuille, une en arrière et l’autre en avant du plan.</a:t>
            </a:r>
            <a:r>
              <a:rPr lang="fr-MA" dirty="0">
                <a:latin typeface="Times New Roman" panose="02020603050405020304" pitchFamily="18" charset="0"/>
                <a:cs typeface="Times New Roman" panose="02020603050405020304" pitchFamily="18" charset="0"/>
              </a:rPr>
              <a:t> </a:t>
            </a:r>
            <a:br>
              <a:rPr lang="fr-MA"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38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III. 1.	</a:t>
            </a:r>
            <a:r>
              <a:rPr lang="fr-MA" b="1" kern="100" dirty="0">
                <a:latin typeface="Times New Roman" panose="02020603050405020304" pitchFamily="18" charset="0"/>
                <a:cs typeface="Arial" panose="020B0604020202020204" pitchFamily="34" charset="0"/>
              </a:rPr>
              <a:t>Représentations conventionnelles des molécules organiques</a:t>
            </a:r>
            <a:endParaRPr lang="en-US" b="1" kern="100" dirty="0">
              <a:latin typeface="Times New Roman" panose="02020603050405020304" pitchFamily="18" charset="0"/>
              <a:cs typeface="Arial" panose="020B0604020202020204" pitchFamily="34" charset="0"/>
            </a:endParaRPr>
          </a:p>
        </p:txBody>
      </p:sp>
      <p:sp>
        <p:nvSpPr>
          <p:cNvPr id="5" name="ZoneTexte 4">
            <a:extLst>
              <a:ext uri="{FF2B5EF4-FFF2-40B4-BE49-F238E27FC236}">
                <a16:creationId xmlns:a16="http://schemas.microsoft.com/office/drawing/2014/main" id="{71AFB383-74DB-996F-AFA8-F7EBD4093AC4}"/>
              </a:ext>
            </a:extLst>
          </p:cNvPr>
          <p:cNvSpPr txBox="1"/>
          <p:nvPr/>
        </p:nvSpPr>
        <p:spPr>
          <a:xfrm>
            <a:off x="813817" y="1596509"/>
            <a:ext cx="5444109"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ts val="1200"/>
              <a:buFont typeface="Wingdings" panose="05000000000000000000" pitchFamily="2" charset="2"/>
              <a:buChar char="v"/>
            </a:pPr>
            <a:r>
              <a:rPr lang="fr-MA"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rPr>
              <a:t>Projection de Newman</a:t>
            </a:r>
            <a:endParaRPr lang="en-US"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endParaRPr>
          </a:p>
        </p:txBody>
      </p:sp>
      <p:pic>
        <p:nvPicPr>
          <p:cNvPr id="8" name="Image 7">
            <a:extLst>
              <a:ext uri="{FF2B5EF4-FFF2-40B4-BE49-F238E27FC236}">
                <a16:creationId xmlns:a16="http://schemas.microsoft.com/office/drawing/2014/main" id="{C8F03241-A9BE-D986-EBE9-D5B7E2C60D68}"/>
              </a:ext>
            </a:extLst>
          </p:cNvPr>
          <p:cNvPicPr>
            <a:picLocks noChangeAspect="1"/>
          </p:cNvPicPr>
          <p:nvPr/>
        </p:nvPicPr>
        <p:blipFill>
          <a:blip r:embed="rId3"/>
          <a:stretch>
            <a:fillRect/>
          </a:stretch>
        </p:blipFill>
        <p:spPr>
          <a:xfrm>
            <a:off x="3744567" y="2590263"/>
            <a:ext cx="4355258" cy="3598330"/>
          </a:xfrm>
          <a:prstGeom prst="rect">
            <a:avLst/>
          </a:prstGeom>
        </p:spPr>
      </p:pic>
      <p:sp>
        <p:nvSpPr>
          <p:cNvPr id="11" name="ZoneTexte 10">
            <a:extLst>
              <a:ext uri="{FF2B5EF4-FFF2-40B4-BE49-F238E27FC236}">
                <a16:creationId xmlns:a16="http://schemas.microsoft.com/office/drawing/2014/main" id="{02C7B369-DC34-5CFA-F33F-89EACE3F5588}"/>
              </a:ext>
            </a:extLst>
          </p:cNvPr>
          <p:cNvSpPr txBox="1"/>
          <p:nvPr/>
        </p:nvSpPr>
        <p:spPr>
          <a:xfrm>
            <a:off x="813817" y="2054583"/>
            <a:ext cx="10764079" cy="878895"/>
          </a:xfrm>
          <a:prstGeom prst="rect">
            <a:avLst/>
          </a:prstGeom>
          <a:noFill/>
        </p:spPr>
        <p:txBody>
          <a:bodyPr wrap="square">
            <a:spAutoFit/>
          </a:bodyPr>
          <a:lstStyle/>
          <a:p>
            <a:pPr>
              <a:lnSpc>
                <a:spcPct val="150000"/>
              </a:lnSpc>
            </a:pPr>
            <a:r>
              <a:rPr lang="fr-FR" sz="1800" kern="0" dirty="0">
                <a:solidFill>
                  <a:srgbClr val="000000"/>
                </a:solidFill>
                <a:effectLst/>
                <a:latin typeface="Times New Roman" panose="02020603050405020304" pitchFamily="18" charset="0"/>
                <a:ea typeface="Times New Roman" panose="02020603050405020304" pitchFamily="18" charset="0"/>
              </a:rPr>
              <a:t>La projection de Newman consiste à regarder la molécule dans l'axe de la liaison C-C et à la projeter sur un plan perpendiculaire à cet axe.</a:t>
            </a:r>
            <a:endParaRPr lang="en-US" dirty="0"/>
          </a:p>
        </p:txBody>
      </p:sp>
      <p:sp>
        <p:nvSpPr>
          <p:cNvPr id="13" name="ZoneTexte 12">
            <a:extLst>
              <a:ext uri="{FF2B5EF4-FFF2-40B4-BE49-F238E27FC236}">
                <a16:creationId xmlns:a16="http://schemas.microsoft.com/office/drawing/2014/main" id="{6668DF88-0B1D-31A6-E25A-46AB3D0FC191}"/>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471466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III. 1.	</a:t>
            </a:r>
            <a:r>
              <a:rPr lang="fr-MA" b="1" kern="100" dirty="0">
                <a:latin typeface="Times New Roman" panose="02020603050405020304" pitchFamily="18" charset="0"/>
                <a:cs typeface="Arial" panose="020B0604020202020204" pitchFamily="34" charset="0"/>
              </a:rPr>
              <a:t>Représentations conventionnelles des molécules organiques</a:t>
            </a:r>
            <a:endParaRPr lang="en-US" b="1" kern="100" dirty="0">
              <a:latin typeface="Times New Roman" panose="02020603050405020304" pitchFamily="18" charset="0"/>
              <a:cs typeface="Arial" panose="020B0604020202020204" pitchFamily="34" charset="0"/>
            </a:endParaRPr>
          </a:p>
        </p:txBody>
      </p:sp>
      <p:sp>
        <p:nvSpPr>
          <p:cNvPr id="5" name="ZoneTexte 4">
            <a:extLst>
              <a:ext uri="{FF2B5EF4-FFF2-40B4-BE49-F238E27FC236}">
                <a16:creationId xmlns:a16="http://schemas.microsoft.com/office/drawing/2014/main" id="{71AFB383-74DB-996F-AFA8-F7EBD4093AC4}"/>
              </a:ext>
            </a:extLst>
          </p:cNvPr>
          <p:cNvSpPr txBox="1"/>
          <p:nvPr/>
        </p:nvSpPr>
        <p:spPr>
          <a:xfrm>
            <a:off x="813817" y="1596509"/>
            <a:ext cx="5444109"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ts val="1200"/>
              <a:buFont typeface="Wingdings" panose="05000000000000000000" pitchFamily="2" charset="2"/>
              <a:buChar char="v"/>
            </a:pPr>
            <a:r>
              <a:rPr lang="fr-MA"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rPr>
              <a:t>Projection de Fischer</a:t>
            </a:r>
            <a:endParaRPr lang="en-US"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endParaRPr>
          </a:p>
        </p:txBody>
      </p:sp>
      <p:sp>
        <p:nvSpPr>
          <p:cNvPr id="9" name="ZoneTexte 8">
            <a:extLst>
              <a:ext uri="{FF2B5EF4-FFF2-40B4-BE49-F238E27FC236}">
                <a16:creationId xmlns:a16="http://schemas.microsoft.com/office/drawing/2014/main" id="{579D5B13-991E-C25F-9729-A3D4D3B6BBB0}"/>
              </a:ext>
            </a:extLst>
          </p:cNvPr>
          <p:cNvSpPr txBox="1"/>
          <p:nvPr/>
        </p:nvSpPr>
        <p:spPr>
          <a:xfrm>
            <a:off x="813816" y="2067978"/>
            <a:ext cx="10864661" cy="878895"/>
          </a:xfrm>
          <a:prstGeom prst="rect">
            <a:avLst/>
          </a:prstGeom>
          <a:noFill/>
        </p:spPr>
        <p:txBody>
          <a:bodyPr wrap="square">
            <a:spAutoFit/>
          </a:bodyPr>
          <a:lstStyle/>
          <a:p>
            <a:pPr>
              <a:lnSpc>
                <a:spcPct val="150000"/>
              </a:lnSpc>
            </a:pPr>
            <a:r>
              <a:rPr lang="fr-FR" sz="1800" dirty="0">
                <a:solidFill>
                  <a:srgbClr val="000000"/>
                </a:solidFill>
                <a:effectLst/>
                <a:latin typeface="Times New Roman" panose="02020603050405020304" pitchFamily="18" charset="0"/>
                <a:ea typeface="Calibri" panose="020F0502020204030204" pitchFamily="34" charset="0"/>
              </a:rPr>
              <a:t>La projection de Fischer est une représentation plane d'une molécule organique tridimensionnelle, particulièrement utilisée en chimie organique et en biochimie, notamment pour l'étude des sucres et les acides aminés.</a:t>
            </a:r>
            <a:endParaRPr lang="en-US" dirty="0"/>
          </a:p>
        </p:txBody>
      </p:sp>
      <p:pic>
        <p:nvPicPr>
          <p:cNvPr id="11" name="Image 10">
            <a:extLst>
              <a:ext uri="{FF2B5EF4-FFF2-40B4-BE49-F238E27FC236}">
                <a16:creationId xmlns:a16="http://schemas.microsoft.com/office/drawing/2014/main" id="{20B69782-20D9-4B28-BD80-E924776FB128}"/>
              </a:ext>
            </a:extLst>
          </p:cNvPr>
          <p:cNvPicPr>
            <a:picLocks noChangeAspect="1"/>
          </p:cNvPicPr>
          <p:nvPr/>
        </p:nvPicPr>
        <p:blipFill rotWithShape="1">
          <a:blip r:embed="rId3">
            <a:extLst>
              <a:ext uri="{28A0092B-C50C-407E-A947-70E740481C1C}">
                <a14:useLocalDpi xmlns:a14="http://schemas.microsoft.com/office/drawing/2010/main" val="0"/>
              </a:ext>
            </a:extLst>
          </a:blip>
          <a:srcRect t="7992" b="9160"/>
          <a:stretch/>
        </p:blipFill>
        <p:spPr bwMode="auto">
          <a:xfrm>
            <a:off x="609371" y="3241100"/>
            <a:ext cx="5016861" cy="1523739"/>
          </a:xfrm>
          <a:prstGeom prst="rect">
            <a:avLst/>
          </a:prstGeom>
          <a:noFill/>
          <a:ln>
            <a:noFill/>
          </a:ln>
        </p:spPr>
      </p:pic>
      <p:pic>
        <p:nvPicPr>
          <p:cNvPr id="13" name="Image 12">
            <a:extLst>
              <a:ext uri="{FF2B5EF4-FFF2-40B4-BE49-F238E27FC236}">
                <a16:creationId xmlns:a16="http://schemas.microsoft.com/office/drawing/2014/main" id="{0D0DE02C-DA09-CE5C-D51A-120A560E9F4E}"/>
              </a:ext>
            </a:extLst>
          </p:cNvPr>
          <p:cNvPicPr>
            <a:picLocks noChangeAspect="1"/>
          </p:cNvPicPr>
          <p:nvPr/>
        </p:nvPicPr>
        <p:blipFill>
          <a:blip r:embed="rId4"/>
          <a:stretch>
            <a:fillRect/>
          </a:stretch>
        </p:blipFill>
        <p:spPr>
          <a:xfrm>
            <a:off x="6051067" y="3334450"/>
            <a:ext cx="6102081" cy="1523740"/>
          </a:xfrm>
          <a:prstGeom prst="rect">
            <a:avLst/>
          </a:prstGeom>
        </p:spPr>
      </p:pic>
      <p:sp>
        <p:nvSpPr>
          <p:cNvPr id="14" name="ZoneTexte 13">
            <a:extLst>
              <a:ext uri="{FF2B5EF4-FFF2-40B4-BE49-F238E27FC236}">
                <a16:creationId xmlns:a16="http://schemas.microsoft.com/office/drawing/2014/main" id="{68389AF9-6024-C7C5-2C97-4436B932C7D7}"/>
              </a:ext>
            </a:extLst>
          </p:cNvPr>
          <p:cNvSpPr txBox="1"/>
          <p:nvPr/>
        </p:nvSpPr>
        <p:spPr>
          <a:xfrm>
            <a:off x="813816" y="5009324"/>
            <a:ext cx="7554932" cy="986232"/>
          </a:xfrm>
          <a:prstGeom prst="rect">
            <a:avLst/>
          </a:prstGeom>
          <a:noFill/>
        </p:spPr>
        <p:txBody>
          <a:bodyPr wrap="square" rtlCol="0">
            <a:spAutoFit/>
          </a:bodyPr>
          <a:lstStyle/>
          <a:p>
            <a:r>
              <a:rPr lang="fr-FR" b="1" u="sng" dirty="0">
                <a:latin typeface="Times New Roman" panose="02020603050405020304" pitchFamily="18" charset="0"/>
                <a:cs typeface="Times New Roman" panose="02020603050405020304" pitchFamily="18" charset="0"/>
              </a:rPr>
              <a:t>Remarques:</a:t>
            </a:r>
          </a:p>
          <a:p>
            <a:pPr marL="342900" lvl="0" indent="-342900" algn="just" rtl="0">
              <a:lnSpc>
                <a:spcPct val="115000"/>
              </a:lnSpc>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chaîne principale au niveau de la nomenclature soit verticale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L’indice le plus petit au niveau de la nomenclature soit en haut.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5" name="ZoneTexte 14">
            <a:extLst>
              <a:ext uri="{FF2B5EF4-FFF2-40B4-BE49-F238E27FC236}">
                <a16:creationId xmlns:a16="http://schemas.microsoft.com/office/drawing/2014/main" id="{59718782-3ECA-4846-888B-8485B59E64CF}"/>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827285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FR" b="1" kern="100" dirty="0">
                <a:latin typeface="Times New Roman" panose="02020603050405020304" pitchFamily="18" charset="0"/>
                <a:cs typeface="Arial" panose="020B0604020202020204" pitchFamily="34" charset="0"/>
              </a:rPr>
              <a:t>III. 1.	</a:t>
            </a:r>
            <a:r>
              <a:rPr lang="fr-MA" b="1" kern="100" dirty="0">
                <a:latin typeface="Times New Roman" panose="02020603050405020304" pitchFamily="18" charset="0"/>
                <a:cs typeface="Arial" panose="020B0604020202020204" pitchFamily="34" charset="0"/>
              </a:rPr>
              <a:t>Représentations conventionnelles des molécules organiques</a:t>
            </a:r>
            <a:endParaRPr lang="en-US" b="1" kern="100" dirty="0">
              <a:latin typeface="Times New Roman" panose="02020603050405020304" pitchFamily="18" charset="0"/>
              <a:cs typeface="Arial" panose="020B0604020202020204" pitchFamily="34" charset="0"/>
            </a:endParaRPr>
          </a:p>
        </p:txBody>
      </p:sp>
      <p:sp>
        <p:nvSpPr>
          <p:cNvPr id="5" name="ZoneTexte 4">
            <a:extLst>
              <a:ext uri="{FF2B5EF4-FFF2-40B4-BE49-F238E27FC236}">
                <a16:creationId xmlns:a16="http://schemas.microsoft.com/office/drawing/2014/main" id="{71AFB383-74DB-996F-AFA8-F7EBD4093AC4}"/>
              </a:ext>
            </a:extLst>
          </p:cNvPr>
          <p:cNvSpPr txBox="1"/>
          <p:nvPr/>
        </p:nvSpPr>
        <p:spPr>
          <a:xfrm>
            <a:off x="813817" y="1596509"/>
            <a:ext cx="5444109"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ts val="1200"/>
              <a:buFont typeface="Wingdings" panose="05000000000000000000" pitchFamily="2" charset="2"/>
              <a:buChar char="v"/>
            </a:pPr>
            <a:r>
              <a:rPr lang="fr-MA"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rPr>
              <a:t>Projection de Fischer</a:t>
            </a:r>
            <a:endParaRPr lang="en-US" sz="1800" b="1" u="none" strike="noStrike" kern="0" spc="0" dirty="0">
              <a:solidFill>
                <a:schemeClr val="accent5">
                  <a:lumMod val="75000"/>
                </a:schemeClr>
              </a:solidFill>
              <a:effectLst/>
              <a:latin typeface="Times New Roman" panose="02020603050405020304" pitchFamily="18" charset="0"/>
              <a:ea typeface="Bookman Old Style" panose="02050604050505020204" pitchFamily="18" charset="0"/>
              <a:cs typeface="Bookman Old Style" panose="02050604050505020204" pitchFamily="18" charset="0"/>
            </a:endParaRPr>
          </a:p>
        </p:txBody>
      </p:sp>
      <p:sp>
        <p:nvSpPr>
          <p:cNvPr id="12" name="ZoneTexte 11">
            <a:extLst>
              <a:ext uri="{FF2B5EF4-FFF2-40B4-BE49-F238E27FC236}">
                <a16:creationId xmlns:a16="http://schemas.microsoft.com/office/drawing/2014/main" id="{A61C8C54-5FF7-FDC7-F5D9-8FBC12A5AEFF}"/>
              </a:ext>
            </a:extLst>
          </p:cNvPr>
          <p:cNvSpPr txBox="1"/>
          <p:nvPr/>
        </p:nvSpPr>
        <p:spPr>
          <a:xfrm>
            <a:off x="924334" y="2037773"/>
            <a:ext cx="9362665" cy="369332"/>
          </a:xfrm>
          <a:prstGeom prst="rect">
            <a:avLst/>
          </a:prstGeom>
          <a:noFill/>
        </p:spPr>
        <p:txBody>
          <a:bodyPr wrap="square">
            <a:spAutoFit/>
          </a:bodyPr>
          <a:lstStyle/>
          <a:p>
            <a:r>
              <a:rPr lang="fr-FR" sz="1800" b="1" i="1" dirty="0">
                <a:solidFill>
                  <a:srgbClr val="000000"/>
                </a:solidFill>
                <a:effectLst/>
                <a:latin typeface="Times New Roman" panose="02020603050405020304" pitchFamily="18" charset="0"/>
                <a:ea typeface="Calibri" panose="020F0502020204030204" pitchFamily="34" charset="0"/>
              </a:rPr>
              <a:t>Exemple </a:t>
            </a:r>
            <a:r>
              <a:rPr lang="fr-FR" sz="1800" dirty="0">
                <a:solidFill>
                  <a:srgbClr val="000000"/>
                </a:solidFill>
                <a:effectLst/>
                <a:latin typeface="Times New Roman" panose="02020603050405020304" pitchFamily="18" charset="0"/>
                <a:ea typeface="Calibri" panose="020F0502020204030204" pitchFamily="34" charset="0"/>
              </a:rPr>
              <a:t>: Projection de Fischer de l’érythrose OHC-CH(OH)-CH(OH)-CH</a:t>
            </a:r>
            <a:r>
              <a:rPr lang="fr-FR" sz="1800" baseline="-25000" dirty="0">
                <a:solidFill>
                  <a:srgbClr val="000000"/>
                </a:solidFill>
                <a:effectLst/>
                <a:latin typeface="Times New Roman" panose="02020603050405020304" pitchFamily="18" charset="0"/>
                <a:ea typeface="Calibri" panose="020F0502020204030204" pitchFamily="34" charset="0"/>
              </a:rPr>
              <a:t>2</a:t>
            </a:r>
            <a:r>
              <a:rPr lang="fr-FR" sz="1800" dirty="0">
                <a:solidFill>
                  <a:srgbClr val="000000"/>
                </a:solidFill>
                <a:effectLst/>
                <a:latin typeface="Times New Roman" panose="02020603050405020304" pitchFamily="18" charset="0"/>
                <a:ea typeface="Calibri" panose="020F0502020204030204" pitchFamily="34" charset="0"/>
              </a:rPr>
              <a:t>OH</a:t>
            </a:r>
            <a:endParaRPr lang="en-US" dirty="0"/>
          </a:p>
        </p:txBody>
      </p:sp>
      <p:pic>
        <p:nvPicPr>
          <p:cNvPr id="15" name="Image 14">
            <a:extLst>
              <a:ext uri="{FF2B5EF4-FFF2-40B4-BE49-F238E27FC236}">
                <a16:creationId xmlns:a16="http://schemas.microsoft.com/office/drawing/2014/main" id="{50BDE4FD-041A-8323-0BCA-FACF15A571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68979" y="2382183"/>
            <a:ext cx="4626610" cy="1747520"/>
          </a:xfrm>
          <a:prstGeom prst="rect">
            <a:avLst/>
          </a:prstGeom>
          <a:noFill/>
          <a:ln>
            <a:noFill/>
          </a:ln>
        </p:spPr>
      </p:pic>
      <p:sp>
        <p:nvSpPr>
          <p:cNvPr id="17" name="ZoneTexte 16">
            <a:extLst>
              <a:ext uri="{FF2B5EF4-FFF2-40B4-BE49-F238E27FC236}">
                <a16:creationId xmlns:a16="http://schemas.microsoft.com/office/drawing/2014/main" id="{B7DB7312-6B07-2DB0-607C-95F898251A4C}"/>
              </a:ext>
            </a:extLst>
          </p:cNvPr>
          <p:cNvSpPr txBox="1"/>
          <p:nvPr/>
        </p:nvSpPr>
        <p:spPr>
          <a:xfrm>
            <a:off x="924334" y="4127731"/>
            <a:ext cx="8885588" cy="369332"/>
          </a:xfrm>
          <a:prstGeom prst="rect">
            <a:avLst/>
          </a:prstGeom>
          <a:noFill/>
        </p:spPr>
        <p:txBody>
          <a:bodyPr wrap="square">
            <a:spAutoFit/>
          </a:bodyPr>
          <a:lstStyle/>
          <a:p>
            <a:r>
              <a:rPr lang="en-US" sz="1800" b="1" i="1" dirty="0" err="1">
                <a:solidFill>
                  <a:srgbClr val="000000"/>
                </a:solidFill>
                <a:effectLst/>
                <a:latin typeface="Times New Roman" panose="02020603050405020304" pitchFamily="18" charset="0"/>
                <a:ea typeface="Calibri" panose="020F0502020204030204" pitchFamily="34" charset="0"/>
              </a:rPr>
              <a:t>Exemple</a:t>
            </a:r>
            <a:r>
              <a:rPr lang="en-US" sz="1800" b="1" i="1" dirty="0">
                <a:solidFill>
                  <a:srgbClr val="000000"/>
                </a:solidFill>
                <a:effectLst/>
                <a:latin typeface="Times New Roman" panose="02020603050405020304" pitchFamily="18" charset="0"/>
                <a:ea typeface="Calibri" panose="020F0502020204030204" pitchFamily="34" charset="0"/>
              </a:rPr>
              <a:t> </a:t>
            </a:r>
            <a:r>
              <a:rPr lang="en-US" sz="1800" dirty="0">
                <a:solidFill>
                  <a:srgbClr val="000000"/>
                </a:solidFill>
                <a:effectLst/>
                <a:latin typeface="Times New Roman" panose="02020603050405020304" pitchFamily="18" charset="0"/>
                <a:ea typeface="Calibri" panose="020F0502020204030204" pitchFamily="34" charset="0"/>
              </a:rPr>
              <a:t>: </a:t>
            </a:r>
            <a:r>
              <a:rPr lang="fr-FR" sz="1800" b="1" i="1" dirty="0">
                <a:solidFill>
                  <a:srgbClr val="000000"/>
                </a:solidFill>
                <a:effectLst/>
                <a:latin typeface="Times New Roman" panose="02020603050405020304" pitchFamily="18" charset="0"/>
                <a:ea typeface="Calibri" panose="020F0502020204030204" pitchFamily="34" charset="0"/>
              </a:rPr>
              <a:t>Exemple </a:t>
            </a:r>
            <a:r>
              <a:rPr lang="fr-FR" sz="1800" dirty="0">
                <a:solidFill>
                  <a:srgbClr val="000000"/>
                </a:solidFill>
                <a:effectLst/>
                <a:latin typeface="Times New Roman" panose="02020603050405020304" pitchFamily="18" charset="0"/>
                <a:ea typeface="Calibri" panose="020F0502020204030204" pitchFamily="34" charset="0"/>
              </a:rPr>
              <a:t>: Projection de Fischer  du D-glucose</a:t>
            </a:r>
            <a:endParaRPr lang="en-US" dirty="0"/>
          </a:p>
        </p:txBody>
      </p:sp>
      <p:pic>
        <p:nvPicPr>
          <p:cNvPr id="18" name="Image 17" descr="Fischer projection - Proteopedia, life in 3D">
            <a:extLst>
              <a:ext uri="{FF2B5EF4-FFF2-40B4-BE49-F238E27FC236}">
                <a16:creationId xmlns:a16="http://schemas.microsoft.com/office/drawing/2014/main" id="{E2EB1B28-15EC-F980-C26D-7E8165D5AFA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2828975" y="4644329"/>
            <a:ext cx="5808345" cy="1557020"/>
          </a:xfrm>
          <a:prstGeom prst="rect">
            <a:avLst/>
          </a:prstGeom>
          <a:noFill/>
          <a:ln>
            <a:noFill/>
          </a:ln>
        </p:spPr>
      </p:pic>
    </p:spTree>
    <p:extLst>
      <p:ext uri="{BB962C8B-B14F-4D97-AF65-F5344CB8AC3E}">
        <p14:creationId xmlns:p14="http://schemas.microsoft.com/office/powerpoint/2010/main" val="1862013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9" name="ZoneTexte 8">
            <a:extLst>
              <a:ext uri="{FF2B5EF4-FFF2-40B4-BE49-F238E27FC236}">
                <a16:creationId xmlns:a16="http://schemas.microsoft.com/office/drawing/2014/main" id="{173129FF-6468-0B61-E557-A15481A80038}"/>
              </a:ext>
            </a:extLst>
          </p:cNvPr>
          <p:cNvSpPr txBox="1"/>
          <p:nvPr/>
        </p:nvSpPr>
        <p:spPr>
          <a:xfrm>
            <a:off x="705678" y="1668440"/>
            <a:ext cx="11062252" cy="646331"/>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On appelle </a:t>
            </a:r>
            <a:r>
              <a:rPr lang="fr-FR" sz="1800" b="1" dirty="0">
                <a:solidFill>
                  <a:srgbClr val="000000"/>
                </a:solidFill>
                <a:effectLst/>
                <a:latin typeface="Times New Roman" panose="02020603050405020304" pitchFamily="18" charset="0"/>
                <a:ea typeface="Calibri" panose="020F0502020204030204" pitchFamily="34" charset="0"/>
              </a:rPr>
              <a:t>conformation</a:t>
            </a:r>
            <a:r>
              <a:rPr lang="fr-FR" sz="1800" dirty="0">
                <a:solidFill>
                  <a:srgbClr val="000000"/>
                </a:solidFill>
                <a:effectLst/>
                <a:latin typeface="Times New Roman" panose="02020603050405020304" pitchFamily="18" charset="0"/>
                <a:ea typeface="Calibri" panose="020F0502020204030204" pitchFamily="34" charset="0"/>
              </a:rPr>
              <a:t> d’une molécule une des dispositions spatiales que peut prendre cette molécule par simple libre </a:t>
            </a:r>
            <a:r>
              <a:rPr lang="fr-FR" sz="1800" b="1" dirty="0">
                <a:solidFill>
                  <a:srgbClr val="000000"/>
                </a:solidFill>
                <a:effectLst/>
                <a:latin typeface="Times New Roman" panose="02020603050405020304" pitchFamily="18" charset="0"/>
                <a:ea typeface="Calibri" panose="020F0502020204030204" pitchFamily="34" charset="0"/>
              </a:rPr>
              <a:t>rotation autour d’une liaison simple </a:t>
            </a:r>
            <a:r>
              <a:rPr lang="fr-FR" sz="1800" dirty="0">
                <a:solidFill>
                  <a:srgbClr val="000000"/>
                </a:solidFill>
                <a:effectLst/>
                <a:latin typeface="Times New Roman" panose="02020603050405020304" pitchFamily="18" charset="0"/>
                <a:ea typeface="Calibri" panose="020F0502020204030204" pitchFamily="34" charset="0"/>
              </a:rPr>
              <a:t>(liaison σ)</a:t>
            </a:r>
            <a:endParaRPr lang="en-US" dirty="0"/>
          </a:p>
        </p:txBody>
      </p:sp>
      <p:sp>
        <p:nvSpPr>
          <p:cNvPr id="8" name="ZoneTexte 7">
            <a:extLst>
              <a:ext uri="{FF2B5EF4-FFF2-40B4-BE49-F238E27FC236}">
                <a16:creationId xmlns:a16="http://schemas.microsoft.com/office/drawing/2014/main" id="{164E36A5-989E-1966-A2EE-CF22D4AC9E8C}"/>
              </a:ext>
            </a:extLst>
          </p:cNvPr>
          <p:cNvSpPr txBox="1"/>
          <p:nvPr/>
        </p:nvSpPr>
        <p:spPr>
          <a:xfrm>
            <a:off x="705677" y="2386702"/>
            <a:ext cx="11062251" cy="113037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Parmi l'infinité des conformations possibles, deux d'entre-elles possèdent une géométrie remarquable : la </a:t>
            </a: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conformation éclipsée</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la </a:t>
            </a: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conformation décalée</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Ces conformations remarquables seront mieux représentées en utilisant la projection de Newman.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79338629-FC56-270A-61CF-20DA881EFAC5}"/>
              </a:ext>
            </a:extLst>
          </p:cNvPr>
          <p:cNvPicPr>
            <a:picLocks noChangeAspect="1"/>
          </p:cNvPicPr>
          <p:nvPr/>
        </p:nvPicPr>
        <p:blipFill>
          <a:blip r:embed="rId3"/>
          <a:stretch>
            <a:fillRect/>
          </a:stretch>
        </p:blipFill>
        <p:spPr>
          <a:xfrm>
            <a:off x="3323397" y="3554586"/>
            <a:ext cx="5455339" cy="2673873"/>
          </a:xfrm>
          <a:prstGeom prst="rect">
            <a:avLst/>
          </a:prstGeom>
        </p:spPr>
      </p:pic>
    </p:spTree>
    <p:extLst>
      <p:ext uri="{BB962C8B-B14F-4D97-AF65-F5344CB8AC3E}">
        <p14:creationId xmlns:p14="http://schemas.microsoft.com/office/powerpoint/2010/main" val="2592999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57520" y="1191718"/>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acycliques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4C2DA61B-DCD7-4092-2A13-81F11CEFEA0C}"/>
              </a:ext>
            </a:extLst>
          </p:cNvPr>
          <p:cNvSpPr txBox="1"/>
          <p:nvPr/>
        </p:nvSpPr>
        <p:spPr>
          <a:xfrm>
            <a:off x="813817" y="2037772"/>
            <a:ext cx="6281530" cy="390684"/>
          </a:xfrm>
          <a:prstGeom prst="rect">
            <a:avLst/>
          </a:prstGeom>
          <a:noFill/>
        </p:spPr>
        <p:txBody>
          <a:bodyPr wrap="square">
            <a:spAutoFit/>
          </a:bodyPr>
          <a:lstStyle/>
          <a:p>
            <a:pPr algn="just">
              <a:lnSpc>
                <a:spcPct val="115000"/>
              </a:lnSpc>
              <a:spcAft>
                <a:spcPts val="800"/>
              </a:spcAft>
            </a:pPr>
            <a:r>
              <a:rPr lang="fr-FR" sz="1800" b="1" i="1"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Exemple : </a:t>
            </a:r>
            <a:r>
              <a:rPr lang="fr-FR" sz="1800"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le butane C</a:t>
            </a:r>
            <a:r>
              <a:rPr lang="fr-FR" sz="1800" kern="0" baseline="-25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4</a:t>
            </a:r>
            <a:r>
              <a:rPr lang="fr-FR" sz="1800"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a:t>
            </a:r>
            <a:r>
              <a:rPr lang="fr-FR" sz="1800" kern="0" baseline="-25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10</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F339F9E2-050F-B29C-30B8-099DA1A81A8D}"/>
              </a:ext>
            </a:extLst>
          </p:cNvPr>
          <p:cNvPicPr>
            <a:picLocks noChangeAspect="1"/>
          </p:cNvPicPr>
          <p:nvPr/>
        </p:nvPicPr>
        <p:blipFill>
          <a:blip r:embed="rId3"/>
          <a:stretch>
            <a:fillRect/>
          </a:stretch>
        </p:blipFill>
        <p:spPr>
          <a:xfrm>
            <a:off x="6257925" y="1636632"/>
            <a:ext cx="5661603" cy="4546178"/>
          </a:xfrm>
          <a:prstGeom prst="rect">
            <a:avLst/>
          </a:prstGeom>
        </p:spPr>
      </p:pic>
      <p:pic>
        <p:nvPicPr>
          <p:cNvPr id="14" name="Image 13">
            <a:extLst>
              <a:ext uri="{FF2B5EF4-FFF2-40B4-BE49-F238E27FC236}">
                <a16:creationId xmlns:a16="http://schemas.microsoft.com/office/drawing/2014/main" id="{4EA7AF8A-2567-E5F1-7B42-BE41593BB7E5}"/>
              </a:ext>
            </a:extLst>
          </p:cNvPr>
          <p:cNvPicPr>
            <a:picLocks noChangeAspect="1"/>
          </p:cNvPicPr>
          <p:nvPr/>
        </p:nvPicPr>
        <p:blipFill>
          <a:blip r:embed="rId4"/>
          <a:stretch>
            <a:fillRect/>
          </a:stretch>
        </p:blipFill>
        <p:spPr>
          <a:xfrm>
            <a:off x="2308363" y="2610930"/>
            <a:ext cx="1825487" cy="1504099"/>
          </a:xfrm>
          <a:prstGeom prst="rect">
            <a:avLst/>
          </a:prstGeom>
        </p:spPr>
      </p:pic>
      <p:pic>
        <p:nvPicPr>
          <p:cNvPr id="16" name="Image 15">
            <a:extLst>
              <a:ext uri="{FF2B5EF4-FFF2-40B4-BE49-F238E27FC236}">
                <a16:creationId xmlns:a16="http://schemas.microsoft.com/office/drawing/2014/main" id="{3AF8FDF4-42ED-3513-2499-82B8FA506729}"/>
              </a:ext>
            </a:extLst>
          </p:cNvPr>
          <p:cNvPicPr>
            <a:picLocks noChangeAspect="1"/>
          </p:cNvPicPr>
          <p:nvPr/>
        </p:nvPicPr>
        <p:blipFill>
          <a:blip r:embed="rId5"/>
          <a:stretch>
            <a:fillRect/>
          </a:stretch>
        </p:blipFill>
        <p:spPr>
          <a:xfrm>
            <a:off x="2228335" y="4460079"/>
            <a:ext cx="1835384" cy="1456337"/>
          </a:xfrm>
          <a:prstGeom prst="rect">
            <a:avLst/>
          </a:prstGeom>
        </p:spPr>
      </p:pic>
    </p:spTree>
    <p:extLst>
      <p:ext uri="{BB962C8B-B14F-4D97-AF65-F5344CB8AC3E}">
        <p14:creationId xmlns:p14="http://schemas.microsoft.com/office/powerpoint/2010/main" val="1228014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acycliques</a:t>
            </a:r>
            <a:endParaRPr lang="en-US" b="1" dirty="0">
              <a:solidFill>
                <a:srgbClr val="0B672A"/>
              </a:solidFill>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53F0E0ED-83AF-DE84-01E2-D9CC95B7659C}"/>
              </a:ext>
            </a:extLst>
          </p:cNvPr>
          <p:cNvPicPr>
            <a:picLocks noChangeAspect="1"/>
          </p:cNvPicPr>
          <p:nvPr/>
        </p:nvPicPr>
        <p:blipFill>
          <a:blip r:embed="rId3"/>
          <a:stretch>
            <a:fillRect/>
          </a:stretch>
        </p:blipFill>
        <p:spPr>
          <a:xfrm>
            <a:off x="5229941" y="2002705"/>
            <a:ext cx="6281529" cy="4273266"/>
          </a:xfrm>
          <a:prstGeom prst="rect">
            <a:avLst/>
          </a:prstGeom>
        </p:spPr>
      </p:pic>
      <p:sp>
        <p:nvSpPr>
          <p:cNvPr id="9" name="ZoneTexte 8">
            <a:extLst>
              <a:ext uri="{FF2B5EF4-FFF2-40B4-BE49-F238E27FC236}">
                <a16:creationId xmlns:a16="http://schemas.microsoft.com/office/drawing/2014/main" id="{CFA60B66-0A11-3505-0F6C-93EE56DF5F05}"/>
              </a:ext>
            </a:extLst>
          </p:cNvPr>
          <p:cNvSpPr txBox="1"/>
          <p:nvPr/>
        </p:nvSpPr>
        <p:spPr>
          <a:xfrm>
            <a:off x="813817" y="2037772"/>
            <a:ext cx="6281530" cy="390684"/>
          </a:xfrm>
          <a:prstGeom prst="rect">
            <a:avLst/>
          </a:prstGeom>
          <a:noFill/>
        </p:spPr>
        <p:txBody>
          <a:bodyPr wrap="square">
            <a:spAutoFit/>
          </a:bodyPr>
          <a:lstStyle/>
          <a:p>
            <a:pPr algn="just">
              <a:lnSpc>
                <a:spcPct val="115000"/>
              </a:lnSpc>
              <a:spcAft>
                <a:spcPts val="800"/>
              </a:spcAft>
            </a:pPr>
            <a:r>
              <a:rPr lang="fr-FR" sz="1800" b="1" i="1"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Exemple : </a:t>
            </a:r>
            <a:r>
              <a:rPr lang="fr-FR" sz="1800"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le butane C</a:t>
            </a:r>
            <a:r>
              <a:rPr lang="fr-FR" kern="0" baseline="-25000" dirty="0">
                <a:solidFill>
                  <a:srgbClr val="000000"/>
                </a:solidFill>
                <a:latin typeface="Times New Roman" panose="02020603050405020304" pitchFamily="18" charset="0"/>
                <a:ea typeface="Times New Roman" panose="02020603050405020304" pitchFamily="18" charset="0"/>
                <a:cs typeface="Arial" panose="020B0604020202020204" pitchFamily="34" charset="0"/>
              </a:rPr>
              <a:t>2</a:t>
            </a:r>
            <a:r>
              <a:rPr lang="fr-FR" sz="1800" kern="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H</a:t>
            </a:r>
            <a:r>
              <a:rPr lang="fr-FR" sz="1800" kern="0" baseline="-25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6</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218D55F6-33BC-2238-7485-00D23BEC5605}"/>
              </a:ext>
            </a:extLst>
          </p:cNvPr>
          <p:cNvPicPr>
            <a:picLocks noChangeAspect="1"/>
          </p:cNvPicPr>
          <p:nvPr/>
        </p:nvPicPr>
        <p:blipFill>
          <a:blip r:embed="rId4"/>
          <a:stretch>
            <a:fillRect/>
          </a:stretch>
        </p:blipFill>
        <p:spPr>
          <a:xfrm>
            <a:off x="1467024" y="2550966"/>
            <a:ext cx="2302390" cy="1543956"/>
          </a:xfrm>
          <a:prstGeom prst="rect">
            <a:avLst/>
          </a:prstGeom>
        </p:spPr>
      </p:pic>
      <p:pic>
        <p:nvPicPr>
          <p:cNvPr id="15" name="Image 14">
            <a:extLst>
              <a:ext uri="{FF2B5EF4-FFF2-40B4-BE49-F238E27FC236}">
                <a16:creationId xmlns:a16="http://schemas.microsoft.com/office/drawing/2014/main" id="{540CC062-F05C-2318-C194-7B0928056BE7}"/>
              </a:ext>
            </a:extLst>
          </p:cNvPr>
          <p:cNvPicPr>
            <a:picLocks noChangeAspect="1"/>
          </p:cNvPicPr>
          <p:nvPr/>
        </p:nvPicPr>
        <p:blipFill>
          <a:blip r:embed="rId5"/>
          <a:stretch>
            <a:fillRect/>
          </a:stretch>
        </p:blipFill>
        <p:spPr>
          <a:xfrm>
            <a:off x="1467024" y="4539983"/>
            <a:ext cx="2302390" cy="1299154"/>
          </a:xfrm>
          <a:prstGeom prst="rect">
            <a:avLst/>
          </a:prstGeom>
        </p:spPr>
      </p:pic>
    </p:spTree>
    <p:extLst>
      <p:ext uri="{BB962C8B-B14F-4D97-AF65-F5344CB8AC3E}">
        <p14:creationId xmlns:p14="http://schemas.microsoft.com/office/powerpoint/2010/main" val="477110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14" name="ZoneTexte 13">
            <a:extLst>
              <a:ext uri="{FF2B5EF4-FFF2-40B4-BE49-F238E27FC236}">
                <a16:creationId xmlns:a16="http://schemas.microsoft.com/office/drawing/2014/main" id="{268EE28A-6EFD-C633-60CE-7590EB7C7DED}"/>
              </a:ext>
            </a:extLst>
          </p:cNvPr>
          <p:cNvSpPr txBox="1"/>
          <p:nvPr/>
        </p:nvSpPr>
        <p:spPr>
          <a:xfrm>
            <a:off x="793939" y="2171875"/>
            <a:ext cx="2088409" cy="923330"/>
          </a:xfrm>
          <a:prstGeom prst="rect">
            <a:avLst/>
          </a:prstGeom>
          <a:noFill/>
        </p:spPr>
        <p:txBody>
          <a:bodyPr wrap="square">
            <a:spAutoFit/>
          </a:bodyPr>
          <a:lstStyle/>
          <a:p>
            <a:pPr algn="just"/>
            <a:r>
              <a:rPr lang="en-US" dirty="0" err="1">
                <a:latin typeface="Times New Roman" panose="02020603050405020304" pitchFamily="18" charset="0"/>
                <a:cs typeface="Times New Roman" panose="02020603050405020304" pitchFamily="18" charset="0"/>
              </a:rPr>
              <a:t>Hybridation</a:t>
            </a:r>
            <a:r>
              <a:rPr lang="en-US" dirty="0">
                <a:latin typeface="Times New Roman" panose="02020603050405020304" pitchFamily="18" charset="0"/>
                <a:cs typeface="Times New Roman" panose="02020603050405020304" pitchFamily="18" charset="0"/>
              </a:rPr>
              <a:t> sp</a:t>
            </a:r>
            <a:r>
              <a:rPr lang="en-US" baseline="30000"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des  </a:t>
            </a:r>
            <a:r>
              <a:rPr lang="en-US" dirty="0" err="1">
                <a:latin typeface="Times New Roman" panose="02020603050405020304" pitchFamily="18" charset="0"/>
                <a:cs typeface="Times New Roman" panose="02020603050405020304" pitchFamily="18" charset="0"/>
              </a:rPr>
              <a:t>atomes</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carbone</a:t>
            </a:r>
            <a:r>
              <a:rPr lang="en-US" dirty="0">
                <a:latin typeface="Times New Roman" panose="02020603050405020304" pitchFamily="18" charset="0"/>
                <a:cs typeface="Times New Roman" panose="02020603050405020304" pitchFamily="18" charset="0"/>
              </a:rPr>
              <a:t> dans les </a:t>
            </a:r>
            <a:r>
              <a:rPr lang="en-US" dirty="0" err="1">
                <a:latin typeface="Times New Roman" panose="02020603050405020304" pitchFamily="18" charset="0"/>
                <a:cs typeface="Times New Roman" panose="02020603050405020304" pitchFamily="18" charset="0"/>
              </a:rPr>
              <a:t>cycloalcane</a:t>
            </a:r>
            <a:endParaRPr lang="en-US" dirty="0">
              <a:latin typeface="Times New Roman" panose="02020603050405020304" pitchFamily="18" charset="0"/>
              <a:cs typeface="Times New Roman" panose="02020603050405020304" pitchFamily="18" charset="0"/>
            </a:endParaRPr>
          </a:p>
        </p:txBody>
      </p:sp>
      <p:sp>
        <p:nvSpPr>
          <p:cNvPr id="16" name="ZoneTexte 15">
            <a:extLst>
              <a:ext uri="{FF2B5EF4-FFF2-40B4-BE49-F238E27FC236}">
                <a16:creationId xmlns:a16="http://schemas.microsoft.com/office/drawing/2014/main" id="{AA761A9D-7D51-CCBB-915E-819810866F39}"/>
              </a:ext>
            </a:extLst>
          </p:cNvPr>
          <p:cNvSpPr txBox="1"/>
          <p:nvPr/>
        </p:nvSpPr>
        <p:spPr>
          <a:xfrm>
            <a:off x="4054568" y="2171875"/>
            <a:ext cx="1848680" cy="923330"/>
          </a:xfrm>
          <a:prstGeom prst="rect">
            <a:avLst/>
          </a:prstGeom>
          <a:noFill/>
        </p:spPr>
        <p:txBody>
          <a:bodyPr wrap="square">
            <a:spAutoFit/>
          </a:bodyPr>
          <a:lstStyle/>
          <a:p>
            <a:pPr algn="just"/>
            <a:r>
              <a:rPr lang="en-US" dirty="0" err="1">
                <a:latin typeface="Times New Roman" panose="02020603050405020304" pitchFamily="18" charset="0"/>
                <a:cs typeface="Times New Roman" panose="02020603050405020304" pitchFamily="18" charset="0"/>
              </a:rPr>
              <a:t>Éloignement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l'angle</a:t>
            </a:r>
            <a:r>
              <a:rPr lang="en-US" dirty="0">
                <a:latin typeface="Times New Roman" panose="02020603050405020304" pitchFamily="18" charset="0"/>
                <a:cs typeface="Times New Roman" panose="02020603050405020304" pitchFamily="18" charset="0"/>
              </a:rPr>
              <a:t> de liaison </a:t>
            </a:r>
            <a:r>
              <a:rPr lang="en-US" dirty="0" err="1">
                <a:latin typeface="Times New Roman" panose="02020603050405020304" pitchFamily="18" charset="0"/>
                <a:cs typeface="Times New Roman" panose="02020603050405020304" pitchFamily="18" charset="0"/>
              </a:rPr>
              <a:t>idéal</a:t>
            </a:r>
            <a:r>
              <a:rPr lang="en-US" dirty="0">
                <a:latin typeface="Times New Roman" panose="02020603050405020304" pitchFamily="18" charset="0"/>
                <a:cs typeface="Times New Roman" panose="02020603050405020304" pitchFamily="18" charset="0"/>
              </a:rPr>
              <a:t> de 109,28</a:t>
            </a:r>
          </a:p>
        </p:txBody>
      </p:sp>
      <p:sp>
        <p:nvSpPr>
          <p:cNvPr id="18" name="ZoneTexte 17">
            <a:extLst>
              <a:ext uri="{FF2B5EF4-FFF2-40B4-BE49-F238E27FC236}">
                <a16:creationId xmlns:a16="http://schemas.microsoft.com/office/drawing/2014/main" id="{F45421E2-5EB2-A474-9862-EA7DB93F9FB4}"/>
              </a:ext>
            </a:extLst>
          </p:cNvPr>
          <p:cNvSpPr txBox="1"/>
          <p:nvPr/>
        </p:nvSpPr>
        <p:spPr>
          <a:xfrm>
            <a:off x="7045652" y="2150836"/>
            <a:ext cx="2006711"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Conduit à </a:t>
            </a:r>
            <a:r>
              <a:rPr lang="en-US" dirty="0" err="1">
                <a:latin typeface="Times New Roman" panose="02020603050405020304" pitchFamily="18" charset="0"/>
                <a:cs typeface="Times New Roman" panose="02020603050405020304" pitchFamily="18" charset="0"/>
              </a:rPr>
              <a:t>une</a:t>
            </a:r>
            <a:r>
              <a:rPr lang="en-US" dirty="0">
                <a:latin typeface="Times New Roman" panose="02020603050405020304" pitchFamily="18" charset="0"/>
                <a:cs typeface="Times New Roman" panose="02020603050405020304" pitchFamily="18" charset="0"/>
              </a:rPr>
              <a:t> augmentation de </a:t>
            </a:r>
            <a:r>
              <a:rPr lang="en-US" dirty="0" err="1">
                <a:latin typeface="Times New Roman" panose="02020603050405020304" pitchFamily="18" charset="0"/>
                <a:cs typeface="Times New Roman" panose="02020603050405020304" pitchFamily="18" charset="0"/>
              </a:rPr>
              <a:t>l'énergie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potentielle</a:t>
            </a:r>
            <a:endParaRPr lang="en-US" dirty="0">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A3748556-F1AB-45C8-4B41-E44970791EF4}"/>
              </a:ext>
            </a:extLst>
          </p:cNvPr>
          <p:cNvSpPr txBox="1"/>
          <p:nvPr/>
        </p:nvSpPr>
        <p:spPr>
          <a:xfrm>
            <a:off x="10172703" y="2319951"/>
            <a:ext cx="2088409" cy="646331"/>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Tension de cycle</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t>
            </a:r>
            <a:r>
              <a:rPr lang="fr-FR" sz="1800" b="1" dirty="0">
                <a:solidFill>
                  <a:srgbClr val="000000"/>
                </a:solidFill>
                <a:effectLst/>
                <a:latin typeface="Times New Roman" panose="02020603050405020304" pitchFamily="18" charset="0"/>
                <a:ea typeface="Calibri" panose="020F0502020204030204" pitchFamily="34" charset="0"/>
              </a:rPr>
              <a:t>tension annulaire</a:t>
            </a:r>
            <a:r>
              <a:rPr lang="en-US" b="1" dirty="0">
                <a:latin typeface="Times New Roman" panose="02020603050405020304" pitchFamily="18" charset="0"/>
                <a:cs typeface="Times New Roman" panose="02020603050405020304" pitchFamily="18" charset="0"/>
              </a:rPr>
              <a:t>)</a:t>
            </a:r>
          </a:p>
        </p:txBody>
      </p:sp>
      <p:sp>
        <p:nvSpPr>
          <p:cNvPr id="21" name="Flèche : droite 20">
            <a:extLst>
              <a:ext uri="{FF2B5EF4-FFF2-40B4-BE49-F238E27FC236}">
                <a16:creationId xmlns:a16="http://schemas.microsoft.com/office/drawing/2014/main" id="{A1EE2992-E653-DEC8-2CB2-AD1BC659A086}"/>
              </a:ext>
            </a:extLst>
          </p:cNvPr>
          <p:cNvSpPr/>
          <p:nvPr/>
        </p:nvSpPr>
        <p:spPr>
          <a:xfrm>
            <a:off x="3140765" y="2582684"/>
            <a:ext cx="655983" cy="184666"/>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 name="Flèche : droite 21">
            <a:extLst>
              <a:ext uri="{FF2B5EF4-FFF2-40B4-BE49-F238E27FC236}">
                <a16:creationId xmlns:a16="http://schemas.microsoft.com/office/drawing/2014/main" id="{FD0D1B64-84FB-67B9-8840-5134AFAB371C}"/>
              </a:ext>
            </a:extLst>
          </p:cNvPr>
          <p:cNvSpPr/>
          <p:nvPr/>
        </p:nvSpPr>
        <p:spPr>
          <a:xfrm>
            <a:off x="6185445" y="2585667"/>
            <a:ext cx="655983" cy="184666"/>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 name="Flèche : droite 22">
            <a:extLst>
              <a:ext uri="{FF2B5EF4-FFF2-40B4-BE49-F238E27FC236}">
                <a16:creationId xmlns:a16="http://schemas.microsoft.com/office/drawing/2014/main" id="{4548E917-9CE6-6E98-7FDE-5680688FBDA0}"/>
              </a:ext>
            </a:extLst>
          </p:cNvPr>
          <p:cNvSpPr/>
          <p:nvPr/>
        </p:nvSpPr>
        <p:spPr>
          <a:xfrm>
            <a:off x="9340299" y="2582684"/>
            <a:ext cx="655983" cy="184666"/>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24" name="Image 23">
            <a:extLst>
              <a:ext uri="{FF2B5EF4-FFF2-40B4-BE49-F238E27FC236}">
                <a16:creationId xmlns:a16="http://schemas.microsoft.com/office/drawing/2014/main" id="{C000A847-AC8F-027A-B67B-792E9FC7B760}"/>
              </a:ext>
            </a:extLst>
          </p:cNvPr>
          <p:cNvPicPr>
            <a:picLocks noChangeAspect="1"/>
          </p:cNvPicPr>
          <p:nvPr/>
        </p:nvPicPr>
        <p:blipFill rotWithShape="1">
          <a:blip r:embed="rId3"/>
          <a:srcRect l="7769" r="7260" b="17960"/>
          <a:stretch/>
        </p:blipFill>
        <p:spPr>
          <a:xfrm>
            <a:off x="5648680" y="3891718"/>
            <a:ext cx="5678309" cy="1959020"/>
          </a:xfrm>
          <a:prstGeom prst="rect">
            <a:avLst/>
          </a:prstGeom>
        </p:spPr>
      </p:pic>
      <p:sp>
        <p:nvSpPr>
          <p:cNvPr id="26" name="ZoneTexte 25">
            <a:extLst>
              <a:ext uri="{FF2B5EF4-FFF2-40B4-BE49-F238E27FC236}">
                <a16:creationId xmlns:a16="http://schemas.microsoft.com/office/drawing/2014/main" id="{21B12009-0BA6-81D9-1CB7-4B9F65E4EB15}"/>
              </a:ext>
            </a:extLst>
          </p:cNvPr>
          <p:cNvSpPr txBox="1"/>
          <p:nvPr/>
        </p:nvSpPr>
        <p:spPr>
          <a:xfrm>
            <a:off x="813817" y="3327282"/>
            <a:ext cx="6281530" cy="369332"/>
          </a:xfrm>
          <a:prstGeom prst="rect">
            <a:avLst/>
          </a:prstGeom>
          <a:noFill/>
        </p:spPr>
        <p:txBody>
          <a:bodyPr wrap="square">
            <a:spAutoFit/>
          </a:bodyPr>
          <a:lstStyle/>
          <a:p>
            <a:pPr marL="285750" indent="-285750">
              <a:buFont typeface="Wingdings" panose="05000000000000000000" pitchFamily="2" charset="2"/>
              <a:buChar char="q"/>
            </a:pPr>
            <a:r>
              <a:rPr lang="fr-FR" sz="1800" b="1" dirty="0">
                <a:solidFill>
                  <a:schemeClr val="tx2">
                    <a:lumMod val="75000"/>
                  </a:schemeClr>
                </a:solidFill>
                <a:effectLst/>
                <a:latin typeface="Times New Roman" panose="02020603050405020304" pitchFamily="18" charset="0"/>
                <a:ea typeface="Calibri" panose="020F0502020204030204" pitchFamily="34" charset="0"/>
              </a:rPr>
              <a:t>Cyclopropane</a:t>
            </a:r>
            <a:endParaRPr lang="en-US" dirty="0">
              <a:solidFill>
                <a:schemeClr val="tx2">
                  <a:lumMod val="75000"/>
                </a:schemeClr>
              </a:solidFill>
            </a:endParaRPr>
          </a:p>
        </p:txBody>
      </p:sp>
      <p:pic>
        <p:nvPicPr>
          <p:cNvPr id="28" name="Image 27">
            <a:extLst>
              <a:ext uri="{FF2B5EF4-FFF2-40B4-BE49-F238E27FC236}">
                <a16:creationId xmlns:a16="http://schemas.microsoft.com/office/drawing/2014/main" id="{CA2604CA-F683-3107-1034-35C22F1A0582}"/>
              </a:ext>
            </a:extLst>
          </p:cNvPr>
          <p:cNvPicPr>
            <a:picLocks noChangeAspect="1"/>
          </p:cNvPicPr>
          <p:nvPr/>
        </p:nvPicPr>
        <p:blipFill>
          <a:blip r:embed="rId4"/>
          <a:stretch>
            <a:fillRect/>
          </a:stretch>
        </p:blipFill>
        <p:spPr>
          <a:xfrm>
            <a:off x="813817" y="3866603"/>
            <a:ext cx="3513831" cy="203276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174193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19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21B12009-0BA6-81D9-1CB7-4B9F65E4EB15}"/>
              </a:ext>
            </a:extLst>
          </p:cNvPr>
          <p:cNvSpPr txBox="1"/>
          <p:nvPr/>
        </p:nvSpPr>
        <p:spPr>
          <a:xfrm>
            <a:off x="813817" y="2181634"/>
            <a:ext cx="6281530" cy="369332"/>
          </a:xfrm>
          <a:prstGeom prst="rect">
            <a:avLst/>
          </a:prstGeom>
          <a:noFill/>
        </p:spPr>
        <p:txBody>
          <a:bodyPr wrap="square">
            <a:spAutoFit/>
          </a:bodyPr>
          <a:lstStyle/>
          <a:p>
            <a:pPr marL="285750" indent="-285750">
              <a:buFont typeface="Wingdings" panose="05000000000000000000" pitchFamily="2" charset="2"/>
              <a:buChar char="q"/>
            </a:pPr>
            <a:r>
              <a:rPr lang="fr-FR" sz="1800" b="1" dirty="0">
                <a:solidFill>
                  <a:schemeClr val="tx2">
                    <a:lumMod val="75000"/>
                  </a:schemeClr>
                </a:solidFill>
                <a:effectLst/>
                <a:latin typeface="Times New Roman" panose="02020603050405020304" pitchFamily="18" charset="0"/>
                <a:ea typeface="Calibri" panose="020F0502020204030204" pitchFamily="34" charset="0"/>
              </a:rPr>
              <a:t>Cyclobutane</a:t>
            </a:r>
            <a:endParaRPr lang="en-US" dirty="0">
              <a:solidFill>
                <a:schemeClr val="tx2">
                  <a:lumMod val="75000"/>
                </a:schemeClr>
              </a:solidFill>
            </a:endParaRPr>
          </a:p>
        </p:txBody>
      </p:sp>
      <p:sp>
        <p:nvSpPr>
          <p:cNvPr id="8" name="ZoneTexte 7">
            <a:extLst>
              <a:ext uri="{FF2B5EF4-FFF2-40B4-BE49-F238E27FC236}">
                <a16:creationId xmlns:a16="http://schemas.microsoft.com/office/drawing/2014/main" id="{31D8CA42-7B54-D29A-C723-1A47BCEEEE2F}"/>
              </a:ext>
            </a:extLst>
          </p:cNvPr>
          <p:cNvSpPr txBox="1"/>
          <p:nvPr/>
        </p:nvSpPr>
        <p:spPr>
          <a:xfrm>
            <a:off x="813816" y="2600661"/>
            <a:ext cx="11003809" cy="709233"/>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cyclobutane est un cycle à quatre carbones, présente une forme carrée, avec des angles de 90 degrés à chaque coin. </a:t>
            </a:r>
            <a:r>
              <a:rPr lang="fr-MA"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Il réduit les contraintes d'éclipse de liaison en se pliant (angle dièdre hors plan d'environ 25º).</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9" name="Image 8">
            <a:extLst>
              <a:ext uri="{FF2B5EF4-FFF2-40B4-BE49-F238E27FC236}">
                <a16:creationId xmlns:a16="http://schemas.microsoft.com/office/drawing/2014/main" id="{85BBF3D9-96DC-478A-F990-B6350447D66E}"/>
              </a:ext>
            </a:extLst>
          </p:cNvPr>
          <p:cNvPicPr>
            <a:picLocks noChangeAspect="1"/>
          </p:cNvPicPr>
          <p:nvPr/>
        </p:nvPicPr>
        <p:blipFill>
          <a:blip r:embed="rId3"/>
          <a:stretch>
            <a:fillRect/>
          </a:stretch>
        </p:blipFill>
        <p:spPr>
          <a:xfrm>
            <a:off x="1078974" y="3763334"/>
            <a:ext cx="2483168" cy="1514723"/>
          </a:xfrm>
          <a:prstGeom prst="rect">
            <a:avLst/>
          </a:prstGeom>
        </p:spPr>
      </p:pic>
      <p:sp>
        <p:nvSpPr>
          <p:cNvPr id="13" name="ZoneTexte 12">
            <a:extLst>
              <a:ext uri="{FF2B5EF4-FFF2-40B4-BE49-F238E27FC236}">
                <a16:creationId xmlns:a16="http://schemas.microsoft.com/office/drawing/2014/main" id="{B6AE5DFD-C875-1601-09BC-9B3112C48084}"/>
              </a:ext>
            </a:extLst>
          </p:cNvPr>
          <p:cNvSpPr txBox="1"/>
          <p:nvPr/>
        </p:nvSpPr>
        <p:spPr>
          <a:xfrm>
            <a:off x="4977432" y="5557724"/>
            <a:ext cx="2953992" cy="369332"/>
          </a:xfrm>
          <a:prstGeom prst="rect">
            <a:avLst/>
          </a:prstGeom>
          <a:noFill/>
        </p:spPr>
        <p:txBody>
          <a:bodyPr wrap="square">
            <a:spAutoFit/>
          </a:bodyPr>
          <a:lstStyle/>
          <a:p>
            <a:r>
              <a:rPr lang="fr-FR" sz="1800" b="1" dirty="0">
                <a:solidFill>
                  <a:srgbClr val="000000"/>
                </a:solidFill>
                <a:effectLst/>
                <a:latin typeface="Times New Roman" panose="02020603050405020304" pitchFamily="18" charset="0"/>
                <a:ea typeface="Calibri" panose="020F0502020204030204" pitchFamily="34" charset="0"/>
              </a:rPr>
              <a:t>88°</a:t>
            </a:r>
            <a:r>
              <a:rPr lang="fr-FR" sz="1800" dirty="0">
                <a:solidFill>
                  <a:srgbClr val="000000"/>
                </a:solidFill>
                <a:effectLst/>
                <a:latin typeface="Times New Roman" panose="02020603050405020304" pitchFamily="18" charset="0"/>
                <a:ea typeface="Calibri" panose="020F0502020204030204" pitchFamily="34" charset="0"/>
              </a:rPr>
              <a:t> au lieu des </a:t>
            </a:r>
            <a:r>
              <a:rPr lang="fr-FR" sz="1800" b="1" dirty="0">
                <a:solidFill>
                  <a:srgbClr val="000000"/>
                </a:solidFill>
                <a:effectLst/>
                <a:latin typeface="Times New Roman" panose="02020603050405020304" pitchFamily="18" charset="0"/>
                <a:ea typeface="Calibri" panose="020F0502020204030204" pitchFamily="34" charset="0"/>
              </a:rPr>
              <a:t>109°</a:t>
            </a:r>
            <a:r>
              <a:rPr lang="fr-FR" sz="1800" dirty="0">
                <a:solidFill>
                  <a:srgbClr val="000000"/>
                </a:solidFill>
                <a:effectLst/>
                <a:latin typeface="Times New Roman" panose="02020603050405020304" pitchFamily="18" charset="0"/>
                <a:ea typeface="Calibri" panose="020F0502020204030204" pitchFamily="34" charset="0"/>
              </a:rPr>
              <a:t> attendus</a:t>
            </a:r>
            <a:endParaRPr lang="en-US" dirty="0"/>
          </a:p>
        </p:txBody>
      </p:sp>
      <p:sp>
        <p:nvSpPr>
          <p:cNvPr id="15" name="Flèche : droite 14">
            <a:extLst>
              <a:ext uri="{FF2B5EF4-FFF2-40B4-BE49-F238E27FC236}">
                <a16:creationId xmlns:a16="http://schemas.microsoft.com/office/drawing/2014/main" id="{41D7315B-6FD9-A68E-058C-4E8E8A19FA96}"/>
              </a:ext>
            </a:extLst>
          </p:cNvPr>
          <p:cNvSpPr/>
          <p:nvPr/>
        </p:nvSpPr>
        <p:spPr>
          <a:xfrm>
            <a:off x="7931423" y="5650057"/>
            <a:ext cx="655983" cy="184666"/>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ZoneTexte 18">
            <a:extLst>
              <a:ext uri="{FF2B5EF4-FFF2-40B4-BE49-F238E27FC236}">
                <a16:creationId xmlns:a16="http://schemas.microsoft.com/office/drawing/2014/main" id="{88E88077-FAA3-C99C-048B-D974E33A7AD6}"/>
              </a:ext>
            </a:extLst>
          </p:cNvPr>
          <p:cNvSpPr txBox="1"/>
          <p:nvPr/>
        </p:nvSpPr>
        <p:spPr>
          <a:xfrm>
            <a:off x="8859905" y="5552512"/>
            <a:ext cx="2246244" cy="369332"/>
          </a:xfrm>
          <a:prstGeom prst="rect">
            <a:avLst/>
          </a:prstGeom>
          <a:noFill/>
        </p:spPr>
        <p:txBody>
          <a:bodyPr wrap="square">
            <a:spAutoFit/>
          </a:bodyPr>
          <a:lstStyle/>
          <a:p>
            <a:r>
              <a:rPr lang="fr-FR" sz="1800" b="1" dirty="0">
                <a:solidFill>
                  <a:srgbClr val="000000"/>
                </a:solidFill>
                <a:effectLst/>
                <a:latin typeface="Times New Roman" panose="02020603050405020304" pitchFamily="18" charset="0"/>
                <a:ea typeface="Calibri" panose="020F0502020204030204" pitchFamily="34" charset="0"/>
              </a:rPr>
              <a:t>tension annulaire</a:t>
            </a:r>
            <a:endParaRPr lang="en-US" b="1" dirty="0"/>
          </a:p>
        </p:txBody>
      </p:sp>
      <p:pic>
        <p:nvPicPr>
          <p:cNvPr id="25" name="Image 24">
            <a:extLst>
              <a:ext uri="{FF2B5EF4-FFF2-40B4-BE49-F238E27FC236}">
                <a16:creationId xmlns:a16="http://schemas.microsoft.com/office/drawing/2014/main" id="{4A8C9FDB-60DA-43D4-EF8C-336CC44FC155}"/>
              </a:ext>
            </a:extLst>
          </p:cNvPr>
          <p:cNvPicPr>
            <a:picLocks noChangeAspect="1"/>
          </p:cNvPicPr>
          <p:nvPr/>
        </p:nvPicPr>
        <p:blipFill>
          <a:blip r:embed="rId4"/>
          <a:stretch>
            <a:fillRect/>
          </a:stretch>
        </p:blipFill>
        <p:spPr>
          <a:xfrm>
            <a:off x="4977432" y="3671430"/>
            <a:ext cx="5745015" cy="1664541"/>
          </a:xfrm>
          <a:prstGeom prst="rect">
            <a:avLst/>
          </a:prstGeom>
        </p:spPr>
      </p:pic>
    </p:spTree>
    <p:extLst>
      <p:ext uri="{BB962C8B-B14F-4D97-AF65-F5344CB8AC3E}">
        <p14:creationId xmlns:p14="http://schemas.microsoft.com/office/powerpoint/2010/main" val="1593983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21B12009-0BA6-81D9-1CB7-4B9F65E4EB15}"/>
              </a:ext>
            </a:extLst>
          </p:cNvPr>
          <p:cNvSpPr txBox="1"/>
          <p:nvPr/>
        </p:nvSpPr>
        <p:spPr>
          <a:xfrm>
            <a:off x="813817" y="2181634"/>
            <a:ext cx="6281530" cy="369332"/>
          </a:xfrm>
          <a:prstGeom prst="rect">
            <a:avLst/>
          </a:prstGeom>
          <a:noFill/>
        </p:spPr>
        <p:txBody>
          <a:bodyPr wrap="square">
            <a:spAutoFit/>
          </a:bodyPr>
          <a:lstStyle/>
          <a:p>
            <a:pPr marL="285750" indent="-285750">
              <a:buFont typeface="Wingdings" panose="05000000000000000000" pitchFamily="2" charset="2"/>
              <a:buChar char="q"/>
            </a:pPr>
            <a:r>
              <a:rPr lang="fr-FR" sz="1800" b="1" dirty="0">
                <a:solidFill>
                  <a:schemeClr val="tx2">
                    <a:lumMod val="75000"/>
                  </a:schemeClr>
                </a:solidFill>
                <a:effectLst/>
                <a:latin typeface="Times New Roman" panose="02020603050405020304" pitchFamily="18" charset="0"/>
                <a:ea typeface="Calibri" panose="020F0502020204030204" pitchFamily="34" charset="0"/>
              </a:rPr>
              <a:t>Cyclopentane</a:t>
            </a:r>
            <a:endParaRPr lang="en-US" dirty="0">
              <a:solidFill>
                <a:schemeClr val="tx2">
                  <a:lumMod val="75000"/>
                </a:schemeClr>
              </a:solidFill>
            </a:endParaRPr>
          </a:p>
        </p:txBody>
      </p:sp>
      <p:sp>
        <p:nvSpPr>
          <p:cNvPr id="8" name="ZoneTexte 7">
            <a:extLst>
              <a:ext uri="{FF2B5EF4-FFF2-40B4-BE49-F238E27FC236}">
                <a16:creationId xmlns:a16="http://schemas.microsoft.com/office/drawing/2014/main" id="{9E48A137-5F56-46E6-35C1-3E94D1A06C68}"/>
              </a:ext>
            </a:extLst>
          </p:cNvPr>
          <p:cNvSpPr txBox="1"/>
          <p:nvPr/>
        </p:nvSpPr>
        <p:spPr>
          <a:xfrm>
            <a:off x="842805" y="2614999"/>
            <a:ext cx="10706465" cy="873572"/>
          </a:xfrm>
          <a:prstGeom prst="rect">
            <a:avLst/>
          </a:prstGeom>
          <a:noFill/>
        </p:spPr>
        <p:txBody>
          <a:bodyPr wrap="square">
            <a:spAutoFit/>
          </a:bodyPr>
          <a:lstStyle/>
          <a:p>
            <a:pPr algn="just">
              <a:lnSpc>
                <a:spcPct val="150000"/>
              </a:lnSpc>
            </a:pPr>
            <a:r>
              <a:rPr lang="fr-FR" sz="1800" dirty="0">
                <a:solidFill>
                  <a:srgbClr val="000000"/>
                </a:solidFill>
                <a:effectLst/>
                <a:latin typeface="Times New Roman" panose="02020603050405020304" pitchFamily="18" charset="0"/>
                <a:ea typeface="Calibri" panose="020F0502020204030204" pitchFamily="34" charset="0"/>
              </a:rPr>
              <a:t>L'angle idéal dans un pentagone régulier avoisine les 105°, une valeur très proche de l'angle de liaison tétraédrique. </a:t>
            </a:r>
            <a:r>
              <a:rPr lang="fr-MA" kern="100" dirty="0">
                <a:solidFill>
                  <a:srgbClr val="000000"/>
                </a:solidFill>
                <a:latin typeface="Times New Roman" panose="02020603050405020304" pitchFamily="18" charset="0"/>
                <a:cs typeface="Arial" panose="020B0604020202020204" pitchFamily="34" charset="0"/>
              </a:rPr>
              <a:t>Les cyclopentanes sont les cycles le plus fréquent dans la nature, après les cyclohexanes.</a:t>
            </a:r>
          </a:p>
        </p:txBody>
      </p:sp>
      <p:pic>
        <p:nvPicPr>
          <p:cNvPr id="9" name="Image 8">
            <a:extLst>
              <a:ext uri="{FF2B5EF4-FFF2-40B4-BE49-F238E27FC236}">
                <a16:creationId xmlns:a16="http://schemas.microsoft.com/office/drawing/2014/main" id="{2B73B962-5787-9A22-7321-2E676B135004}"/>
              </a:ext>
            </a:extLst>
          </p:cNvPr>
          <p:cNvPicPr>
            <a:picLocks noChangeAspect="1"/>
          </p:cNvPicPr>
          <p:nvPr/>
        </p:nvPicPr>
        <p:blipFill>
          <a:blip r:embed="rId3"/>
          <a:stretch>
            <a:fillRect/>
          </a:stretch>
        </p:blipFill>
        <p:spPr>
          <a:xfrm>
            <a:off x="973619" y="3719570"/>
            <a:ext cx="2168752" cy="1345387"/>
          </a:xfrm>
          <a:prstGeom prst="rect">
            <a:avLst/>
          </a:prstGeom>
        </p:spPr>
      </p:pic>
      <p:pic>
        <p:nvPicPr>
          <p:cNvPr id="11" name="Image 10">
            <a:extLst>
              <a:ext uri="{FF2B5EF4-FFF2-40B4-BE49-F238E27FC236}">
                <a16:creationId xmlns:a16="http://schemas.microsoft.com/office/drawing/2014/main" id="{664B4F9D-CEEF-F9B4-B933-E5A20CE15281}"/>
              </a:ext>
            </a:extLst>
          </p:cNvPr>
          <p:cNvPicPr>
            <a:picLocks noChangeAspect="1"/>
          </p:cNvPicPr>
          <p:nvPr/>
        </p:nvPicPr>
        <p:blipFill>
          <a:blip r:embed="rId4"/>
          <a:stretch>
            <a:fillRect/>
          </a:stretch>
        </p:blipFill>
        <p:spPr>
          <a:xfrm>
            <a:off x="4133850" y="3744390"/>
            <a:ext cx="7503481" cy="1414016"/>
          </a:xfrm>
          <a:prstGeom prst="rect">
            <a:avLst/>
          </a:prstGeom>
        </p:spPr>
      </p:pic>
      <p:sp>
        <p:nvSpPr>
          <p:cNvPr id="16" name="ZoneTexte 15">
            <a:extLst>
              <a:ext uri="{FF2B5EF4-FFF2-40B4-BE49-F238E27FC236}">
                <a16:creationId xmlns:a16="http://schemas.microsoft.com/office/drawing/2014/main" id="{8339E635-D282-3372-ACB1-203CD2312C89}"/>
              </a:ext>
            </a:extLst>
          </p:cNvPr>
          <p:cNvSpPr txBox="1"/>
          <p:nvPr/>
        </p:nvSpPr>
        <p:spPr>
          <a:xfrm>
            <a:off x="842804" y="5351665"/>
            <a:ext cx="8937299"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Il a deux conformations : la conformation enveloppe et la conformation demi-chaise.</a:t>
            </a:r>
            <a:endParaRPr lang="en-US" dirty="0"/>
          </a:p>
        </p:txBody>
      </p:sp>
    </p:spTree>
    <p:extLst>
      <p:ext uri="{BB962C8B-B14F-4D97-AF65-F5344CB8AC3E}">
        <p14:creationId xmlns:p14="http://schemas.microsoft.com/office/powerpoint/2010/main" val="2122509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21B12009-0BA6-81D9-1CB7-4B9F65E4EB15}"/>
              </a:ext>
            </a:extLst>
          </p:cNvPr>
          <p:cNvSpPr txBox="1"/>
          <p:nvPr/>
        </p:nvSpPr>
        <p:spPr>
          <a:xfrm>
            <a:off x="813817" y="2181634"/>
            <a:ext cx="6281530" cy="369332"/>
          </a:xfrm>
          <a:prstGeom prst="rect">
            <a:avLst/>
          </a:prstGeom>
          <a:noFill/>
        </p:spPr>
        <p:txBody>
          <a:bodyPr wrap="square">
            <a:spAutoFit/>
          </a:bodyPr>
          <a:lstStyle/>
          <a:p>
            <a:pPr marL="285750" indent="-285750">
              <a:buFont typeface="Wingdings" panose="05000000000000000000" pitchFamily="2" charset="2"/>
              <a:buChar char="q"/>
            </a:pPr>
            <a:r>
              <a:rPr lang="fr-FR" sz="1800" b="1" dirty="0">
                <a:solidFill>
                  <a:schemeClr val="tx2">
                    <a:lumMod val="75000"/>
                  </a:schemeClr>
                </a:solidFill>
                <a:effectLst/>
                <a:latin typeface="Times New Roman" panose="02020603050405020304" pitchFamily="18" charset="0"/>
                <a:ea typeface="Calibri" panose="020F0502020204030204" pitchFamily="34" charset="0"/>
              </a:rPr>
              <a:t>Cyclohexane</a:t>
            </a:r>
            <a:endParaRPr lang="en-US" dirty="0">
              <a:solidFill>
                <a:schemeClr val="tx2">
                  <a:lumMod val="75000"/>
                </a:schemeClr>
              </a:solidFill>
            </a:endParaRPr>
          </a:p>
        </p:txBody>
      </p:sp>
      <p:pic>
        <p:nvPicPr>
          <p:cNvPr id="32" name="Image 31">
            <a:extLst>
              <a:ext uri="{FF2B5EF4-FFF2-40B4-BE49-F238E27FC236}">
                <a16:creationId xmlns:a16="http://schemas.microsoft.com/office/drawing/2014/main" id="{1513FFBF-18B9-EC25-AD53-DF335AC98B0E}"/>
              </a:ext>
            </a:extLst>
          </p:cNvPr>
          <p:cNvPicPr>
            <a:picLocks noChangeAspect="1"/>
          </p:cNvPicPr>
          <p:nvPr/>
        </p:nvPicPr>
        <p:blipFill rotWithShape="1">
          <a:blip r:embed="rId3"/>
          <a:srcRect t="7667"/>
          <a:stretch/>
        </p:blipFill>
        <p:spPr>
          <a:xfrm>
            <a:off x="984852" y="3728428"/>
            <a:ext cx="10132430" cy="2319201"/>
          </a:xfrm>
          <a:prstGeom prst="rect">
            <a:avLst/>
          </a:prstGeom>
        </p:spPr>
      </p:pic>
      <p:sp>
        <p:nvSpPr>
          <p:cNvPr id="34" name="ZoneTexte 33">
            <a:extLst>
              <a:ext uri="{FF2B5EF4-FFF2-40B4-BE49-F238E27FC236}">
                <a16:creationId xmlns:a16="http://schemas.microsoft.com/office/drawing/2014/main" id="{84E0034D-D8B1-82CA-06B0-301C7CD96A0F}"/>
              </a:ext>
            </a:extLst>
          </p:cNvPr>
          <p:cNvSpPr txBox="1"/>
          <p:nvPr/>
        </p:nvSpPr>
        <p:spPr>
          <a:xfrm>
            <a:off x="813817" y="2551041"/>
            <a:ext cx="10815794" cy="923330"/>
          </a:xfrm>
          <a:prstGeom prst="rect">
            <a:avLst/>
          </a:prstGeom>
          <a:noFill/>
        </p:spPr>
        <p:txBody>
          <a:bodyPr wrap="square">
            <a:spAutoFit/>
          </a:bodyPr>
          <a:lstStyle/>
          <a:p>
            <a:r>
              <a:rPr lang="fr-MA" dirty="0">
                <a:solidFill>
                  <a:srgbClr val="000000"/>
                </a:solidFill>
                <a:latin typeface="Times New Roman" panose="02020603050405020304" pitchFamily="18" charset="0"/>
              </a:rPr>
              <a:t>Le cyclohexane est un bon exemple de système à cycles de carbone qui minimise l'éclipse et la tension angulaire en adoptant des formes non planes. </a:t>
            </a:r>
            <a:r>
              <a:rPr lang="fr-FR" sz="1800" dirty="0">
                <a:solidFill>
                  <a:srgbClr val="000000"/>
                </a:solidFill>
                <a:effectLst/>
                <a:latin typeface="Times New Roman" panose="02020603050405020304" pitchFamily="18" charset="0"/>
                <a:ea typeface="Calibri" panose="020F0502020204030204" pitchFamily="34" charset="0"/>
              </a:rPr>
              <a:t>Il présente deux conformations </a:t>
            </a:r>
            <a:r>
              <a:rPr lang="fr-FR" sz="1800" dirty="0">
                <a:solidFill>
                  <a:srgbClr val="0D0D0D"/>
                </a:solidFill>
                <a:effectLst/>
                <a:latin typeface="Times New Roman" panose="02020603050405020304" pitchFamily="18" charset="0"/>
                <a:ea typeface="Calibri" panose="020F0502020204030204" pitchFamily="34" charset="0"/>
              </a:rPr>
              <a:t>principales, connues sous le nom de la "forme chaise" et de la "forme bateau".</a:t>
            </a:r>
            <a:endParaRPr lang="en-US"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259721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844209" y="6419850"/>
            <a:ext cx="413716"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III.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50B9680F-7260-10AF-A5C3-D48660BF3C97}"/>
              </a:ext>
            </a:extLst>
          </p:cNvPr>
          <p:cNvSpPr txBox="1"/>
          <p:nvPr/>
        </p:nvSpPr>
        <p:spPr>
          <a:xfrm>
            <a:off x="973619" y="122717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III. 2.	Stéréoisomérie conformationnelle</a:t>
            </a:r>
            <a:endParaRPr lang="en-US" b="1" kern="100" dirty="0">
              <a:latin typeface="Times New Roman" panose="02020603050405020304" pitchFamily="18" charset="0"/>
              <a:cs typeface="Arial" panose="020B0604020202020204" pitchFamily="34" charset="0"/>
            </a:endParaRPr>
          </a:p>
        </p:txBody>
      </p:sp>
      <p:sp>
        <p:nvSpPr>
          <p:cNvPr id="12" name="ZoneTexte 11">
            <a:extLst>
              <a:ext uri="{FF2B5EF4-FFF2-40B4-BE49-F238E27FC236}">
                <a16:creationId xmlns:a16="http://schemas.microsoft.com/office/drawing/2014/main" id="{6C49BD29-9A19-D722-73CC-B4F478AEF485}"/>
              </a:ext>
            </a:extLst>
          </p:cNvPr>
          <p:cNvSpPr txBox="1"/>
          <p:nvPr/>
        </p:nvSpPr>
        <p:spPr>
          <a:xfrm>
            <a:off x="813817" y="1668440"/>
            <a:ext cx="6281530" cy="369332"/>
          </a:xfrm>
          <a:prstGeom prst="rect">
            <a:avLst/>
          </a:prstGeom>
          <a:noFill/>
        </p:spPr>
        <p:txBody>
          <a:bodyPr wrap="square">
            <a:spAutoFit/>
          </a:bodyPr>
          <a:lstStyle/>
          <a:p>
            <a:pPr marL="285750" indent="-285750">
              <a:buFont typeface="Wingdings" panose="05000000000000000000" pitchFamily="2" charset="2"/>
              <a:buChar char="v"/>
            </a:pPr>
            <a:r>
              <a:rPr lang="fr-FR" sz="1800" b="1" dirty="0">
                <a:solidFill>
                  <a:srgbClr val="0B672A"/>
                </a:solidFill>
                <a:effectLst/>
                <a:latin typeface="Times New Roman" panose="02020603050405020304" pitchFamily="18" charset="0"/>
                <a:ea typeface="Calibri" panose="020F0502020204030204" pitchFamily="34" charset="0"/>
                <a:cs typeface="Times New Roman" panose="02020603050405020304" pitchFamily="18" charset="0"/>
              </a:rPr>
              <a:t>Représentation des molécules cycliques</a:t>
            </a:r>
            <a:endParaRPr lang="en-US" b="1" dirty="0">
              <a:solidFill>
                <a:srgbClr val="0B672A"/>
              </a:solidFill>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21B12009-0BA6-81D9-1CB7-4B9F65E4EB15}"/>
              </a:ext>
            </a:extLst>
          </p:cNvPr>
          <p:cNvSpPr txBox="1"/>
          <p:nvPr/>
        </p:nvSpPr>
        <p:spPr>
          <a:xfrm>
            <a:off x="813817" y="2181634"/>
            <a:ext cx="6281530" cy="369332"/>
          </a:xfrm>
          <a:prstGeom prst="rect">
            <a:avLst/>
          </a:prstGeom>
          <a:noFill/>
        </p:spPr>
        <p:txBody>
          <a:bodyPr wrap="square">
            <a:spAutoFit/>
          </a:bodyPr>
          <a:lstStyle/>
          <a:p>
            <a:pPr marL="285750" indent="-285750">
              <a:buFont typeface="Wingdings" panose="05000000000000000000" pitchFamily="2" charset="2"/>
              <a:buChar char="q"/>
            </a:pPr>
            <a:r>
              <a:rPr lang="fr-FR" sz="1800" b="1" dirty="0">
                <a:solidFill>
                  <a:schemeClr val="tx2">
                    <a:lumMod val="75000"/>
                  </a:schemeClr>
                </a:solidFill>
                <a:effectLst/>
                <a:latin typeface="Times New Roman" panose="02020603050405020304" pitchFamily="18" charset="0"/>
                <a:ea typeface="Calibri" panose="020F0502020204030204" pitchFamily="34" charset="0"/>
              </a:rPr>
              <a:t>Cyclohexane</a:t>
            </a:r>
            <a:endParaRPr lang="en-US" dirty="0">
              <a:solidFill>
                <a:schemeClr val="tx2">
                  <a:lumMod val="75000"/>
                </a:schemeClr>
              </a:solidFill>
            </a:endParaRPr>
          </a:p>
        </p:txBody>
      </p:sp>
      <p:grpSp>
        <p:nvGrpSpPr>
          <p:cNvPr id="13" name="Groupe 12">
            <a:extLst>
              <a:ext uri="{FF2B5EF4-FFF2-40B4-BE49-F238E27FC236}">
                <a16:creationId xmlns:a16="http://schemas.microsoft.com/office/drawing/2014/main" id="{B6270EEF-D43A-4EB6-95ED-F2B64577E730}"/>
              </a:ext>
            </a:extLst>
          </p:cNvPr>
          <p:cNvGrpSpPr/>
          <p:nvPr/>
        </p:nvGrpSpPr>
        <p:grpSpPr>
          <a:xfrm>
            <a:off x="973619" y="3479619"/>
            <a:ext cx="10575651" cy="2462852"/>
            <a:chOff x="792747" y="3277731"/>
            <a:chExt cx="10181523" cy="2058607"/>
          </a:xfrm>
        </p:grpSpPr>
        <p:pic>
          <p:nvPicPr>
            <p:cNvPr id="8" name="Image 7">
              <a:extLst>
                <a:ext uri="{FF2B5EF4-FFF2-40B4-BE49-F238E27FC236}">
                  <a16:creationId xmlns:a16="http://schemas.microsoft.com/office/drawing/2014/main" id="{D25DE5DC-63B2-3B75-F673-E0A93AE361E9}"/>
                </a:ext>
              </a:extLst>
            </p:cNvPr>
            <p:cNvPicPr>
              <a:picLocks noChangeAspect="1"/>
            </p:cNvPicPr>
            <p:nvPr/>
          </p:nvPicPr>
          <p:blipFill>
            <a:blip r:embed="rId3"/>
            <a:stretch>
              <a:fillRect/>
            </a:stretch>
          </p:blipFill>
          <p:spPr>
            <a:xfrm>
              <a:off x="792747" y="3277731"/>
              <a:ext cx="4716739" cy="2058607"/>
            </a:xfrm>
            <a:prstGeom prst="rect">
              <a:avLst/>
            </a:prstGeom>
          </p:spPr>
        </p:pic>
        <p:pic>
          <p:nvPicPr>
            <p:cNvPr id="11" name="Image 10">
              <a:extLst>
                <a:ext uri="{FF2B5EF4-FFF2-40B4-BE49-F238E27FC236}">
                  <a16:creationId xmlns:a16="http://schemas.microsoft.com/office/drawing/2014/main" id="{DBC3DB23-4CB6-0F71-F1AE-2654D7A30513}"/>
                </a:ext>
              </a:extLst>
            </p:cNvPr>
            <p:cNvPicPr>
              <a:picLocks noChangeAspect="1"/>
            </p:cNvPicPr>
            <p:nvPr/>
          </p:nvPicPr>
          <p:blipFill>
            <a:blip r:embed="rId4"/>
            <a:stretch>
              <a:fillRect/>
            </a:stretch>
          </p:blipFill>
          <p:spPr>
            <a:xfrm>
              <a:off x="6247365" y="3277731"/>
              <a:ext cx="4726905" cy="2058607"/>
            </a:xfrm>
            <a:prstGeom prst="rect">
              <a:avLst/>
            </a:prstGeom>
          </p:spPr>
        </p:pic>
      </p:grpSp>
      <p:sp>
        <p:nvSpPr>
          <p:cNvPr id="17" name="ZoneTexte 16">
            <a:extLst>
              <a:ext uri="{FF2B5EF4-FFF2-40B4-BE49-F238E27FC236}">
                <a16:creationId xmlns:a16="http://schemas.microsoft.com/office/drawing/2014/main" id="{317F9857-E2CA-FBF6-1286-2E4B929FF8CE}"/>
              </a:ext>
            </a:extLst>
          </p:cNvPr>
          <p:cNvSpPr txBox="1"/>
          <p:nvPr/>
        </p:nvSpPr>
        <p:spPr>
          <a:xfrm>
            <a:off x="813817" y="2686932"/>
            <a:ext cx="6281530" cy="369332"/>
          </a:xfrm>
          <a:prstGeom prst="rect">
            <a:avLst/>
          </a:prstGeom>
          <a:noFill/>
        </p:spPr>
        <p:txBody>
          <a:bodyPr wrap="square">
            <a:spAutoFit/>
          </a:bodyPr>
          <a:lstStyle/>
          <a:p>
            <a:r>
              <a:rPr lang="fr-FR" sz="1800" b="1" u="sng" dirty="0">
                <a:solidFill>
                  <a:srgbClr val="000000"/>
                </a:solidFill>
                <a:effectLst/>
                <a:latin typeface="Times New Roman" panose="02020603050405020304" pitchFamily="18" charset="0"/>
                <a:ea typeface="Calibri" panose="020F0502020204030204" pitchFamily="34" charset="0"/>
              </a:rPr>
              <a:t>Représentation </a:t>
            </a:r>
            <a:r>
              <a:rPr lang="fr-FR" sz="1800" b="1" u="sng">
                <a:solidFill>
                  <a:srgbClr val="000000"/>
                </a:solidFill>
                <a:effectLst/>
                <a:latin typeface="Times New Roman" panose="02020603050405020304" pitchFamily="18" charset="0"/>
                <a:ea typeface="Calibri" panose="020F0502020204030204" pitchFamily="34" charset="0"/>
              </a:rPr>
              <a:t>de Newman</a:t>
            </a:r>
            <a:endParaRPr lang="en-US" dirty="0"/>
          </a:p>
        </p:txBody>
      </p:sp>
    </p:spTree>
    <p:extLst>
      <p:ext uri="{BB962C8B-B14F-4D97-AF65-F5344CB8AC3E}">
        <p14:creationId xmlns:p14="http://schemas.microsoft.com/office/powerpoint/2010/main" val="1296091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IV.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C51A41E3-02BC-C8ED-738D-010E351E19AF}"/>
              </a:ext>
            </a:extLst>
          </p:cNvPr>
          <p:cNvSpPr txBox="1"/>
          <p:nvPr/>
        </p:nvSpPr>
        <p:spPr>
          <a:xfrm>
            <a:off x="813817" y="1335514"/>
            <a:ext cx="10973992" cy="646331"/>
          </a:xfrm>
          <a:prstGeom prst="rect">
            <a:avLst/>
          </a:prstGeom>
          <a:noFill/>
        </p:spPr>
        <p:txBody>
          <a:bodyPr wrap="square">
            <a:spAutoFit/>
          </a:bodyPr>
          <a:lstStyle/>
          <a:p>
            <a:r>
              <a:rPr lang="fr-MA" b="0" i="0" dirty="0">
                <a:solidFill>
                  <a:srgbClr val="0D0D0D"/>
                </a:solidFill>
                <a:effectLst/>
                <a:latin typeface="Times New Roman" panose="02020603050405020304" pitchFamily="18" charset="0"/>
                <a:cs typeface="Times New Roman" panose="02020603050405020304" pitchFamily="18" charset="0"/>
              </a:rPr>
              <a:t>La stéréoisomérie de configuration se réfère à la disposition spatiale des atomes dans une molécule et à la manière dont ils sont arrangés dans l'espace.</a:t>
            </a:r>
            <a:endParaRPr lang="en-US" dirty="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9C4F7BB3-0639-95E0-BA44-13D5C69FC05D}"/>
              </a:ext>
            </a:extLst>
          </p:cNvPr>
          <p:cNvSpPr txBox="1"/>
          <p:nvPr/>
        </p:nvSpPr>
        <p:spPr>
          <a:xfrm>
            <a:off x="973619" y="2081943"/>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IV. 1.	Chiralité</a:t>
            </a:r>
            <a:endParaRPr lang="en-US" b="1" kern="100" dirty="0">
              <a:latin typeface="Times New Roman" panose="02020603050405020304" pitchFamily="18" charset="0"/>
              <a:cs typeface="Arial" panose="020B0604020202020204" pitchFamily="34" charset="0"/>
            </a:endParaRPr>
          </a:p>
        </p:txBody>
      </p:sp>
      <p:pic>
        <p:nvPicPr>
          <p:cNvPr id="11" name="Image 10">
            <a:extLst>
              <a:ext uri="{FF2B5EF4-FFF2-40B4-BE49-F238E27FC236}">
                <a16:creationId xmlns:a16="http://schemas.microsoft.com/office/drawing/2014/main" id="{D4736799-862C-4447-4623-3E4D71DFE9F4}"/>
              </a:ext>
            </a:extLst>
          </p:cNvPr>
          <p:cNvPicPr>
            <a:picLocks noChangeAspect="1"/>
          </p:cNvPicPr>
          <p:nvPr/>
        </p:nvPicPr>
        <p:blipFill>
          <a:blip r:embed="rId3"/>
          <a:stretch>
            <a:fillRect/>
          </a:stretch>
        </p:blipFill>
        <p:spPr>
          <a:xfrm>
            <a:off x="1841360" y="2573724"/>
            <a:ext cx="2984086" cy="1788249"/>
          </a:xfrm>
          <a:prstGeom prst="rect">
            <a:avLst/>
          </a:prstGeom>
        </p:spPr>
      </p:pic>
      <p:pic>
        <p:nvPicPr>
          <p:cNvPr id="12" name="Image 11">
            <a:extLst>
              <a:ext uri="{FF2B5EF4-FFF2-40B4-BE49-F238E27FC236}">
                <a16:creationId xmlns:a16="http://schemas.microsoft.com/office/drawing/2014/main" id="{F87EF0E8-436B-0D25-F535-B75DBB62C5CC}"/>
              </a:ext>
            </a:extLst>
          </p:cNvPr>
          <p:cNvPicPr>
            <a:picLocks noChangeAspect="1"/>
          </p:cNvPicPr>
          <p:nvPr/>
        </p:nvPicPr>
        <p:blipFill>
          <a:blip r:embed="rId4"/>
          <a:stretch>
            <a:fillRect/>
          </a:stretch>
        </p:blipFill>
        <p:spPr>
          <a:xfrm>
            <a:off x="7095347" y="2832903"/>
            <a:ext cx="2750998" cy="1109530"/>
          </a:xfrm>
          <a:prstGeom prst="rect">
            <a:avLst/>
          </a:prstGeom>
        </p:spPr>
      </p:pic>
      <p:sp>
        <p:nvSpPr>
          <p:cNvPr id="8" name="ZoneTexte 7">
            <a:extLst>
              <a:ext uri="{FF2B5EF4-FFF2-40B4-BE49-F238E27FC236}">
                <a16:creationId xmlns:a16="http://schemas.microsoft.com/office/drawing/2014/main" id="{93E79D5D-B816-ECD1-C0FD-73EFDFCCF315}"/>
              </a:ext>
            </a:extLst>
          </p:cNvPr>
          <p:cNvSpPr txBox="1"/>
          <p:nvPr/>
        </p:nvSpPr>
        <p:spPr>
          <a:xfrm>
            <a:off x="852513" y="4617506"/>
            <a:ext cx="10486974" cy="646331"/>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Une molécule dissymétrique est non superposable avec son image dans un miroir. Elle est dite </a:t>
            </a:r>
            <a:r>
              <a:rPr lang="fr-FR" sz="1800" b="1" dirty="0">
                <a:solidFill>
                  <a:srgbClr val="000000"/>
                </a:solidFill>
                <a:effectLst/>
                <a:latin typeface="Times New Roman" panose="02020603050405020304" pitchFamily="18" charset="0"/>
                <a:ea typeface="Calibri" panose="020F0502020204030204" pitchFamily="34" charset="0"/>
              </a:rPr>
              <a:t>chirale </a:t>
            </a:r>
            <a:r>
              <a:rPr lang="fr-FR" sz="1800" dirty="0">
                <a:solidFill>
                  <a:srgbClr val="000000"/>
                </a:solidFill>
                <a:effectLst/>
                <a:latin typeface="Times New Roman" panose="02020603050405020304" pitchFamily="18" charset="0"/>
                <a:ea typeface="Calibri" panose="020F0502020204030204" pitchFamily="34" charset="0"/>
              </a:rPr>
              <a:t>(du nom grec </a:t>
            </a:r>
            <a:r>
              <a:rPr lang="fr-FR" sz="1800" i="1" dirty="0">
                <a:solidFill>
                  <a:srgbClr val="000000"/>
                </a:solidFill>
                <a:effectLst/>
                <a:latin typeface="Times New Roman" panose="02020603050405020304" pitchFamily="18" charset="0"/>
                <a:ea typeface="Calibri" panose="020F0502020204030204" pitchFamily="34" charset="0"/>
              </a:rPr>
              <a:t>"</a:t>
            </a:r>
            <a:r>
              <a:rPr lang="fr-FR" sz="1800" i="1" dirty="0" err="1">
                <a:solidFill>
                  <a:srgbClr val="000000"/>
                </a:solidFill>
                <a:effectLst/>
                <a:latin typeface="Times New Roman" panose="02020603050405020304" pitchFamily="18" charset="0"/>
                <a:ea typeface="Calibri" panose="020F0502020204030204" pitchFamily="34" charset="0"/>
              </a:rPr>
              <a:t>cheir</a:t>
            </a:r>
            <a:r>
              <a:rPr lang="fr-FR" sz="1800" i="1" dirty="0">
                <a:solidFill>
                  <a:srgbClr val="000000"/>
                </a:solidFill>
                <a:effectLst/>
                <a:latin typeface="Times New Roman" panose="02020603050405020304" pitchFamily="18" charset="0"/>
                <a:ea typeface="Calibri" panose="020F0502020204030204" pitchFamily="34" charset="0"/>
              </a:rPr>
              <a:t>" </a:t>
            </a:r>
            <a:r>
              <a:rPr lang="fr-FR" sz="1800" dirty="0">
                <a:solidFill>
                  <a:srgbClr val="000000"/>
                </a:solidFill>
                <a:effectLst/>
                <a:latin typeface="Times New Roman" panose="02020603050405020304" pitchFamily="18" charset="0"/>
                <a:ea typeface="Calibri" panose="020F0502020204030204" pitchFamily="34" charset="0"/>
              </a:rPr>
              <a:t>qui veut dire </a:t>
            </a:r>
            <a:r>
              <a:rPr lang="fr-FR" sz="1800" i="1" dirty="0">
                <a:solidFill>
                  <a:srgbClr val="000000"/>
                </a:solidFill>
                <a:effectLst/>
                <a:latin typeface="Times New Roman" panose="02020603050405020304" pitchFamily="18" charset="0"/>
                <a:ea typeface="Calibri" panose="020F0502020204030204" pitchFamily="34" charset="0"/>
              </a:rPr>
              <a:t>"main” )</a:t>
            </a:r>
            <a:endParaRPr lang="en-US" dirty="0"/>
          </a:p>
        </p:txBody>
      </p:sp>
      <p:sp>
        <p:nvSpPr>
          <p:cNvPr id="13" name="ZoneTexte 12">
            <a:extLst>
              <a:ext uri="{FF2B5EF4-FFF2-40B4-BE49-F238E27FC236}">
                <a16:creationId xmlns:a16="http://schemas.microsoft.com/office/drawing/2014/main" id="{2EB0AD80-2344-08CA-267A-44B6531D2172}"/>
              </a:ext>
            </a:extLst>
          </p:cNvPr>
          <p:cNvSpPr txBox="1"/>
          <p:nvPr/>
        </p:nvSpPr>
        <p:spPr>
          <a:xfrm>
            <a:off x="852513" y="5517986"/>
            <a:ext cx="10935296" cy="369332"/>
          </a:xfrm>
          <a:prstGeom prst="rect">
            <a:avLst/>
          </a:prstGeom>
          <a:noFill/>
        </p:spPr>
        <p:txBody>
          <a:bodyPr wrap="square">
            <a:spAutoFit/>
          </a:bodyPr>
          <a:lstStyle/>
          <a:p>
            <a:r>
              <a:rPr lang="fr-FR" sz="1800" b="1" dirty="0">
                <a:solidFill>
                  <a:srgbClr val="000000"/>
                </a:solidFill>
                <a:effectLst/>
                <a:latin typeface="Times New Roman" panose="02020603050405020304" pitchFamily="18" charset="0"/>
                <a:ea typeface="Calibri" panose="020F0502020204030204" pitchFamily="34" charset="0"/>
              </a:rPr>
              <a:t>Le Carbone asymétrique </a:t>
            </a:r>
            <a:r>
              <a:rPr lang="fr-FR" sz="1800" dirty="0">
                <a:solidFill>
                  <a:srgbClr val="000000"/>
                </a:solidFill>
                <a:effectLst/>
                <a:latin typeface="Times New Roman" panose="02020603050405020304" pitchFamily="18" charset="0"/>
                <a:ea typeface="Calibri" panose="020F0502020204030204" pitchFamily="34" charset="0"/>
              </a:rPr>
              <a:t>est un carbone hybridé sp</a:t>
            </a:r>
            <a:r>
              <a:rPr lang="fr-FR" sz="1800" baseline="30000" dirty="0">
                <a:solidFill>
                  <a:srgbClr val="000000"/>
                </a:solidFill>
                <a:effectLst/>
                <a:latin typeface="Times New Roman" panose="02020603050405020304" pitchFamily="18" charset="0"/>
                <a:ea typeface="Calibri" panose="020F0502020204030204" pitchFamily="34" charset="0"/>
              </a:rPr>
              <a:t>3</a:t>
            </a:r>
            <a:r>
              <a:rPr lang="fr-FR" sz="1800" dirty="0">
                <a:solidFill>
                  <a:srgbClr val="000000"/>
                </a:solidFill>
                <a:effectLst/>
                <a:latin typeface="Times New Roman" panose="02020603050405020304" pitchFamily="18" charset="0"/>
                <a:ea typeface="Calibri" panose="020F0502020204030204" pitchFamily="34" charset="0"/>
              </a:rPr>
              <a:t> lié à quatre atomes ou groupement d'atomes </a:t>
            </a:r>
            <a:r>
              <a:rPr lang="fr-FR" sz="1800" b="1" dirty="0">
                <a:solidFill>
                  <a:srgbClr val="000000"/>
                </a:solidFill>
                <a:effectLst/>
                <a:latin typeface="Times New Roman" panose="02020603050405020304" pitchFamily="18" charset="0"/>
                <a:ea typeface="Calibri" panose="020F0502020204030204" pitchFamily="34" charset="0"/>
              </a:rPr>
              <a:t>tous différents.</a:t>
            </a:r>
            <a:endParaRPr lang="en-US" dirty="0"/>
          </a:p>
        </p:txBody>
      </p:sp>
    </p:spTree>
    <p:extLst>
      <p:ext uri="{BB962C8B-B14F-4D97-AF65-F5344CB8AC3E}">
        <p14:creationId xmlns:p14="http://schemas.microsoft.com/office/powerpoint/2010/main" val="1886255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93581"/>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IV.	Stéréoisomérie de configuration</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0" name="ZoneTexte 9">
            <a:extLst>
              <a:ext uri="{FF2B5EF4-FFF2-40B4-BE49-F238E27FC236}">
                <a16:creationId xmlns:a16="http://schemas.microsoft.com/office/drawing/2014/main" id="{9C4F7BB3-0639-95E0-BA44-13D5C69FC05D}"/>
              </a:ext>
            </a:extLst>
          </p:cNvPr>
          <p:cNvSpPr txBox="1"/>
          <p:nvPr/>
        </p:nvSpPr>
        <p:spPr>
          <a:xfrm>
            <a:off x="973619" y="1155209"/>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IV. 2.	Activité optique</a:t>
            </a:r>
            <a:endParaRPr lang="en-US" b="1" kern="100" dirty="0">
              <a:latin typeface="Times New Roman" panose="02020603050405020304" pitchFamily="18" charset="0"/>
              <a:cs typeface="Arial" panose="020B0604020202020204" pitchFamily="34" charset="0"/>
            </a:endParaRPr>
          </a:p>
        </p:txBody>
      </p:sp>
      <p:pic>
        <p:nvPicPr>
          <p:cNvPr id="4" name="Picture 2" descr="TP 8 Utilisation du polarimètre de Laurent">
            <a:extLst>
              <a:ext uri="{FF2B5EF4-FFF2-40B4-BE49-F238E27FC236}">
                <a16:creationId xmlns:a16="http://schemas.microsoft.com/office/drawing/2014/main" id="{38F8173B-5726-0D1B-4719-43CA41AE8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817" y="3188754"/>
            <a:ext cx="4985302" cy="2170073"/>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e 14">
            <a:extLst>
              <a:ext uri="{FF2B5EF4-FFF2-40B4-BE49-F238E27FC236}">
                <a16:creationId xmlns:a16="http://schemas.microsoft.com/office/drawing/2014/main" id="{C9692FCB-D0C0-913F-207A-66C87C68E10E}"/>
              </a:ext>
            </a:extLst>
          </p:cNvPr>
          <p:cNvGrpSpPr/>
          <p:nvPr/>
        </p:nvGrpSpPr>
        <p:grpSpPr>
          <a:xfrm>
            <a:off x="813817" y="1524541"/>
            <a:ext cx="10995991" cy="1551515"/>
            <a:chOff x="761999" y="1476550"/>
            <a:chExt cx="10995991" cy="1551515"/>
          </a:xfrm>
        </p:grpSpPr>
        <p:sp>
          <p:nvSpPr>
            <p:cNvPr id="13" name="ZoneTexte 12">
              <a:extLst>
                <a:ext uri="{FF2B5EF4-FFF2-40B4-BE49-F238E27FC236}">
                  <a16:creationId xmlns:a16="http://schemas.microsoft.com/office/drawing/2014/main" id="{5AD1B9DB-F897-8EEF-7226-6517D64AAF30}"/>
                </a:ext>
              </a:extLst>
            </p:cNvPr>
            <p:cNvSpPr txBox="1"/>
            <p:nvPr/>
          </p:nvSpPr>
          <p:spPr>
            <a:xfrm>
              <a:off x="761999" y="1476550"/>
              <a:ext cx="10995991" cy="1551515"/>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Une molécule possède un carbone asymétrique               Deux énantiomères, Ces deux molécules ont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mêmes propriétés physiques et chimiques </a:t>
              </a:r>
              <a:r>
                <a:rPr lang="fr-FR" sz="1800" i="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(dans un milieu achiral)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une action différente sur la lumière polarisée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dit qu'elles possèdent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une activité optique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ou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pouvoir rotatoire.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4" name="Flèche : droite 13">
              <a:extLst>
                <a:ext uri="{FF2B5EF4-FFF2-40B4-BE49-F238E27FC236}">
                  <a16:creationId xmlns:a16="http://schemas.microsoft.com/office/drawing/2014/main" id="{D7799F7D-BF66-7632-7A8F-538EF7369EBC}"/>
                </a:ext>
              </a:extLst>
            </p:cNvPr>
            <p:cNvSpPr/>
            <p:nvPr/>
          </p:nvSpPr>
          <p:spPr>
            <a:xfrm>
              <a:off x="5337313" y="1608806"/>
              <a:ext cx="576470" cy="180237"/>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ZoneTexte 16">
            <a:extLst>
              <a:ext uri="{FF2B5EF4-FFF2-40B4-BE49-F238E27FC236}">
                <a16:creationId xmlns:a16="http://schemas.microsoft.com/office/drawing/2014/main" id="{90AE99CD-5B2D-DA2F-B3C5-7A2563B038B4}"/>
              </a:ext>
            </a:extLst>
          </p:cNvPr>
          <p:cNvSpPr txBox="1"/>
          <p:nvPr/>
        </p:nvSpPr>
        <p:spPr>
          <a:xfrm>
            <a:off x="6096000" y="3335947"/>
            <a:ext cx="5658213" cy="2086020"/>
          </a:xfrm>
          <a:prstGeom prst="rect">
            <a:avLst/>
          </a:prstGeom>
          <a:noFill/>
        </p:spPr>
        <p:txBody>
          <a:bodyPr wrap="square">
            <a:spAutoFit/>
          </a:bodyPr>
          <a:lstStyle/>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polarimètre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un appareil de mesure de l'activité optique. Il se compose des éléments suivants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une source de lumière monochromatique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polariseur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une cuve contenant la substance à étudier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analyseur pour indiquer la déviation de la lumière.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9" name="ZoneTexte 18">
            <a:extLst>
              <a:ext uri="{FF2B5EF4-FFF2-40B4-BE49-F238E27FC236}">
                <a16:creationId xmlns:a16="http://schemas.microsoft.com/office/drawing/2014/main" id="{1B960514-B435-6275-37C5-2E83A23D01A5}"/>
              </a:ext>
            </a:extLst>
          </p:cNvPr>
          <p:cNvSpPr txBox="1"/>
          <p:nvPr/>
        </p:nvSpPr>
        <p:spPr>
          <a:xfrm>
            <a:off x="813817" y="5618718"/>
            <a:ext cx="11266832" cy="709233"/>
          </a:xfrm>
          <a:prstGeom prst="rect">
            <a:avLst/>
          </a:prstGeom>
          <a:noFill/>
        </p:spPr>
        <p:txBody>
          <a:bodyPr wrap="square">
            <a:spAutoFit/>
          </a:bodyPr>
          <a:lstStyle/>
          <a:p>
            <a:pPr marL="342900" lvl="0" indent="-342900" algn="just" rtl="0">
              <a:lnSpc>
                <a:spcPct val="115000"/>
              </a:lnSpc>
              <a:buFont typeface="Wingdings" panose="05000000000000000000" pitchFamily="2" charset="2"/>
              <a:buChar char="q"/>
            </a:pPr>
            <a:r>
              <a:rPr lang="fr-FR" sz="1800" kern="1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La molécule qui dévie le plan de la lumière polarisée vers la droite est dite </a:t>
            </a:r>
            <a:r>
              <a:rPr lang="fr-FR" sz="1800" b="1" kern="1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dextrogyre </a:t>
            </a:r>
            <a:r>
              <a:rPr lang="fr-FR" sz="1800" kern="1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et notée (+) ou (d) et celle  qui dévie vers la gauche est dite </a:t>
            </a:r>
            <a:r>
              <a:rPr lang="fr-FR" sz="1800" b="1" kern="1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lévogyre </a:t>
            </a:r>
            <a:r>
              <a:rPr lang="fr-FR" sz="1800" kern="100" dirty="0">
                <a:solidFill>
                  <a:schemeClr val="accent2">
                    <a:lumMod val="60000"/>
                    <a:lumOff val="40000"/>
                  </a:schemeClr>
                </a:solidFill>
                <a:effectLst/>
                <a:latin typeface="Times New Roman" panose="02020603050405020304" pitchFamily="18" charset="0"/>
                <a:ea typeface="Calibri" panose="020F0502020204030204" pitchFamily="34" charset="0"/>
                <a:cs typeface="Arial" panose="020B0604020202020204" pitchFamily="34" charset="0"/>
              </a:rPr>
              <a:t>et notée (-) ou (l).</a:t>
            </a:r>
            <a:endParaRPr lang="en-US" sz="1600" kern="100" dirty="0">
              <a:solidFill>
                <a:schemeClr val="accent2">
                  <a:lumMod val="60000"/>
                  <a:lumOff val="40000"/>
                </a:schemeClr>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20750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1.	Règles séquentielles de Cahn, Ingold et Prelog (CIP)</a:t>
            </a:r>
            <a:endParaRPr lang="en-US" b="1" kern="100" dirty="0">
              <a:latin typeface="Times New Roman" panose="02020603050405020304" pitchFamily="18" charset="0"/>
              <a:cs typeface="Arial" panose="020B0604020202020204" pitchFamily="34" charset="0"/>
            </a:endParaRPr>
          </a:p>
        </p:txBody>
      </p:sp>
      <p:sp>
        <p:nvSpPr>
          <p:cNvPr id="9" name="ZoneTexte 8">
            <a:extLst>
              <a:ext uri="{FF2B5EF4-FFF2-40B4-BE49-F238E27FC236}">
                <a16:creationId xmlns:a16="http://schemas.microsoft.com/office/drawing/2014/main" id="{A8865459-44FC-881A-23A4-2E26C272E9D1}"/>
              </a:ext>
            </a:extLst>
          </p:cNvPr>
          <p:cNvSpPr txBox="1"/>
          <p:nvPr/>
        </p:nvSpPr>
        <p:spPr>
          <a:xfrm>
            <a:off x="813817" y="1607908"/>
            <a:ext cx="9592453"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Autour du carbone asymétrique on doit établir un classement des substituants;</a:t>
            </a:r>
            <a:endParaRPr lang="en-US" dirty="0"/>
          </a:p>
        </p:txBody>
      </p:sp>
      <p:sp>
        <p:nvSpPr>
          <p:cNvPr id="11" name="ZoneTexte 10">
            <a:extLst>
              <a:ext uri="{FF2B5EF4-FFF2-40B4-BE49-F238E27FC236}">
                <a16:creationId xmlns:a16="http://schemas.microsoft.com/office/drawing/2014/main" id="{6C2E440B-51F8-18DE-3265-B201C9EEFD83}"/>
              </a:ext>
            </a:extLst>
          </p:cNvPr>
          <p:cNvSpPr txBox="1"/>
          <p:nvPr/>
        </p:nvSpPr>
        <p:spPr>
          <a:xfrm>
            <a:off x="813816" y="2150836"/>
            <a:ext cx="11187683" cy="646331"/>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Les règles séquentielles proposées par Cahn, Ingold et Prelog classent les substituants autour du carbone asymétrique afin de déterminer leur arrangement dans l'espace.</a:t>
            </a:r>
            <a:endParaRPr lang="en-US" dirty="0"/>
          </a:p>
        </p:txBody>
      </p:sp>
      <p:sp>
        <p:nvSpPr>
          <p:cNvPr id="13" name="ZoneTexte 12">
            <a:extLst>
              <a:ext uri="{FF2B5EF4-FFF2-40B4-BE49-F238E27FC236}">
                <a16:creationId xmlns:a16="http://schemas.microsoft.com/office/drawing/2014/main" id="{7D087D54-C050-1BCD-3AEF-6AFC160620E1}"/>
              </a:ext>
            </a:extLst>
          </p:cNvPr>
          <p:cNvSpPr txBox="1"/>
          <p:nvPr/>
        </p:nvSpPr>
        <p:spPr>
          <a:xfrm>
            <a:off x="813817" y="3024857"/>
            <a:ext cx="10646000" cy="709233"/>
          </a:xfrm>
          <a:prstGeom prst="rect">
            <a:avLst/>
          </a:prstGeom>
          <a:noFill/>
        </p:spPr>
        <p:txBody>
          <a:bodyPr wrap="square">
            <a:spAutoFit/>
          </a:bodyPr>
          <a:lstStyle/>
          <a:p>
            <a:pPr marL="540385" indent="-540385" algn="just">
              <a:lnSpc>
                <a:spcPct val="115000"/>
              </a:lnSpc>
              <a:spcAft>
                <a:spcPts val="800"/>
              </a:spcAft>
            </a:pPr>
            <a:r>
              <a:rPr lang="fr-FR" sz="1800" b="1" u="sng"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Règle 1</a:t>
            </a:r>
            <a:r>
              <a:rPr lang="fr-FR" sz="1800" b="1"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On classe les atomes directement liés au carbone asymétrique suivant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l'ordre croissant de leur numéro atomique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Z.</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ZoneTexte 9">
            <a:extLst>
              <a:ext uri="{FF2B5EF4-FFF2-40B4-BE49-F238E27FC236}">
                <a16:creationId xmlns:a16="http://schemas.microsoft.com/office/drawing/2014/main" id="{1FCA6AAD-33E9-41C7-14CB-C616EF21DA86}"/>
              </a:ext>
            </a:extLst>
          </p:cNvPr>
          <p:cNvSpPr txBox="1"/>
          <p:nvPr/>
        </p:nvSpPr>
        <p:spPr>
          <a:xfrm>
            <a:off x="5719969" y="4307892"/>
            <a:ext cx="6281530" cy="1718419"/>
          </a:xfrm>
          <a:prstGeom prst="rect">
            <a:avLst/>
          </a:prstGeom>
          <a:noFill/>
        </p:spPr>
        <p:txBody>
          <a:bodyPr wrap="square">
            <a:spAutoFit/>
          </a:bodyPr>
          <a:lstStyle/>
          <a:p>
            <a:pPr marL="342900" lvl="0" indent="-342900" rtl="0">
              <a:lnSpc>
                <a:spcPct val="150000"/>
              </a:lnSpc>
              <a:buFont typeface="Wingdings" panose="05000000000000000000" pitchFamily="2" charset="2"/>
              <a:buChar char=""/>
            </a:pPr>
            <a:r>
              <a:rPr lang="fr-FR" sz="1800" dirty="0">
                <a:solidFill>
                  <a:srgbClr val="70AD47"/>
                </a:solidFill>
                <a:effectLst/>
                <a:latin typeface="Times New Roman" panose="02020603050405020304" pitchFamily="18" charset="0"/>
                <a:ea typeface="Calibri" panose="020F0502020204030204" pitchFamily="34" charset="0"/>
                <a:cs typeface="Arial" panose="020B0604020202020204" pitchFamily="34" charset="0"/>
              </a:rPr>
              <a:t>I</a:t>
            </a:r>
            <a:r>
              <a:rPr lang="fr-FR" sz="1800" dirty="0">
                <a:effectLst/>
                <a:latin typeface="Times New Roman" panose="02020603050405020304" pitchFamily="18" charset="0"/>
                <a:ea typeface="Calibri" panose="020F0502020204030204" pitchFamily="34" charset="0"/>
                <a:cs typeface="Arial" panose="020B0604020202020204" pitchFamily="34" charset="0"/>
              </a:rPr>
              <a:t> est prioritaire et classé 1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50000"/>
              </a:lnSpc>
              <a:buFont typeface="Wingdings" panose="05000000000000000000" pitchFamily="2" charset="2"/>
              <a:buChar char=""/>
            </a:pPr>
            <a:r>
              <a:rPr lang="fr-FR" sz="18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Br</a:t>
            </a:r>
            <a:r>
              <a:rPr lang="fr-FR" sz="1800" dirty="0">
                <a:effectLst/>
                <a:latin typeface="Times New Roman" panose="02020603050405020304" pitchFamily="18" charset="0"/>
                <a:ea typeface="Calibri" panose="020F0502020204030204" pitchFamily="34" charset="0"/>
                <a:cs typeface="Arial" panose="020B0604020202020204" pitchFamily="34" charset="0"/>
              </a:rPr>
              <a:t> est classé 2 ;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50000"/>
              </a:lnSpc>
              <a:spcAft>
                <a:spcPts val="800"/>
              </a:spcAft>
              <a:buFont typeface="Wingdings" panose="05000000000000000000" pitchFamily="2" charset="2"/>
              <a:buChar char=""/>
            </a:pPr>
            <a:r>
              <a:rPr lang="fr-FR" sz="1800" dirty="0">
                <a:solidFill>
                  <a:srgbClr val="1F3864"/>
                </a:solidFill>
                <a:effectLst/>
                <a:latin typeface="Times New Roman" panose="02020603050405020304" pitchFamily="18" charset="0"/>
                <a:ea typeface="Calibri" panose="020F0502020204030204" pitchFamily="34" charset="0"/>
                <a:cs typeface="Arial" panose="020B0604020202020204" pitchFamily="34" charset="0"/>
              </a:rPr>
              <a:t>Cl</a:t>
            </a:r>
            <a:r>
              <a:rPr lang="fr-FR" sz="1800" dirty="0">
                <a:effectLst/>
                <a:latin typeface="Times New Roman" panose="02020603050405020304" pitchFamily="18" charset="0"/>
                <a:ea typeface="Calibri" panose="020F0502020204030204" pitchFamily="34" charset="0"/>
                <a:cs typeface="Arial" panose="020B0604020202020204" pitchFamily="34" charset="0"/>
              </a:rPr>
              <a:t> est classé 3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Wingdings" panose="05000000000000000000" pitchFamily="2" charset="2"/>
              <a:buChar char="v"/>
            </a:pPr>
            <a:r>
              <a:rPr lang="fr-FR" sz="1800" dirty="0">
                <a:effectLst/>
                <a:latin typeface="Times New Roman" panose="02020603050405020304" pitchFamily="18" charset="0"/>
                <a:ea typeface="Calibri" panose="020F0502020204030204" pitchFamily="34" charset="0"/>
              </a:rPr>
              <a:t>H est le moins prioritaire et il est classé 4.</a:t>
            </a:r>
            <a:endParaRPr lang="en-US" dirty="0"/>
          </a:p>
        </p:txBody>
      </p:sp>
      <p:grpSp>
        <p:nvGrpSpPr>
          <p:cNvPr id="21" name="Groupe 20">
            <a:extLst>
              <a:ext uri="{FF2B5EF4-FFF2-40B4-BE49-F238E27FC236}">
                <a16:creationId xmlns:a16="http://schemas.microsoft.com/office/drawing/2014/main" id="{292B44E5-E2B6-5431-BB74-131A8B0836A7}"/>
              </a:ext>
            </a:extLst>
          </p:cNvPr>
          <p:cNvGrpSpPr/>
          <p:nvPr/>
        </p:nvGrpSpPr>
        <p:grpSpPr>
          <a:xfrm>
            <a:off x="1180660" y="4154907"/>
            <a:ext cx="3761333" cy="1826114"/>
            <a:chOff x="1180660" y="4154907"/>
            <a:chExt cx="3761333" cy="1826114"/>
          </a:xfrm>
        </p:grpSpPr>
        <p:pic>
          <p:nvPicPr>
            <p:cNvPr id="18" name="Image 17">
              <a:extLst>
                <a:ext uri="{FF2B5EF4-FFF2-40B4-BE49-F238E27FC236}">
                  <a16:creationId xmlns:a16="http://schemas.microsoft.com/office/drawing/2014/main" id="{53AF55AF-00A5-2532-1419-CB7B063FC456}"/>
                </a:ext>
              </a:extLst>
            </p:cNvPr>
            <p:cNvPicPr>
              <a:picLocks noChangeAspect="1"/>
            </p:cNvPicPr>
            <p:nvPr/>
          </p:nvPicPr>
          <p:blipFill rotWithShape="1">
            <a:blip r:embed="rId3"/>
            <a:srcRect r="28298" b="30533"/>
            <a:stretch/>
          </p:blipFill>
          <p:spPr>
            <a:xfrm>
              <a:off x="1180660" y="4270367"/>
              <a:ext cx="1840836" cy="1710654"/>
            </a:xfrm>
            <a:prstGeom prst="rect">
              <a:avLst/>
            </a:prstGeom>
          </p:spPr>
        </p:pic>
        <p:pic>
          <p:nvPicPr>
            <p:cNvPr id="20" name="Image 19">
              <a:extLst>
                <a:ext uri="{FF2B5EF4-FFF2-40B4-BE49-F238E27FC236}">
                  <a16:creationId xmlns:a16="http://schemas.microsoft.com/office/drawing/2014/main" id="{BC27942B-E238-4BAC-0642-2695BF73F59D}"/>
                </a:ext>
              </a:extLst>
            </p:cNvPr>
            <p:cNvPicPr>
              <a:picLocks noChangeAspect="1"/>
            </p:cNvPicPr>
            <p:nvPr/>
          </p:nvPicPr>
          <p:blipFill rotWithShape="1">
            <a:blip r:embed="rId4"/>
            <a:srcRect l="55728"/>
            <a:stretch/>
          </p:blipFill>
          <p:spPr>
            <a:xfrm>
              <a:off x="3325707" y="4154907"/>
              <a:ext cx="1616286" cy="1819897"/>
            </a:xfrm>
            <a:prstGeom prst="rect">
              <a:avLst/>
            </a:prstGeom>
          </p:spPr>
        </p:pic>
      </p:grpSp>
    </p:spTree>
    <p:extLst>
      <p:ext uri="{BB962C8B-B14F-4D97-AF65-F5344CB8AC3E}">
        <p14:creationId xmlns:p14="http://schemas.microsoft.com/office/powerpoint/2010/main" val="473610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1.	Règles séquentielles de Cahn, Ingold et Prelog (CIP)</a:t>
            </a:r>
            <a:endParaRPr lang="en-US" b="1" kern="100" dirty="0">
              <a:latin typeface="Times New Roman" panose="02020603050405020304" pitchFamily="18" charset="0"/>
              <a:cs typeface="Arial" panose="020B0604020202020204" pitchFamily="34" charset="0"/>
            </a:endParaRPr>
          </a:p>
        </p:txBody>
      </p:sp>
      <p:sp>
        <p:nvSpPr>
          <p:cNvPr id="13" name="ZoneTexte 12">
            <a:extLst>
              <a:ext uri="{FF2B5EF4-FFF2-40B4-BE49-F238E27FC236}">
                <a16:creationId xmlns:a16="http://schemas.microsoft.com/office/drawing/2014/main" id="{7D087D54-C050-1BCD-3AEF-6AFC160620E1}"/>
              </a:ext>
            </a:extLst>
          </p:cNvPr>
          <p:cNvSpPr txBox="1"/>
          <p:nvPr/>
        </p:nvSpPr>
        <p:spPr>
          <a:xfrm>
            <a:off x="773000" y="1613992"/>
            <a:ext cx="10646000" cy="709233"/>
          </a:xfrm>
          <a:prstGeom prst="rect">
            <a:avLst/>
          </a:prstGeom>
          <a:noFill/>
        </p:spPr>
        <p:txBody>
          <a:bodyPr wrap="square">
            <a:spAutoFit/>
          </a:bodyPr>
          <a:lstStyle/>
          <a:p>
            <a:pPr marL="893763" indent="-893763" algn="just">
              <a:lnSpc>
                <a:spcPct val="115000"/>
              </a:lnSpc>
              <a:spcAft>
                <a:spcPts val="800"/>
              </a:spcAft>
            </a:pPr>
            <a:r>
              <a:rPr lang="fr-FR" sz="1800" b="1" u="sng"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Règle </a:t>
            </a:r>
            <a:r>
              <a:rPr lang="fr-FR" b="1" u="sng" kern="100" dirty="0">
                <a:solidFill>
                  <a:srgbClr val="0B672A"/>
                </a:solidFill>
                <a:latin typeface="Times New Roman" panose="02020603050405020304" pitchFamily="18" charset="0"/>
                <a:ea typeface="Calibri" panose="020F0502020204030204" pitchFamily="34" charset="0"/>
                <a:cs typeface="Arial" panose="020B0604020202020204" pitchFamily="34" charset="0"/>
              </a:rPr>
              <a:t>2</a:t>
            </a:r>
            <a:r>
              <a:rPr lang="fr-FR" sz="1800" b="1"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dirty="0">
                <a:solidFill>
                  <a:srgbClr val="000000"/>
                </a:solidFill>
                <a:effectLst/>
                <a:latin typeface="Times New Roman" panose="02020603050405020304" pitchFamily="18" charset="0"/>
                <a:ea typeface="Calibri" panose="020F0502020204030204" pitchFamily="34" charset="0"/>
              </a:rPr>
              <a:t>Si les atomes directement liés au carbone asymétrique ont le même numéro atomique Z, on effectue la comparaison au deuxième rang, jusqu'à ce que la première différence apparaisse.</a:t>
            </a:r>
            <a:r>
              <a:rPr lang="fr-FR" sz="1800" b="1" u="sng"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9" name="Objet 8">
            <a:extLst>
              <a:ext uri="{FF2B5EF4-FFF2-40B4-BE49-F238E27FC236}">
                <a16:creationId xmlns:a16="http://schemas.microsoft.com/office/drawing/2014/main" id="{3F674D7A-11B8-2029-E08F-0AB42805FBC1}"/>
              </a:ext>
            </a:extLst>
          </p:cNvPr>
          <p:cNvGraphicFramePr>
            <a:graphicFrameLocks noChangeAspect="1"/>
          </p:cNvGraphicFramePr>
          <p:nvPr>
            <p:extLst>
              <p:ext uri="{D42A27DB-BD31-4B8C-83A1-F6EECF244321}">
                <p14:modId xmlns:p14="http://schemas.microsoft.com/office/powerpoint/2010/main" val="2372004012"/>
              </p:ext>
            </p:extLst>
          </p:nvPr>
        </p:nvGraphicFramePr>
        <p:xfrm>
          <a:off x="1692346" y="2323225"/>
          <a:ext cx="4313995" cy="3963535"/>
        </p:xfrm>
        <a:graphic>
          <a:graphicData uri="http://schemas.openxmlformats.org/presentationml/2006/ole">
            <mc:AlternateContent xmlns:mc="http://schemas.openxmlformats.org/markup-compatibility/2006">
              <mc:Choice xmlns:v="urn:schemas-microsoft-com:vml" Requires="v">
                <p:oleObj name="Image bitmap" r:id="rId3" imgW="3761905" imgH="3448531" progId="Paint.Picture">
                  <p:embed/>
                </p:oleObj>
              </mc:Choice>
              <mc:Fallback>
                <p:oleObj name="Image bitmap" r:id="rId3" imgW="3761905" imgH="3448531"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346" y="2323225"/>
                        <a:ext cx="4313995" cy="3963535"/>
                      </a:xfrm>
                      <a:prstGeom prst="rect">
                        <a:avLst/>
                      </a:prstGeom>
                      <a:noFill/>
                    </p:spPr>
                  </p:pic>
                </p:oleObj>
              </mc:Fallback>
            </mc:AlternateContent>
          </a:graphicData>
        </a:graphic>
      </p:graphicFrame>
      <p:sp>
        <p:nvSpPr>
          <p:cNvPr id="14" name="ZoneTexte 13">
            <a:extLst>
              <a:ext uri="{FF2B5EF4-FFF2-40B4-BE49-F238E27FC236}">
                <a16:creationId xmlns:a16="http://schemas.microsoft.com/office/drawing/2014/main" id="{1EA26E5A-430C-1E6C-4566-CE411D516BAB}"/>
              </a:ext>
            </a:extLst>
          </p:cNvPr>
          <p:cNvSpPr txBox="1"/>
          <p:nvPr/>
        </p:nvSpPr>
        <p:spPr>
          <a:xfrm>
            <a:off x="6831702" y="3409968"/>
            <a:ext cx="4800185" cy="1338469"/>
          </a:xfrm>
          <a:prstGeom prst="rect">
            <a:avLst/>
          </a:prstGeom>
          <a:noFill/>
        </p:spPr>
        <p:txBody>
          <a:bodyPr wrap="square">
            <a:spAutoFit/>
          </a:bodyPr>
          <a:lstStyle/>
          <a:p>
            <a:pPr marL="342900" lvl="0" indent="-342900" algn="just" rtl="0">
              <a:lnSpc>
                <a:spcPct val="150000"/>
              </a:lnSpc>
              <a:buFont typeface="Wingdings" panose="05000000000000000000" pitchFamily="2" charset="2"/>
              <a:buChar char=""/>
            </a:pPr>
            <a:r>
              <a:rPr lang="fr-FR" sz="18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1</a:t>
            </a:r>
            <a:r>
              <a:rPr lang="fr-FR" sz="1800" b="1" baseline="300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er</a:t>
            </a:r>
            <a:r>
              <a:rPr lang="fr-FR" sz="18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rang:</a:t>
            </a:r>
            <a:r>
              <a:rPr lang="fr-FR" sz="1800" dirty="0">
                <a:effectLst/>
                <a:latin typeface="Times New Roman" panose="02020603050405020304" pitchFamily="18" charset="0"/>
                <a:ea typeface="Calibri" panose="020F0502020204030204" pitchFamily="34" charset="0"/>
                <a:cs typeface="Arial" panose="020B0604020202020204" pitchFamily="34" charset="0"/>
              </a:rPr>
              <a:t> on ne peut pas faire de classement.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50000"/>
              </a:lnSpc>
              <a:spcAft>
                <a:spcPts val="800"/>
              </a:spcAft>
              <a:buFont typeface="Wingdings" panose="05000000000000000000" pitchFamily="2" charset="2"/>
              <a:buChar char=""/>
            </a:pPr>
            <a:r>
              <a:rPr lang="fr-FR" sz="1800" b="1" dirty="0">
                <a:solidFill>
                  <a:srgbClr val="2F5496"/>
                </a:solidFill>
                <a:effectLst/>
                <a:latin typeface="Times New Roman" panose="02020603050405020304" pitchFamily="18" charset="0"/>
                <a:ea typeface="Calibri" panose="020F0502020204030204" pitchFamily="34" charset="0"/>
                <a:cs typeface="Arial" panose="020B0604020202020204" pitchFamily="34" charset="0"/>
              </a:rPr>
              <a:t>2ème rang:</a:t>
            </a:r>
            <a:r>
              <a:rPr lang="fr-FR" sz="1800" dirty="0">
                <a:solidFill>
                  <a:srgbClr val="2F5496"/>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dirty="0">
                <a:effectLst/>
                <a:latin typeface="Times New Roman" panose="02020603050405020304" pitchFamily="18" charset="0"/>
                <a:ea typeface="Calibri" panose="020F0502020204030204" pitchFamily="34" charset="0"/>
                <a:cs typeface="Arial" panose="020B0604020202020204" pitchFamily="34" charset="0"/>
              </a:rPr>
              <a:t>on peut classer : a &gt; (c, d) &gt; b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Wingdings" panose="05000000000000000000" pitchFamily="2" charset="2"/>
              <a:buChar char="v"/>
            </a:pPr>
            <a:r>
              <a:rPr lang="fr-FR" sz="1800" b="1" dirty="0">
                <a:solidFill>
                  <a:srgbClr val="538135"/>
                </a:solidFill>
                <a:effectLst/>
                <a:latin typeface="Times New Roman" panose="02020603050405020304" pitchFamily="18" charset="0"/>
                <a:ea typeface="Calibri" panose="020F0502020204030204" pitchFamily="34" charset="0"/>
              </a:rPr>
              <a:t>3ème rang:</a:t>
            </a:r>
            <a:r>
              <a:rPr lang="fr-FR" sz="1800" dirty="0">
                <a:solidFill>
                  <a:srgbClr val="538135"/>
                </a:solidFill>
                <a:effectLst/>
                <a:latin typeface="Times New Roman" panose="02020603050405020304" pitchFamily="18" charset="0"/>
                <a:ea typeface="Calibri" panose="020F0502020204030204" pitchFamily="34" charset="0"/>
              </a:rPr>
              <a:t> </a:t>
            </a:r>
            <a:r>
              <a:rPr lang="fr-FR" sz="1800" dirty="0">
                <a:effectLst/>
                <a:latin typeface="Times New Roman" panose="02020603050405020304" pitchFamily="18" charset="0"/>
                <a:ea typeface="Calibri" panose="020F0502020204030204" pitchFamily="34" charset="0"/>
              </a:rPr>
              <a:t>d &gt; c</a:t>
            </a:r>
            <a:endParaRPr lang="en-US" dirty="0"/>
          </a:p>
        </p:txBody>
      </p:sp>
    </p:spTree>
    <p:extLst>
      <p:ext uri="{BB962C8B-B14F-4D97-AF65-F5344CB8AC3E}">
        <p14:creationId xmlns:p14="http://schemas.microsoft.com/office/powerpoint/2010/main" val="1024187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1.	Règles séquentielles de Cahn, Ingold et Prelog (CIP)</a:t>
            </a:r>
            <a:endParaRPr lang="en-US" b="1" kern="100" dirty="0">
              <a:latin typeface="Times New Roman" panose="02020603050405020304" pitchFamily="18" charset="0"/>
              <a:cs typeface="Arial" panose="020B0604020202020204" pitchFamily="34" charset="0"/>
            </a:endParaRPr>
          </a:p>
        </p:txBody>
      </p:sp>
      <p:sp>
        <p:nvSpPr>
          <p:cNvPr id="13" name="ZoneTexte 12">
            <a:extLst>
              <a:ext uri="{FF2B5EF4-FFF2-40B4-BE49-F238E27FC236}">
                <a16:creationId xmlns:a16="http://schemas.microsoft.com/office/drawing/2014/main" id="{7D087D54-C050-1BCD-3AEF-6AFC160620E1}"/>
              </a:ext>
            </a:extLst>
          </p:cNvPr>
          <p:cNvSpPr txBox="1"/>
          <p:nvPr/>
        </p:nvSpPr>
        <p:spPr>
          <a:xfrm>
            <a:off x="813817" y="1623625"/>
            <a:ext cx="10646000" cy="709233"/>
          </a:xfrm>
          <a:prstGeom prst="rect">
            <a:avLst/>
          </a:prstGeom>
          <a:noFill/>
        </p:spPr>
        <p:txBody>
          <a:bodyPr wrap="square">
            <a:spAutoFit/>
          </a:bodyPr>
          <a:lstStyle/>
          <a:p>
            <a:pPr marL="804863" indent="-804863" algn="just">
              <a:lnSpc>
                <a:spcPct val="115000"/>
              </a:lnSpc>
              <a:spcAft>
                <a:spcPts val="800"/>
              </a:spcAft>
            </a:pPr>
            <a:r>
              <a:rPr lang="fr-FR" sz="1800" b="1" u="sng"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Règle 3</a:t>
            </a:r>
            <a:r>
              <a:rPr lang="fr-FR" sz="1800" b="1"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dirty="0">
                <a:solidFill>
                  <a:srgbClr val="000000"/>
                </a:solidFill>
                <a:effectLst/>
                <a:latin typeface="Times New Roman" panose="02020603050405020304" pitchFamily="18" charset="0"/>
                <a:ea typeface="Calibri" panose="020F0502020204030204" pitchFamily="34" charset="0"/>
              </a:rPr>
              <a:t>Si un atome est doublement ou triplement lié, on le compte autant de fois qu'il est lié. Une double liaison est considérée comme l'équivalent de deux liaisons, et une triple liaison comme trois liaisons.</a:t>
            </a:r>
            <a:r>
              <a:rPr lang="fr-FR" sz="1800" b="1" u="sng" kern="100" dirty="0">
                <a:solidFill>
                  <a:srgbClr val="0B672A"/>
                </a:solidFill>
                <a:effectLst/>
                <a:latin typeface="Times New Roman" panose="02020603050405020304" pitchFamily="18" charset="0"/>
                <a:ea typeface="Calibri" panose="020F0502020204030204" pitchFamily="34" charset="0"/>
                <a:cs typeface="Arial" panose="020B0604020202020204" pitchFamily="34" charset="0"/>
              </a:rPr>
              <a:t>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5A1A31CF-C35E-4A57-EBEB-1EA5805C4DA3}"/>
              </a:ext>
            </a:extLst>
          </p:cNvPr>
          <p:cNvPicPr>
            <a:picLocks noChangeAspect="1"/>
          </p:cNvPicPr>
          <p:nvPr/>
        </p:nvPicPr>
        <p:blipFill rotWithShape="1">
          <a:blip r:embed="rId3"/>
          <a:srcRect t="50000"/>
          <a:stretch/>
        </p:blipFill>
        <p:spPr>
          <a:xfrm>
            <a:off x="6882699" y="2733035"/>
            <a:ext cx="4577118" cy="2949878"/>
          </a:xfrm>
          <a:prstGeom prst="rect">
            <a:avLst/>
          </a:prstGeom>
        </p:spPr>
      </p:pic>
      <p:pic>
        <p:nvPicPr>
          <p:cNvPr id="12" name="Image 11">
            <a:extLst>
              <a:ext uri="{FF2B5EF4-FFF2-40B4-BE49-F238E27FC236}">
                <a16:creationId xmlns:a16="http://schemas.microsoft.com/office/drawing/2014/main" id="{DDE0B558-D01E-339C-C02D-555A908D81D9}"/>
              </a:ext>
            </a:extLst>
          </p:cNvPr>
          <p:cNvPicPr>
            <a:picLocks noChangeAspect="1"/>
          </p:cNvPicPr>
          <p:nvPr/>
        </p:nvPicPr>
        <p:blipFill rotWithShape="1">
          <a:blip r:embed="rId3"/>
          <a:srcRect b="58180"/>
          <a:stretch/>
        </p:blipFill>
        <p:spPr>
          <a:xfrm>
            <a:off x="1058443" y="3085201"/>
            <a:ext cx="4723572" cy="2546210"/>
          </a:xfrm>
          <a:prstGeom prst="rect">
            <a:avLst/>
          </a:prstGeom>
        </p:spPr>
      </p:pic>
      <p:cxnSp>
        <p:nvCxnSpPr>
          <p:cNvPr id="15" name="Connecteur droit 14">
            <a:extLst>
              <a:ext uri="{FF2B5EF4-FFF2-40B4-BE49-F238E27FC236}">
                <a16:creationId xmlns:a16="http://schemas.microsoft.com/office/drawing/2014/main" id="{57B2E8BB-D0F3-4167-C63B-7050B2010366}"/>
              </a:ext>
            </a:extLst>
          </p:cNvPr>
          <p:cNvCxnSpPr/>
          <p:nvPr/>
        </p:nvCxnSpPr>
        <p:spPr>
          <a:xfrm>
            <a:off x="6136817" y="2544640"/>
            <a:ext cx="0" cy="3408899"/>
          </a:xfrm>
          <a:prstGeom prst="line">
            <a:avLst/>
          </a:prstGeom>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86983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2.	Lecture de la configuration absolue</a:t>
            </a:r>
            <a:endParaRPr lang="en-US" b="1" kern="100" dirty="0">
              <a:latin typeface="Times New Roman" panose="02020603050405020304" pitchFamily="18" charset="0"/>
              <a:cs typeface="Arial" panose="020B0604020202020204" pitchFamily="34" charset="0"/>
            </a:endParaRPr>
          </a:p>
        </p:txBody>
      </p:sp>
      <p:sp>
        <p:nvSpPr>
          <p:cNvPr id="9" name="ZoneTexte 8">
            <a:extLst>
              <a:ext uri="{FF2B5EF4-FFF2-40B4-BE49-F238E27FC236}">
                <a16:creationId xmlns:a16="http://schemas.microsoft.com/office/drawing/2014/main" id="{C49BF7D1-68D0-954A-D362-8EAE0B972694}"/>
              </a:ext>
            </a:extLst>
          </p:cNvPr>
          <p:cNvSpPr txBox="1"/>
          <p:nvPr/>
        </p:nvSpPr>
        <p:spPr>
          <a:xfrm>
            <a:off x="835426" y="1585664"/>
            <a:ext cx="9838662"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Il existe différentes méthodes qui permettent la lecture de la configuration absolue.</a:t>
            </a:r>
            <a:endParaRPr lang="en-US" dirty="0"/>
          </a:p>
        </p:txBody>
      </p:sp>
      <p:grpSp>
        <p:nvGrpSpPr>
          <p:cNvPr id="24" name="Groupe 23">
            <a:extLst>
              <a:ext uri="{FF2B5EF4-FFF2-40B4-BE49-F238E27FC236}">
                <a16:creationId xmlns:a16="http://schemas.microsoft.com/office/drawing/2014/main" id="{CB6EF267-0E49-B5C0-2DA6-032707F45E79}"/>
              </a:ext>
            </a:extLst>
          </p:cNvPr>
          <p:cNvGrpSpPr/>
          <p:nvPr/>
        </p:nvGrpSpPr>
        <p:grpSpPr>
          <a:xfrm>
            <a:off x="813817" y="2555639"/>
            <a:ext cx="10844783" cy="1130374"/>
            <a:chOff x="813817" y="2555639"/>
            <a:chExt cx="10844783" cy="1130374"/>
          </a:xfrm>
        </p:grpSpPr>
        <p:sp>
          <p:nvSpPr>
            <p:cNvPr id="13" name="ZoneTexte 12">
              <a:extLst>
                <a:ext uri="{FF2B5EF4-FFF2-40B4-BE49-F238E27FC236}">
                  <a16:creationId xmlns:a16="http://schemas.microsoft.com/office/drawing/2014/main" id="{32786DF8-46E3-93A3-462C-40D65C0DE5BE}"/>
                </a:ext>
              </a:extLst>
            </p:cNvPr>
            <p:cNvSpPr txBox="1"/>
            <p:nvPr/>
          </p:nvSpPr>
          <p:spPr>
            <a:xfrm>
              <a:off x="813817" y="2555639"/>
              <a:ext cx="10844783" cy="113037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On regarde selon l’axe de la liaison C* ̶  4 (4 : étant le minoritaire), par le côté opposé du groupement minoritaire.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buFont typeface="Symbol" panose="05050102010706020507" pitchFamily="18"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1</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2</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3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s’effectue dans le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sens des aiguilles d’une montre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configuration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Rectus</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droit).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Symbol" panose="05050102010706020507" pitchFamily="18" charset="2"/>
                <a:buChar char=""/>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Dans le cas contraire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sens inverse des aiguilles d’une montre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configuration est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Sinister</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=gauche).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4" name="Flèche : droite 13">
              <a:extLst>
                <a:ext uri="{FF2B5EF4-FFF2-40B4-BE49-F238E27FC236}">
                  <a16:creationId xmlns:a16="http://schemas.microsoft.com/office/drawing/2014/main" id="{214768BF-4B0B-B9D4-9E51-958E3C0BEB91}"/>
                </a:ext>
              </a:extLst>
            </p:cNvPr>
            <p:cNvSpPr/>
            <p:nvPr/>
          </p:nvSpPr>
          <p:spPr>
            <a:xfrm>
              <a:off x="1480930" y="3130595"/>
              <a:ext cx="397565" cy="96179"/>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Flèche : droite 14">
              <a:extLst>
                <a:ext uri="{FF2B5EF4-FFF2-40B4-BE49-F238E27FC236}">
                  <a16:creationId xmlns:a16="http://schemas.microsoft.com/office/drawing/2014/main" id="{052A5CB0-CD9D-1651-0FE7-67295F937FAD}"/>
                </a:ext>
              </a:extLst>
            </p:cNvPr>
            <p:cNvSpPr/>
            <p:nvPr/>
          </p:nvSpPr>
          <p:spPr>
            <a:xfrm>
              <a:off x="2279374" y="3133910"/>
              <a:ext cx="397565" cy="96179"/>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Flèche : droite 15">
              <a:extLst>
                <a:ext uri="{FF2B5EF4-FFF2-40B4-BE49-F238E27FC236}">
                  <a16:creationId xmlns:a16="http://schemas.microsoft.com/office/drawing/2014/main" id="{B0D9E72B-CFB8-61B3-FD45-94884CC9820E}"/>
                </a:ext>
              </a:extLst>
            </p:cNvPr>
            <p:cNvSpPr/>
            <p:nvPr/>
          </p:nvSpPr>
          <p:spPr>
            <a:xfrm>
              <a:off x="7977808" y="3158806"/>
              <a:ext cx="397565" cy="9617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Flèche : droite 16">
              <a:extLst>
                <a:ext uri="{FF2B5EF4-FFF2-40B4-BE49-F238E27FC236}">
                  <a16:creationId xmlns:a16="http://schemas.microsoft.com/office/drawing/2014/main" id="{A5AA672A-0D56-AE3A-10AB-014CA7B2FA16}"/>
                </a:ext>
              </a:extLst>
            </p:cNvPr>
            <p:cNvSpPr/>
            <p:nvPr/>
          </p:nvSpPr>
          <p:spPr>
            <a:xfrm>
              <a:off x="7464287" y="3480172"/>
              <a:ext cx="397565" cy="96179"/>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grpSp>
      <p:pic>
        <p:nvPicPr>
          <p:cNvPr id="18" name="Image 17">
            <a:extLst>
              <a:ext uri="{FF2B5EF4-FFF2-40B4-BE49-F238E27FC236}">
                <a16:creationId xmlns:a16="http://schemas.microsoft.com/office/drawing/2014/main" id="{5C814A2C-DC1D-1DD9-DDD5-D2AFE500E62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817" y="3942916"/>
            <a:ext cx="4680000" cy="1619965"/>
          </a:xfrm>
          <a:prstGeom prst="rect">
            <a:avLst/>
          </a:prstGeom>
          <a:noFill/>
          <a:ln>
            <a:noFill/>
          </a:ln>
        </p:spPr>
      </p:pic>
      <p:pic>
        <p:nvPicPr>
          <p:cNvPr id="19" name="Image 18">
            <a:extLst>
              <a:ext uri="{FF2B5EF4-FFF2-40B4-BE49-F238E27FC236}">
                <a16:creationId xmlns:a16="http://schemas.microsoft.com/office/drawing/2014/main" id="{CD665667-D888-45CA-2BBB-9524EB4C244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95453" y="3942916"/>
            <a:ext cx="4680000" cy="1593893"/>
          </a:xfrm>
          <a:prstGeom prst="rect">
            <a:avLst/>
          </a:prstGeom>
          <a:noFill/>
          <a:ln>
            <a:noFill/>
          </a:ln>
        </p:spPr>
      </p:pic>
      <p:cxnSp>
        <p:nvCxnSpPr>
          <p:cNvPr id="21" name="Connecteur droit 20">
            <a:extLst>
              <a:ext uri="{FF2B5EF4-FFF2-40B4-BE49-F238E27FC236}">
                <a16:creationId xmlns:a16="http://schemas.microsoft.com/office/drawing/2014/main" id="{5F8FCDE4-AA53-0816-8988-DB30EBB9490A}"/>
              </a:ext>
            </a:extLst>
          </p:cNvPr>
          <p:cNvCxnSpPr/>
          <p:nvPr/>
        </p:nvCxnSpPr>
        <p:spPr>
          <a:xfrm>
            <a:off x="6096000" y="3942916"/>
            <a:ext cx="0" cy="173999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374FD0FA-B4E8-9327-2A0D-245185F33AD8}"/>
              </a:ext>
            </a:extLst>
          </p:cNvPr>
          <p:cNvSpPr txBox="1"/>
          <p:nvPr/>
        </p:nvSpPr>
        <p:spPr>
          <a:xfrm>
            <a:off x="835426" y="1973774"/>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80000"/>
              <a:buFont typeface="Wingdings" panose="05000000000000000000" pitchFamily="2" charset="2"/>
              <a:buChar char="q"/>
            </a:pP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Configuration </a:t>
            </a:r>
            <a:r>
              <a:rPr lang="en-US" sz="1800" b="1" u="none" strike="noStrike" kern="0" spc="0" dirty="0" err="1">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en</a:t>
            </a: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 projective</a:t>
            </a:r>
          </a:p>
        </p:txBody>
      </p:sp>
    </p:spTree>
    <p:extLst>
      <p:ext uri="{BB962C8B-B14F-4D97-AF65-F5344CB8AC3E}">
        <p14:creationId xmlns:p14="http://schemas.microsoft.com/office/powerpoint/2010/main" val="3967929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29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2.	Lecture de la configuration absolue</a:t>
            </a:r>
            <a:endParaRPr lang="en-US" b="1" kern="100" dirty="0">
              <a:latin typeface="Times New Roman" panose="02020603050405020304" pitchFamily="18" charset="0"/>
              <a:cs typeface="Arial" panose="020B0604020202020204" pitchFamily="34" charset="0"/>
            </a:endParaRPr>
          </a:p>
        </p:txBody>
      </p:sp>
      <p:sp>
        <p:nvSpPr>
          <p:cNvPr id="23" name="ZoneTexte 22">
            <a:extLst>
              <a:ext uri="{FF2B5EF4-FFF2-40B4-BE49-F238E27FC236}">
                <a16:creationId xmlns:a16="http://schemas.microsoft.com/office/drawing/2014/main" id="{374FD0FA-B4E8-9327-2A0D-245185F33AD8}"/>
              </a:ext>
            </a:extLst>
          </p:cNvPr>
          <p:cNvSpPr txBox="1"/>
          <p:nvPr/>
        </p:nvSpPr>
        <p:spPr>
          <a:xfrm>
            <a:off x="835426" y="1566270"/>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80000"/>
              <a:buFont typeface="Wingdings" panose="05000000000000000000" pitchFamily="2" charset="2"/>
              <a:buChar char="q"/>
            </a:pP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Configuration </a:t>
            </a:r>
            <a:r>
              <a:rPr lang="en-US" sz="1800" b="1" u="none" strike="noStrike" kern="0" spc="0" dirty="0" err="1">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en</a:t>
            </a: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 projective</a:t>
            </a:r>
          </a:p>
        </p:txBody>
      </p:sp>
      <p:sp>
        <p:nvSpPr>
          <p:cNvPr id="8" name="Rectangle 1">
            <a:extLst>
              <a:ext uri="{FF2B5EF4-FFF2-40B4-BE49-F238E27FC236}">
                <a16:creationId xmlns:a16="http://schemas.microsoft.com/office/drawing/2014/main" id="{D747433F-988C-2955-A2EA-8FE94EE00843}"/>
              </a:ext>
            </a:extLst>
          </p:cNvPr>
          <p:cNvSpPr>
            <a:spLocks noChangeArrowheads="1"/>
          </p:cNvSpPr>
          <p:nvPr/>
        </p:nvSpPr>
        <p:spPr bwMode="auto">
          <a:xfrm>
            <a:off x="813817" y="2067694"/>
            <a:ext cx="1105350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Pour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déterminer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 configuration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absolue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d'un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carbone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asymétrique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voici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comment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procéder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707B629F-D42A-76AF-5452-BAEE36865205}"/>
              </a:ext>
            </a:extLst>
          </p:cNvPr>
          <p:cNvSpPr txBox="1"/>
          <p:nvPr/>
        </p:nvSpPr>
        <p:spPr>
          <a:xfrm>
            <a:off x="416848" y="2465185"/>
            <a:ext cx="10675818" cy="390684"/>
          </a:xfrm>
          <a:prstGeom prst="rect">
            <a:avLst/>
          </a:prstGeom>
          <a:noFill/>
        </p:spPr>
        <p:txBody>
          <a:bodyPr wrap="square">
            <a:spAutoFit/>
          </a:bodyPr>
          <a:lstStyle/>
          <a:p>
            <a:pPr marL="342900" lvl="0" indent="-342900" algn="just" rtl="0">
              <a:lnSpc>
                <a:spcPct val="115000"/>
              </a:lnSpc>
              <a:spcAft>
                <a:spcPts val="800"/>
              </a:spcAft>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le substituant minoritaire se trouve en arrière du plan, on lit directement et on note la configuration.</a:t>
            </a:r>
            <a:endParaRPr lang="en-US" sz="1600" b="1"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2" name="ZoneTexte 21">
            <a:extLst>
              <a:ext uri="{FF2B5EF4-FFF2-40B4-BE49-F238E27FC236}">
                <a16:creationId xmlns:a16="http://schemas.microsoft.com/office/drawing/2014/main" id="{1BC36743-56ED-1262-3966-FFA2465E4870}"/>
              </a:ext>
            </a:extLst>
          </p:cNvPr>
          <p:cNvSpPr txBox="1"/>
          <p:nvPr/>
        </p:nvSpPr>
        <p:spPr>
          <a:xfrm>
            <a:off x="416848" y="4439294"/>
            <a:ext cx="11053504" cy="390684"/>
          </a:xfrm>
          <a:prstGeom prst="rect">
            <a:avLst/>
          </a:prstGeom>
          <a:noFill/>
        </p:spPr>
        <p:txBody>
          <a:bodyPr wrap="square">
            <a:spAutoFit/>
          </a:bodyPr>
          <a:lstStyle/>
          <a:p>
            <a:pPr marL="342900" lvl="0" indent="-342900" algn="just" rtl="0">
              <a:lnSpc>
                <a:spcPct val="115000"/>
              </a:lnSpc>
              <a:spcAft>
                <a:spcPts val="800"/>
              </a:spcAft>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le substituant minoritaire se trouve en avant du plan, on lit directement et on inverse la configuration.</a:t>
            </a:r>
            <a:endParaRPr lang="en-US" sz="1600" b="1"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5" name="Image 24">
            <a:extLst>
              <a:ext uri="{FF2B5EF4-FFF2-40B4-BE49-F238E27FC236}">
                <a16:creationId xmlns:a16="http://schemas.microsoft.com/office/drawing/2014/main" id="{2BC0A623-1CD0-2941-A6E1-C790FF771AA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727" y="2926855"/>
            <a:ext cx="4500038" cy="1508215"/>
          </a:xfrm>
          <a:prstGeom prst="rect">
            <a:avLst/>
          </a:prstGeom>
          <a:noFill/>
          <a:ln>
            <a:noFill/>
          </a:ln>
        </p:spPr>
      </p:pic>
      <p:sp>
        <p:nvSpPr>
          <p:cNvPr id="27" name="ZoneTexte 26">
            <a:extLst>
              <a:ext uri="{FF2B5EF4-FFF2-40B4-BE49-F238E27FC236}">
                <a16:creationId xmlns:a16="http://schemas.microsoft.com/office/drawing/2014/main" id="{F112D1B3-6EED-08CD-1D12-B051005FC911}"/>
              </a:ext>
            </a:extLst>
          </p:cNvPr>
          <p:cNvSpPr txBox="1"/>
          <p:nvPr/>
        </p:nvSpPr>
        <p:spPr>
          <a:xfrm>
            <a:off x="813816" y="2884028"/>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8" name="ZoneTexte 27">
            <a:extLst>
              <a:ext uri="{FF2B5EF4-FFF2-40B4-BE49-F238E27FC236}">
                <a16:creationId xmlns:a16="http://schemas.microsoft.com/office/drawing/2014/main" id="{73D17BA4-3D3B-68DA-78D7-26B25A882836}"/>
              </a:ext>
            </a:extLst>
          </p:cNvPr>
          <p:cNvSpPr txBox="1"/>
          <p:nvPr/>
        </p:nvSpPr>
        <p:spPr>
          <a:xfrm>
            <a:off x="813815" y="4752364"/>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9" name="Image 28">
            <a:extLst>
              <a:ext uri="{FF2B5EF4-FFF2-40B4-BE49-F238E27FC236}">
                <a16:creationId xmlns:a16="http://schemas.microsoft.com/office/drawing/2014/main" id="{6BCFA6EB-23FB-51EE-3147-7AD7FF4E81C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3809" y="4858137"/>
            <a:ext cx="1537874" cy="1371342"/>
          </a:xfrm>
          <a:prstGeom prst="rect">
            <a:avLst/>
          </a:prstGeom>
          <a:noFill/>
          <a:ln>
            <a:noFill/>
          </a:ln>
        </p:spPr>
      </p:pic>
      <p:sp>
        <p:nvSpPr>
          <p:cNvPr id="31" name="ZoneTexte 30">
            <a:extLst>
              <a:ext uri="{FF2B5EF4-FFF2-40B4-BE49-F238E27FC236}">
                <a16:creationId xmlns:a16="http://schemas.microsoft.com/office/drawing/2014/main" id="{CDFFA23C-0480-7BF0-E628-2605CCBB4E63}"/>
              </a:ext>
            </a:extLst>
          </p:cNvPr>
          <p:cNvSpPr txBox="1"/>
          <p:nvPr/>
        </p:nvSpPr>
        <p:spPr>
          <a:xfrm>
            <a:off x="6427926" y="5430375"/>
            <a:ext cx="2325757" cy="338554"/>
          </a:xfrm>
          <a:prstGeom prst="rect">
            <a:avLst/>
          </a:prstGeom>
          <a:noFill/>
        </p:spPr>
        <p:txBody>
          <a:bodyPr wrap="square">
            <a:spAutoFit/>
          </a:bodyPr>
          <a:lstStyle/>
          <a:p>
            <a:r>
              <a:rPr lang="fr-FR" sz="1600" dirty="0">
                <a:solidFill>
                  <a:srgbClr val="000000"/>
                </a:solidFill>
                <a:effectLst/>
                <a:latin typeface="TimesNewRomanPSMT"/>
                <a:ea typeface="Calibri" panose="020F0502020204030204" pitchFamily="34" charset="0"/>
                <a:cs typeface="Arial" panose="020B0604020202020204" pitchFamily="34" charset="0"/>
              </a:rPr>
              <a:t>on lit </a:t>
            </a:r>
            <a:r>
              <a:rPr lang="fr-FR" sz="1600" b="1" dirty="0">
                <a:solidFill>
                  <a:srgbClr val="000000"/>
                </a:solidFill>
                <a:effectLst/>
                <a:latin typeface="TimesNewRomanPS-BoldMT"/>
                <a:ea typeface="Calibri" panose="020F0502020204030204" pitchFamily="34" charset="0"/>
                <a:cs typeface="Arial" panose="020B0604020202020204" pitchFamily="34" charset="0"/>
              </a:rPr>
              <a:t>S </a:t>
            </a:r>
            <a:r>
              <a:rPr lang="fr-FR" sz="1600" dirty="0">
                <a:solidFill>
                  <a:srgbClr val="000000"/>
                </a:solidFill>
                <a:effectLst/>
                <a:latin typeface="TimesNewRomanPSMT"/>
                <a:ea typeface="Calibri" panose="020F0502020204030204" pitchFamily="34" charset="0"/>
                <a:cs typeface="Arial" panose="020B0604020202020204" pitchFamily="34" charset="0"/>
              </a:rPr>
              <a:t>mais on note </a:t>
            </a:r>
            <a:r>
              <a:rPr lang="fr-FR" sz="1600" b="1" dirty="0">
                <a:solidFill>
                  <a:srgbClr val="000000"/>
                </a:solidFill>
                <a:effectLst/>
                <a:latin typeface="TimesNewRomanPS-BoldMT"/>
                <a:ea typeface="Calibri" panose="020F0502020204030204" pitchFamily="34" charset="0"/>
                <a:cs typeface="Arial" panose="020B0604020202020204" pitchFamily="34" charset="0"/>
              </a:rPr>
              <a:t>R</a:t>
            </a:r>
            <a:endParaRPr lang="en-US" sz="1600" dirty="0"/>
          </a:p>
        </p:txBody>
      </p:sp>
    </p:spTree>
    <p:extLst>
      <p:ext uri="{BB962C8B-B14F-4D97-AF65-F5344CB8AC3E}">
        <p14:creationId xmlns:p14="http://schemas.microsoft.com/office/powerpoint/2010/main" val="2749725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2.	Lecture de la configuration absolue</a:t>
            </a:r>
            <a:endParaRPr lang="en-US" b="1" kern="100" dirty="0">
              <a:latin typeface="Times New Roman" panose="02020603050405020304" pitchFamily="18" charset="0"/>
              <a:cs typeface="Arial" panose="020B0604020202020204" pitchFamily="34" charset="0"/>
            </a:endParaRPr>
          </a:p>
        </p:txBody>
      </p:sp>
      <p:sp>
        <p:nvSpPr>
          <p:cNvPr id="23" name="ZoneTexte 22">
            <a:extLst>
              <a:ext uri="{FF2B5EF4-FFF2-40B4-BE49-F238E27FC236}">
                <a16:creationId xmlns:a16="http://schemas.microsoft.com/office/drawing/2014/main" id="{374FD0FA-B4E8-9327-2A0D-245185F33AD8}"/>
              </a:ext>
            </a:extLst>
          </p:cNvPr>
          <p:cNvSpPr txBox="1"/>
          <p:nvPr/>
        </p:nvSpPr>
        <p:spPr>
          <a:xfrm>
            <a:off x="835426" y="1506636"/>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80000"/>
              <a:buFont typeface="Wingdings" panose="05000000000000000000" pitchFamily="2" charset="2"/>
              <a:buChar char="q"/>
            </a:pP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Configuration </a:t>
            </a:r>
            <a:r>
              <a:rPr lang="en-US" sz="1800" b="1" u="none" strike="noStrike" kern="0" spc="0" dirty="0" err="1">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en</a:t>
            </a: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 projective</a:t>
            </a:r>
          </a:p>
        </p:txBody>
      </p:sp>
      <p:sp>
        <p:nvSpPr>
          <p:cNvPr id="10" name="ZoneTexte 9">
            <a:extLst>
              <a:ext uri="{FF2B5EF4-FFF2-40B4-BE49-F238E27FC236}">
                <a16:creationId xmlns:a16="http://schemas.microsoft.com/office/drawing/2014/main" id="{2413F648-1910-8775-DD70-B868C13E65D0}"/>
              </a:ext>
            </a:extLst>
          </p:cNvPr>
          <p:cNvSpPr txBox="1"/>
          <p:nvPr/>
        </p:nvSpPr>
        <p:spPr>
          <a:xfrm>
            <a:off x="457198" y="1994158"/>
            <a:ext cx="10903227" cy="709233"/>
          </a:xfrm>
          <a:prstGeom prst="rect">
            <a:avLst/>
          </a:prstGeom>
          <a:noFill/>
        </p:spPr>
        <p:txBody>
          <a:bodyPr wrap="square">
            <a:spAutoFit/>
          </a:bodyPr>
          <a:lstStyle/>
          <a:p>
            <a:pPr marL="342900" lvl="0" indent="-342900" algn="just" rtl="0">
              <a:lnSpc>
                <a:spcPct val="115000"/>
              </a:lnSpc>
              <a:spcAft>
                <a:spcPts val="800"/>
              </a:spcAft>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le substituant minoritaire se trouve dans le plan, on effectue une permutation pour l’amener en arrière du plan et on inverse la configuration.</a:t>
            </a:r>
            <a:endParaRPr lang="en-US" sz="1600" b="1"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207D28CE-5749-2283-8A13-30C687185CF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3969" y="2735330"/>
            <a:ext cx="8427247" cy="1597404"/>
          </a:xfrm>
          <a:prstGeom prst="rect">
            <a:avLst/>
          </a:prstGeom>
          <a:noFill/>
          <a:ln>
            <a:noFill/>
          </a:ln>
        </p:spPr>
      </p:pic>
      <p:sp>
        <p:nvSpPr>
          <p:cNvPr id="13" name="ZoneTexte 12">
            <a:extLst>
              <a:ext uri="{FF2B5EF4-FFF2-40B4-BE49-F238E27FC236}">
                <a16:creationId xmlns:a16="http://schemas.microsoft.com/office/drawing/2014/main" id="{8A2ECE76-9C26-C208-5F2B-7BA60BD35138}"/>
              </a:ext>
            </a:extLst>
          </p:cNvPr>
          <p:cNvSpPr txBox="1"/>
          <p:nvPr/>
        </p:nvSpPr>
        <p:spPr>
          <a:xfrm>
            <a:off x="835426" y="2762447"/>
            <a:ext cx="1430696"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1</a:t>
            </a:r>
            <a:r>
              <a:rPr lang="fr-FR" sz="18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4" name="ZoneTexte 13">
            <a:extLst>
              <a:ext uri="{FF2B5EF4-FFF2-40B4-BE49-F238E27FC236}">
                <a16:creationId xmlns:a16="http://schemas.microsoft.com/office/drawing/2014/main" id="{49F91F05-35F6-D087-6AC9-59865E03AC16}"/>
              </a:ext>
            </a:extLst>
          </p:cNvPr>
          <p:cNvSpPr txBox="1"/>
          <p:nvPr/>
        </p:nvSpPr>
        <p:spPr>
          <a:xfrm>
            <a:off x="864749" y="4366279"/>
            <a:ext cx="1401373"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2</a:t>
            </a:r>
            <a:r>
              <a:rPr lang="fr-FR" sz="18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5" name="Image 14">
            <a:extLst>
              <a:ext uri="{FF2B5EF4-FFF2-40B4-BE49-F238E27FC236}">
                <a16:creationId xmlns:a16="http://schemas.microsoft.com/office/drawing/2014/main" id="{CB31789E-E6EF-03AF-4BD1-466653AC96D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9941" y="4815757"/>
            <a:ext cx="1656059" cy="1507929"/>
          </a:xfrm>
          <a:prstGeom prst="rect">
            <a:avLst/>
          </a:prstGeom>
          <a:noFill/>
          <a:ln>
            <a:noFill/>
          </a:ln>
        </p:spPr>
      </p:pic>
    </p:spTree>
    <p:extLst>
      <p:ext uri="{BB962C8B-B14F-4D97-AF65-F5344CB8AC3E}">
        <p14:creationId xmlns:p14="http://schemas.microsoft.com/office/powerpoint/2010/main" val="2263262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7"/>
            <a:ext cx="7703654"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2.	Lecture de la configuration absolue</a:t>
            </a:r>
            <a:endParaRPr lang="en-US" b="1" kern="100" dirty="0">
              <a:latin typeface="Times New Roman" panose="02020603050405020304" pitchFamily="18" charset="0"/>
              <a:cs typeface="Arial" panose="020B0604020202020204" pitchFamily="34" charset="0"/>
            </a:endParaRPr>
          </a:p>
        </p:txBody>
      </p:sp>
      <p:sp>
        <p:nvSpPr>
          <p:cNvPr id="23" name="ZoneTexte 22">
            <a:extLst>
              <a:ext uri="{FF2B5EF4-FFF2-40B4-BE49-F238E27FC236}">
                <a16:creationId xmlns:a16="http://schemas.microsoft.com/office/drawing/2014/main" id="{374FD0FA-B4E8-9327-2A0D-245185F33AD8}"/>
              </a:ext>
            </a:extLst>
          </p:cNvPr>
          <p:cNvSpPr txBox="1"/>
          <p:nvPr/>
        </p:nvSpPr>
        <p:spPr>
          <a:xfrm>
            <a:off x="835426" y="1506636"/>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80000"/>
              <a:buFont typeface="Wingdings" panose="05000000000000000000" pitchFamily="2" charset="2"/>
              <a:buChar char="q"/>
            </a:pP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Configuration </a:t>
            </a:r>
            <a:r>
              <a:rPr lang="en-US" sz="1800" b="1" u="none" strike="noStrike" kern="0" spc="0" dirty="0" err="1">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en</a:t>
            </a:r>
            <a:r>
              <a:rPr lang="en-US" sz="1800" b="1" u="none" strike="noStrike" kern="0" spc="0" dirty="0">
                <a:solidFill>
                  <a:srgbClr val="0B672A"/>
                </a:solidFill>
                <a:effectLst/>
                <a:latin typeface="Times New Roman" panose="02020603050405020304" pitchFamily="18" charset="0"/>
                <a:ea typeface="Bookman Old Style" panose="02050604050505020204" pitchFamily="18" charset="0"/>
                <a:cs typeface="Bookman Old Style" panose="02050604050505020204" pitchFamily="18" charset="0"/>
              </a:rPr>
              <a:t> Fischer</a:t>
            </a:r>
          </a:p>
        </p:txBody>
      </p:sp>
      <p:sp>
        <p:nvSpPr>
          <p:cNvPr id="14" name="ZoneTexte 13">
            <a:extLst>
              <a:ext uri="{FF2B5EF4-FFF2-40B4-BE49-F238E27FC236}">
                <a16:creationId xmlns:a16="http://schemas.microsoft.com/office/drawing/2014/main" id="{49F91F05-35F6-D087-6AC9-59865E03AC16}"/>
              </a:ext>
            </a:extLst>
          </p:cNvPr>
          <p:cNvSpPr txBox="1"/>
          <p:nvPr/>
        </p:nvSpPr>
        <p:spPr>
          <a:xfrm>
            <a:off x="813817" y="3853081"/>
            <a:ext cx="1401373"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a:t>
            </a:r>
            <a:r>
              <a:rPr lang="fr-FR" sz="18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9" name="ZoneTexte 8">
            <a:extLst>
              <a:ext uri="{FF2B5EF4-FFF2-40B4-BE49-F238E27FC236}">
                <a16:creationId xmlns:a16="http://schemas.microsoft.com/office/drawing/2014/main" id="{E093CAA1-5453-9CDD-F0C4-B8CF84375D04}"/>
              </a:ext>
            </a:extLst>
          </p:cNvPr>
          <p:cNvSpPr txBox="1"/>
          <p:nvPr/>
        </p:nvSpPr>
        <p:spPr>
          <a:xfrm>
            <a:off x="452389" y="2051105"/>
            <a:ext cx="10874600" cy="1864741"/>
          </a:xfrm>
          <a:prstGeom prst="rect">
            <a:avLst/>
          </a:prstGeom>
          <a:noFill/>
        </p:spPr>
        <p:txBody>
          <a:bodyPr wrap="square">
            <a:spAutoFit/>
          </a:bodyPr>
          <a:lstStyle/>
          <a:p>
            <a:pPr marL="357188"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détermination de la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configuration absolue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plus facile en projection de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Fisher</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Deux possibilités peuvent se présenter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lgn="just">
              <a:lnSpc>
                <a:spcPct val="115000"/>
              </a:lnSpc>
              <a:spcAft>
                <a:spcPts val="800"/>
              </a:spcAft>
              <a:buFont typeface="Wingdings" panose="05000000000000000000" pitchFamily="2" charset="2"/>
              <a:buChar char=""/>
            </a:pPr>
            <a:r>
              <a:rPr lang="fr-FR" b="1" kern="100" dirty="0">
                <a:solidFill>
                  <a:srgbClr val="000000"/>
                </a:solidFill>
                <a:latin typeface="Times New Roman" panose="02020603050405020304" pitchFamily="18" charset="0"/>
                <a:cs typeface="Arial" panose="020B0604020202020204" pitchFamily="34" charset="0"/>
              </a:rPr>
              <a:t>Si le substituant minoritaire (4) est sur l’horizontale (en avant du plan) on lit et on inverse la configuration.</a:t>
            </a:r>
            <a:endParaRPr lang="en-US" b="1" kern="100" dirty="0">
              <a:solidFill>
                <a:srgbClr val="000000"/>
              </a:solidFill>
              <a:latin typeface="Times New Roman" panose="02020603050405020304" pitchFamily="18" charset="0"/>
              <a:cs typeface="Arial" panose="020B0604020202020204" pitchFamily="34" charset="0"/>
            </a:endParaRPr>
          </a:p>
          <a:p>
            <a:pPr marL="342900" indent="-342900" algn="just">
              <a:lnSpc>
                <a:spcPct val="115000"/>
              </a:lnSpc>
              <a:spcAft>
                <a:spcPts val="800"/>
              </a:spcAft>
              <a:buFont typeface="Wingdings" panose="05000000000000000000" pitchFamily="2" charset="2"/>
              <a:buChar char=""/>
            </a:pPr>
            <a:r>
              <a:rPr lang="fr-FR" b="1" kern="100" dirty="0">
                <a:solidFill>
                  <a:srgbClr val="000000"/>
                </a:solidFill>
                <a:latin typeface="Times New Roman" panose="02020603050405020304" pitchFamily="18" charset="0"/>
                <a:cs typeface="Arial" panose="020B0604020202020204" pitchFamily="34" charset="0"/>
              </a:rPr>
              <a:t>Si le substituant classé (4) est sur la verticale (en arrière du plan) on note directement la configuration.</a:t>
            </a:r>
            <a:endParaRPr lang="en-US" b="1" kern="100" dirty="0">
              <a:solidFill>
                <a:srgbClr val="000000"/>
              </a:solidFill>
              <a:latin typeface="Times New Roman" panose="02020603050405020304" pitchFamily="18" charset="0"/>
              <a:cs typeface="Arial" panose="020B0604020202020204" pitchFamily="34" charset="0"/>
            </a:endParaRPr>
          </a:p>
        </p:txBody>
      </p:sp>
      <p:pic>
        <p:nvPicPr>
          <p:cNvPr id="12" name="Image 11">
            <a:extLst>
              <a:ext uri="{FF2B5EF4-FFF2-40B4-BE49-F238E27FC236}">
                <a16:creationId xmlns:a16="http://schemas.microsoft.com/office/drawing/2014/main" id="{70740066-CD52-81A7-AF38-F98F898AC6E8}"/>
              </a:ext>
            </a:extLst>
          </p:cNvPr>
          <p:cNvPicPr>
            <a:picLocks noChangeAspect="1"/>
          </p:cNvPicPr>
          <p:nvPr/>
        </p:nvPicPr>
        <p:blipFill rotWithShape="1">
          <a:blip r:embed="rId3"/>
          <a:srcRect l="5924" r="4394" b="15794"/>
          <a:stretch/>
        </p:blipFill>
        <p:spPr>
          <a:xfrm>
            <a:off x="2454965" y="4048424"/>
            <a:ext cx="6361044" cy="2220094"/>
          </a:xfrm>
          <a:prstGeom prst="rect">
            <a:avLst/>
          </a:prstGeom>
        </p:spPr>
      </p:pic>
    </p:spTree>
    <p:extLst>
      <p:ext uri="{BB962C8B-B14F-4D97-AF65-F5344CB8AC3E}">
        <p14:creationId xmlns:p14="http://schemas.microsoft.com/office/powerpoint/2010/main" val="805911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3.	Diastéréoisomérie des molécules à plusieurs carbones asymétriques</a:t>
            </a:r>
            <a:endParaRPr lang="en-US" b="1" kern="100" dirty="0">
              <a:latin typeface="Times New Roman" panose="02020603050405020304" pitchFamily="18" charset="0"/>
              <a:cs typeface="Arial" panose="020B0604020202020204" pitchFamily="34" charset="0"/>
            </a:endParaRPr>
          </a:p>
        </p:txBody>
      </p:sp>
      <p:sp>
        <p:nvSpPr>
          <p:cNvPr id="15" name="ZoneTexte 14">
            <a:extLst>
              <a:ext uri="{FF2B5EF4-FFF2-40B4-BE49-F238E27FC236}">
                <a16:creationId xmlns:a16="http://schemas.microsoft.com/office/drawing/2014/main" id="{DC44E4B4-76BC-04B2-2D61-C9322DDBBA9E}"/>
              </a:ext>
            </a:extLst>
          </p:cNvPr>
          <p:cNvSpPr txBox="1"/>
          <p:nvPr/>
        </p:nvSpPr>
        <p:spPr>
          <a:xfrm>
            <a:off x="823131" y="5356375"/>
            <a:ext cx="11083322" cy="1000274"/>
          </a:xfrm>
          <a:prstGeom prst="rect">
            <a:avLst/>
          </a:prstGeom>
          <a:noFill/>
        </p:spPr>
        <p:txBody>
          <a:bodyPr wrap="square">
            <a:spAutoFit/>
          </a:bodyPr>
          <a:lstStyle/>
          <a:p>
            <a:pPr algn="just"/>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Remarque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p>
          <a:p>
            <a:pPr algn="just">
              <a:spcAft>
                <a:spcPts val="6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a:t>
            </a: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mélange racémique est un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mélange de deux énantiomères en quantités égales (50%+50%) </a:t>
            </a: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=&gt;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optiquement inactif</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p>
          <a:p>
            <a:pPr algn="just"/>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Un énantiomère dévie la lumière d’un angle (+α) le deuxième la dévie d’un angle (-α) et la somme sera donc nulle.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 10">
            <a:extLst>
              <a:ext uri="{FF2B5EF4-FFF2-40B4-BE49-F238E27FC236}">
                <a16:creationId xmlns:a16="http://schemas.microsoft.com/office/drawing/2014/main" id="{9D56B198-21AA-40E7-F8FB-D3C9B545AEF2}"/>
              </a:ext>
            </a:extLst>
          </p:cNvPr>
          <p:cNvPicPr>
            <a:picLocks noChangeAspect="1"/>
          </p:cNvPicPr>
          <p:nvPr/>
        </p:nvPicPr>
        <p:blipFill>
          <a:blip r:embed="rId3"/>
          <a:stretch>
            <a:fillRect/>
          </a:stretch>
        </p:blipFill>
        <p:spPr>
          <a:xfrm>
            <a:off x="8795312" y="1987950"/>
            <a:ext cx="3206188" cy="1412592"/>
          </a:xfrm>
          <a:prstGeom prst="rect">
            <a:avLst/>
          </a:prstGeom>
          <a:ln>
            <a:solidFill>
              <a:srgbClr val="000099"/>
            </a:solidFill>
          </a:ln>
        </p:spPr>
      </p:pic>
      <p:sp>
        <p:nvSpPr>
          <p:cNvPr id="19" name="ZoneTexte 18">
            <a:extLst>
              <a:ext uri="{FF2B5EF4-FFF2-40B4-BE49-F238E27FC236}">
                <a16:creationId xmlns:a16="http://schemas.microsoft.com/office/drawing/2014/main" id="{91B4D9FB-F423-DADC-C489-4AE06017B79F}"/>
              </a:ext>
            </a:extLst>
          </p:cNvPr>
          <p:cNvSpPr txBox="1"/>
          <p:nvPr/>
        </p:nvSpPr>
        <p:spPr>
          <a:xfrm>
            <a:off x="871381" y="2919101"/>
            <a:ext cx="7727485"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Ces stéréoisomères sont </a:t>
            </a:r>
            <a:r>
              <a:rPr lang="fr-FR" sz="1800" b="1" dirty="0">
                <a:solidFill>
                  <a:srgbClr val="000000"/>
                </a:solidFill>
                <a:effectLst/>
                <a:latin typeface="Times New Roman" panose="02020603050405020304" pitchFamily="18" charset="0"/>
                <a:ea typeface="Calibri" panose="020F0502020204030204" pitchFamily="34" charset="0"/>
              </a:rPr>
              <a:t>images l’un de l’autre par rapport à un miroir plan</a:t>
            </a:r>
            <a:endParaRPr lang="en-US" dirty="0"/>
          </a:p>
        </p:txBody>
      </p:sp>
      <p:sp>
        <p:nvSpPr>
          <p:cNvPr id="9" name="ZoneTexte 8">
            <a:extLst>
              <a:ext uri="{FF2B5EF4-FFF2-40B4-BE49-F238E27FC236}">
                <a16:creationId xmlns:a16="http://schemas.microsoft.com/office/drawing/2014/main" id="{A902DB27-E2D0-FAA4-1AFE-8080B6972A2F}"/>
              </a:ext>
            </a:extLst>
          </p:cNvPr>
          <p:cNvSpPr txBox="1"/>
          <p:nvPr/>
        </p:nvSpPr>
        <p:spPr>
          <a:xfrm>
            <a:off x="569449" y="1595859"/>
            <a:ext cx="3269934" cy="369332"/>
          </a:xfrm>
          <a:prstGeom prst="rect">
            <a:avLst/>
          </a:prstGeom>
          <a:noFill/>
        </p:spPr>
        <p:txBody>
          <a:bodyPr wrap="square">
            <a:spAutoFit/>
          </a:bodyPr>
          <a:lstStyle/>
          <a:p>
            <a:pPr marL="285750" indent="-285750">
              <a:buFont typeface="Wingdings" panose="05000000000000000000" pitchFamily="2" charset="2"/>
              <a:buChar char="v"/>
            </a:pPr>
            <a:r>
              <a:rPr lang="fr-FR" b="1" dirty="0">
                <a:solidFill>
                  <a:srgbClr val="FF0000"/>
                </a:solidFill>
                <a:latin typeface="Times New Roman" panose="02020603050405020304" pitchFamily="18" charset="0"/>
                <a:ea typeface="Calibri" panose="020F0502020204030204" pitchFamily="34" charset="0"/>
              </a:rPr>
              <a:t>M</a:t>
            </a:r>
            <a:r>
              <a:rPr lang="fr-FR" sz="1800" b="1" dirty="0">
                <a:solidFill>
                  <a:srgbClr val="FF0000"/>
                </a:solidFill>
                <a:effectLst/>
                <a:latin typeface="Times New Roman" panose="02020603050405020304" pitchFamily="18" charset="0"/>
                <a:ea typeface="Calibri" panose="020F0502020204030204" pitchFamily="34" charset="0"/>
              </a:rPr>
              <a:t>olécule possède un seul C*</a:t>
            </a:r>
            <a:endParaRPr lang="en-US" b="1" dirty="0">
              <a:solidFill>
                <a:srgbClr val="FF0000"/>
              </a:solidFill>
            </a:endParaRPr>
          </a:p>
        </p:txBody>
      </p:sp>
      <p:sp>
        <p:nvSpPr>
          <p:cNvPr id="14" name="ZoneTexte 13">
            <a:extLst>
              <a:ext uri="{FF2B5EF4-FFF2-40B4-BE49-F238E27FC236}">
                <a16:creationId xmlns:a16="http://schemas.microsoft.com/office/drawing/2014/main" id="{66557E2D-FD65-208C-CE3B-569DF60831C8}"/>
              </a:ext>
            </a:extLst>
          </p:cNvPr>
          <p:cNvSpPr txBox="1"/>
          <p:nvPr/>
        </p:nvSpPr>
        <p:spPr>
          <a:xfrm>
            <a:off x="885118" y="2321069"/>
            <a:ext cx="3140765" cy="369333"/>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Deu</a:t>
            </a:r>
            <a:r>
              <a:rPr lang="fr-FR" dirty="0">
                <a:solidFill>
                  <a:srgbClr val="000000"/>
                </a:solidFill>
                <a:latin typeface="Times New Roman" panose="02020603050405020304" pitchFamily="18" charset="0"/>
                <a:ea typeface="Calibri" panose="020F0502020204030204" pitchFamily="34" charset="0"/>
              </a:rPr>
              <a:t>x</a:t>
            </a:r>
            <a:r>
              <a:rPr lang="fr-FR" sz="1800" dirty="0">
                <a:solidFill>
                  <a:srgbClr val="000000"/>
                </a:solidFill>
                <a:effectLst/>
                <a:latin typeface="Times New Roman" panose="02020603050405020304" pitchFamily="18" charset="0"/>
                <a:ea typeface="Calibri" panose="020F0502020204030204" pitchFamily="34" charset="0"/>
              </a:rPr>
              <a:t> stéréoisomères: </a:t>
            </a:r>
            <a:r>
              <a:rPr lang="fr-FR" sz="1800" b="1" dirty="0">
                <a:solidFill>
                  <a:srgbClr val="000000"/>
                </a:solidFill>
                <a:effectLst/>
                <a:latin typeface="Times New Roman" panose="02020603050405020304" pitchFamily="18" charset="0"/>
                <a:ea typeface="Calibri" panose="020F0502020204030204" pitchFamily="34" charset="0"/>
              </a:rPr>
              <a:t>(R)</a:t>
            </a:r>
            <a:r>
              <a:rPr lang="fr-FR" sz="1800" dirty="0">
                <a:solidFill>
                  <a:srgbClr val="000000"/>
                </a:solidFill>
                <a:effectLst/>
                <a:latin typeface="Times New Roman" panose="02020603050405020304" pitchFamily="18" charset="0"/>
                <a:ea typeface="Calibri" panose="020F0502020204030204" pitchFamily="34" charset="0"/>
              </a:rPr>
              <a:t> &amp; </a:t>
            </a:r>
            <a:r>
              <a:rPr lang="fr-FR" sz="1800" b="1" dirty="0">
                <a:solidFill>
                  <a:srgbClr val="000000"/>
                </a:solidFill>
                <a:effectLst/>
                <a:latin typeface="Times New Roman" panose="02020603050405020304" pitchFamily="18" charset="0"/>
                <a:ea typeface="Calibri" panose="020F0502020204030204" pitchFamily="34" charset="0"/>
              </a:rPr>
              <a:t>(S)</a:t>
            </a:r>
            <a:r>
              <a:rPr lang="fr-FR" sz="1800" dirty="0">
                <a:solidFill>
                  <a:srgbClr val="000000"/>
                </a:solidFill>
                <a:effectLst/>
                <a:latin typeface="Times New Roman" panose="02020603050405020304" pitchFamily="18" charset="0"/>
                <a:ea typeface="Calibri" panose="020F0502020204030204" pitchFamily="34" charset="0"/>
              </a:rPr>
              <a:t> </a:t>
            </a:r>
            <a:endParaRPr lang="en-US" dirty="0"/>
          </a:p>
        </p:txBody>
      </p:sp>
      <p:sp>
        <p:nvSpPr>
          <p:cNvPr id="17" name="ZoneTexte 16">
            <a:extLst>
              <a:ext uri="{FF2B5EF4-FFF2-40B4-BE49-F238E27FC236}">
                <a16:creationId xmlns:a16="http://schemas.microsoft.com/office/drawing/2014/main" id="{FF8FBB95-1FFF-6177-2894-52B59D34D867}"/>
              </a:ext>
            </a:extLst>
          </p:cNvPr>
          <p:cNvSpPr txBox="1"/>
          <p:nvPr/>
        </p:nvSpPr>
        <p:spPr>
          <a:xfrm>
            <a:off x="5754757" y="2330989"/>
            <a:ext cx="2385392" cy="369332"/>
          </a:xfrm>
          <a:prstGeom prst="rect">
            <a:avLst/>
          </a:prstGeom>
          <a:noFill/>
        </p:spPr>
        <p:txBody>
          <a:bodyPr wrap="square">
            <a:spAutoFit/>
          </a:bodyPr>
          <a:lstStyle/>
          <a:p>
            <a:r>
              <a:rPr lang="fr-FR" dirty="0">
                <a:solidFill>
                  <a:srgbClr val="000000"/>
                </a:solidFill>
                <a:latin typeface="Times New Roman" panose="02020603050405020304" pitchFamily="18" charset="0"/>
                <a:ea typeface="Calibri" panose="020F0502020204030204" pitchFamily="34" charset="0"/>
              </a:rPr>
              <a:t>C</a:t>
            </a:r>
            <a:r>
              <a:rPr lang="fr-FR" sz="1800" dirty="0">
                <a:solidFill>
                  <a:srgbClr val="000000"/>
                </a:solidFill>
                <a:effectLst/>
                <a:latin typeface="Times New Roman" panose="02020603050405020304" pitchFamily="18" charset="0"/>
                <a:ea typeface="Calibri" panose="020F0502020204030204" pitchFamily="34" charset="0"/>
              </a:rPr>
              <a:t>ouple d'</a:t>
            </a:r>
            <a:r>
              <a:rPr lang="fr-FR" sz="1800" b="1" dirty="0">
                <a:solidFill>
                  <a:srgbClr val="000000"/>
                </a:solidFill>
                <a:effectLst/>
                <a:latin typeface="Times New Roman" panose="02020603050405020304" pitchFamily="18" charset="0"/>
                <a:ea typeface="Calibri" panose="020F0502020204030204" pitchFamily="34" charset="0"/>
              </a:rPr>
              <a:t>énantiomères</a:t>
            </a:r>
            <a:endParaRPr lang="en-US" dirty="0"/>
          </a:p>
        </p:txBody>
      </p:sp>
      <p:sp>
        <p:nvSpPr>
          <p:cNvPr id="20" name="Flèche : droite 19">
            <a:extLst>
              <a:ext uri="{FF2B5EF4-FFF2-40B4-BE49-F238E27FC236}">
                <a16:creationId xmlns:a16="http://schemas.microsoft.com/office/drawing/2014/main" id="{AEB60340-37F8-E93F-C237-4C3866A5A453}"/>
              </a:ext>
            </a:extLst>
          </p:cNvPr>
          <p:cNvSpPr/>
          <p:nvPr/>
        </p:nvSpPr>
        <p:spPr>
          <a:xfrm>
            <a:off x="4353465" y="2395921"/>
            <a:ext cx="1040764" cy="271927"/>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 name="ZoneTexte 21">
            <a:extLst>
              <a:ext uri="{FF2B5EF4-FFF2-40B4-BE49-F238E27FC236}">
                <a16:creationId xmlns:a16="http://schemas.microsoft.com/office/drawing/2014/main" id="{16FE1E97-979A-E3C8-D575-5D19376A8110}"/>
              </a:ext>
            </a:extLst>
          </p:cNvPr>
          <p:cNvSpPr txBox="1"/>
          <p:nvPr/>
        </p:nvSpPr>
        <p:spPr>
          <a:xfrm>
            <a:off x="569449" y="3452609"/>
            <a:ext cx="3843525" cy="369332"/>
          </a:xfrm>
          <a:prstGeom prst="rect">
            <a:avLst/>
          </a:prstGeom>
          <a:noFill/>
        </p:spPr>
        <p:txBody>
          <a:bodyPr wrap="square">
            <a:spAutoFit/>
          </a:bodyPr>
          <a:lstStyle/>
          <a:p>
            <a:pPr marL="285750" indent="-285750">
              <a:buFont typeface="Wingdings" panose="05000000000000000000" pitchFamily="2" charset="2"/>
              <a:buChar char="v"/>
            </a:pPr>
            <a:r>
              <a:rPr lang="fr-FR" b="1" dirty="0">
                <a:solidFill>
                  <a:srgbClr val="FF0000"/>
                </a:solidFill>
                <a:latin typeface="Times New Roman" panose="02020603050405020304" pitchFamily="18" charset="0"/>
                <a:ea typeface="Calibri" panose="020F0502020204030204" pitchFamily="34" charset="0"/>
              </a:rPr>
              <a:t>M</a:t>
            </a:r>
            <a:r>
              <a:rPr lang="fr-FR" sz="1800" b="1" dirty="0">
                <a:solidFill>
                  <a:srgbClr val="FF0000"/>
                </a:solidFill>
                <a:effectLst/>
                <a:latin typeface="Times New Roman" panose="02020603050405020304" pitchFamily="18" charset="0"/>
                <a:ea typeface="Calibri" panose="020F0502020204030204" pitchFamily="34" charset="0"/>
              </a:rPr>
              <a:t>olécule possède plusieurs C*</a:t>
            </a:r>
            <a:endParaRPr lang="en-US" b="1" dirty="0">
              <a:solidFill>
                <a:srgbClr val="FF0000"/>
              </a:solidFill>
            </a:endParaRPr>
          </a:p>
        </p:txBody>
      </p:sp>
      <p:sp>
        <p:nvSpPr>
          <p:cNvPr id="24" name="ZoneTexte 23">
            <a:extLst>
              <a:ext uri="{FF2B5EF4-FFF2-40B4-BE49-F238E27FC236}">
                <a16:creationId xmlns:a16="http://schemas.microsoft.com/office/drawing/2014/main" id="{FEAAA56E-21CD-8E15-5AB0-703BEE92B2D4}"/>
              </a:ext>
            </a:extLst>
          </p:cNvPr>
          <p:cNvSpPr txBox="1"/>
          <p:nvPr/>
        </p:nvSpPr>
        <p:spPr>
          <a:xfrm>
            <a:off x="859796" y="3844072"/>
            <a:ext cx="10358585"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Généralement tout composé organique ayant </a:t>
            </a:r>
            <a:r>
              <a:rPr lang="fr-FR" sz="1800" b="1" dirty="0" err="1">
                <a:solidFill>
                  <a:srgbClr val="000000"/>
                </a:solidFill>
                <a:effectLst/>
                <a:latin typeface="Times New Roman" panose="02020603050405020304" pitchFamily="18" charset="0"/>
                <a:ea typeface="Calibri" panose="020F0502020204030204" pitchFamily="34" charset="0"/>
              </a:rPr>
              <a:t>nC</a:t>
            </a:r>
            <a:r>
              <a:rPr lang="fr-FR" sz="1800" b="1" dirty="0">
                <a:solidFill>
                  <a:srgbClr val="000000"/>
                </a:solidFill>
                <a:effectLst/>
                <a:latin typeface="Times New Roman" panose="02020603050405020304" pitchFamily="18" charset="0"/>
                <a:ea typeface="Calibri" panose="020F0502020204030204" pitchFamily="34" charset="0"/>
              </a:rPr>
              <a:t>*</a:t>
            </a:r>
            <a:r>
              <a:rPr lang="fr-FR" sz="1800" dirty="0">
                <a:solidFill>
                  <a:srgbClr val="000000"/>
                </a:solidFill>
                <a:effectLst/>
                <a:latin typeface="Times New Roman" panose="02020603050405020304" pitchFamily="18" charset="0"/>
                <a:ea typeface="Calibri" panose="020F0502020204030204" pitchFamily="34" charset="0"/>
              </a:rPr>
              <a:t> différents possède </a:t>
            </a:r>
            <a:r>
              <a:rPr lang="fr-FR" sz="1800" b="1" dirty="0">
                <a:solidFill>
                  <a:srgbClr val="000000"/>
                </a:solidFill>
                <a:effectLst/>
                <a:latin typeface="Times New Roman" panose="02020603050405020304" pitchFamily="18" charset="0"/>
                <a:ea typeface="Calibri" panose="020F0502020204030204" pitchFamily="34" charset="0"/>
              </a:rPr>
              <a:t>2</a:t>
            </a:r>
            <a:r>
              <a:rPr lang="fr-FR" sz="1800" b="1" baseline="30000" dirty="0">
                <a:solidFill>
                  <a:srgbClr val="000000"/>
                </a:solidFill>
                <a:effectLst/>
                <a:latin typeface="Times New Roman" panose="02020603050405020304" pitchFamily="18" charset="0"/>
                <a:ea typeface="Calibri" panose="020F0502020204030204" pitchFamily="34" charset="0"/>
              </a:rPr>
              <a:t>n</a:t>
            </a:r>
            <a:r>
              <a:rPr lang="fr-FR" sz="1800" b="1" dirty="0">
                <a:solidFill>
                  <a:srgbClr val="000000"/>
                </a:solidFill>
                <a:effectLst/>
                <a:latin typeface="Times New Roman" panose="02020603050405020304" pitchFamily="18" charset="0"/>
                <a:ea typeface="Calibri" panose="020F0502020204030204" pitchFamily="34" charset="0"/>
              </a:rPr>
              <a:t> stéréoisomères optiques.</a:t>
            </a:r>
            <a:endParaRPr lang="en-US" dirty="0"/>
          </a:p>
        </p:txBody>
      </p:sp>
      <p:sp>
        <p:nvSpPr>
          <p:cNvPr id="26" name="ZoneTexte 25">
            <a:extLst>
              <a:ext uri="{FF2B5EF4-FFF2-40B4-BE49-F238E27FC236}">
                <a16:creationId xmlns:a16="http://schemas.microsoft.com/office/drawing/2014/main" id="{2CB5F5A2-364D-EFC2-B51C-0BBD3014B46C}"/>
              </a:ext>
            </a:extLst>
          </p:cNvPr>
          <p:cNvSpPr txBox="1"/>
          <p:nvPr/>
        </p:nvSpPr>
        <p:spPr>
          <a:xfrm>
            <a:off x="823131" y="4563100"/>
            <a:ext cx="3094786"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Pour un stéréoisomère donnée</a:t>
            </a:r>
            <a:endParaRPr lang="en-US" dirty="0"/>
          </a:p>
        </p:txBody>
      </p:sp>
      <p:sp>
        <p:nvSpPr>
          <p:cNvPr id="28" name="ZoneTexte 27">
            <a:extLst>
              <a:ext uri="{FF2B5EF4-FFF2-40B4-BE49-F238E27FC236}">
                <a16:creationId xmlns:a16="http://schemas.microsoft.com/office/drawing/2014/main" id="{AA4AEE58-073F-A85C-3855-5CDF157B3EAF}"/>
              </a:ext>
            </a:extLst>
          </p:cNvPr>
          <p:cNvSpPr txBox="1"/>
          <p:nvPr/>
        </p:nvSpPr>
        <p:spPr>
          <a:xfrm>
            <a:off x="4025883" y="4299891"/>
            <a:ext cx="7665737" cy="1077218"/>
          </a:xfrm>
          <a:prstGeom prst="rect">
            <a:avLst/>
          </a:prstGeom>
          <a:noFill/>
        </p:spPr>
        <p:txBody>
          <a:bodyPr wrap="square">
            <a:spAutoFit/>
          </a:bodyPr>
          <a:lstStyle/>
          <a:p>
            <a:pPr marL="285750" indent="-285750" algn="just">
              <a:spcAft>
                <a:spcPts val="1200"/>
              </a:spcAft>
              <a:buFont typeface="Wingdings" panose="05000000000000000000" pitchFamily="2" charset="2"/>
              <a:buChar char="q"/>
            </a:pPr>
            <a:r>
              <a:rPr lang="fr-FR" sz="1800" dirty="0">
                <a:solidFill>
                  <a:srgbClr val="000000"/>
                </a:solidFill>
                <a:effectLst/>
                <a:latin typeface="Times New Roman" panose="02020603050405020304" pitchFamily="18" charset="0"/>
                <a:ea typeface="Calibri" panose="020F0502020204030204" pitchFamily="34" charset="0"/>
              </a:rPr>
              <a:t>il n’existe qu’une molécule image dans un miroir (couple d'</a:t>
            </a:r>
            <a:r>
              <a:rPr lang="fr-FR" sz="1800" b="1" dirty="0">
                <a:solidFill>
                  <a:schemeClr val="accent2">
                    <a:lumMod val="60000"/>
                    <a:lumOff val="40000"/>
                  </a:schemeClr>
                </a:solidFill>
                <a:effectLst/>
                <a:latin typeface="Times New Roman" panose="02020603050405020304" pitchFamily="18" charset="0"/>
                <a:ea typeface="Calibri" panose="020F0502020204030204" pitchFamily="34" charset="0"/>
              </a:rPr>
              <a:t>énantiomères</a:t>
            </a:r>
            <a:r>
              <a:rPr lang="fr-FR" sz="1800" dirty="0">
                <a:solidFill>
                  <a:srgbClr val="000000"/>
                </a:solidFill>
                <a:effectLst/>
                <a:latin typeface="Times New Roman" panose="02020603050405020304" pitchFamily="18" charset="0"/>
                <a:ea typeface="Calibri" panose="020F0502020204030204" pitchFamily="34" charset="0"/>
              </a:rPr>
              <a:t>) ;</a:t>
            </a:r>
          </a:p>
          <a:p>
            <a:pPr marL="285750" indent="-285750" algn="just">
              <a:spcAft>
                <a:spcPts val="1200"/>
              </a:spcAft>
              <a:buFont typeface="Wingdings" panose="05000000000000000000" pitchFamily="2" charset="2"/>
              <a:buChar char="q"/>
            </a:pPr>
            <a:r>
              <a:rPr lang="fr-FR" sz="1800" dirty="0">
                <a:solidFill>
                  <a:srgbClr val="000000"/>
                </a:solidFill>
                <a:effectLst/>
                <a:latin typeface="Times New Roman" panose="02020603050405020304" pitchFamily="18" charset="0"/>
                <a:ea typeface="Calibri" panose="020F0502020204030204" pitchFamily="34" charset="0"/>
              </a:rPr>
              <a:t>les autres structures possibles sont des </a:t>
            </a:r>
            <a:r>
              <a:rPr lang="fr-FR" sz="1800" b="1" dirty="0">
                <a:solidFill>
                  <a:schemeClr val="accent2">
                    <a:lumMod val="60000"/>
                    <a:lumOff val="40000"/>
                  </a:schemeClr>
                </a:solidFill>
                <a:effectLst/>
                <a:latin typeface="Times New Roman" panose="02020603050405020304" pitchFamily="18" charset="0"/>
                <a:ea typeface="Calibri" panose="020F0502020204030204" pitchFamily="34" charset="0"/>
              </a:rPr>
              <a:t>diastéréoisomères </a:t>
            </a:r>
            <a:r>
              <a:rPr lang="fr-FR" sz="1800" dirty="0">
                <a:solidFill>
                  <a:srgbClr val="000000"/>
                </a:solidFill>
                <a:effectLst/>
                <a:latin typeface="Times New Roman" panose="02020603050405020304" pitchFamily="18" charset="0"/>
                <a:ea typeface="Calibri" panose="020F0502020204030204" pitchFamily="34" charset="0"/>
              </a:rPr>
              <a:t>(des stéréoisomères qui ne sont pas images l'un de l’autre dans un miroir).</a:t>
            </a:r>
            <a:endParaRPr lang="en-US" dirty="0"/>
          </a:p>
        </p:txBody>
      </p:sp>
      <p:sp>
        <p:nvSpPr>
          <p:cNvPr id="29" name="Accolade ouvrante 28">
            <a:extLst>
              <a:ext uri="{FF2B5EF4-FFF2-40B4-BE49-F238E27FC236}">
                <a16:creationId xmlns:a16="http://schemas.microsoft.com/office/drawing/2014/main" id="{49606821-1F67-334D-CC46-20301032CA0B}"/>
              </a:ext>
            </a:extLst>
          </p:cNvPr>
          <p:cNvSpPr/>
          <p:nvPr/>
        </p:nvSpPr>
        <p:spPr>
          <a:xfrm>
            <a:off x="3888250" y="4299901"/>
            <a:ext cx="245600" cy="959998"/>
          </a:xfrm>
          <a:prstGeom prst="leftBrace">
            <a:avLst/>
          </a:prstGeom>
          <a:ln w="28575">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solidFill>
                <a:schemeClr val="accent2">
                  <a:lumMod val="60000"/>
                  <a:lumOff val="40000"/>
                </a:schemeClr>
              </a:solidFill>
            </a:endParaRPr>
          </a:p>
        </p:txBody>
      </p:sp>
    </p:spTree>
    <p:extLst>
      <p:ext uri="{BB962C8B-B14F-4D97-AF65-F5344CB8AC3E}">
        <p14:creationId xmlns:p14="http://schemas.microsoft.com/office/powerpoint/2010/main" val="2163930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3.	Diastéréoisomérie des molécules à plusieurs carbones asymétriques</a:t>
            </a:r>
            <a:endParaRPr lang="en-US" b="1" kern="100" dirty="0">
              <a:latin typeface="Times New Roman" panose="02020603050405020304" pitchFamily="18" charset="0"/>
              <a:cs typeface="Arial" panose="020B0604020202020204" pitchFamily="34" charset="0"/>
            </a:endParaRPr>
          </a:p>
        </p:txBody>
      </p:sp>
      <p:sp>
        <p:nvSpPr>
          <p:cNvPr id="10" name="ZoneTexte 9">
            <a:extLst>
              <a:ext uri="{FF2B5EF4-FFF2-40B4-BE49-F238E27FC236}">
                <a16:creationId xmlns:a16="http://schemas.microsoft.com/office/drawing/2014/main" id="{917BB7DC-15DB-891D-12F0-7E7C27A3C682}"/>
              </a:ext>
            </a:extLst>
          </p:cNvPr>
          <p:cNvSpPr txBox="1"/>
          <p:nvPr/>
        </p:nvSpPr>
        <p:spPr>
          <a:xfrm>
            <a:off x="654791" y="1466198"/>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100000"/>
              <a:buFont typeface="Wingdings" panose="05000000000000000000" pitchFamily="2" charset="2"/>
              <a:buChar char="v"/>
            </a:pPr>
            <a:r>
              <a:rPr lang="fr-FR" b="1" dirty="0">
                <a:solidFill>
                  <a:srgbClr val="0B672A"/>
                </a:solidFill>
                <a:latin typeface="Times New Roman" panose="02020603050405020304" pitchFamily="18" charset="0"/>
              </a:rPr>
              <a:t>Cas de deux carbones asymétriques différents</a:t>
            </a:r>
            <a:endParaRPr lang="en-US" b="1" dirty="0">
              <a:solidFill>
                <a:srgbClr val="0B672A"/>
              </a:solidFill>
              <a:latin typeface="Times New Roman" panose="02020603050405020304" pitchFamily="18" charset="0"/>
            </a:endParaRPr>
          </a:p>
        </p:txBody>
      </p:sp>
      <p:pic>
        <p:nvPicPr>
          <p:cNvPr id="12" name="Image 11">
            <a:extLst>
              <a:ext uri="{FF2B5EF4-FFF2-40B4-BE49-F238E27FC236}">
                <a16:creationId xmlns:a16="http://schemas.microsoft.com/office/drawing/2014/main" id="{DFBD169D-0B03-6410-18C6-E360BDB38328}"/>
              </a:ext>
            </a:extLst>
          </p:cNvPr>
          <p:cNvPicPr>
            <a:picLocks noChangeAspect="1"/>
          </p:cNvPicPr>
          <p:nvPr/>
        </p:nvPicPr>
        <p:blipFill rotWithShape="1">
          <a:blip r:embed="rId3"/>
          <a:srcRect l="1233" r="3119" b="35398"/>
          <a:stretch/>
        </p:blipFill>
        <p:spPr>
          <a:xfrm>
            <a:off x="5997773" y="2152856"/>
            <a:ext cx="6167231" cy="4003471"/>
          </a:xfrm>
          <a:prstGeom prst="rect">
            <a:avLst/>
          </a:prstGeom>
        </p:spPr>
      </p:pic>
      <p:pic>
        <p:nvPicPr>
          <p:cNvPr id="13" name="Image 12">
            <a:extLst>
              <a:ext uri="{FF2B5EF4-FFF2-40B4-BE49-F238E27FC236}">
                <a16:creationId xmlns:a16="http://schemas.microsoft.com/office/drawing/2014/main" id="{63A026BB-96EA-87ED-76DF-F4CE87952C6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42398" y="2421485"/>
            <a:ext cx="2664676" cy="957279"/>
          </a:xfrm>
          <a:prstGeom prst="rect">
            <a:avLst/>
          </a:prstGeom>
          <a:noFill/>
          <a:ln>
            <a:noFill/>
          </a:ln>
        </p:spPr>
      </p:pic>
      <p:sp>
        <p:nvSpPr>
          <p:cNvPr id="16" name="ZoneTexte 15">
            <a:extLst>
              <a:ext uri="{FF2B5EF4-FFF2-40B4-BE49-F238E27FC236}">
                <a16:creationId xmlns:a16="http://schemas.microsoft.com/office/drawing/2014/main" id="{4C1B070E-809A-CB7E-7B7B-5A21BB143504}"/>
              </a:ext>
            </a:extLst>
          </p:cNvPr>
          <p:cNvSpPr txBox="1"/>
          <p:nvPr/>
        </p:nvSpPr>
        <p:spPr>
          <a:xfrm>
            <a:off x="813817" y="2009783"/>
            <a:ext cx="5278095" cy="357534"/>
          </a:xfrm>
          <a:prstGeom prst="rect">
            <a:avLst/>
          </a:prstGeom>
          <a:noFill/>
        </p:spPr>
        <p:txBody>
          <a:bodyPr wrap="square">
            <a:spAutoFit/>
          </a:bodyPr>
          <a:lstStyle/>
          <a:p>
            <a:pPr>
              <a:lnSpc>
                <a:spcPct val="115000"/>
              </a:lnSpc>
              <a:spcAft>
                <a:spcPts val="800"/>
              </a:spcAft>
            </a:pPr>
            <a:r>
              <a:rPr lang="fr-FR" sz="16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1</a:t>
            </a:r>
            <a:r>
              <a:rPr lang="fr-FR" sz="16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 </a:t>
            </a:r>
            <a:r>
              <a:rPr lang="fr-FR" sz="1600" b="1" dirty="0">
                <a:solidFill>
                  <a:srgbClr val="000000"/>
                </a:solidFill>
                <a:effectLst/>
                <a:latin typeface="TimesNewRomanPSMT"/>
                <a:ea typeface="Calibri" panose="020F0502020204030204" pitchFamily="34" charset="0"/>
                <a:cs typeface="Arial" panose="020B0604020202020204" pitchFamily="34" charset="0"/>
              </a:rPr>
              <a:t>Aldotétrose est un sucre ayant 2C* différents</a:t>
            </a:r>
            <a:endParaRPr lang="en-US" sz="1400" b="1"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DE12E29A-BFF2-07ED-3504-F4B1F3500F0D}"/>
              </a:ext>
            </a:extLst>
          </p:cNvPr>
          <p:cNvSpPr txBox="1"/>
          <p:nvPr/>
        </p:nvSpPr>
        <p:spPr>
          <a:xfrm>
            <a:off x="1103035" y="3378764"/>
            <a:ext cx="4234070" cy="523220"/>
          </a:xfrm>
          <a:prstGeom prst="rect">
            <a:avLst/>
          </a:prstGeom>
          <a:noFill/>
        </p:spPr>
        <p:txBody>
          <a:bodyPr wrap="square">
            <a:spAutoFit/>
          </a:bodyPr>
          <a:lstStyle/>
          <a:p>
            <a:pPr algn="ctr"/>
            <a:r>
              <a:rPr lang="fr-FR" sz="1400" b="1" dirty="0">
                <a:solidFill>
                  <a:srgbClr val="000000"/>
                </a:solidFill>
                <a:effectLst/>
                <a:latin typeface="Times New Roman" panose="02020603050405020304" pitchFamily="18" charset="0"/>
                <a:ea typeface="Calibri" panose="020F0502020204030204" pitchFamily="34" charset="0"/>
              </a:rPr>
              <a:t>Deux </a:t>
            </a:r>
            <a:r>
              <a:rPr lang="fr-FR" sz="1400" b="1" dirty="0">
                <a:solidFill>
                  <a:srgbClr val="000000"/>
                </a:solidFill>
                <a:effectLst/>
                <a:latin typeface="TimesNewRomanPSMT"/>
                <a:ea typeface="Calibri" panose="020F0502020204030204" pitchFamily="34" charset="0"/>
                <a:cs typeface="Arial" panose="020B0604020202020204" pitchFamily="34" charset="0"/>
              </a:rPr>
              <a:t>C* </a:t>
            </a:r>
            <a:r>
              <a:rPr lang="fr-FR" sz="1400" b="1" dirty="0">
                <a:solidFill>
                  <a:srgbClr val="000000"/>
                </a:solidFill>
                <a:effectLst/>
                <a:latin typeface="Times New Roman" panose="02020603050405020304" pitchFamily="18" charset="0"/>
                <a:ea typeface="Calibri" panose="020F0502020204030204" pitchFamily="34" charset="0"/>
              </a:rPr>
              <a:t>différents  2</a:t>
            </a:r>
            <a:r>
              <a:rPr lang="fr-FR" sz="1400" b="1" baseline="30000" dirty="0">
                <a:solidFill>
                  <a:srgbClr val="000000"/>
                </a:solidFill>
                <a:effectLst/>
                <a:latin typeface="Times New Roman" panose="02020603050405020304" pitchFamily="18" charset="0"/>
                <a:ea typeface="Calibri" panose="020F0502020204030204" pitchFamily="34" charset="0"/>
              </a:rPr>
              <a:t>2 </a:t>
            </a:r>
            <a:r>
              <a:rPr lang="fr-FR" sz="1400" b="1" dirty="0">
                <a:solidFill>
                  <a:srgbClr val="000000"/>
                </a:solidFill>
                <a:effectLst/>
                <a:latin typeface="Times New Roman" panose="02020603050405020304" pitchFamily="18" charset="0"/>
                <a:ea typeface="Calibri" panose="020F0502020204030204" pitchFamily="34" charset="0"/>
              </a:rPr>
              <a:t>= 4  stéréoisomères;</a:t>
            </a:r>
          </a:p>
          <a:p>
            <a:pPr algn="ctr"/>
            <a:r>
              <a:rPr lang="fr-FR" sz="1400" b="1" dirty="0">
                <a:solidFill>
                  <a:srgbClr val="000000"/>
                </a:solidFill>
                <a:latin typeface="Times New Roman" panose="02020603050405020304" pitchFamily="18" charset="0"/>
                <a:ea typeface="Calibri" panose="020F0502020204030204" pitchFamily="34" charset="0"/>
              </a:rPr>
              <a:t>C</a:t>
            </a:r>
            <a:r>
              <a:rPr lang="fr-FR" sz="1400" b="1" dirty="0">
                <a:solidFill>
                  <a:srgbClr val="000000"/>
                </a:solidFill>
                <a:effectLst/>
                <a:latin typeface="Times New Roman" panose="02020603050405020304" pitchFamily="18" charset="0"/>
                <a:ea typeface="Calibri" panose="020F0502020204030204" pitchFamily="34" charset="0"/>
              </a:rPr>
              <a:t>onfigurations </a:t>
            </a:r>
            <a:r>
              <a:rPr lang="fr-FR" sz="1400" b="1" i="1" dirty="0">
                <a:solidFill>
                  <a:srgbClr val="000000"/>
                </a:solidFill>
                <a:effectLst/>
                <a:latin typeface="Times New Roman" panose="02020603050405020304" pitchFamily="18" charset="0"/>
                <a:ea typeface="Calibri" panose="020F0502020204030204" pitchFamily="34" charset="0"/>
              </a:rPr>
              <a:t>RR, SS, RS et SR.</a:t>
            </a:r>
            <a:endParaRPr lang="en-US" sz="1400" b="1" dirty="0"/>
          </a:p>
        </p:txBody>
      </p:sp>
      <p:grpSp>
        <p:nvGrpSpPr>
          <p:cNvPr id="27" name="Groupe 26">
            <a:extLst>
              <a:ext uri="{FF2B5EF4-FFF2-40B4-BE49-F238E27FC236}">
                <a16:creationId xmlns:a16="http://schemas.microsoft.com/office/drawing/2014/main" id="{7E628C16-33EE-DD3D-8C4D-F5E36A11B103}"/>
              </a:ext>
            </a:extLst>
          </p:cNvPr>
          <p:cNvGrpSpPr/>
          <p:nvPr/>
        </p:nvGrpSpPr>
        <p:grpSpPr>
          <a:xfrm>
            <a:off x="973619" y="4184433"/>
            <a:ext cx="4716582" cy="1886734"/>
            <a:chOff x="1038175" y="4307502"/>
            <a:chExt cx="4139294" cy="1375410"/>
          </a:xfrm>
        </p:grpSpPr>
        <p:pic>
          <p:nvPicPr>
            <p:cNvPr id="23" name="Image 22">
              <a:extLst>
                <a:ext uri="{FF2B5EF4-FFF2-40B4-BE49-F238E27FC236}">
                  <a16:creationId xmlns:a16="http://schemas.microsoft.com/office/drawing/2014/main" id="{940DE67E-3F6E-80FA-9690-48B67726CCA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36809"/>
            <a:stretch/>
          </p:blipFill>
          <p:spPr bwMode="auto">
            <a:xfrm>
              <a:off x="1038175" y="4307502"/>
              <a:ext cx="2917599" cy="1375410"/>
            </a:xfrm>
            <a:prstGeom prst="rect">
              <a:avLst/>
            </a:prstGeom>
            <a:noFill/>
            <a:ln>
              <a:noFill/>
            </a:ln>
          </p:spPr>
        </p:pic>
        <p:pic>
          <p:nvPicPr>
            <p:cNvPr id="25" name="Image 24">
              <a:extLst>
                <a:ext uri="{FF2B5EF4-FFF2-40B4-BE49-F238E27FC236}">
                  <a16:creationId xmlns:a16="http://schemas.microsoft.com/office/drawing/2014/main" id="{C599B842-540B-4B1F-9B07-EED84E8AD9A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74643" t="22182" b="30401"/>
            <a:stretch/>
          </p:blipFill>
          <p:spPr bwMode="auto">
            <a:xfrm>
              <a:off x="4006698" y="4666647"/>
              <a:ext cx="1170771" cy="652177"/>
            </a:xfrm>
            <a:prstGeom prst="rect">
              <a:avLst/>
            </a:prstGeom>
            <a:noFill/>
            <a:ln>
              <a:noFill/>
            </a:ln>
          </p:spPr>
        </p:pic>
      </p:grpSp>
      <p:cxnSp>
        <p:nvCxnSpPr>
          <p:cNvPr id="31" name="Connecteur droit 30">
            <a:extLst>
              <a:ext uri="{FF2B5EF4-FFF2-40B4-BE49-F238E27FC236}">
                <a16:creationId xmlns:a16="http://schemas.microsoft.com/office/drawing/2014/main" id="{68E17F40-40F4-765D-D71A-3669E599BA78}"/>
              </a:ext>
            </a:extLst>
          </p:cNvPr>
          <p:cNvCxnSpPr/>
          <p:nvPr/>
        </p:nvCxnSpPr>
        <p:spPr>
          <a:xfrm>
            <a:off x="5997773" y="2071627"/>
            <a:ext cx="0" cy="4170143"/>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62920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54757" y="6419850"/>
            <a:ext cx="503168"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	Isomérie optique</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5" name="ZoneTexte 4">
            <a:extLst>
              <a:ext uri="{FF2B5EF4-FFF2-40B4-BE49-F238E27FC236}">
                <a16:creationId xmlns:a16="http://schemas.microsoft.com/office/drawing/2014/main" id="{5CA9035E-630E-AC4C-FF30-57F7F928E17E}"/>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 3.	Diastéréoisomérie des molécules à plusieurs carbones asymétriques</a:t>
            </a:r>
            <a:endParaRPr lang="en-US" b="1" kern="100" dirty="0">
              <a:latin typeface="Times New Roman" panose="02020603050405020304" pitchFamily="18" charset="0"/>
              <a:cs typeface="Arial" panose="020B0604020202020204" pitchFamily="34" charset="0"/>
            </a:endParaRPr>
          </a:p>
        </p:txBody>
      </p:sp>
      <p:sp>
        <p:nvSpPr>
          <p:cNvPr id="10" name="ZoneTexte 9">
            <a:extLst>
              <a:ext uri="{FF2B5EF4-FFF2-40B4-BE49-F238E27FC236}">
                <a16:creationId xmlns:a16="http://schemas.microsoft.com/office/drawing/2014/main" id="{917BB7DC-15DB-891D-12F0-7E7C27A3C682}"/>
              </a:ext>
            </a:extLst>
          </p:cNvPr>
          <p:cNvSpPr txBox="1"/>
          <p:nvPr/>
        </p:nvSpPr>
        <p:spPr>
          <a:xfrm>
            <a:off x="505704" y="1466198"/>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100000"/>
              <a:buFont typeface="Wingdings" panose="05000000000000000000" pitchFamily="2" charset="2"/>
              <a:buChar char="v"/>
            </a:pPr>
            <a:r>
              <a:rPr lang="fr-MA" b="1" dirty="0">
                <a:solidFill>
                  <a:srgbClr val="0B672A"/>
                </a:solidFill>
                <a:latin typeface="Times New Roman" panose="02020603050405020304" pitchFamily="18" charset="0"/>
              </a:rPr>
              <a:t>Cas de deux carbones asymétriques identiques</a:t>
            </a:r>
            <a:endParaRPr lang="en-US" b="1" dirty="0">
              <a:solidFill>
                <a:srgbClr val="0B672A"/>
              </a:solidFill>
              <a:latin typeface="Times New Roman" panose="02020603050405020304" pitchFamily="18" charset="0"/>
            </a:endParaRPr>
          </a:p>
        </p:txBody>
      </p:sp>
      <p:grpSp>
        <p:nvGrpSpPr>
          <p:cNvPr id="14" name="Groupe 13">
            <a:extLst>
              <a:ext uri="{FF2B5EF4-FFF2-40B4-BE49-F238E27FC236}">
                <a16:creationId xmlns:a16="http://schemas.microsoft.com/office/drawing/2014/main" id="{2D545A40-35E6-1360-C153-498CDF38D065}"/>
              </a:ext>
            </a:extLst>
          </p:cNvPr>
          <p:cNvGrpSpPr/>
          <p:nvPr/>
        </p:nvGrpSpPr>
        <p:grpSpPr>
          <a:xfrm>
            <a:off x="813817" y="1935119"/>
            <a:ext cx="10735453" cy="390684"/>
            <a:chOff x="813816" y="1950170"/>
            <a:chExt cx="10735453" cy="390684"/>
          </a:xfrm>
        </p:grpSpPr>
        <p:sp>
          <p:nvSpPr>
            <p:cNvPr id="9" name="ZoneTexte 8">
              <a:extLst>
                <a:ext uri="{FF2B5EF4-FFF2-40B4-BE49-F238E27FC236}">
                  <a16:creationId xmlns:a16="http://schemas.microsoft.com/office/drawing/2014/main" id="{3571FECD-34FD-46E4-B093-8DDA554A5CED}"/>
                </a:ext>
              </a:extLst>
            </p:cNvPr>
            <p:cNvSpPr txBox="1"/>
            <p:nvPr/>
          </p:nvSpPr>
          <p:spPr>
            <a:xfrm>
              <a:off x="813816" y="1950170"/>
              <a:ext cx="10735453" cy="390684"/>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présence de plan de symétrie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(2</a:t>
              </a:r>
              <a:r>
                <a:rPr lang="fr-FR" sz="1800" b="1" kern="100" baseline="300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- 1)</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stéréoisomères   </a:t>
              </a: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Avec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carbones asymétriques identiques)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Flèche : droite 10">
              <a:extLst>
                <a:ext uri="{FF2B5EF4-FFF2-40B4-BE49-F238E27FC236}">
                  <a16:creationId xmlns:a16="http://schemas.microsoft.com/office/drawing/2014/main" id="{46C772EF-8659-6DD1-656D-5243C9454292}"/>
                </a:ext>
              </a:extLst>
            </p:cNvPr>
            <p:cNvSpPr/>
            <p:nvPr/>
          </p:nvSpPr>
          <p:spPr>
            <a:xfrm>
              <a:off x="4133850" y="2096666"/>
              <a:ext cx="623446" cy="168375"/>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5" name="ZoneTexte 14">
            <a:extLst>
              <a:ext uri="{FF2B5EF4-FFF2-40B4-BE49-F238E27FC236}">
                <a16:creationId xmlns:a16="http://schemas.microsoft.com/office/drawing/2014/main" id="{2DEE935A-43B1-04C7-EDB4-5B169959FEEF}"/>
              </a:ext>
            </a:extLst>
          </p:cNvPr>
          <p:cNvSpPr txBox="1"/>
          <p:nvPr/>
        </p:nvSpPr>
        <p:spPr>
          <a:xfrm>
            <a:off x="813817" y="2358806"/>
            <a:ext cx="5278095" cy="357534"/>
          </a:xfrm>
          <a:prstGeom prst="rect">
            <a:avLst/>
          </a:prstGeom>
          <a:noFill/>
        </p:spPr>
        <p:txBody>
          <a:bodyPr wrap="square">
            <a:spAutoFit/>
          </a:bodyPr>
          <a:lstStyle/>
          <a:p>
            <a:pPr>
              <a:lnSpc>
                <a:spcPct val="115000"/>
              </a:lnSpc>
              <a:spcAft>
                <a:spcPts val="800"/>
              </a:spcAft>
            </a:pPr>
            <a:r>
              <a:rPr lang="fr-FR" sz="16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1</a:t>
            </a:r>
            <a:r>
              <a:rPr lang="fr-FR" sz="16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 </a:t>
            </a:r>
            <a:r>
              <a:rPr lang="fr-FR" sz="1600" b="1" dirty="0">
                <a:solidFill>
                  <a:srgbClr val="000000"/>
                </a:solidFill>
                <a:effectLst/>
                <a:latin typeface="TimesNewRomanPSMT"/>
                <a:ea typeface="Calibri" panose="020F0502020204030204" pitchFamily="34" charset="0"/>
                <a:cs typeface="Arial" panose="020B0604020202020204" pitchFamily="34" charset="0"/>
              </a:rPr>
              <a:t>L’acide tartrique </a:t>
            </a:r>
            <a:endParaRPr lang="en-US" sz="1400" b="1"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Image 16">
            <a:extLst>
              <a:ext uri="{FF2B5EF4-FFF2-40B4-BE49-F238E27FC236}">
                <a16:creationId xmlns:a16="http://schemas.microsoft.com/office/drawing/2014/main" id="{2282279B-5435-0D19-D596-4FB3E598B7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4313" y="2827727"/>
            <a:ext cx="6440042" cy="1954151"/>
          </a:xfrm>
          <a:prstGeom prst="rect">
            <a:avLst/>
          </a:prstGeom>
          <a:noFill/>
          <a:ln>
            <a:noFill/>
          </a:ln>
        </p:spPr>
      </p:pic>
      <p:sp>
        <p:nvSpPr>
          <p:cNvPr id="19" name="ZoneTexte 18">
            <a:extLst>
              <a:ext uri="{FF2B5EF4-FFF2-40B4-BE49-F238E27FC236}">
                <a16:creationId xmlns:a16="http://schemas.microsoft.com/office/drawing/2014/main" id="{59836033-A084-94AB-5C9B-4CA56B5417F0}"/>
              </a:ext>
            </a:extLst>
          </p:cNvPr>
          <p:cNvSpPr txBox="1"/>
          <p:nvPr/>
        </p:nvSpPr>
        <p:spPr>
          <a:xfrm>
            <a:off x="475058" y="5028991"/>
            <a:ext cx="10973992" cy="1027782"/>
          </a:xfrm>
          <a:prstGeom prst="rect">
            <a:avLst/>
          </a:prstGeom>
          <a:noFill/>
        </p:spPr>
        <p:txBody>
          <a:bodyPr wrap="square">
            <a:spAutoFit/>
          </a:bodyPr>
          <a:lstStyle/>
          <a:p>
            <a:pPr marL="342900" lvl="0" indent="-342900" algn="just" rtl="0">
              <a:lnSpc>
                <a:spcPct val="115000"/>
              </a:lnSpc>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II</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sont énantiomères, non superposables donc optiquement actifs.</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15000"/>
              </a:lnSpc>
              <a:spcAft>
                <a:spcPts val="800"/>
              </a:spcAft>
              <a:buFont typeface="Wingdings" panose="05000000000000000000" pitchFamily="2" charset="2"/>
              <a:buChar char=""/>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III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IV</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ont un plan de symétrie et sont par conséquent superposables. Il s’agit du même composé appelé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forme méso</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optiquement inactif (achiral).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0" name="Image 19">
            <a:extLst>
              <a:ext uri="{FF2B5EF4-FFF2-40B4-BE49-F238E27FC236}">
                <a16:creationId xmlns:a16="http://schemas.microsoft.com/office/drawing/2014/main" id="{A2950DDB-C82E-F1F2-77D0-3C313F339A7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7789" y="3116580"/>
            <a:ext cx="2138680" cy="624840"/>
          </a:xfrm>
          <a:prstGeom prst="rect">
            <a:avLst/>
          </a:prstGeom>
          <a:noFill/>
          <a:ln>
            <a:noFill/>
          </a:ln>
        </p:spPr>
      </p:pic>
      <p:sp>
        <p:nvSpPr>
          <p:cNvPr id="22" name="ZoneTexte 21">
            <a:extLst>
              <a:ext uri="{FF2B5EF4-FFF2-40B4-BE49-F238E27FC236}">
                <a16:creationId xmlns:a16="http://schemas.microsoft.com/office/drawing/2014/main" id="{298DE506-08E8-5ACF-8024-C9822A35E390}"/>
              </a:ext>
            </a:extLst>
          </p:cNvPr>
          <p:cNvSpPr txBox="1"/>
          <p:nvPr/>
        </p:nvSpPr>
        <p:spPr>
          <a:xfrm>
            <a:off x="460094" y="3868001"/>
            <a:ext cx="4234070" cy="523220"/>
          </a:xfrm>
          <a:prstGeom prst="rect">
            <a:avLst/>
          </a:prstGeom>
          <a:noFill/>
        </p:spPr>
        <p:txBody>
          <a:bodyPr wrap="square">
            <a:spAutoFit/>
          </a:bodyPr>
          <a:lstStyle/>
          <a:p>
            <a:pPr algn="ctr"/>
            <a:r>
              <a:rPr lang="fr-MA" sz="1400" b="1" dirty="0">
                <a:solidFill>
                  <a:srgbClr val="000000"/>
                </a:solidFill>
                <a:effectLst/>
                <a:latin typeface="Times New Roman" panose="02020603050405020304" pitchFamily="18" charset="0"/>
                <a:ea typeface="Calibri" panose="020F0502020204030204" pitchFamily="34" charset="0"/>
              </a:rPr>
              <a:t>Deux carbones asymétriques identiques.</a:t>
            </a:r>
          </a:p>
          <a:p>
            <a:pPr algn="ctr"/>
            <a:r>
              <a:rPr lang="fr-MA" sz="1400" b="1" dirty="0">
                <a:solidFill>
                  <a:srgbClr val="000000"/>
                </a:solidFill>
                <a:latin typeface="Times New Roman" panose="02020603050405020304" pitchFamily="18" charset="0"/>
                <a:ea typeface="Calibri" panose="020F0502020204030204" pitchFamily="34" charset="0"/>
              </a:rPr>
              <a:t>2</a:t>
            </a:r>
            <a:r>
              <a:rPr lang="fr-MA" sz="1400" b="1" baseline="30000" dirty="0">
                <a:solidFill>
                  <a:srgbClr val="000000"/>
                </a:solidFill>
                <a:latin typeface="Times New Roman" panose="02020603050405020304" pitchFamily="18" charset="0"/>
                <a:ea typeface="Calibri" panose="020F0502020204030204" pitchFamily="34" charset="0"/>
              </a:rPr>
              <a:t>2</a:t>
            </a:r>
            <a:r>
              <a:rPr lang="fr-MA" sz="1400" b="1" dirty="0">
                <a:solidFill>
                  <a:srgbClr val="000000"/>
                </a:solidFill>
                <a:latin typeface="Times New Roman" panose="02020603050405020304" pitchFamily="18" charset="0"/>
                <a:ea typeface="Calibri" panose="020F0502020204030204" pitchFamily="34" charset="0"/>
              </a:rPr>
              <a:t>-1=3stéréoisomères</a:t>
            </a:r>
            <a:endParaRPr lang="en-US" sz="1400" b="1" dirty="0"/>
          </a:p>
        </p:txBody>
      </p:sp>
    </p:spTree>
    <p:extLst>
      <p:ext uri="{BB962C8B-B14F-4D97-AF65-F5344CB8AC3E}">
        <p14:creationId xmlns:p14="http://schemas.microsoft.com/office/powerpoint/2010/main" val="1519623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496339" y="6327517"/>
            <a:ext cx="761586" cy="461665"/>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	Nomenclatures spéciales</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8" name="ZoneTexte 7">
            <a:extLst>
              <a:ext uri="{FF2B5EF4-FFF2-40B4-BE49-F238E27FC236}">
                <a16:creationId xmlns:a16="http://schemas.microsoft.com/office/drawing/2014/main" id="{D4F6AC04-A24C-B2C6-0580-B1C137E7DDF6}"/>
              </a:ext>
            </a:extLst>
          </p:cNvPr>
          <p:cNvSpPr txBox="1"/>
          <p:nvPr/>
        </p:nvSpPr>
        <p:spPr>
          <a:xfrm>
            <a:off x="825594" y="1639260"/>
            <a:ext cx="10864661" cy="666617"/>
          </a:xfrm>
          <a:prstGeom prst="rect">
            <a:avLst/>
          </a:prstGeom>
          <a:noFill/>
        </p:spPr>
        <p:txBody>
          <a:bodyPr wrap="square">
            <a:spAutoFit/>
          </a:bodyPr>
          <a:lstStyle/>
          <a:p>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Pour définir les configurations </a:t>
            </a:r>
            <a:r>
              <a:rPr lang="fr-MA" b="1" i="0" dirty="0" err="1">
                <a:solidFill>
                  <a:srgbClr val="0D0D0D"/>
                </a:solidFill>
                <a:effectLst/>
                <a:highlight>
                  <a:srgbClr val="FFFFFF"/>
                </a:highlight>
                <a:latin typeface="Times New Roman" panose="02020603050405020304" pitchFamily="18" charset="0"/>
                <a:cs typeface="Times New Roman" panose="02020603050405020304" pitchFamily="18" charset="0"/>
              </a:rPr>
              <a:t>Erythro</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 et </a:t>
            </a:r>
            <a:r>
              <a:rPr lang="fr-MA" b="1" dirty="0" err="1">
                <a:solidFill>
                  <a:srgbClr val="0D0D0D"/>
                </a:solidFill>
                <a:highlight>
                  <a:srgbClr val="FFFFFF"/>
                </a:highlight>
                <a:latin typeface="Times New Roman" panose="02020603050405020304" pitchFamily="18" charset="0"/>
                <a:cs typeface="Times New Roman" panose="02020603050405020304" pitchFamily="18" charset="0"/>
              </a:rPr>
              <a:t>Thréo</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 on se base sur les sucres </a:t>
            </a:r>
            <a:r>
              <a:rPr lang="fr-MA" b="1" dirty="0">
                <a:solidFill>
                  <a:srgbClr val="0D0D0D"/>
                </a:solidFill>
                <a:highlight>
                  <a:srgbClr val="FFFFFF"/>
                </a:highlight>
                <a:latin typeface="Times New Roman" panose="02020603050405020304" pitchFamily="18" charset="0"/>
                <a:cs typeface="Times New Roman" panose="02020603050405020304" pitchFamily="18" charset="0"/>
              </a:rPr>
              <a:t>Erythrose</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 et </a:t>
            </a:r>
            <a:r>
              <a:rPr lang="fr-MA" b="1" i="0" dirty="0" err="1">
                <a:solidFill>
                  <a:srgbClr val="0D0D0D"/>
                </a:solidFill>
                <a:effectLst/>
                <a:highlight>
                  <a:srgbClr val="FFFFFF"/>
                </a:highlight>
                <a:latin typeface="Times New Roman" panose="02020603050405020304" pitchFamily="18" charset="0"/>
                <a:cs typeface="Times New Roman" panose="02020603050405020304" pitchFamily="18" charset="0"/>
              </a:rPr>
              <a:t>T</a:t>
            </a:r>
            <a:r>
              <a:rPr lang="fr-MA" b="1" dirty="0" err="1">
                <a:solidFill>
                  <a:srgbClr val="0D0D0D"/>
                </a:solidFill>
                <a:highlight>
                  <a:srgbClr val="FFFFFF"/>
                </a:highlight>
                <a:latin typeface="Times New Roman" panose="02020603050405020304" pitchFamily="18" charset="0"/>
                <a:cs typeface="Times New Roman" panose="02020603050405020304" pitchFamily="18" charset="0"/>
              </a:rPr>
              <a:t>hréose</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 représentés en format Fischer, utilisés pour les molécules avec </a:t>
            </a:r>
            <a:r>
              <a:rPr lang="fr-MA" b="1" i="0" dirty="0">
                <a:solidFill>
                  <a:srgbClr val="0D0D0D"/>
                </a:solidFill>
                <a:effectLst/>
                <a:highlight>
                  <a:srgbClr val="FFFFFF"/>
                </a:highlight>
                <a:latin typeface="Times New Roman" panose="02020603050405020304" pitchFamily="18" charset="0"/>
                <a:cs typeface="Times New Roman" panose="02020603050405020304" pitchFamily="18" charset="0"/>
              </a:rPr>
              <a:t>2 C* et 2 substituants similaires</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ZoneTexte 10">
            <a:extLst>
              <a:ext uri="{FF2B5EF4-FFF2-40B4-BE49-F238E27FC236}">
                <a16:creationId xmlns:a16="http://schemas.microsoft.com/office/drawing/2014/main" id="{668F4CA9-0C5E-8721-DC4C-C0D8704F252B}"/>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 1.	Nomenclature </a:t>
            </a:r>
            <a:r>
              <a:rPr lang="fr-MA" b="1" kern="100" dirty="0" err="1">
                <a:latin typeface="Times New Roman" panose="02020603050405020304" pitchFamily="18" charset="0"/>
                <a:cs typeface="Arial" panose="020B0604020202020204" pitchFamily="34" charset="0"/>
              </a:rPr>
              <a:t>Threo</a:t>
            </a:r>
            <a:r>
              <a:rPr lang="fr-MA" b="1" kern="100" dirty="0">
                <a:latin typeface="Times New Roman" panose="02020603050405020304" pitchFamily="18" charset="0"/>
                <a:cs typeface="Arial" panose="020B0604020202020204" pitchFamily="34" charset="0"/>
              </a:rPr>
              <a:t> et </a:t>
            </a:r>
            <a:r>
              <a:rPr lang="fr-MA" b="1" kern="100" dirty="0" err="1">
                <a:latin typeface="Times New Roman" panose="02020603050405020304" pitchFamily="18" charset="0"/>
                <a:cs typeface="Arial" panose="020B0604020202020204" pitchFamily="34" charset="0"/>
              </a:rPr>
              <a:t>Erhyto</a:t>
            </a:r>
            <a:endParaRPr lang="en-US" b="1" kern="100" dirty="0">
              <a:latin typeface="Times New Roman" panose="02020603050405020304" pitchFamily="18" charset="0"/>
              <a:cs typeface="Arial" panose="020B0604020202020204" pitchFamily="34" charset="0"/>
            </a:endParaRPr>
          </a:p>
        </p:txBody>
      </p:sp>
      <p:pic>
        <p:nvPicPr>
          <p:cNvPr id="12" name="Image 11">
            <a:extLst>
              <a:ext uri="{FF2B5EF4-FFF2-40B4-BE49-F238E27FC236}">
                <a16:creationId xmlns:a16="http://schemas.microsoft.com/office/drawing/2014/main" id="{1B9D0E04-97DB-6E0C-B880-261503432EA6}"/>
              </a:ext>
            </a:extLst>
          </p:cNvPr>
          <p:cNvPicPr>
            <a:picLocks noChangeAspect="1"/>
          </p:cNvPicPr>
          <p:nvPr/>
        </p:nvPicPr>
        <p:blipFill>
          <a:blip r:embed="rId3"/>
          <a:stretch>
            <a:fillRect/>
          </a:stretch>
        </p:blipFill>
        <p:spPr>
          <a:xfrm>
            <a:off x="3333634" y="2217203"/>
            <a:ext cx="5848579" cy="2303212"/>
          </a:xfrm>
          <a:prstGeom prst="rect">
            <a:avLst/>
          </a:prstGeom>
        </p:spPr>
      </p:pic>
      <p:sp>
        <p:nvSpPr>
          <p:cNvPr id="13" name="Rectangle 1">
            <a:extLst>
              <a:ext uri="{FF2B5EF4-FFF2-40B4-BE49-F238E27FC236}">
                <a16:creationId xmlns:a16="http://schemas.microsoft.com/office/drawing/2014/main" id="{7BC506D2-F87C-3E9D-6106-673123B0979B}"/>
              </a:ext>
            </a:extLst>
          </p:cNvPr>
          <p:cNvSpPr>
            <a:spLocks noChangeArrowheads="1"/>
          </p:cNvSpPr>
          <p:nvPr/>
        </p:nvSpPr>
        <p:spPr bwMode="auto">
          <a:xfrm>
            <a:off x="813817" y="4472845"/>
            <a:ext cx="10864661"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1200"/>
              </a:spcAft>
              <a:buClrTx/>
              <a:buSzTx/>
              <a:buFontTx/>
              <a:buNone/>
              <a:tabLst/>
            </a:pPr>
            <a:r>
              <a:rPr kumimoji="0" lang="fr-FR"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 représentation de Fischer :</a:t>
            </a:r>
          </a:p>
          <a:p>
            <a:pPr marL="285750" marR="0" lvl="0" indent="-285750" algn="just"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lang="fr-FR" altLang="en-US" b="1" dirty="0" err="1">
                <a:solidFill>
                  <a:schemeClr val="accent5">
                    <a:lumMod val="75000"/>
                  </a:schemeClr>
                </a:solidFill>
                <a:latin typeface="Times New Roman" panose="02020603050405020304" pitchFamily="18" charset="0"/>
                <a:cs typeface="Times New Roman" panose="02020603050405020304" pitchFamily="18" charset="0"/>
              </a:rPr>
              <a:t>Thréo</a:t>
            </a:r>
            <a:r>
              <a:rPr kumimoji="0" lang="fr-FR"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désigne les composés où les substituants </a:t>
            </a:r>
            <a:r>
              <a:rPr lang="fr-FR" sz="1800" dirty="0">
                <a:solidFill>
                  <a:srgbClr val="000000"/>
                </a:solidFill>
                <a:effectLst/>
                <a:latin typeface="Times New Roman" panose="02020603050405020304" pitchFamily="18" charset="0"/>
                <a:ea typeface="Calibri" panose="020F0502020204030204" pitchFamily="34" charset="0"/>
              </a:rPr>
              <a:t>identiques ou de même ordre de grandeur</a:t>
            </a:r>
            <a:r>
              <a:rPr kumimoji="0" lang="fr-FR"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sont équilibrés de part et d'autre de la chaîne carbonée, disposés verticalement.</a:t>
            </a:r>
          </a:p>
          <a:p>
            <a:pPr marL="285750" marR="0" lvl="0" indent="-285750" algn="just"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fr-FR" altLang="en-US" sz="1800" b="1" i="0" u="none" strike="noStrike" cap="none" normalizeH="0" baseline="0" dirty="0" err="1">
                <a:ln>
                  <a:noFill/>
                </a:ln>
                <a:solidFill>
                  <a:schemeClr val="accent5">
                    <a:lumMod val="75000"/>
                  </a:schemeClr>
                </a:solidFill>
                <a:effectLst/>
                <a:latin typeface="Times New Roman" panose="02020603050405020304" pitchFamily="18" charset="0"/>
                <a:cs typeface="Times New Roman" panose="02020603050405020304" pitchFamily="18" charset="0"/>
              </a:rPr>
              <a:t>Erythro</a:t>
            </a:r>
            <a:r>
              <a:rPr kumimoji="0" lang="fr-FR"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désigne les composés où les substituants </a:t>
            </a:r>
            <a:r>
              <a:rPr lang="fr-FR" sz="1800" dirty="0">
                <a:solidFill>
                  <a:srgbClr val="000000"/>
                </a:solidFill>
                <a:effectLst/>
                <a:latin typeface="Times New Roman" panose="02020603050405020304" pitchFamily="18" charset="0"/>
                <a:ea typeface="Calibri" panose="020F0502020204030204" pitchFamily="34" charset="0"/>
              </a:rPr>
              <a:t>identiques ou de même ordre de grandeur</a:t>
            </a:r>
            <a:r>
              <a:rPr kumimoji="0" lang="fr-FR"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sont du même côté de la chaîne carbonée, disposés verticalement.</a:t>
            </a:r>
          </a:p>
        </p:txBody>
      </p:sp>
      <p:sp>
        <p:nvSpPr>
          <p:cNvPr id="14" name="Rectangle 2">
            <a:extLst>
              <a:ext uri="{FF2B5EF4-FFF2-40B4-BE49-F238E27FC236}">
                <a16:creationId xmlns:a16="http://schemas.microsoft.com/office/drawing/2014/main" id="{4935C4B1-DAB4-8DE7-97FB-1C66630F76D4}"/>
              </a:ext>
            </a:extLst>
          </p:cNvPr>
          <p:cNvSpPr>
            <a:spLocks noChangeArrowheads="1"/>
          </p:cNvSpPr>
          <p:nvPr/>
        </p:nvSpPr>
        <p:spPr bwMode="auto">
          <a:xfrm>
            <a:off x="0" y="0"/>
            <a:ext cx="13398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4567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496339" y="6327517"/>
            <a:ext cx="761586" cy="461665"/>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36</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	Nomenclatures spéciales</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1" name="ZoneTexte 10">
            <a:extLst>
              <a:ext uri="{FF2B5EF4-FFF2-40B4-BE49-F238E27FC236}">
                <a16:creationId xmlns:a16="http://schemas.microsoft.com/office/drawing/2014/main" id="{668F4CA9-0C5E-8721-DC4C-C0D8704F252B}"/>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 1.	Nomenclature </a:t>
            </a:r>
            <a:r>
              <a:rPr lang="fr-MA" b="1" kern="100" dirty="0" err="1">
                <a:latin typeface="Times New Roman" panose="02020603050405020304" pitchFamily="18" charset="0"/>
                <a:cs typeface="Arial" panose="020B0604020202020204" pitchFamily="34" charset="0"/>
              </a:rPr>
              <a:t>Threo</a:t>
            </a:r>
            <a:r>
              <a:rPr lang="fr-MA" b="1" kern="100" dirty="0">
                <a:latin typeface="Times New Roman" panose="02020603050405020304" pitchFamily="18" charset="0"/>
                <a:cs typeface="Arial" panose="020B0604020202020204" pitchFamily="34" charset="0"/>
              </a:rPr>
              <a:t> et </a:t>
            </a:r>
            <a:r>
              <a:rPr lang="fr-MA" b="1" kern="100" dirty="0" err="1">
                <a:latin typeface="Times New Roman" panose="02020603050405020304" pitchFamily="18" charset="0"/>
                <a:cs typeface="Arial" panose="020B0604020202020204" pitchFamily="34" charset="0"/>
              </a:rPr>
              <a:t>Erhyto</a:t>
            </a:r>
            <a:endParaRPr lang="en-US" b="1" kern="100" dirty="0">
              <a:latin typeface="Times New Roman" panose="02020603050405020304" pitchFamily="18" charset="0"/>
              <a:cs typeface="Arial" panose="020B0604020202020204" pitchFamily="34" charset="0"/>
            </a:endParaRPr>
          </a:p>
        </p:txBody>
      </p:sp>
      <p:sp>
        <p:nvSpPr>
          <p:cNvPr id="14" name="Rectangle 2">
            <a:extLst>
              <a:ext uri="{FF2B5EF4-FFF2-40B4-BE49-F238E27FC236}">
                <a16:creationId xmlns:a16="http://schemas.microsoft.com/office/drawing/2014/main" id="{4935C4B1-DAB4-8DE7-97FB-1C66630F76D4}"/>
              </a:ext>
            </a:extLst>
          </p:cNvPr>
          <p:cNvSpPr>
            <a:spLocks noChangeArrowheads="1"/>
          </p:cNvSpPr>
          <p:nvPr/>
        </p:nvSpPr>
        <p:spPr bwMode="auto">
          <a:xfrm>
            <a:off x="0" y="0"/>
            <a:ext cx="13398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ZoneTexte 8">
            <a:extLst>
              <a:ext uri="{FF2B5EF4-FFF2-40B4-BE49-F238E27FC236}">
                <a16:creationId xmlns:a16="http://schemas.microsoft.com/office/drawing/2014/main" id="{BB09B454-D732-2228-4F4C-C274D1EBD7D4}"/>
              </a:ext>
            </a:extLst>
          </p:cNvPr>
          <p:cNvSpPr txBox="1"/>
          <p:nvPr/>
        </p:nvSpPr>
        <p:spPr>
          <a:xfrm>
            <a:off x="813817" y="1620068"/>
            <a:ext cx="10919101"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Par analogie avec les sucres </a:t>
            </a:r>
            <a:r>
              <a:rPr lang="fr-FR" sz="1800" dirty="0" err="1">
                <a:solidFill>
                  <a:srgbClr val="000000"/>
                </a:solidFill>
                <a:effectLst/>
                <a:latin typeface="Times New Roman" panose="02020603050405020304" pitchFamily="18" charset="0"/>
                <a:ea typeface="Calibri" panose="020F0502020204030204" pitchFamily="34" charset="0"/>
              </a:rPr>
              <a:t>thrèose</a:t>
            </a:r>
            <a:r>
              <a:rPr lang="fr-FR" sz="1800" dirty="0">
                <a:solidFill>
                  <a:srgbClr val="000000"/>
                </a:solidFill>
                <a:effectLst/>
                <a:latin typeface="Times New Roman" panose="02020603050405020304" pitchFamily="18" charset="0"/>
                <a:ea typeface="Calibri" panose="020F0502020204030204" pitchFamily="34" charset="0"/>
              </a:rPr>
              <a:t> et érythrose, cette nomenclature est généralisée à d’autres molécules :</a:t>
            </a:r>
            <a:endParaRPr lang="en-US" dirty="0"/>
          </a:p>
        </p:txBody>
      </p:sp>
      <p:pic>
        <p:nvPicPr>
          <p:cNvPr id="16" name="Image 15">
            <a:extLst>
              <a:ext uri="{FF2B5EF4-FFF2-40B4-BE49-F238E27FC236}">
                <a16:creationId xmlns:a16="http://schemas.microsoft.com/office/drawing/2014/main" id="{FAFB3A01-69E8-518F-ED44-B932A52FC7B9}"/>
              </a:ext>
            </a:extLst>
          </p:cNvPr>
          <p:cNvPicPr>
            <a:picLocks noChangeAspect="1"/>
          </p:cNvPicPr>
          <p:nvPr/>
        </p:nvPicPr>
        <p:blipFill rotWithShape="1">
          <a:blip r:embed="rId3"/>
          <a:srcRect l="-1" r="33056" b="31367"/>
          <a:stretch/>
        </p:blipFill>
        <p:spPr>
          <a:xfrm>
            <a:off x="4708870" y="2093685"/>
            <a:ext cx="2774260" cy="1907512"/>
          </a:xfrm>
          <a:prstGeom prst="rect">
            <a:avLst/>
          </a:prstGeom>
        </p:spPr>
      </p:pic>
      <p:sp>
        <p:nvSpPr>
          <p:cNvPr id="17" name="ZoneTexte 16">
            <a:extLst>
              <a:ext uri="{FF2B5EF4-FFF2-40B4-BE49-F238E27FC236}">
                <a16:creationId xmlns:a16="http://schemas.microsoft.com/office/drawing/2014/main" id="{58D550AC-2618-3F8D-05CC-4CC347050EAD}"/>
              </a:ext>
            </a:extLst>
          </p:cNvPr>
          <p:cNvSpPr txBox="1"/>
          <p:nvPr/>
        </p:nvSpPr>
        <p:spPr>
          <a:xfrm>
            <a:off x="922268" y="3919832"/>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8" name="Image 17">
            <a:extLst>
              <a:ext uri="{FF2B5EF4-FFF2-40B4-BE49-F238E27FC236}">
                <a16:creationId xmlns:a16="http://schemas.microsoft.com/office/drawing/2014/main" id="{4850353A-A603-A898-762D-AE0C991BB057}"/>
              </a:ext>
            </a:extLst>
          </p:cNvPr>
          <p:cNvPicPr>
            <a:picLocks noChangeAspect="1"/>
          </p:cNvPicPr>
          <p:nvPr/>
        </p:nvPicPr>
        <p:blipFill rotWithShape="1">
          <a:blip r:embed="rId4"/>
          <a:srcRect r="33107" b="31025"/>
          <a:stretch/>
        </p:blipFill>
        <p:spPr>
          <a:xfrm>
            <a:off x="2412358" y="4411427"/>
            <a:ext cx="7367283" cy="1907512"/>
          </a:xfrm>
          <a:prstGeom prst="rect">
            <a:avLst/>
          </a:prstGeom>
        </p:spPr>
      </p:pic>
      <p:cxnSp>
        <p:nvCxnSpPr>
          <p:cNvPr id="22" name="Connecteur droit 21">
            <a:extLst>
              <a:ext uri="{FF2B5EF4-FFF2-40B4-BE49-F238E27FC236}">
                <a16:creationId xmlns:a16="http://schemas.microsoft.com/office/drawing/2014/main" id="{E7BB2334-42F4-619D-36A4-BC33DE98CD5C}"/>
              </a:ext>
            </a:extLst>
          </p:cNvPr>
          <p:cNvCxnSpPr/>
          <p:nvPr/>
        </p:nvCxnSpPr>
        <p:spPr>
          <a:xfrm>
            <a:off x="6096000" y="4552122"/>
            <a:ext cx="0" cy="1642114"/>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59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496339" y="6327517"/>
            <a:ext cx="761586" cy="461665"/>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37</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	Nomenclatures spéciales</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1" name="ZoneTexte 10">
            <a:extLst>
              <a:ext uri="{FF2B5EF4-FFF2-40B4-BE49-F238E27FC236}">
                <a16:creationId xmlns:a16="http://schemas.microsoft.com/office/drawing/2014/main" id="{668F4CA9-0C5E-8721-DC4C-C0D8704F252B}"/>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 2.	Configurations D et L</a:t>
            </a:r>
            <a:endParaRPr lang="en-US" b="1" kern="100" dirty="0">
              <a:latin typeface="Times New Roman" panose="02020603050405020304" pitchFamily="18" charset="0"/>
              <a:cs typeface="Arial" panose="020B0604020202020204" pitchFamily="34" charset="0"/>
            </a:endParaRPr>
          </a:p>
        </p:txBody>
      </p:sp>
      <p:sp>
        <p:nvSpPr>
          <p:cNvPr id="14" name="Rectangle 2">
            <a:extLst>
              <a:ext uri="{FF2B5EF4-FFF2-40B4-BE49-F238E27FC236}">
                <a16:creationId xmlns:a16="http://schemas.microsoft.com/office/drawing/2014/main" id="{4935C4B1-DAB4-8DE7-97FB-1C66630F76D4}"/>
              </a:ext>
            </a:extLst>
          </p:cNvPr>
          <p:cNvSpPr>
            <a:spLocks noChangeArrowheads="1"/>
          </p:cNvSpPr>
          <p:nvPr/>
        </p:nvSpPr>
        <p:spPr bwMode="auto">
          <a:xfrm>
            <a:off x="0" y="0"/>
            <a:ext cx="13398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Image 8">
            <a:extLst>
              <a:ext uri="{FF2B5EF4-FFF2-40B4-BE49-F238E27FC236}">
                <a16:creationId xmlns:a16="http://schemas.microsoft.com/office/drawing/2014/main" id="{3647B0EF-D943-F4CC-7386-3F25534F12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26042" y="2276443"/>
            <a:ext cx="6014212" cy="1639404"/>
          </a:xfrm>
          <a:prstGeom prst="rect">
            <a:avLst/>
          </a:prstGeom>
          <a:noFill/>
          <a:ln>
            <a:noFill/>
          </a:ln>
        </p:spPr>
      </p:pic>
      <p:sp>
        <p:nvSpPr>
          <p:cNvPr id="12" name="ZoneTexte 11">
            <a:extLst>
              <a:ext uri="{FF2B5EF4-FFF2-40B4-BE49-F238E27FC236}">
                <a16:creationId xmlns:a16="http://schemas.microsoft.com/office/drawing/2014/main" id="{290C32F0-E672-F4DB-5D6A-64D4CCF8D441}"/>
              </a:ext>
            </a:extLst>
          </p:cNvPr>
          <p:cNvSpPr txBox="1"/>
          <p:nvPr/>
        </p:nvSpPr>
        <p:spPr>
          <a:xfrm>
            <a:off x="813816" y="1594080"/>
            <a:ext cx="10964053" cy="646331"/>
          </a:xfrm>
          <a:prstGeom prst="rect">
            <a:avLst/>
          </a:prstGeom>
          <a:noFill/>
        </p:spPr>
        <p:txBody>
          <a:bodyPr wrap="square">
            <a:spAutoFit/>
          </a:bodyPr>
          <a:lstStyle/>
          <a:p>
            <a:pPr>
              <a:spcAft>
                <a:spcPts val="600"/>
              </a:spcAft>
            </a:pPr>
            <a:r>
              <a:rPr lang="fr-MA" dirty="0">
                <a:solidFill>
                  <a:srgbClr val="000000"/>
                </a:solidFill>
                <a:latin typeface="TimesNewRomanPSMT"/>
              </a:rPr>
              <a:t>Pour un sucre représenté en Fischer, on compare la position du </a:t>
            </a:r>
            <a:r>
              <a:rPr lang="fr-MA" b="1" dirty="0">
                <a:solidFill>
                  <a:srgbClr val="000000"/>
                </a:solidFill>
                <a:latin typeface="TimesNewRomanPSMT"/>
              </a:rPr>
              <a:t>OH </a:t>
            </a:r>
            <a:r>
              <a:rPr lang="fr-MA" dirty="0">
                <a:solidFill>
                  <a:srgbClr val="000000"/>
                </a:solidFill>
                <a:latin typeface="TimesNewRomanPSMT"/>
              </a:rPr>
              <a:t>du carbone asymétrique le plus éloigné du carbone le plus oxydé à celle du OH du glycéraldéhyde.</a:t>
            </a:r>
            <a:endParaRPr lang="en-US" dirty="0"/>
          </a:p>
        </p:txBody>
      </p:sp>
      <p:sp>
        <p:nvSpPr>
          <p:cNvPr id="15" name="Rectangle 4">
            <a:extLst>
              <a:ext uri="{FF2B5EF4-FFF2-40B4-BE49-F238E27FC236}">
                <a16:creationId xmlns:a16="http://schemas.microsoft.com/office/drawing/2014/main" id="{7080F56A-A985-2F17-F343-38C6CD78B84F}"/>
              </a:ext>
            </a:extLst>
          </p:cNvPr>
          <p:cNvSpPr>
            <a:spLocks noChangeArrowheads="1"/>
          </p:cNvSpPr>
          <p:nvPr/>
        </p:nvSpPr>
        <p:spPr bwMode="auto">
          <a:xfrm>
            <a:off x="0" y="0"/>
            <a:ext cx="42672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ZoneTexte 18">
            <a:extLst>
              <a:ext uri="{FF2B5EF4-FFF2-40B4-BE49-F238E27FC236}">
                <a16:creationId xmlns:a16="http://schemas.microsoft.com/office/drawing/2014/main" id="{F1C3F7BE-454C-46BB-7674-379E93335367}"/>
              </a:ext>
            </a:extLst>
          </p:cNvPr>
          <p:cNvSpPr txBox="1"/>
          <p:nvPr/>
        </p:nvSpPr>
        <p:spPr>
          <a:xfrm>
            <a:off x="904045" y="4992272"/>
            <a:ext cx="6281530" cy="1232966"/>
          </a:xfrm>
          <a:prstGeom prst="rect">
            <a:avLst/>
          </a:prstGeom>
          <a:noFill/>
        </p:spPr>
        <p:txBody>
          <a:bodyPr wrap="square">
            <a:spAutoFit/>
          </a:bodyPr>
          <a:lstStyle/>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Attention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Il ne faut pas confondre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D</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avec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d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D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une configuration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spcAft>
                <a:spcPts val="800"/>
              </a:spcAft>
            </a:pP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d</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ou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le signe de pouvoir rotatoire.</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1" name="ZoneTexte 20">
            <a:extLst>
              <a:ext uri="{FF2B5EF4-FFF2-40B4-BE49-F238E27FC236}">
                <a16:creationId xmlns:a16="http://schemas.microsoft.com/office/drawing/2014/main" id="{04258BD1-B4D8-726E-EDC1-0B2B046108FA}"/>
              </a:ext>
            </a:extLst>
          </p:cNvPr>
          <p:cNvSpPr txBox="1"/>
          <p:nvPr/>
        </p:nvSpPr>
        <p:spPr>
          <a:xfrm>
            <a:off x="897212" y="4243662"/>
            <a:ext cx="10880657" cy="646331"/>
          </a:xfrm>
          <a:prstGeom prst="rect">
            <a:avLst/>
          </a:prstGeom>
          <a:noFill/>
        </p:spPr>
        <p:txBody>
          <a:bodyPr wrap="square">
            <a:spAutoFit/>
          </a:bodyPr>
          <a:lstStyle/>
          <a:p>
            <a:r>
              <a:rPr lang="fr-MA" sz="1800" b="0" i="0" dirty="0">
                <a:solidFill>
                  <a:srgbClr val="000000"/>
                </a:solidFill>
                <a:effectLst/>
                <a:latin typeface="TimesNewRomanPSMT"/>
              </a:rPr>
              <a:t>Le glycéraldéhyde est dit </a:t>
            </a:r>
            <a:r>
              <a:rPr lang="fr-MA" sz="1800" b="1" i="0" dirty="0">
                <a:solidFill>
                  <a:schemeClr val="accent2">
                    <a:lumMod val="60000"/>
                    <a:lumOff val="40000"/>
                  </a:schemeClr>
                </a:solidFill>
                <a:effectLst/>
                <a:latin typeface="TimesNewRomanPS-BoldMT"/>
              </a:rPr>
              <a:t>D</a:t>
            </a:r>
            <a:r>
              <a:rPr lang="fr-MA" sz="1800" b="1" i="0" dirty="0">
                <a:solidFill>
                  <a:srgbClr val="FF0000"/>
                </a:solidFill>
                <a:effectLst/>
                <a:latin typeface="TimesNewRomanPS-BoldMT"/>
              </a:rPr>
              <a:t> </a:t>
            </a:r>
            <a:r>
              <a:rPr lang="fr-MA" sz="1800" b="0" i="0" dirty="0">
                <a:solidFill>
                  <a:srgbClr val="000000"/>
                </a:solidFill>
                <a:effectLst/>
                <a:latin typeface="TimesNewRomanPSMT"/>
              </a:rPr>
              <a:t>si le </a:t>
            </a:r>
            <a:r>
              <a:rPr lang="fr-MA" sz="1800" b="1" i="0" dirty="0">
                <a:solidFill>
                  <a:schemeClr val="accent2">
                    <a:lumMod val="60000"/>
                    <a:lumOff val="40000"/>
                  </a:schemeClr>
                </a:solidFill>
                <a:effectLst/>
                <a:latin typeface="TimesNewRomanPS-BoldMT"/>
              </a:rPr>
              <a:t>OH</a:t>
            </a:r>
            <a:r>
              <a:rPr lang="fr-MA" sz="1800" b="1" i="0" dirty="0">
                <a:solidFill>
                  <a:srgbClr val="FF0000"/>
                </a:solidFill>
                <a:effectLst/>
                <a:latin typeface="TimesNewRomanPS-BoldMT"/>
              </a:rPr>
              <a:t> </a:t>
            </a:r>
            <a:r>
              <a:rPr lang="fr-MA" sz="1800" b="0" i="0" dirty="0">
                <a:solidFill>
                  <a:srgbClr val="000000"/>
                </a:solidFill>
                <a:effectLst/>
                <a:latin typeface="TimesNewRomanPSMT"/>
              </a:rPr>
              <a:t>se trouve à </a:t>
            </a:r>
            <a:r>
              <a:rPr lang="fr-MA" sz="1800" b="1" i="0" dirty="0">
                <a:solidFill>
                  <a:schemeClr val="accent2">
                    <a:lumMod val="60000"/>
                    <a:lumOff val="40000"/>
                  </a:schemeClr>
                </a:solidFill>
                <a:effectLst/>
                <a:latin typeface="TimesNewRomanPSMT"/>
              </a:rPr>
              <a:t>droite</a:t>
            </a:r>
            <a:r>
              <a:rPr lang="fr-MA" sz="1800" b="0" i="0" dirty="0">
                <a:solidFill>
                  <a:srgbClr val="000000"/>
                </a:solidFill>
                <a:effectLst/>
                <a:latin typeface="TimesNewRomanPSMT"/>
              </a:rPr>
              <a:t> de la chaîne carbonée, </a:t>
            </a:r>
            <a:r>
              <a:rPr lang="fr-MA" sz="1800" b="1" i="0" dirty="0">
                <a:solidFill>
                  <a:srgbClr val="0B672A"/>
                </a:solidFill>
                <a:effectLst/>
                <a:latin typeface="TimesNewRomanPS-BoldMT"/>
              </a:rPr>
              <a:t>L</a:t>
            </a:r>
            <a:r>
              <a:rPr lang="fr-MA" sz="1800" b="1" i="0" dirty="0">
                <a:solidFill>
                  <a:srgbClr val="FF0000"/>
                </a:solidFill>
                <a:effectLst/>
                <a:latin typeface="TimesNewRomanPS-BoldMT"/>
              </a:rPr>
              <a:t> </a:t>
            </a:r>
            <a:r>
              <a:rPr lang="fr-MA" sz="1800" b="1" i="0" dirty="0">
                <a:solidFill>
                  <a:srgbClr val="000000"/>
                </a:solidFill>
                <a:effectLst/>
                <a:latin typeface="TimesNewRomanPS-BoldMT"/>
              </a:rPr>
              <a:t>si </a:t>
            </a:r>
            <a:r>
              <a:rPr lang="fr-MA" sz="1800" b="1" i="0" dirty="0">
                <a:solidFill>
                  <a:srgbClr val="0B672A"/>
                </a:solidFill>
                <a:effectLst/>
                <a:latin typeface="TimesNewRomanPS-BoldMT"/>
              </a:rPr>
              <a:t>OH </a:t>
            </a:r>
            <a:r>
              <a:rPr lang="fr-MA" sz="1800" b="0" i="0" dirty="0">
                <a:solidFill>
                  <a:srgbClr val="000000"/>
                </a:solidFill>
                <a:effectLst/>
                <a:latin typeface="TimesNewRomanPSMT"/>
              </a:rPr>
              <a:t>est à </a:t>
            </a:r>
            <a:r>
              <a:rPr lang="fr-MA" sz="1800" b="1" i="0" dirty="0">
                <a:solidFill>
                  <a:srgbClr val="0B672A"/>
                </a:solidFill>
                <a:effectLst/>
                <a:latin typeface="TimesNewRomanPSMT"/>
              </a:rPr>
              <a:t>gauche</a:t>
            </a:r>
            <a:r>
              <a:rPr lang="fr-MA" sz="1600" b="0" i="0" dirty="0">
                <a:solidFill>
                  <a:srgbClr val="000000"/>
                </a:solidFill>
                <a:effectLst/>
                <a:latin typeface="TimesNewRomanPSMT"/>
              </a:rPr>
              <a:t>.</a:t>
            </a:r>
            <a:r>
              <a:rPr lang="fr-MA" dirty="0"/>
              <a:t> </a:t>
            </a:r>
            <a:br>
              <a:rPr lang="fr-MA" dirty="0"/>
            </a:br>
            <a:endParaRPr lang="en-US" dirty="0"/>
          </a:p>
        </p:txBody>
      </p:sp>
    </p:spTree>
    <p:extLst>
      <p:ext uri="{BB962C8B-B14F-4D97-AF65-F5344CB8AC3E}">
        <p14:creationId xmlns:p14="http://schemas.microsoft.com/office/powerpoint/2010/main" val="842502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496339" y="6327517"/>
            <a:ext cx="761586" cy="461665"/>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38</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	Nomenclatures spéciales</a:t>
            </a:r>
            <a:endParaRPr lang="en-US" sz="2400" b="1" kern="100" dirty="0">
              <a:solidFill>
                <a:schemeClr val="accent2">
                  <a:lumMod val="60000"/>
                  <a:lumOff val="40000"/>
                </a:schemeClr>
              </a:solidFill>
              <a:latin typeface="Times New Roman" panose="02020603050405020304" pitchFamily="18" charset="0"/>
              <a:cs typeface="Arial" panose="020B0604020202020204" pitchFamily="34" charset="0"/>
            </a:endParaRP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11" name="ZoneTexte 10">
            <a:extLst>
              <a:ext uri="{FF2B5EF4-FFF2-40B4-BE49-F238E27FC236}">
                <a16:creationId xmlns:a16="http://schemas.microsoft.com/office/drawing/2014/main" id="{668F4CA9-0C5E-8721-DC4C-C0D8704F252B}"/>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 2.	Configurations D et L</a:t>
            </a:r>
            <a:endParaRPr lang="en-US" b="1" kern="100" dirty="0">
              <a:latin typeface="Times New Roman" panose="02020603050405020304" pitchFamily="18" charset="0"/>
              <a:cs typeface="Arial" panose="020B0604020202020204" pitchFamily="34" charset="0"/>
            </a:endParaRPr>
          </a:p>
        </p:txBody>
      </p:sp>
      <p:sp>
        <p:nvSpPr>
          <p:cNvPr id="14" name="Rectangle 2">
            <a:extLst>
              <a:ext uri="{FF2B5EF4-FFF2-40B4-BE49-F238E27FC236}">
                <a16:creationId xmlns:a16="http://schemas.microsoft.com/office/drawing/2014/main" id="{4935C4B1-DAB4-8DE7-97FB-1C66630F76D4}"/>
              </a:ext>
            </a:extLst>
          </p:cNvPr>
          <p:cNvSpPr>
            <a:spLocks noChangeArrowheads="1"/>
          </p:cNvSpPr>
          <p:nvPr/>
        </p:nvSpPr>
        <p:spPr bwMode="auto">
          <a:xfrm>
            <a:off x="0" y="0"/>
            <a:ext cx="13398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7080F56A-A985-2F17-F343-38C6CD78B84F}"/>
              </a:ext>
            </a:extLst>
          </p:cNvPr>
          <p:cNvSpPr>
            <a:spLocks noChangeArrowheads="1"/>
          </p:cNvSpPr>
          <p:nvPr/>
        </p:nvSpPr>
        <p:spPr bwMode="auto">
          <a:xfrm>
            <a:off x="0" y="0"/>
            <a:ext cx="42672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ZoneTexte 21">
            <a:extLst>
              <a:ext uri="{FF2B5EF4-FFF2-40B4-BE49-F238E27FC236}">
                <a16:creationId xmlns:a16="http://schemas.microsoft.com/office/drawing/2014/main" id="{608C143E-8D60-8B46-5326-6D98B8DC60C6}"/>
              </a:ext>
            </a:extLst>
          </p:cNvPr>
          <p:cNvSpPr txBox="1"/>
          <p:nvPr/>
        </p:nvSpPr>
        <p:spPr>
          <a:xfrm>
            <a:off x="950843" y="1594079"/>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7" name="Image 26">
            <a:extLst>
              <a:ext uri="{FF2B5EF4-FFF2-40B4-BE49-F238E27FC236}">
                <a16:creationId xmlns:a16="http://schemas.microsoft.com/office/drawing/2014/main" id="{E652C255-3C47-3BC2-2189-31FBD0F050B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636065" y="1527740"/>
            <a:ext cx="5716657" cy="2335354"/>
          </a:xfrm>
          <a:prstGeom prst="rect">
            <a:avLst/>
          </a:prstGeom>
        </p:spPr>
      </p:pic>
      <p:sp>
        <p:nvSpPr>
          <p:cNvPr id="28" name="ZoneTexte 27">
            <a:extLst>
              <a:ext uri="{FF2B5EF4-FFF2-40B4-BE49-F238E27FC236}">
                <a16:creationId xmlns:a16="http://schemas.microsoft.com/office/drawing/2014/main" id="{33102F08-7E94-B0F6-E7A4-447AC9A37ECD}"/>
              </a:ext>
            </a:extLst>
          </p:cNvPr>
          <p:cNvSpPr txBox="1"/>
          <p:nvPr/>
        </p:nvSpPr>
        <p:spPr>
          <a:xfrm>
            <a:off x="950842" y="3607877"/>
            <a:ext cx="1454428"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Remarque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0" name="ZoneTexte 29">
            <a:extLst>
              <a:ext uri="{FF2B5EF4-FFF2-40B4-BE49-F238E27FC236}">
                <a16:creationId xmlns:a16="http://schemas.microsoft.com/office/drawing/2014/main" id="{5D1EE28D-7F1B-4B55-2335-453B524BFF14}"/>
              </a:ext>
            </a:extLst>
          </p:cNvPr>
          <p:cNvSpPr txBox="1"/>
          <p:nvPr/>
        </p:nvSpPr>
        <p:spPr>
          <a:xfrm>
            <a:off x="993084" y="3982873"/>
            <a:ext cx="7832863" cy="39068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 groupement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amine</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pris comme référence dans le cas des </a:t>
            </a:r>
            <a:r>
              <a:rPr lang="fr-FR" sz="1800"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acides aminés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4" name="ZoneTexte 33">
            <a:extLst>
              <a:ext uri="{FF2B5EF4-FFF2-40B4-BE49-F238E27FC236}">
                <a16:creationId xmlns:a16="http://schemas.microsoft.com/office/drawing/2014/main" id="{FD64305D-F8E5-5487-3712-AAABE7D11312}"/>
              </a:ext>
            </a:extLst>
          </p:cNvPr>
          <p:cNvSpPr txBox="1"/>
          <p:nvPr/>
        </p:nvSpPr>
        <p:spPr>
          <a:xfrm>
            <a:off x="993084" y="5939009"/>
            <a:ext cx="10277889" cy="390684"/>
          </a:xfrm>
          <a:prstGeom prst="rect">
            <a:avLst/>
          </a:prstGeom>
          <a:noFill/>
        </p:spPr>
        <p:txBody>
          <a:bodyPr wrap="square">
            <a:spAutoFit/>
          </a:bodyPr>
          <a:lstStyle/>
          <a:p>
            <a:pPr>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plupart des acides aminés jouant un rôle dans les processus biologiques appartiennent à la série L.</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9" name="Image 8">
            <a:extLst>
              <a:ext uri="{FF2B5EF4-FFF2-40B4-BE49-F238E27FC236}">
                <a16:creationId xmlns:a16="http://schemas.microsoft.com/office/drawing/2014/main" id="{951D792E-F05C-D8A6-223C-81631546D066}"/>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4360378" y="4393165"/>
            <a:ext cx="3543300" cy="1571625"/>
          </a:xfrm>
          <a:prstGeom prst="rect">
            <a:avLst/>
          </a:prstGeom>
        </p:spPr>
      </p:pic>
    </p:spTree>
    <p:extLst>
      <p:ext uri="{BB962C8B-B14F-4D97-AF65-F5344CB8AC3E}">
        <p14:creationId xmlns:p14="http://schemas.microsoft.com/office/powerpoint/2010/main" val="1196392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39</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8" name="ZoneTexte 7">
            <a:extLst>
              <a:ext uri="{FF2B5EF4-FFF2-40B4-BE49-F238E27FC236}">
                <a16:creationId xmlns:a16="http://schemas.microsoft.com/office/drawing/2014/main" id="{1A93395E-D741-033B-6E5A-418A48BF8A30}"/>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1.	Molécules éthyléniques</a:t>
            </a:r>
            <a:endParaRPr lang="en-US" b="1" kern="100" dirty="0">
              <a:latin typeface="Times New Roman" panose="02020603050405020304" pitchFamily="18" charset="0"/>
              <a:cs typeface="Arial" panose="020B0604020202020204" pitchFamily="34" charset="0"/>
            </a:endParaRPr>
          </a:p>
        </p:txBody>
      </p:sp>
      <p:sp>
        <p:nvSpPr>
          <p:cNvPr id="10" name="ZoneTexte 9">
            <a:extLst>
              <a:ext uri="{FF2B5EF4-FFF2-40B4-BE49-F238E27FC236}">
                <a16:creationId xmlns:a16="http://schemas.microsoft.com/office/drawing/2014/main" id="{3B635929-1230-C4E0-3A6A-A754C4951DF6}"/>
              </a:ext>
            </a:extLst>
          </p:cNvPr>
          <p:cNvSpPr txBox="1"/>
          <p:nvPr/>
        </p:nvSpPr>
        <p:spPr>
          <a:xfrm>
            <a:off x="664084" y="1749407"/>
            <a:ext cx="11187683" cy="385362"/>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double liaison </a:t>
            </a:r>
            <a:r>
              <a:rPr lang="fr-FR" sz="1800" b="1" kern="100" dirty="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C</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r>
              <a:rPr lang="fr-FR" sz="1800" b="1" kern="100" dirty="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C</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est plane et rigide</a:t>
            </a: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 chacun des </a:t>
            </a:r>
            <a:r>
              <a:rPr lang="fr-FR" sz="1800" b="1" u="sng" kern="100" dirty="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deux carbones sp</a:t>
            </a:r>
            <a:r>
              <a:rPr lang="fr-FR" sz="1800" b="1" u="sng" kern="100" baseline="30000" dirty="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2</a:t>
            </a:r>
            <a:r>
              <a:rPr lang="fr-FR" sz="1800" b="1" u="sng" kern="100" dirty="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 </a:t>
            </a:r>
            <a:r>
              <a:rPr lang="fr-FR" sz="1800" b="1" u="sng"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porte des groupes d’atomes différents.</a:t>
            </a:r>
          </a:p>
        </p:txBody>
      </p:sp>
      <p:graphicFrame>
        <p:nvGraphicFramePr>
          <p:cNvPr id="5" name="Diagramme 4">
            <a:extLst>
              <a:ext uri="{FF2B5EF4-FFF2-40B4-BE49-F238E27FC236}">
                <a16:creationId xmlns:a16="http://schemas.microsoft.com/office/drawing/2014/main" id="{5F6891C7-784D-F291-E051-1EC2F3875BC7}"/>
              </a:ext>
            </a:extLst>
          </p:cNvPr>
          <p:cNvGraphicFramePr/>
          <p:nvPr>
            <p:extLst>
              <p:ext uri="{D42A27DB-BD31-4B8C-83A1-F6EECF244321}">
                <p14:modId xmlns:p14="http://schemas.microsoft.com/office/powerpoint/2010/main" val="789243949"/>
              </p:ext>
            </p:extLst>
          </p:nvPr>
        </p:nvGraphicFramePr>
        <p:xfrm>
          <a:off x="1518093" y="3350918"/>
          <a:ext cx="9155813" cy="25957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ZoneTexte 12">
            <a:extLst>
              <a:ext uri="{FF2B5EF4-FFF2-40B4-BE49-F238E27FC236}">
                <a16:creationId xmlns:a16="http://schemas.microsoft.com/office/drawing/2014/main" id="{C46F083B-A649-D556-3212-FE81CFDF819B}"/>
              </a:ext>
            </a:extLst>
          </p:cNvPr>
          <p:cNvSpPr txBox="1"/>
          <p:nvPr/>
        </p:nvSpPr>
        <p:spPr>
          <a:xfrm>
            <a:off x="664084" y="2505807"/>
            <a:ext cx="11337416" cy="390684"/>
          </a:xfrm>
          <a:prstGeom prst="rect">
            <a:avLst/>
          </a:prstGeom>
          <a:noFill/>
        </p:spPr>
        <p:txBody>
          <a:bodyPr wrap="square">
            <a:spAutoFit/>
          </a:bodyPr>
          <a:lstStyle/>
          <a:p>
            <a:pPr algn="just">
              <a:lnSpc>
                <a:spcPct val="115000"/>
              </a:lnSpc>
              <a:spcAft>
                <a:spcPts val="800"/>
              </a:spcAft>
            </a:pPr>
            <a:r>
              <a:rPr lang="fr-FR" kern="100" dirty="0">
                <a:solidFill>
                  <a:srgbClr val="000000"/>
                </a:solidFill>
                <a:latin typeface="Times New Roman" panose="02020603050405020304" pitchFamily="18" charset="0"/>
                <a:ea typeface="Calibri" panose="020F0502020204030204" pitchFamily="34" charset="0"/>
                <a:cs typeface="Arial" panose="020B0604020202020204" pitchFamily="34" charset="0"/>
              </a:rPr>
              <a:t>On</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peut avoir </a:t>
            </a:r>
            <a:r>
              <a:rPr lang="fr-FR" sz="1800" b="1" kern="100" dirty="0">
                <a:solidFill>
                  <a:schemeClr val="accent5">
                    <a:lumMod val="75000"/>
                  </a:schemeClr>
                </a:solidFill>
                <a:effectLst/>
                <a:latin typeface="Times New Roman" panose="02020603050405020304" pitchFamily="18" charset="0"/>
                <a:ea typeface="Calibri" panose="020F0502020204030204" pitchFamily="34" charset="0"/>
                <a:cs typeface="Arial" panose="020B0604020202020204" pitchFamily="34" charset="0"/>
              </a:rPr>
              <a:t>deux stéréoisomères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qui </a:t>
            </a:r>
            <a:r>
              <a:rPr lang="fr-FR" sz="1800" b="1" kern="100" dirty="0">
                <a:solidFill>
                  <a:schemeClr val="accent5">
                    <a:lumMod val="75000"/>
                  </a:schemeClr>
                </a:solidFill>
                <a:effectLst/>
                <a:latin typeface="Times New Roman" panose="02020603050405020304" pitchFamily="18" charset="0"/>
                <a:ea typeface="Calibri" panose="020F0502020204030204" pitchFamily="34" charset="0"/>
                <a:cs typeface="Arial" panose="020B0604020202020204" pitchFamily="34" charset="0"/>
              </a:rPr>
              <a:t>ne sont pas images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l’un de l’autre dans un miroir                </a:t>
            </a:r>
            <a:r>
              <a:rPr lang="fr-FR" b="1" kern="100" dirty="0">
                <a:solidFill>
                  <a:schemeClr val="accent5">
                    <a:lumMod val="75000"/>
                  </a:schemeClr>
                </a:solidFill>
                <a:effectLst/>
                <a:latin typeface="Times New Roman" panose="02020603050405020304" pitchFamily="18" charset="0"/>
                <a:ea typeface="Calibri" panose="020F0502020204030204" pitchFamily="34" charset="0"/>
                <a:cs typeface="Arial" panose="020B0604020202020204" pitchFamily="34" charset="0"/>
              </a:rPr>
              <a:t>Diastéréoisomères.</a:t>
            </a:r>
            <a:endParaRPr lang="en-US" sz="1600" kern="100" dirty="0">
              <a:solidFill>
                <a:schemeClr val="accent5">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4" name="Flèche : droite 13">
            <a:extLst>
              <a:ext uri="{FF2B5EF4-FFF2-40B4-BE49-F238E27FC236}">
                <a16:creationId xmlns:a16="http://schemas.microsoft.com/office/drawing/2014/main" id="{2AD837E6-980B-942F-D948-DB0B5FB8AAD5}"/>
              </a:ext>
            </a:extLst>
          </p:cNvPr>
          <p:cNvSpPr/>
          <p:nvPr/>
        </p:nvSpPr>
        <p:spPr>
          <a:xfrm>
            <a:off x="9094307" y="2643804"/>
            <a:ext cx="685799" cy="183032"/>
          </a:xfrm>
          <a:prstGeom prst="rightArrow">
            <a:avLst/>
          </a:prstGeom>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66915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40</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8" name="ZoneTexte 7">
            <a:extLst>
              <a:ext uri="{FF2B5EF4-FFF2-40B4-BE49-F238E27FC236}">
                <a16:creationId xmlns:a16="http://schemas.microsoft.com/office/drawing/2014/main" id="{1A93395E-D741-033B-6E5A-418A48BF8A30}"/>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1.	Molécules éthyléniques</a:t>
            </a:r>
            <a:endParaRPr lang="en-US" b="1" kern="100" dirty="0">
              <a:latin typeface="Times New Roman" panose="02020603050405020304" pitchFamily="18" charset="0"/>
              <a:cs typeface="Arial" panose="020B0604020202020204" pitchFamily="34" charset="0"/>
            </a:endParaRPr>
          </a:p>
        </p:txBody>
      </p:sp>
      <p:grpSp>
        <p:nvGrpSpPr>
          <p:cNvPr id="39" name="Groupe 38">
            <a:extLst>
              <a:ext uri="{FF2B5EF4-FFF2-40B4-BE49-F238E27FC236}">
                <a16:creationId xmlns:a16="http://schemas.microsoft.com/office/drawing/2014/main" id="{3358C8B9-08EE-2B07-DFF1-5C478129B05A}"/>
              </a:ext>
            </a:extLst>
          </p:cNvPr>
          <p:cNvGrpSpPr/>
          <p:nvPr/>
        </p:nvGrpSpPr>
        <p:grpSpPr>
          <a:xfrm>
            <a:off x="754462" y="2180592"/>
            <a:ext cx="11262226" cy="371827"/>
            <a:chOff x="813816" y="3131051"/>
            <a:chExt cx="11262226" cy="371827"/>
          </a:xfrm>
        </p:grpSpPr>
        <p:sp>
          <p:nvSpPr>
            <p:cNvPr id="21" name="ZoneTexte 20">
              <a:extLst>
                <a:ext uri="{FF2B5EF4-FFF2-40B4-BE49-F238E27FC236}">
                  <a16:creationId xmlns:a16="http://schemas.microsoft.com/office/drawing/2014/main" id="{44105E94-9B31-8DCA-7AAE-F25E6ED78D6A}"/>
                </a:ext>
              </a:extLst>
            </p:cNvPr>
            <p:cNvSpPr txBox="1"/>
            <p:nvPr/>
          </p:nvSpPr>
          <p:spPr>
            <a:xfrm>
              <a:off x="813816" y="3133546"/>
              <a:ext cx="11262226" cy="369332"/>
            </a:xfrm>
            <a:prstGeom prst="rect">
              <a:avLst/>
            </a:prstGeom>
            <a:noFill/>
          </p:spPr>
          <p:txBody>
            <a:bodyPr wrap="square">
              <a:spAutoFit/>
            </a:bodyPr>
            <a:lstStyle/>
            <a:p>
              <a:r>
                <a:rPr lang="fr-FR" sz="1800" b="1" u="sng" dirty="0">
                  <a:solidFill>
                    <a:srgbClr val="000000"/>
                  </a:solidFill>
                  <a:effectLst/>
                  <a:latin typeface="Times New Roman" panose="02020603050405020304" pitchFamily="18" charset="0"/>
                  <a:ea typeface="Calibri" panose="020F0502020204030204" pitchFamily="34" charset="0"/>
                </a:rPr>
                <a:t>On classe séparément</a:t>
              </a:r>
              <a:r>
                <a:rPr lang="fr-FR" sz="1800" b="1" dirty="0">
                  <a:solidFill>
                    <a:srgbClr val="000000"/>
                  </a:solidFill>
                  <a:effectLst/>
                  <a:latin typeface="Times New Roman" panose="02020603050405020304" pitchFamily="18" charset="0"/>
                  <a:ea typeface="Calibri" panose="020F0502020204030204" pitchFamily="34" charset="0"/>
                </a:rPr>
                <a:t> </a:t>
              </a:r>
              <a:r>
                <a:rPr lang="fr-FR" sz="1800" dirty="0">
                  <a:solidFill>
                    <a:srgbClr val="000000"/>
                  </a:solidFill>
                  <a:effectLst/>
                  <a:latin typeface="Times New Roman" panose="02020603050405020304" pitchFamily="18" charset="0"/>
                  <a:ea typeface="Calibri" panose="020F0502020204030204" pitchFamily="34" charset="0"/>
                </a:rPr>
                <a:t>les groupements portés par chaque carbone de la double liaison </a:t>
              </a:r>
              <a:endParaRPr lang="en-US" dirty="0"/>
            </a:p>
          </p:txBody>
        </p:sp>
        <p:sp>
          <p:nvSpPr>
            <p:cNvPr id="22" name="Flèche : droite 21">
              <a:extLst>
                <a:ext uri="{FF2B5EF4-FFF2-40B4-BE49-F238E27FC236}">
                  <a16:creationId xmlns:a16="http://schemas.microsoft.com/office/drawing/2014/main" id="{FC85A33D-4DD9-D205-1C42-A17D9E055F9C}"/>
                </a:ext>
              </a:extLst>
            </p:cNvPr>
            <p:cNvSpPr/>
            <p:nvPr/>
          </p:nvSpPr>
          <p:spPr>
            <a:xfrm>
              <a:off x="8989942" y="3274518"/>
              <a:ext cx="487018" cy="154482"/>
            </a:xfrm>
            <a:prstGeom prst="rightArrow">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 name="ZoneTexte 23">
              <a:extLst>
                <a:ext uri="{FF2B5EF4-FFF2-40B4-BE49-F238E27FC236}">
                  <a16:creationId xmlns:a16="http://schemas.microsoft.com/office/drawing/2014/main" id="{1F8C88EA-4D19-F586-217F-29CDD1A6351A}"/>
                </a:ext>
              </a:extLst>
            </p:cNvPr>
            <p:cNvSpPr txBox="1"/>
            <p:nvPr/>
          </p:nvSpPr>
          <p:spPr>
            <a:xfrm>
              <a:off x="9571599" y="3131051"/>
              <a:ext cx="2161760" cy="369332"/>
            </a:xfrm>
            <a:prstGeom prst="rect">
              <a:avLst/>
            </a:prstGeom>
            <a:noFill/>
          </p:spPr>
          <p:txBody>
            <a:bodyPr wrap="square">
              <a:spAutoFit/>
            </a:bodyPr>
            <a:lstStyle/>
            <a:p>
              <a:r>
                <a:rPr lang="fr-FR" sz="1800" dirty="0">
                  <a:solidFill>
                    <a:srgbClr val="000000"/>
                  </a:solidFill>
                  <a:effectLst/>
                  <a:latin typeface="Times New Roman" panose="02020603050405020304" pitchFamily="18" charset="0"/>
                  <a:ea typeface="Calibri" panose="020F0502020204030204" pitchFamily="34" charset="0"/>
                </a:rPr>
                <a:t>les règles de </a:t>
              </a:r>
              <a:r>
                <a:rPr lang="fr-FR" sz="1800" b="1" dirty="0">
                  <a:solidFill>
                    <a:srgbClr val="000000"/>
                  </a:solidFill>
                  <a:effectLst/>
                  <a:latin typeface="Times New Roman" panose="02020603050405020304" pitchFamily="18" charset="0"/>
                  <a:ea typeface="Calibri" panose="020F0502020204030204" pitchFamily="34" charset="0"/>
                </a:rPr>
                <a:t>C. I. P.</a:t>
              </a:r>
              <a:endParaRPr lang="en-US" b="1" dirty="0"/>
            </a:p>
          </p:txBody>
        </p:sp>
      </p:grpSp>
      <p:grpSp>
        <p:nvGrpSpPr>
          <p:cNvPr id="5" name="Groupe 4">
            <a:extLst>
              <a:ext uri="{FF2B5EF4-FFF2-40B4-BE49-F238E27FC236}">
                <a16:creationId xmlns:a16="http://schemas.microsoft.com/office/drawing/2014/main" id="{EF0A40B8-ED79-2550-C5EE-47A62587EC94}"/>
              </a:ext>
            </a:extLst>
          </p:cNvPr>
          <p:cNvGrpSpPr/>
          <p:nvPr/>
        </p:nvGrpSpPr>
        <p:grpSpPr>
          <a:xfrm>
            <a:off x="1288321" y="2849479"/>
            <a:ext cx="10370496" cy="2566237"/>
            <a:chOff x="1209044" y="3691180"/>
            <a:chExt cx="10370496" cy="2566237"/>
          </a:xfrm>
        </p:grpSpPr>
        <p:sp>
          <p:nvSpPr>
            <p:cNvPr id="26" name="ZoneTexte 25">
              <a:extLst>
                <a:ext uri="{FF2B5EF4-FFF2-40B4-BE49-F238E27FC236}">
                  <a16:creationId xmlns:a16="http://schemas.microsoft.com/office/drawing/2014/main" id="{7A6B96E5-D09E-5EE3-C91E-78A58C70631F}"/>
                </a:ext>
              </a:extLst>
            </p:cNvPr>
            <p:cNvSpPr txBox="1"/>
            <p:nvPr/>
          </p:nvSpPr>
          <p:spPr>
            <a:xfrm>
              <a:off x="6407657" y="3691180"/>
              <a:ext cx="5171883" cy="369332"/>
            </a:xfrm>
            <a:prstGeom prst="rect">
              <a:avLst/>
            </a:prstGeom>
            <a:noFill/>
          </p:spPr>
          <p:txBody>
            <a:bodyPr wrap="square">
              <a:spAutoFit/>
            </a:bodyPr>
            <a:lstStyle/>
            <a:p>
              <a:r>
                <a:rPr lang="fr-FR" sz="1800" b="1" dirty="0">
                  <a:solidFill>
                    <a:srgbClr val="000000"/>
                  </a:solidFill>
                  <a:effectLst/>
                  <a:latin typeface="Times New Roman" panose="02020603050405020304" pitchFamily="18" charset="0"/>
                  <a:ea typeface="Calibri" panose="020F0502020204030204" pitchFamily="34" charset="0"/>
                </a:rPr>
                <a:t>Les groupes prioritaires</a:t>
              </a:r>
              <a:r>
                <a:rPr lang="fr-FR" sz="1800" dirty="0">
                  <a:solidFill>
                    <a:srgbClr val="000000"/>
                  </a:solidFill>
                  <a:effectLst/>
                  <a:latin typeface="Times New Roman" panose="02020603050405020304" pitchFamily="18" charset="0"/>
                  <a:ea typeface="Calibri" panose="020F0502020204030204" pitchFamily="34" charset="0"/>
                </a:rPr>
                <a:t> sont </a:t>
              </a:r>
              <a:r>
                <a:rPr lang="fr-FR" sz="1800" b="1" dirty="0">
                  <a:solidFill>
                    <a:srgbClr val="000000"/>
                  </a:solidFill>
                  <a:effectLst/>
                  <a:latin typeface="Times New Roman" panose="02020603050405020304" pitchFamily="18" charset="0"/>
                  <a:ea typeface="Calibri" panose="020F0502020204030204" pitchFamily="34" charset="0"/>
                </a:rPr>
                <a:t>de part et d'autre</a:t>
              </a:r>
              <a:r>
                <a:rPr lang="fr-FR" sz="1800" dirty="0">
                  <a:solidFill>
                    <a:srgbClr val="000000"/>
                  </a:solidFill>
                  <a:effectLst/>
                  <a:latin typeface="Times New Roman" panose="02020603050405020304" pitchFamily="18" charset="0"/>
                  <a:ea typeface="Calibri" panose="020F0502020204030204" pitchFamily="34" charset="0"/>
                </a:rPr>
                <a:t> </a:t>
              </a:r>
              <a:endParaRPr lang="en-US" dirty="0"/>
            </a:p>
          </p:txBody>
        </p:sp>
        <p:sp>
          <p:nvSpPr>
            <p:cNvPr id="28" name="ZoneTexte 27">
              <a:extLst>
                <a:ext uri="{FF2B5EF4-FFF2-40B4-BE49-F238E27FC236}">
                  <a16:creationId xmlns:a16="http://schemas.microsoft.com/office/drawing/2014/main" id="{E8A6C7BB-1C77-5818-58E3-5563A74902DD}"/>
                </a:ext>
              </a:extLst>
            </p:cNvPr>
            <p:cNvSpPr txBox="1"/>
            <p:nvPr/>
          </p:nvSpPr>
          <p:spPr>
            <a:xfrm>
              <a:off x="1209044" y="3691180"/>
              <a:ext cx="4453558" cy="369332"/>
            </a:xfrm>
            <a:prstGeom prst="rect">
              <a:avLst/>
            </a:prstGeom>
            <a:noFill/>
          </p:spPr>
          <p:txBody>
            <a:bodyPr wrap="square">
              <a:spAutoFit/>
            </a:bodyPr>
            <a:lstStyle/>
            <a:p>
              <a:r>
                <a:rPr lang="fr-FR" sz="1800" b="1" dirty="0">
                  <a:solidFill>
                    <a:srgbClr val="000000"/>
                  </a:solidFill>
                  <a:effectLst/>
                  <a:latin typeface="Times New Roman" panose="02020603050405020304" pitchFamily="18" charset="0"/>
                  <a:ea typeface="Calibri" panose="020F0502020204030204" pitchFamily="34" charset="0"/>
                </a:rPr>
                <a:t>Les groupes prioritaires</a:t>
              </a:r>
              <a:r>
                <a:rPr lang="fr-FR" sz="1800" dirty="0">
                  <a:solidFill>
                    <a:srgbClr val="000000"/>
                  </a:solidFill>
                  <a:effectLst/>
                  <a:latin typeface="Times New Roman" panose="02020603050405020304" pitchFamily="18" charset="0"/>
                  <a:ea typeface="Calibri" panose="020F0502020204030204" pitchFamily="34" charset="0"/>
                </a:rPr>
                <a:t> sont du </a:t>
              </a:r>
              <a:r>
                <a:rPr lang="fr-FR" sz="1800" b="1" dirty="0">
                  <a:solidFill>
                    <a:srgbClr val="000000"/>
                  </a:solidFill>
                  <a:effectLst/>
                  <a:latin typeface="Times New Roman" panose="02020603050405020304" pitchFamily="18" charset="0"/>
                  <a:ea typeface="Calibri" panose="020F0502020204030204" pitchFamily="34" charset="0"/>
                </a:rPr>
                <a:t>même côté</a:t>
              </a:r>
              <a:r>
                <a:rPr lang="fr-FR" sz="1800" dirty="0">
                  <a:solidFill>
                    <a:srgbClr val="000000"/>
                  </a:solidFill>
                  <a:effectLst/>
                  <a:latin typeface="Times New Roman" panose="02020603050405020304" pitchFamily="18" charset="0"/>
                  <a:ea typeface="Calibri" panose="020F0502020204030204" pitchFamily="34" charset="0"/>
                </a:rPr>
                <a:t> </a:t>
              </a:r>
              <a:endParaRPr lang="en-US" dirty="0"/>
            </a:p>
          </p:txBody>
        </p:sp>
        <p:sp>
          <p:nvSpPr>
            <p:cNvPr id="31" name="Accolade ouvrante 30">
              <a:extLst>
                <a:ext uri="{FF2B5EF4-FFF2-40B4-BE49-F238E27FC236}">
                  <a16:creationId xmlns:a16="http://schemas.microsoft.com/office/drawing/2014/main" id="{57C28B1F-6389-4215-B02A-DE673F06F7C2}"/>
                </a:ext>
              </a:extLst>
            </p:cNvPr>
            <p:cNvSpPr/>
            <p:nvPr/>
          </p:nvSpPr>
          <p:spPr>
            <a:xfrm rot="5400000">
              <a:off x="3381815" y="2748255"/>
              <a:ext cx="213533" cy="3748188"/>
            </a:xfrm>
            <a:prstGeom prst="leftBrace">
              <a:avLst>
                <a:gd name="adj1" fmla="val 53012"/>
                <a:gd name="adj2" fmla="val 51335"/>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1" name="Image 40">
              <a:extLst>
                <a:ext uri="{FF2B5EF4-FFF2-40B4-BE49-F238E27FC236}">
                  <a16:creationId xmlns:a16="http://schemas.microsoft.com/office/drawing/2014/main" id="{F29FFD84-4EF3-8D0C-90F6-E973C99480EA}"/>
                </a:ext>
              </a:extLst>
            </p:cNvPr>
            <p:cNvPicPr>
              <a:picLocks noChangeAspect="1"/>
            </p:cNvPicPr>
            <p:nvPr/>
          </p:nvPicPr>
          <p:blipFill>
            <a:blip r:embed="rId3"/>
            <a:stretch>
              <a:fillRect/>
            </a:stretch>
          </p:blipFill>
          <p:spPr>
            <a:xfrm>
              <a:off x="1528762" y="4704842"/>
              <a:ext cx="9134475" cy="1552575"/>
            </a:xfrm>
            <a:prstGeom prst="rect">
              <a:avLst/>
            </a:prstGeom>
          </p:spPr>
        </p:pic>
        <p:sp>
          <p:nvSpPr>
            <p:cNvPr id="42" name="Accolade ouvrante 41">
              <a:extLst>
                <a:ext uri="{FF2B5EF4-FFF2-40B4-BE49-F238E27FC236}">
                  <a16:creationId xmlns:a16="http://schemas.microsoft.com/office/drawing/2014/main" id="{071DD52C-711B-1B08-D55A-0521AEC41875}"/>
                </a:ext>
              </a:extLst>
            </p:cNvPr>
            <p:cNvSpPr/>
            <p:nvPr/>
          </p:nvSpPr>
          <p:spPr>
            <a:xfrm rot="5400000">
              <a:off x="8596651" y="2748254"/>
              <a:ext cx="213533" cy="3748188"/>
            </a:xfrm>
            <a:prstGeom prst="leftBrace">
              <a:avLst>
                <a:gd name="adj1" fmla="val 53012"/>
                <a:gd name="adj2" fmla="val 51335"/>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Connecteur droit 35">
              <a:extLst>
                <a:ext uri="{FF2B5EF4-FFF2-40B4-BE49-F238E27FC236}">
                  <a16:creationId xmlns:a16="http://schemas.microsoft.com/office/drawing/2014/main" id="{B0F96898-2CE1-7684-A978-48CE91EF3C2F}"/>
                </a:ext>
              </a:extLst>
            </p:cNvPr>
            <p:cNvCxnSpPr>
              <a:cxnSpLocks/>
            </p:cNvCxnSpPr>
            <p:nvPr/>
          </p:nvCxnSpPr>
          <p:spPr>
            <a:xfrm>
              <a:off x="6008617" y="3790571"/>
              <a:ext cx="0" cy="2073516"/>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2CD5BB58-2C14-0747-5CE3-CC76BC1DE9F6}"/>
                </a:ext>
              </a:extLst>
            </p:cNvPr>
            <p:cNvSpPr/>
            <p:nvPr/>
          </p:nvSpPr>
          <p:spPr>
            <a:xfrm flipH="1">
              <a:off x="8349075" y="3947500"/>
              <a:ext cx="640867" cy="584775"/>
            </a:xfrm>
            <a:prstGeom prst="rect">
              <a:avLst/>
            </a:prstGeom>
            <a:noFill/>
          </p:spPr>
          <p:txBody>
            <a:bodyPr wrap="square" lIns="91440" tIns="45720" rIns="91440" bIns="45720">
              <a:spAutoFit/>
            </a:bodyPr>
            <a:lstStyle/>
            <a:p>
              <a:pPr algn="ctr"/>
              <a:r>
                <a:rPr lang="fr-FR" sz="3200" b="1" cap="none" spc="0" dirty="0">
                  <a:ln w="22225">
                    <a:solidFill>
                      <a:schemeClr val="accent2">
                        <a:lumMod val="60000"/>
                        <a:lumOff val="40000"/>
                      </a:schemeClr>
                    </a:solidFill>
                    <a:prstDash val="solid"/>
                  </a:ln>
                  <a:solidFill>
                    <a:schemeClr val="accent2">
                      <a:lumMod val="60000"/>
                      <a:lumOff val="40000"/>
                    </a:schemeClr>
                  </a:solidFill>
                  <a:effectLst/>
                  <a:latin typeface="Times New Roman" panose="02020603050405020304" pitchFamily="18" charset="0"/>
                  <a:cs typeface="Times New Roman" panose="02020603050405020304" pitchFamily="18" charset="0"/>
                </a:rPr>
                <a:t>E</a:t>
              </a:r>
            </a:p>
          </p:txBody>
        </p:sp>
        <p:sp>
          <p:nvSpPr>
            <p:cNvPr id="46" name="Rectangle 45">
              <a:extLst>
                <a:ext uri="{FF2B5EF4-FFF2-40B4-BE49-F238E27FC236}">
                  <a16:creationId xmlns:a16="http://schemas.microsoft.com/office/drawing/2014/main" id="{93CC37C9-604A-CD71-AF66-6222C6EED87C}"/>
                </a:ext>
              </a:extLst>
            </p:cNvPr>
            <p:cNvSpPr/>
            <p:nvPr/>
          </p:nvSpPr>
          <p:spPr>
            <a:xfrm flipH="1">
              <a:off x="3115389" y="3974641"/>
              <a:ext cx="640867" cy="584775"/>
            </a:xfrm>
            <a:prstGeom prst="rect">
              <a:avLst/>
            </a:prstGeom>
            <a:noFill/>
          </p:spPr>
          <p:txBody>
            <a:bodyPr wrap="square" lIns="91440" tIns="45720" rIns="91440" bIns="45720">
              <a:spAutoFit/>
            </a:bodyPr>
            <a:lstStyle/>
            <a:p>
              <a:pPr algn="ctr"/>
              <a:r>
                <a:rPr lang="fr-FR" sz="3200" b="1" dirty="0">
                  <a:ln w="22225">
                    <a:solidFill>
                      <a:srgbClr val="FF0000"/>
                    </a:solidFill>
                    <a:prstDash val="solid"/>
                  </a:ln>
                  <a:solidFill>
                    <a:srgbClr val="FF0000"/>
                  </a:solidFill>
                  <a:latin typeface="Times New Roman" panose="02020603050405020304" pitchFamily="18" charset="0"/>
                  <a:cs typeface="Times New Roman" panose="02020603050405020304" pitchFamily="18" charset="0"/>
                </a:rPr>
                <a:t>Z</a:t>
              </a:r>
              <a:endParaRPr lang="fr-FR" sz="3200" b="1" cap="none" spc="0" dirty="0">
                <a:ln w="22225">
                  <a:solidFill>
                    <a:srgbClr val="FF0000"/>
                  </a:solidFill>
                  <a:prstDash val="solid"/>
                </a:ln>
                <a:solidFill>
                  <a:srgbClr val="FF0000"/>
                </a:solidFill>
                <a:effectLst/>
                <a:latin typeface="Times New Roman" panose="02020603050405020304" pitchFamily="18" charset="0"/>
                <a:cs typeface="Times New Roman" panose="02020603050405020304" pitchFamily="18" charset="0"/>
              </a:endParaRPr>
            </a:p>
          </p:txBody>
        </p:sp>
      </p:grpSp>
      <p:sp>
        <p:nvSpPr>
          <p:cNvPr id="9" name="ZoneTexte 8">
            <a:extLst>
              <a:ext uri="{FF2B5EF4-FFF2-40B4-BE49-F238E27FC236}">
                <a16:creationId xmlns:a16="http://schemas.microsoft.com/office/drawing/2014/main" id="{58922274-53F4-401B-4DF0-2D47B483DCDB}"/>
              </a:ext>
            </a:extLst>
          </p:cNvPr>
          <p:cNvSpPr txBox="1"/>
          <p:nvPr/>
        </p:nvSpPr>
        <p:spPr>
          <a:xfrm>
            <a:off x="654791" y="1545710"/>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100000"/>
              <a:buFont typeface="Wingdings" panose="05000000000000000000" pitchFamily="2" charset="2"/>
              <a:buChar char="v"/>
            </a:pPr>
            <a:r>
              <a:rPr lang="fr-FR" b="1" dirty="0">
                <a:solidFill>
                  <a:srgbClr val="0B672A"/>
                </a:solidFill>
                <a:latin typeface="Times New Roman" panose="02020603050405020304" pitchFamily="18" charset="0"/>
              </a:rPr>
              <a:t>Détermination de la configuration géométrique Z &amp; E</a:t>
            </a:r>
            <a:endParaRPr lang="en-US" b="1" dirty="0">
              <a:solidFill>
                <a:srgbClr val="0B672A"/>
              </a:solidFill>
              <a:latin typeface="Times New Roman" panose="02020603050405020304" pitchFamily="18" charset="0"/>
            </a:endParaRPr>
          </a:p>
        </p:txBody>
      </p:sp>
      <p:sp>
        <p:nvSpPr>
          <p:cNvPr id="12" name="ZoneTexte 11">
            <a:extLst>
              <a:ext uri="{FF2B5EF4-FFF2-40B4-BE49-F238E27FC236}">
                <a16:creationId xmlns:a16="http://schemas.microsoft.com/office/drawing/2014/main" id="{78673873-D974-100E-92A2-4490837A6DAE}"/>
              </a:ext>
            </a:extLst>
          </p:cNvPr>
          <p:cNvSpPr txBox="1"/>
          <p:nvPr/>
        </p:nvSpPr>
        <p:spPr>
          <a:xfrm>
            <a:off x="670196" y="5715544"/>
            <a:ext cx="11346492" cy="418513"/>
          </a:xfrm>
          <a:prstGeom prst="rect">
            <a:avLst/>
          </a:prstGeom>
          <a:noFill/>
        </p:spPr>
        <p:txBody>
          <a:bodyPr wrap="square">
            <a:spAutoFit/>
          </a:bodyPr>
          <a:lstStyle/>
          <a:p>
            <a:pPr>
              <a:lnSpc>
                <a:spcPct val="115000"/>
              </a:lnSpc>
              <a:spcAft>
                <a:spcPts val="800"/>
              </a:spcAft>
            </a:pPr>
            <a:r>
              <a:rPr lang="fr-FR" sz="20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Remarque :</a:t>
            </a:r>
            <a:r>
              <a:rPr lang="fr-FR" sz="2000"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 </a:t>
            </a:r>
            <a:r>
              <a:rPr lang="fr-FR" b="1" dirty="0">
                <a:solidFill>
                  <a:srgbClr val="FF0000"/>
                </a:solidFill>
                <a:effectLst/>
                <a:latin typeface="Times New Roman" panose="02020603050405020304" pitchFamily="18" charset="0"/>
                <a:ea typeface="Calibri" panose="020F0502020204030204" pitchFamily="34" charset="0"/>
              </a:rPr>
              <a:t>Pour un composés contenant  n doubles liaisons, le nombre  maximal d’isomères géométrique est 2</a:t>
            </a:r>
            <a:r>
              <a:rPr lang="fr-FR" b="1" baseline="30000" dirty="0">
                <a:solidFill>
                  <a:srgbClr val="FF0000"/>
                </a:solidFill>
                <a:effectLst/>
                <a:latin typeface="Times New Roman" panose="02020603050405020304" pitchFamily="18" charset="0"/>
                <a:ea typeface="Calibri" panose="020F0502020204030204" pitchFamily="34" charset="0"/>
              </a:rPr>
              <a:t>n</a:t>
            </a:r>
            <a:r>
              <a:rPr lang="fr-FR" b="1" dirty="0">
                <a:solidFill>
                  <a:srgbClr val="FF0000"/>
                </a:solidFill>
                <a:effectLst/>
                <a:latin typeface="Times New Roman" panose="02020603050405020304" pitchFamily="18" charset="0"/>
                <a:ea typeface="Calibri" panose="020F0502020204030204" pitchFamily="34" charset="0"/>
              </a:rPr>
              <a:t>.</a:t>
            </a:r>
            <a:endParaRPr lang="en-US" b="1" dirty="0">
              <a:solidFill>
                <a:srgbClr val="FF0000"/>
              </a:solidFill>
            </a:endParaRPr>
          </a:p>
        </p:txBody>
      </p:sp>
    </p:spTree>
    <p:extLst>
      <p:ext uri="{BB962C8B-B14F-4D97-AF65-F5344CB8AC3E}">
        <p14:creationId xmlns:p14="http://schemas.microsoft.com/office/powerpoint/2010/main" val="2915827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41</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8" name="ZoneTexte 7">
            <a:extLst>
              <a:ext uri="{FF2B5EF4-FFF2-40B4-BE49-F238E27FC236}">
                <a16:creationId xmlns:a16="http://schemas.microsoft.com/office/drawing/2014/main" id="{1A93395E-D741-033B-6E5A-418A48BF8A30}"/>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1.	Molécules éthyléniques</a:t>
            </a:r>
            <a:endParaRPr lang="en-US" b="1" kern="100" dirty="0">
              <a:latin typeface="Times New Roman" panose="02020603050405020304" pitchFamily="18" charset="0"/>
              <a:cs typeface="Arial" panose="020B0604020202020204" pitchFamily="34" charset="0"/>
            </a:endParaRPr>
          </a:p>
        </p:txBody>
      </p:sp>
      <p:sp>
        <p:nvSpPr>
          <p:cNvPr id="9" name="ZoneTexte 8">
            <a:extLst>
              <a:ext uri="{FF2B5EF4-FFF2-40B4-BE49-F238E27FC236}">
                <a16:creationId xmlns:a16="http://schemas.microsoft.com/office/drawing/2014/main" id="{58922274-53F4-401B-4DF0-2D47B483DCDB}"/>
              </a:ext>
            </a:extLst>
          </p:cNvPr>
          <p:cNvSpPr txBox="1"/>
          <p:nvPr/>
        </p:nvSpPr>
        <p:spPr>
          <a:xfrm>
            <a:off x="654791" y="1545710"/>
            <a:ext cx="6281530" cy="458074"/>
          </a:xfrm>
          <a:prstGeom prst="rect">
            <a:avLst/>
          </a:prstGeom>
          <a:noFill/>
        </p:spPr>
        <p:txBody>
          <a:bodyPr wrap="square">
            <a:spAutoFit/>
          </a:bodyPr>
          <a:lstStyle/>
          <a:p>
            <a:pPr marL="285750" lvl="2" indent="-285750" fontAlgn="base">
              <a:lnSpc>
                <a:spcPct val="150000"/>
              </a:lnSpc>
              <a:spcBef>
                <a:spcPts val="1200"/>
              </a:spcBef>
              <a:spcAft>
                <a:spcPts val="1200"/>
              </a:spcAft>
              <a:buClr>
                <a:srgbClr val="0B672A"/>
              </a:buClr>
              <a:buSzPct val="100000"/>
              <a:buFont typeface="Wingdings" panose="05000000000000000000" pitchFamily="2" charset="2"/>
              <a:buChar char="v"/>
            </a:pPr>
            <a:r>
              <a:rPr lang="fr-FR" b="1" dirty="0">
                <a:solidFill>
                  <a:srgbClr val="0B672A"/>
                </a:solidFill>
                <a:latin typeface="Times New Roman" panose="02020603050405020304" pitchFamily="18" charset="0"/>
              </a:rPr>
              <a:t>Détermination de la configuration géométrique Z &amp; E</a:t>
            </a:r>
            <a:endParaRPr lang="en-US" b="1" dirty="0">
              <a:solidFill>
                <a:srgbClr val="0B672A"/>
              </a:solidFill>
              <a:latin typeface="Times New Roman" panose="02020603050405020304" pitchFamily="18" charset="0"/>
            </a:endParaRPr>
          </a:p>
        </p:txBody>
      </p:sp>
      <p:sp>
        <p:nvSpPr>
          <p:cNvPr id="10" name="ZoneTexte 9">
            <a:extLst>
              <a:ext uri="{FF2B5EF4-FFF2-40B4-BE49-F238E27FC236}">
                <a16:creationId xmlns:a16="http://schemas.microsoft.com/office/drawing/2014/main" id="{0F94F38F-A527-9EF4-4B72-B5C1EDB2FCB1}"/>
              </a:ext>
            </a:extLst>
          </p:cNvPr>
          <p:cNvSpPr txBox="1"/>
          <p:nvPr/>
        </p:nvSpPr>
        <p:spPr>
          <a:xfrm>
            <a:off x="950843" y="2001578"/>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6" name="ZoneTexte 15">
            <a:extLst>
              <a:ext uri="{FF2B5EF4-FFF2-40B4-BE49-F238E27FC236}">
                <a16:creationId xmlns:a16="http://schemas.microsoft.com/office/drawing/2014/main" id="{B87D17E4-E0CB-E635-3760-284CA45ECF3D}"/>
              </a:ext>
            </a:extLst>
          </p:cNvPr>
          <p:cNvSpPr txBox="1"/>
          <p:nvPr/>
        </p:nvSpPr>
        <p:spPr>
          <a:xfrm>
            <a:off x="681127" y="3747585"/>
            <a:ext cx="3020032"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)-2-bromo-3-chlorobut-2-éne</a:t>
            </a:r>
          </a:p>
        </p:txBody>
      </p:sp>
      <p:sp>
        <p:nvSpPr>
          <p:cNvPr id="18" name="ZoneTexte 17">
            <a:extLst>
              <a:ext uri="{FF2B5EF4-FFF2-40B4-BE49-F238E27FC236}">
                <a16:creationId xmlns:a16="http://schemas.microsoft.com/office/drawing/2014/main" id="{FB6D28E3-D1F0-9CB6-D88A-713F3475ED82}"/>
              </a:ext>
            </a:extLst>
          </p:cNvPr>
          <p:cNvSpPr txBox="1"/>
          <p:nvPr/>
        </p:nvSpPr>
        <p:spPr>
          <a:xfrm>
            <a:off x="4725230" y="3813629"/>
            <a:ext cx="3226076"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u="none" strike="noStrike" baseline="0" dirty="0">
                <a:latin typeface="Times New Roman" panose="02020603050405020304" pitchFamily="18" charset="0"/>
                <a:cs typeface="Times New Roman" panose="02020603050405020304" pitchFamily="18" charset="0"/>
              </a:rPr>
              <a:t>Z</a:t>
            </a:r>
            <a:r>
              <a:rPr lang="en-US" sz="1600" b="1" i="0" u="none" strike="noStrike" baseline="0" dirty="0">
                <a:latin typeface="Times New Roman" panose="02020603050405020304" pitchFamily="18" charset="0"/>
                <a:cs typeface="Times New Roman" panose="02020603050405020304" pitchFamily="18" charset="0"/>
              </a:rPr>
              <a:t>)-2-chlorobut-2-énoate </a:t>
            </a:r>
            <a:r>
              <a:rPr lang="en-US" sz="1600" b="1" i="0" u="none" strike="noStrike" baseline="0" dirty="0" err="1">
                <a:latin typeface="Times New Roman" panose="02020603050405020304" pitchFamily="18" charset="0"/>
                <a:cs typeface="Times New Roman" panose="02020603050405020304" pitchFamily="18" charset="0"/>
              </a:rPr>
              <a:t>d’éthyle</a:t>
            </a:r>
            <a:endParaRPr lang="en-US" sz="1600" b="1" i="0" u="none" strike="noStrike" baseline="0" dirty="0">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000D2837-835F-1E52-9DC7-148535685391}"/>
              </a:ext>
            </a:extLst>
          </p:cNvPr>
          <p:cNvSpPr txBox="1"/>
          <p:nvPr/>
        </p:nvSpPr>
        <p:spPr>
          <a:xfrm>
            <a:off x="8656081" y="3762234"/>
            <a:ext cx="2770192" cy="584775"/>
          </a:xfrm>
          <a:prstGeom prst="rect">
            <a:avLst/>
          </a:prstGeom>
          <a:noFill/>
        </p:spPr>
        <p:txBody>
          <a:bodyPr wrap="square">
            <a:spAutoFit/>
          </a:bodyPr>
          <a:lstStyle/>
          <a:p>
            <a:r>
              <a:rPr lang="en-US" sz="1600" b="1" i="0" u="none" strike="noStrike" baseline="0" dirty="0" err="1">
                <a:latin typeface="Times New Roman" panose="02020603050405020304" pitchFamily="18" charset="0"/>
                <a:cs typeface="Times New Roman" panose="02020603050405020304" pitchFamily="18" charset="0"/>
              </a:rPr>
              <a:t>Acide</a:t>
            </a:r>
            <a:r>
              <a:rPr lang="en-US" sz="1600" b="1" i="0" u="none" strike="noStrike" baseline="0" dirty="0">
                <a:latin typeface="Times New Roman" panose="02020603050405020304" pitchFamily="18" charset="0"/>
                <a:cs typeface="Times New Roman" panose="02020603050405020304" pitchFamily="18" charset="0"/>
              </a:rPr>
              <a:t> (2</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)-3-hydroxy-2-(</a:t>
            </a:r>
            <a:r>
              <a:rPr lang="en-US" sz="1600" b="1" i="0" u="none" strike="noStrike" baseline="0" dirty="0" err="1">
                <a:latin typeface="Times New Roman" panose="02020603050405020304" pitchFamily="18" charset="0"/>
                <a:cs typeface="Times New Roman" panose="02020603050405020304" pitchFamily="18" charset="0"/>
              </a:rPr>
              <a:t>méthylamino</a:t>
            </a:r>
            <a:r>
              <a:rPr lang="en-US" sz="1600" b="1" i="0" u="none" strike="noStrike" baseline="0" dirty="0">
                <a:latin typeface="Times New Roman" panose="02020603050405020304" pitchFamily="18" charset="0"/>
                <a:cs typeface="Times New Roman" panose="02020603050405020304" pitchFamily="18" charset="0"/>
              </a:rPr>
              <a:t>)but-2-énoïque</a:t>
            </a:r>
          </a:p>
        </p:txBody>
      </p:sp>
      <p:pic>
        <p:nvPicPr>
          <p:cNvPr id="29" name="Image 28">
            <a:extLst>
              <a:ext uri="{FF2B5EF4-FFF2-40B4-BE49-F238E27FC236}">
                <a16:creationId xmlns:a16="http://schemas.microsoft.com/office/drawing/2014/main" id="{EEEE25D8-6ED8-8B3D-E534-5170A05001C8}"/>
              </a:ext>
            </a:extLst>
          </p:cNvPr>
          <p:cNvPicPr>
            <a:picLocks noChangeAspect="1"/>
          </p:cNvPicPr>
          <p:nvPr/>
        </p:nvPicPr>
        <p:blipFill>
          <a:blip r:embed="rId3"/>
          <a:stretch>
            <a:fillRect/>
          </a:stretch>
        </p:blipFill>
        <p:spPr>
          <a:xfrm>
            <a:off x="1356276" y="2485356"/>
            <a:ext cx="1733550" cy="1276350"/>
          </a:xfrm>
          <a:prstGeom prst="rect">
            <a:avLst/>
          </a:prstGeom>
        </p:spPr>
      </p:pic>
      <p:pic>
        <p:nvPicPr>
          <p:cNvPr id="32" name="Image 31">
            <a:extLst>
              <a:ext uri="{FF2B5EF4-FFF2-40B4-BE49-F238E27FC236}">
                <a16:creationId xmlns:a16="http://schemas.microsoft.com/office/drawing/2014/main" id="{A5EC5210-8B9C-6662-689D-01354D2A1D4D}"/>
              </a:ext>
            </a:extLst>
          </p:cNvPr>
          <p:cNvPicPr>
            <a:picLocks noChangeAspect="1"/>
          </p:cNvPicPr>
          <p:nvPr/>
        </p:nvPicPr>
        <p:blipFill>
          <a:blip r:embed="rId4"/>
          <a:stretch>
            <a:fillRect/>
          </a:stretch>
        </p:blipFill>
        <p:spPr>
          <a:xfrm>
            <a:off x="5242290" y="2514771"/>
            <a:ext cx="1990725" cy="1276350"/>
          </a:xfrm>
          <a:prstGeom prst="rect">
            <a:avLst/>
          </a:prstGeom>
        </p:spPr>
      </p:pic>
      <p:pic>
        <p:nvPicPr>
          <p:cNvPr id="34" name="Image 33">
            <a:extLst>
              <a:ext uri="{FF2B5EF4-FFF2-40B4-BE49-F238E27FC236}">
                <a16:creationId xmlns:a16="http://schemas.microsoft.com/office/drawing/2014/main" id="{D4C190E3-0D7B-94A9-8A03-06B06613A59E}"/>
              </a:ext>
            </a:extLst>
          </p:cNvPr>
          <p:cNvPicPr>
            <a:picLocks noChangeAspect="1"/>
          </p:cNvPicPr>
          <p:nvPr/>
        </p:nvPicPr>
        <p:blipFill>
          <a:blip r:embed="rId5"/>
          <a:stretch>
            <a:fillRect/>
          </a:stretch>
        </p:blipFill>
        <p:spPr>
          <a:xfrm>
            <a:off x="8893414" y="2453256"/>
            <a:ext cx="2295525" cy="1276350"/>
          </a:xfrm>
          <a:prstGeom prst="rect">
            <a:avLst/>
          </a:prstGeom>
        </p:spPr>
      </p:pic>
      <p:grpSp>
        <p:nvGrpSpPr>
          <p:cNvPr id="59" name="Groupe 58">
            <a:extLst>
              <a:ext uri="{FF2B5EF4-FFF2-40B4-BE49-F238E27FC236}">
                <a16:creationId xmlns:a16="http://schemas.microsoft.com/office/drawing/2014/main" id="{F62B03B2-7148-97B4-61D6-3878638D9642}"/>
              </a:ext>
            </a:extLst>
          </p:cNvPr>
          <p:cNvGrpSpPr/>
          <p:nvPr/>
        </p:nvGrpSpPr>
        <p:grpSpPr>
          <a:xfrm>
            <a:off x="813817" y="4549956"/>
            <a:ext cx="10646660" cy="1768094"/>
            <a:chOff x="779613" y="4549715"/>
            <a:chExt cx="10646660" cy="1768094"/>
          </a:xfrm>
        </p:grpSpPr>
        <p:sp>
          <p:nvSpPr>
            <p:cNvPr id="12" name="ZoneTexte 11">
              <a:extLst>
                <a:ext uri="{FF2B5EF4-FFF2-40B4-BE49-F238E27FC236}">
                  <a16:creationId xmlns:a16="http://schemas.microsoft.com/office/drawing/2014/main" id="{BEB885B8-6405-9517-6828-99B0C0EDFB13}"/>
                </a:ext>
              </a:extLst>
            </p:cNvPr>
            <p:cNvSpPr txBox="1"/>
            <p:nvPr/>
          </p:nvSpPr>
          <p:spPr>
            <a:xfrm>
              <a:off x="779613" y="5955108"/>
              <a:ext cx="2247304"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,4</a:t>
              </a:r>
              <a:r>
                <a:rPr lang="en-US" sz="1600" b="1" i="1" u="none" strike="noStrike" baseline="0" dirty="0">
                  <a:latin typeface="Times New Roman" panose="02020603050405020304" pitchFamily="18" charset="0"/>
                  <a:cs typeface="Times New Roman" panose="02020603050405020304" pitchFamily="18" charset="0"/>
                </a:rPr>
                <a:t>Z</a:t>
              </a:r>
              <a:r>
                <a:rPr lang="en-US" sz="1600" b="1" i="0" u="none" strike="noStrike" baseline="0" dirty="0">
                  <a:latin typeface="Times New Roman" panose="02020603050405020304" pitchFamily="18" charset="0"/>
                  <a:cs typeface="Times New Roman" panose="02020603050405020304" pitchFamily="18" charset="0"/>
                </a:rPr>
                <a:t>)-hepta-2,4-diène</a:t>
              </a:r>
            </a:p>
          </p:txBody>
        </p:sp>
        <p:sp>
          <p:nvSpPr>
            <p:cNvPr id="14" name="ZoneTexte 13">
              <a:extLst>
                <a:ext uri="{FF2B5EF4-FFF2-40B4-BE49-F238E27FC236}">
                  <a16:creationId xmlns:a16="http://schemas.microsoft.com/office/drawing/2014/main" id="{D0553075-4BB1-C3E0-03F6-0C2E31B693B7}"/>
                </a:ext>
              </a:extLst>
            </p:cNvPr>
            <p:cNvSpPr txBox="1"/>
            <p:nvPr/>
          </p:nvSpPr>
          <p:spPr>
            <a:xfrm>
              <a:off x="3562427" y="5967735"/>
              <a:ext cx="2297131"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,4</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)-hepta-2,4-diène</a:t>
              </a:r>
            </a:p>
          </p:txBody>
        </p:sp>
        <p:pic>
          <p:nvPicPr>
            <p:cNvPr id="40" name="Image 39">
              <a:extLst>
                <a:ext uri="{FF2B5EF4-FFF2-40B4-BE49-F238E27FC236}">
                  <a16:creationId xmlns:a16="http://schemas.microsoft.com/office/drawing/2014/main" id="{56888A67-2078-301F-F0C8-BEA8E1D4571C}"/>
                </a:ext>
              </a:extLst>
            </p:cNvPr>
            <p:cNvPicPr>
              <a:picLocks noChangeAspect="1"/>
            </p:cNvPicPr>
            <p:nvPr/>
          </p:nvPicPr>
          <p:blipFill>
            <a:blip r:embed="rId6"/>
            <a:stretch>
              <a:fillRect/>
            </a:stretch>
          </p:blipFill>
          <p:spPr>
            <a:xfrm>
              <a:off x="851868" y="4616268"/>
              <a:ext cx="2190750" cy="1343025"/>
            </a:xfrm>
            <a:prstGeom prst="rect">
              <a:avLst/>
            </a:prstGeom>
          </p:spPr>
        </p:pic>
        <p:pic>
          <p:nvPicPr>
            <p:cNvPr id="48" name="Image 47">
              <a:extLst>
                <a:ext uri="{FF2B5EF4-FFF2-40B4-BE49-F238E27FC236}">
                  <a16:creationId xmlns:a16="http://schemas.microsoft.com/office/drawing/2014/main" id="{A436C411-E75B-86FF-20CA-83D1BD68D3BA}"/>
                </a:ext>
              </a:extLst>
            </p:cNvPr>
            <p:cNvPicPr>
              <a:picLocks noChangeAspect="1"/>
            </p:cNvPicPr>
            <p:nvPr/>
          </p:nvPicPr>
          <p:blipFill>
            <a:blip r:embed="rId7"/>
            <a:stretch>
              <a:fillRect/>
            </a:stretch>
          </p:blipFill>
          <p:spPr>
            <a:xfrm>
              <a:off x="3615618" y="4549715"/>
              <a:ext cx="2190750" cy="1390650"/>
            </a:xfrm>
            <a:prstGeom prst="rect">
              <a:avLst/>
            </a:prstGeom>
          </p:spPr>
        </p:pic>
        <p:pic>
          <p:nvPicPr>
            <p:cNvPr id="54" name="Image 53">
              <a:extLst>
                <a:ext uri="{FF2B5EF4-FFF2-40B4-BE49-F238E27FC236}">
                  <a16:creationId xmlns:a16="http://schemas.microsoft.com/office/drawing/2014/main" id="{DA3BCA0D-F36A-88CD-E55F-E5A9C91E68B4}"/>
                </a:ext>
              </a:extLst>
            </p:cNvPr>
            <p:cNvPicPr>
              <a:picLocks noChangeAspect="1"/>
            </p:cNvPicPr>
            <p:nvPr/>
          </p:nvPicPr>
          <p:blipFill>
            <a:blip r:embed="rId8"/>
            <a:stretch>
              <a:fillRect/>
            </a:stretch>
          </p:blipFill>
          <p:spPr>
            <a:xfrm>
              <a:off x="6513835" y="4644321"/>
              <a:ext cx="2190750" cy="1343025"/>
            </a:xfrm>
            <a:prstGeom prst="rect">
              <a:avLst/>
            </a:prstGeom>
          </p:spPr>
        </p:pic>
        <p:pic>
          <p:nvPicPr>
            <p:cNvPr id="56" name="Image 55">
              <a:extLst>
                <a:ext uri="{FF2B5EF4-FFF2-40B4-BE49-F238E27FC236}">
                  <a16:creationId xmlns:a16="http://schemas.microsoft.com/office/drawing/2014/main" id="{719E2CD2-AB68-5C5C-9C9A-9F7363A2DEC7}"/>
                </a:ext>
              </a:extLst>
            </p:cNvPr>
            <p:cNvPicPr>
              <a:picLocks noChangeAspect="1"/>
            </p:cNvPicPr>
            <p:nvPr/>
          </p:nvPicPr>
          <p:blipFill>
            <a:blip r:embed="rId9"/>
            <a:stretch>
              <a:fillRect/>
            </a:stretch>
          </p:blipFill>
          <p:spPr>
            <a:xfrm>
              <a:off x="9221637" y="4644321"/>
              <a:ext cx="2190750" cy="1390650"/>
            </a:xfrm>
            <a:prstGeom prst="rect">
              <a:avLst/>
            </a:prstGeom>
          </p:spPr>
        </p:pic>
        <p:sp>
          <p:nvSpPr>
            <p:cNvPr id="57" name="ZoneTexte 56">
              <a:extLst>
                <a:ext uri="{FF2B5EF4-FFF2-40B4-BE49-F238E27FC236}">
                  <a16:creationId xmlns:a16="http://schemas.microsoft.com/office/drawing/2014/main" id="{378F7454-5FE1-8615-F342-9B801B65E59C}"/>
                </a:ext>
              </a:extLst>
            </p:cNvPr>
            <p:cNvSpPr txBox="1"/>
            <p:nvPr/>
          </p:nvSpPr>
          <p:spPr>
            <a:xfrm>
              <a:off x="6365103" y="5967735"/>
              <a:ext cx="2247304"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dirty="0">
                  <a:latin typeface="Times New Roman" panose="02020603050405020304" pitchFamily="18" charset="0"/>
                  <a:cs typeface="Times New Roman" panose="02020603050405020304" pitchFamily="18" charset="0"/>
                </a:rPr>
                <a:t>Z</a:t>
              </a:r>
              <a:r>
                <a:rPr lang="en-US" sz="1600" b="1" i="0" u="none" strike="noStrike" baseline="0" dirty="0">
                  <a:latin typeface="Times New Roman" panose="02020603050405020304" pitchFamily="18" charset="0"/>
                  <a:cs typeface="Times New Roman" panose="02020603050405020304" pitchFamily="18" charset="0"/>
                </a:rPr>
                <a:t>,4</a:t>
              </a:r>
              <a:r>
                <a:rPr lang="en-US" sz="1600" b="1" i="1" u="none" strike="noStrike" baseline="0" dirty="0">
                  <a:latin typeface="Times New Roman" panose="02020603050405020304" pitchFamily="18" charset="0"/>
                  <a:cs typeface="Times New Roman" panose="02020603050405020304" pitchFamily="18" charset="0"/>
                </a:rPr>
                <a:t>Z</a:t>
              </a:r>
              <a:r>
                <a:rPr lang="en-US" sz="1600" b="1" i="0" u="none" strike="noStrike" baseline="0" dirty="0">
                  <a:latin typeface="Times New Roman" panose="02020603050405020304" pitchFamily="18" charset="0"/>
                  <a:cs typeface="Times New Roman" panose="02020603050405020304" pitchFamily="18" charset="0"/>
                </a:rPr>
                <a:t>)-hepta-2,4-diène</a:t>
              </a:r>
            </a:p>
          </p:txBody>
        </p:sp>
        <p:sp>
          <p:nvSpPr>
            <p:cNvPr id="58" name="ZoneTexte 57">
              <a:extLst>
                <a:ext uri="{FF2B5EF4-FFF2-40B4-BE49-F238E27FC236}">
                  <a16:creationId xmlns:a16="http://schemas.microsoft.com/office/drawing/2014/main" id="{B6D870BB-A83A-1F94-08C1-F87B73FF23CB}"/>
                </a:ext>
              </a:extLst>
            </p:cNvPr>
            <p:cNvSpPr txBox="1"/>
            <p:nvPr/>
          </p:nvSpPr>
          <p:spPr>
            <a:xfrm>
              <a:off x="9129142" y="5979255"/>
              <a:ext cx="2297131" cy="338554"/>
            </a:xfrm>
            <a:prstGeom prst="rect">
              <a:avLst/>
            </a:prstGeom>
            <a:noFill/>
          </p:spPr>
          <p:txBody>
            <a:bodyPr wrap="square">
              <a:spAutoFit/>
            </a:bodyPr>
            <a:lstStyle/>
            <a:p>
              <a:r>
                <a:rPr lang="en-US" sz="1600" b="1" i="0" u="none" strike="noStrike" baseline="0" dirty="0">
                  <a:latin typeface="Times New Roman" panose="02020603050405020304" pitchFamily="18" charset="0"/>
                  <a:cs typeface="Times New Roman" panose="02020603050405020304" pitchFamily="18" charset="0"/>
                </a:rPr>
                <a:t>(2</a:t>
              </a:r>
              <a:r>
                <a:rPr lang="en-US" sz="1600" b="1" i="1" dirty="0">
                  <a:latin typeface="Times New Roman" panose="02020603050405020304" pitchFamily="18" charset="0"/>
                  <a:cs typeface="Times New Roman" panose="02020603050405020304" pitchFamily="18" charset="0"/>
                </a:rPr>
                <a:t>Z</a:t>
              </a:r>
              <a:r>
                <a:rPr lang="en-US" sz="1600" b="1" i="0" u="none" strike="noStrike" baseline="0" dirty="0">
                  <a:latin typeface="Times New Roman" panose="02020603050405020304" pitchFamily="18" charset="0"/>
                  <a:cs typeface="Times New Roman" panose="02020603050405020304" pitchFamily="18" charset="0"/>
                </a:rPr>
                <a:t>,4</a:t>
              </a:r>
              <a:r>
                <a:rPr lang="en-US" sz="1600" b="1" i="1" u="none" strike="noStrike" baseline="0" dirty="0">
                  <a:latin typeface="Times New Roman" panose="02020603050405020304" pitchFamily="18" charset="0"/>
                  <a:cs typeface="Times New Roman" panose="02020603050405020304" pitchFamily="18" charset="0"/>
                </a:rPr>
                <a:t>E</a:t>
              </a:r>
              <a:r>
                <a:rPr lang="en-US" sz="1600" b="1" i="0" u="none" strike="noStrike" baseline="0" dirty="0">
                  <a:latin typeface="Times New Roman" panose="02020603050405020304" pitchFamily="18" charset="0"/>
                  <a:cs typeface="Times New Roman" panose="02020603050405020304" pitchFamily="18" charset="0"/>
                </a:rPr>
                <a:t>)-hepta-2,4-diène</a:t>
              </a:r>
            </a:p>
          </p:txBody>
        </p:sp>
      </p:grpSp>
    </p:spTree>
    <p:extLst>
      <p:ext uri="{BB962C8B-B14F-4D97-AF65-F5344CB8AC3E}">
        <p14:creationId xmlns:p14="http://schemas.microsoft.com/office/powerpoint/2010/main" val="3959022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42</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grpSp>
        <p:nvGrpSpPr>
          <p:cNvPr id="10" name="Groupe 9">
            <a:extLst>
              <a:ext uri="{FF2B5EF4-FFF2-40B4-BE49-F238E27FC236}">
                <a16:creationId xmlns:a16="http://schemas.microsoft.com/office/drawing/2014/main" id="{88A85F74-1BB6-B08C-5B82-8ACC678D1AEE}"/>
              </a:ext>
            </a:extLst>
          </p:cNvPr>
          <p:cNvGrpSpPr/>
          <p:nvPr/>
        </p:nvGrpSpPr>
        <p:grpSpPr>
          <a:xfrm>
            <a:off x="813817" y="3233658"/>
            <a:ext cx="11187683" cy="390684"/>
            <a:chOff x="813817" y="2140107"/>
            <a:chExt cx="11187683" cy="390684"/>
          </a:xfrm>
        </p:grpSpPr>
        <p:sp>
          <p:nvSpPr>
            <p:cNvPr id="8" name="ZoneTexte 7">
              <a:extLst>
                <a:ext uri="{FF2B5EF4-FFF2-40B4-BE49-F238E27FC236}">
                  <a16:creationId xmlns:a16="http://schemas.microsoft.com/office/drawing/2014/main" id="{ACF519F2-8260-E3C1-D9B5-4F6C49164A81}"/>
                </a:ext>
              </a:extLst>
            </p:cNvPr>
            <p:cNvSpPr txBox="1"/>
            <p:nvPr/>
          </p:nvSpPr>
          <p:spPr>
            <a:xfrm>
              <a:off x="813817" y="2140107"/>
              <a:ext cx="11187683" cy="390684"/>
            </a:xfrm>
            <a:prstGeom prst="rect">
              <a:avLst/>
            </a:prstGeom>
            <a:noFill/>
          </p:spPr>
          <p:txBody>
            <a:bodyPr wrap="square">
              <a:spAutoFit/>
            </a:bodyPr>
            <a:lstStyle/>
            <a:p>
              <a:pPr algn="just">
                <a:lnSpc>
                  <a:spcPct val="115000"/>
                </a:lnSpc>
                <a:spcAft>
                  <a:spcPts val="800"/>
                </a:spcAft>
              </a:pP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Les formes </a:t>
              </a:r>
              <a:r>
                <a:rPr lang="fr-FR" b="1" kern="100" dirty="0">
                  <a:solidFill>
                    <a:schemeClr val="accent5">
                      <a:lumMod val="75000"/>
                    </a:schemeClr>
                  </a:solidFill>
                  <a:latin typeface="Times New Roman" panose="02020603050405020304" pitchFamily="18" charset="0"/>
                  <a:cs typeface="Arial" panose="020B0604020202020204" pitchFamily="34" charset="0"/>
                </a:rPr>
                <a:t>cis et trans ne sont pas images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l'une de l'autre dans un </a:t>
              </a:r>
              <a:r>
                <a:rPr lang="fr-FR" b="1" kern="100" dirty="0">
                  <a:solidFill>
                    <a:schemeClr val="accent5">
                      <a:lumMod val="75000"/>
                    </a:schemeClr>
                  </a:solidFill>
                  <a:latin typeface="Times New Roman" panose="02020603050405020304" pitchFamily="18" charset="0"/>
                  <a:cs typeface="Arial" panose="020B0604020202020204" pitchFamily="34" charset="0"/>
                </a:rPr>
                <a:t>miroir plan</a:t>
              </a:r>
              <a:r>
                <a:rPr lang="fr-FR" b="1" kern="100" dirty="0">
                  <a:solidFill>
                    <a:srgbClr val="000000"/>
                  </a:solidFill>
                  <a:latin typeface="Times New Roman" panose="02020603050405020304" pitchFamily="18" charset="0"/>
                  <a:cs typeface="Arial" panose="020B0604020202020204" pitchFamily="34" charset="0"/>
                </a:rPr>
                <a:t>                    </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fr-FR" b="1" kern="100" dirty="0">
                  <a:solidFill>
                    <a:schemeClr val="accent5">
                      <a:lumMod val="75000"/>
                    </a:schemeClr>
                  </a:solidFill>
                  <a:latin typeface="Times New Roman" panose="02020603050405020304" pitchFamily="18" charset="0"/>
                  <a:cs typeface="Arial" panose="020B0604020202020204" pitchFamily="34" charset="0"/>
                </a:rPr>
                <a:t>diastéréoisomères</a:t>
              </a:r>
              <a:r>
                <a:rPr lang="fr-FR"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Flèche : droite 8">
              <a:extLst>
                <a:ext uri="{FF2B5EF4-FFF2-40B4-BE49-F238E27FC236}">
                  <a16:creationId xmlns:a16="http://schemas.microsoft.com/office/drawing/2014/main" id="{B5421419-4CEF-DB00-A572-0ECBFD1DEF13}"/>
                </a:ext>
              </a:extLst>
            </p:cNvPr>
            <p:cNvSpPr/>
            <p:nvPr/>
          </p:nvSpPr>
          <p:spPr>
            <a:xfrm>
              <a:off x="8438322" y="2286001"/>
              <a:ext cx="839027" cy="179068"/>
            </a:xfrm>
            <a:prstGeom prst="rightArrow">
              <a:avLst/>
            </a:prstGeom>
            <a:ln>
              <a:solidFill>
                <a:schemeClr val="accent2">
                  <a:lumMod val="60000"/>
                  <a:lumOff val="4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4" name="ZoneTexte 13">
            <a:extLst>
              <a:ext uri="{FF2B5EF4-FFF2-40B4-BE49-F238E27FC236}">
                <a16:creationId xmlns:a16="http://schemas.microsoft.com/office/drawing/2014/main" id="{30774808-47B0-1001-6338-8C458E572E73}"/>
              </a:ext>
            </a:extLst>
          </p:cNvPr>
          <p:cNvSpPr txBox="1"/>
          <p:nvPr/>
        </p:nvSpPr>
        <p:spPr>
          <a:xfrm>
            <a:off x="806311" y="1592251"/>
            <a:ext cx="10903227" cy="646331"/>
          </a:xfrm>
          <a:prstGeom prst="rect">
            <a:avLst/>
          </a:prstGeom>
          <a:noFill/>
        </p:spPr>
        <p:txBody>
          <a:bodyPr wrap="square">
            <a:spAutoFit/>
          </a:bodyPr>
          <a:lstStyle/>
          <a:p>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Dans un </a:t>
            </a:r>
            <a:r>
              <a:rPr lang="fr-MA" b="1" i="0" dirty="0">
                <a:solidFill>
                  <a:srgbClr val="0D0D0D"/>
                </a:solidFill>
                <a:effectLst/>
                <a:highlight>
                  <a:srgbClr val="FFFFFF"/>
                </a:highlight>
                <a:latin typeface="Times New Roman" panose="02020603050405020304" pitchFamily="18" charset="0"/>
                <a:cs typeface="Times New Roman" panose="02020603050405020304" pitchFamily="18" charset="0"/>
              </a:rPr>
              <a:t>cycle di-substitué</a:t>
            </a:r>
            <a:r>
              <a:rPr lang="fr-MA" b="0" i="0" dirty="0">
                <a:solidFill>
                  <a:srgbClr val="0D0D0D"/>
                </a:solidFill>
                <a:effectLst/>
                <a:highlight>
                  <a:srgbClr val="FFFFFF"/>
                </a:highlight>
                <a:latin typeface="Times New Roman" panose="02020603050405020304" pitchFamily="18" charset="0"/>
                <a:cs typeface="Times New Roman" panose="02020603050405020304" pitchFamily="18" charset="0"/>
              </a:rPr>
              <a:t>, où </a:t>
            </a:r>
            <a:r>
              <a:rPr lang="fr-MA" b="1" i="0" dirty="0">
                <a:solidFill>
                  <a:srgbClr val="0D0D0D"/>
                </a:solidFill>
                <a:effectLst/>
                <a:highlight>
                  <a:srgbClr val="FFFFFF"/>
                </a:highlight>
                <a:latin typeface="Times New Roman" panose="02020603050405020304" pitchFamily="18" charset="0"/>
                <a:cs typeface="Times New Roman" panose="02020603050405020304" pitchFamily="18" charset="0"/>
              </a:rPr>
              <a:t>deux substituants </a:t>
            </a:r>
            <a:r>
              <a:rPr lang="fr-MA" i="0" dirty="0">
                <a:solidFill>
                  <a:srgbClr val="0D0D0D"/>
                </a:solidFill>
                <a:effectLst/>
                <a:highlight>
                  <a:srgbClr val="FFFFFF"/>
                </a:highlight>
                <a:latin typeface="Times New Roman" panose="02020603050405020304" pitchFamily="18" charset="0"/>
                <a:cs typeface="Times New Roman" panose="02020603050405020304" pitchFamily="18" charset="0"/>
              </a:rPr>
              <a:t>sont portés par </a:t>
            </a:r>
            <a:r>
              <a:rPr lang="fr-MA" b="1" i="0" dirty="0">
                <a:solidFill>
                  <a:srgbClr val="0D0D0D"/>
                </a:solidFill>
                <a:effectLst/>
                <a:highlight>
                  <a:srgbClr val="FFFFFF"/>
                </a:highlight>
                <a:latin typeface="Times New Roman" panose="02020603050405020304" pitchFamily="18" charset="0"/>
                <a:cs typeface="Times New Roman" panose="02020603050405020304" pitchFamily="18" charset="0"/>
              </a:rPr>
              <a:t>deux carbones différents</a:t>
            </a:r>
            <a:r>
              <a:rPr lang="fr-MA" i="0" dirty="0">
                <a:solidFill>
                  <a:srgbClr val="0D0D0D"/>
                </a:solidFill>
                <a:effectLst/>
                <a:highlight>
                  <a:srgbClr val="FFFFFF"/>
                </a:highlight>
                <a:latin typeface="Times New Roman" panose="02020603050405020304" pitchFamily="18" charset="0"/>
                <a:cs typeface="Times New Roman" panose="02020603050405020304" pitchFamily="18" charset="0"/>
              </a:rPr>
              <a:t>, la rigidité du cycle génère deux isomères </a:t>
            </a:r>
            <a:r>
              <a:rPr lang="fr-MA" b="1" kern="100" dirty="0">
                <a:solidFill>
                  <a:schemeClr val="accent5">
                    <a:lumMod val="75000"/>
                  </a:schemeClr>
                </a:solidFill>
                <a:latin typeface="Times New Roman" panose="02020603050405020304" pitchFamily="18" charset="0"/>
                <a:cs typeface="Arial" panose="020B0604020202020204" pitchFamily="34" charset="0"/>
              </a:rPr>
              <a:t>Cis</a:t>
            </a:r>
            <a:r>
              <a:rPr lang="fr-MA" i="0" dirty="0">
                <a:solidFill>
                  <a:srgbClr val="0D0D0D"/>
                </a:solidFill>
                <a:effectLst/>
                <a:highlight>
                  <a:srgbClr val="FFFFFF"/>
                </a:highlight>
                <a:latin typeface="Times New Roman" panose="02020603050405020304" pitchFamily="18" charset="0"/>
                <a:cs typeface="Times New Roman" panose="02020603050405020304" pitchFamily="18" charset="0"/>
              </a:rPr>
              <a:t> et </a:t>
            </a:r>
            <a:r>
              <a:rPr lang="fr-MA" b="1" kern="100" dirty="0">
                <a:solidFill>
                  <a:schemeClr val="accent5">
                    <a:lumMod val="75000"/>
                  </a:schemeClr>
                </a:solidFill>
                <a:latin typeface="Times New Roman" panose="02020603050405020304" pitchFamily="18" charset="0"/>
                <a:cs typeface="Arial" panose="020B0604020202020204" pitchFamily="34" charset="0"/>
              </a:rPr>
              <a:t>Trans</a:t>
            </a:r>
            <a:r>
              <a:rPr lang="fr-MA" i="0" dirty="0">
                <a:solidFill>
                  <a:srgbClr val="0D0D0D"/>
                </a:solidFill>
                <a:effectLst/>
                <a:highlight>
                  <a:srgbClr val="FFFFFF"/>
                </a:highligh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ZoneTexte 15">
            <a:extLst>
              <a:ext uri="{FF2B5EF4-FFF2-40B4-BE49-F238E27FC236}">
                <a16:creationId xmlns:a16="http://schemas.microsoft.com/office/drawing/2014/main" id="{02A6CF3C-697E-B14A-0725-80D86AD99056}"/>
              </a:ext>
            </a:extLst>
          </p:cNvPr>
          <p:cNvSpPr txBox="1"/>
          <p:nvPr/>
        </p:nvSpPr>
        <p:spPr>
          <a:xfrm>
            <a:off x="813817" y="2236046"/>
            <a:ext cx="10643301" cy="1000274"/>
          </a:xfrm>
          <a:prstGeom prst="rect">
            <a:avLst/>
          </a:prstGeom>
          <a:noFill/>
        </p:spPr>
        <p:txBody>
          <a:bodyPr wrap="square">
            <a:spAutoFit/>
          </a:bodyPr>
          <a:lstStyle/>
          <a:p>
            <a:pPr>
              <a:spcBef>
                <a:spcPts val="300"/>
              </a:spcBef>
            </a:pPr>
            <a:r>
              <a:rPr lang="fr-MA" sz="1800" b="0" i="0" dirty="0">
                <a:solidFill>
                  <a:srgbClr val="000000"/>
                </a:solidFill>
                <a:effectLst/>
                <a:latin typeface="TimesNewRomanPSMT"/>
              </a:rPr>
              <a:t>On classe les substituants selon les règles de priorité (CIP) :</a:t>
            </a:r>
          </a:p>
          <a:p>
            <a:pPr marL="984250" indent="-447675">
              <a:spcBef>
                <a:spcPts val="300"/>
              </a:spcBef>
              <a:buClr>
                <a:schemeClr val="accent2">
                  <a:lumMod val="60000"/>
                  <a:lumOff val="40000"/>
                </a:schemeClr>
              </a:buClr>
              <a:buFont typeface="Wingdings" panose="05000000000000000000" pitchFamily="2" charset="2"/>
              <a:buChar char="v"/>
            </a:pPr>
            <a:r>
              <a:rPr lang="fr-MA" sz="1800" b="0" i="0" dirty="0">
                <a:solidFill>
                  <a:srgbClr val="000000"/>
                </a:solidFill>
                <a:effectLst/>
                <a:latin typeface="TimesNewRomanPSMT"/>
              </a:rPr>
              <a:t>Lorsque ils sont du </a:t>
            </a:r>
            <a:r>
              <a:rPr lang="fr-MA" sz="1800" b="1" i="0" u="sng" dirty="0">
                <a:solidFill>
                  <a:srgbClr val="FF0000"/>
                </a:solidFill>
                <a:effectLst/>
                <a:latin typeface="TimesNewRomanPSMT"/>
              </a:rPr>
              <a:t>même côté</a:t>
            </a:r>
            <a:r>
              <a:rPr lang="fr-MA" sz="1800" b="1" i="0" dirty="0">
                <a:solidFill>
                  <a:srgbClr val="FF0000"/>
                </a:solidFill>
                <a:effectLst/>
                <a:latin typeface="TimesNewRomanPSMT"/>
              </a:rPr>
              <a:t> </a:t>
            </a:r>
            <a:r>
              <a:rPr lang="fr-MA" sz="1800" b="0" i="0" dirty="0">
                <a:solidFill>
                  <a:srgbClr val="000000"/>
                </a:solidFill>
                <a:effectLst/>
                <a:latin typeface="TimesNewRomanPSMT"/>
              </a:rPr>
              <a:t>du plan moyen du cycle l’isomère est </a:t>
            </a:r>
            <a:r>
              <a:rPr lang="fr-MA" sz="1800" b="1" i="0" dirty="0">
                <a:solidFill>
                  <a:srgbClr val="FF0000"/>
                </a:solidFill>
                <a:effectLst/>
                <a:latin typeface="TimesNewRomanPS-BoldMT"/>
              </a:rPr>
              <a:t>Cis</a:t>
            </a:r>
            <a:r>
              <a:rPr lang="fr-MA" sz="1800" b="0" i="0" dirty="0">
                <a:solidFill>
                  <a:srgbClr val="000000"/>
                </a:solidFill>
                <a:effectLst/>
                <a:latin typeface="TimesNewRomanPSMT"/>
              </a:rPr>
              <a:t>.</a:t>
            </a:r>
          </a:p>
          <a:p>
            <a:pPr marL="984250" indent="-447675">
              <a:spcBef>
                <a:spcPts val="300"/>
              </a:spcBef>
              <a:buClr>
                <a:schemeClr val="accent2">
                  <a:lumMod val="60000"/>
                  <a:lumOff val="40000"/>
                </a:schemeClr>
              </a:buClr>
              <a:buFont typeface="Wingdings" panose="05000000000000000000" pitchFamily="2" charset="2"/>
              <a:buChar char="v"/>
            </a:pPr>
            <a:r>
              <a:rPr lang="fr-MA" sz="1800" b="0" i="0" dirty="0">
                <a:solidFill>
                  <a:srgbClr val="000000"/>
                </a:solidFill>
                <a:effectLst/>
                <a:latin typeface="TimesNewRomanPSMT"/>
              </a:rPr>
              <a:t>Lorsqu’ils sont </a:t>
            </a:r>
            <a:r>
              <a:rPr lang="fr-MA" sz="1800" b="1" i="0" u="sng" dirty="0">
                <a:solidFill>
                  <a:srgbClr val="9933FF"/>
                </a:solidFill>
                <a:effectLst/>
                <a:latin typeface="TimesNewRomanPSMT"/>
              </a:rPr>
              <a:t>de part et d’autre</a:t>
            </a:r>
            <a:r>
              <a:rPr lang="fr-MA" sz="1800" b="1" i="0" dirty="0">
                <a:solidFill>
                  <a:srgbClr val="9933FF"/>
                </a:solidFill>
                <a:effectLst/>
                <a:latin typeface="TimesNewRomanPSMT"/>
              </a:rPr>
              <a:t> </a:t>
            </a:r>
            <a:r>
              <a:rPr lang="fr-MA" sz="1800" b="0" i="0" dirty="0">
                <a:solidFill>
                  <a:srgbClr val="000000"/>
                </a:solidFill>
                <a:effectLst/>
                <a:latin typeface="TimesNewRomanPSMT"/>
              </a:rPr>
              <a:t>du plan moyen du cycle, l’isomère est </a:t>
            </a:r>
            <a:r>
              <a:rPr lang="fr-MA" sz="1800" b="1" i="0" dirty="0">
                <a:solidFill>
                  <a:srgbClr val="9933FF"/>
                </a:solidFill>
                <a:effectLst/>
                <a:latin typeface="TimesNewRomanPS-BoldMT"/>
              </a:rPr>
              <a:t>trans</a:t>
            </a:r>
            <a:r>
              <a:rPr lang="fr-MA" sz="1800" b="0" i="0" dirty="0">
                <a:solidFill>
                  <a:srgbClr val="000000"/>
                </a:solidFill>
                <a:effectLst/>
                <a:latin typeface="TimesNewRomanPSMT"/>
              </a:rPr>
              <a:t>.</a:t>
            </a:r>
            <a:endParaRPr lang="en-US" dirty="0"/>
          </a:p>
        </p:txBody>
      </p:sp>
      <p:grpSp>
        <p:nvGrpSpPr>
          <p:cNvPr id="25" name="Groupe 24">
            <a:extLst>
              <a:ext uri="{FF2B5EF4-FFF2-40B4-BE49-F238E27FC236}">
                <a16:creationId xmlns:a16="http://schemas.microsoft.com/office/drawing/2014/main" id="{D713F6C0-F8AD-CF4B-53F7-8C64F04924A4}"/>
              </a:ext>
            </a:extLst>
          </p:cNvPr>
          <p:cNvGrpSpPr/>
          <p:nvPr/>
        </p:nvGrpSpPr>
        <p:grpSpPr>
          <a:xfrm>
            <a:off x="1756498" y="3813699"/>
            <a:ext cx="8679004" cy="2610002"/>
            <a:chOff x="1756498" y="3744126"/>
            <a:chExt cx="8679004" cy="2610002"/>
          </a:xfrm>
        </p:grpSpPr>
        <p:pic>
          <p:nvPicPr>
            <p:cNvPr id="18" name="Image 17">
              <a:extLst>
                <a:ext uri="{FF2B5EF4-FFF2-40B4-BE49-F238E27FC236}">
                  <a16:creationId xmlns:a16="http://schemas.microsoft.com/office/drawing/2014/main" id="{0F90F398-9CE8-161B-445B-F44B29490933}"/>
                </a:ext>
              </a:extLst>
            </p:cNvPr>
            <p:cNvPicPr>
              <a:picLocks noChangeAspect="1"/>
            </p:cNvPicPr>
            <p:nvPr/>
          </p:nvPicPr>
          <p:blipFill rotWithShape="1">
            <a:blip r:embed="rId3"/>
            <a:srcRect r="31401" b="25266"/>
            <a:stretch/>
          </p:blipFill>
          <p:spPr>
            <a:xfrm>
              <a:off x="1756498" y="4485922"/>
              <a:ext cx="8679004" cy="1868206"/>
            </a:xfrm>
            <a:prstGeom prst="rect">
              <a:avLst/>
            </a:prstGeom>
          </p:spPr>
        </p:pic>
        <p:sp>
          <p:nvSpPr>
            <p:cNvPr id="20" name="ZoneTexte 19">
              <a:extLst>
                <a:ext uri="{FF2B5EF4-FFF2-40B4-BE49-F238E27FC236}">
                  <a16:creationId xmlns:a16="http://schemas.microsoft.com/office/drawing/2014/main" id="{7C5AD729-29C1-6542-A601-BB21689CD4B8}"/>
                </a:ext>
              </a:extLst>
            </p:cNvPr>
            <p:cNvSpPr txBox="1"/>
            <p:nvPr/>
          </p:nvSpPr>
          <p:spPr>
            <a:xfrm>
              <a:off x="3137303" y="3744126"/>
              <a:ext cx="510357" cy="369332"/>
            </a:xfrm>
            <a:prstGeom prst="rect">
              <a:avLst/>
            </a:prstGeom>
            <a:noFill/>
          </p:spPr>
          <p:txBody>
            <a:bodyPr wrap="square">
              <a:spAutoFit/>
            </a:bodyPr>
            <a:lstStyle/>
            <a:p>
              <a:r>
                <a:rPr lang="fr-MA" b="1" dirty="0">
                  <a:solidFill>
                    <a:srgbClr val="FF0000"/>
                  </a:solidFill>
                  <a:latin typeface="TimesNewRomanPS-BoldMT"/>
                </a:rPr>
                <a:t>c</a:t>
              </a:r>
              <a:r>
                <a:rPr lang="fr-MA" sz="1800" b="1" i="0" dirty="0">
                  <a:solidFill>
                    <a:srgbClr val="FF0000"/>
                  </a:solidFill>
                  <a:effectLst/>
                  <a:latin typeface="TimesNewRomanPS-BoldMT"/>
                </a:rPr>
                <a:t>is</a:t>
              </a:r>
              <a:endParaRPr lang="en-US" dirty="0"/>
            </a:p>
          </p:txBody>
        </p:sp>
        <p:sp>
          <p:nvSpPr>
            <p:cNvPr id="22" name="ZoneTexte 21">
              <a:extLst>
                <a:ext uri="{FF2B5EF4-FFF2-40B4-BE49-F238E27FC236}">
                  <a16:creationId xmlns:a16="http://schemas.microsoft.com/office/drawing/2014/main" id="{51C8835B-F2BE-8F9A-FBE5-B00338D74917}"/>
                </a:ext>
              </a:extLst>
            </p:cNvPr>
            <p:cNvSpPr txBox="1"/>
            <p:nvPr/>
          </p:nvSpPr>
          <p:spPr>
            <a:xfrm>
              <a:off x="8250539" y="3791017"/>
              <a:ext cx="746627" cy="369332"/>
            </a:xfrm>
            <a:prstGeom prst="rect">
              <a:avLst/>
            </a:prstGeom>
            <a:noFill/>
          </p:spPr>
          <p:txBody>
            <a:bodyPr wrap="square">
              <a:spAutoFit/>
            </a:bodyPr>
            <a:lstStyle/>
            <a:p>
              <a:r>
                <a:rPr lang="fr-MA" sz="1800" b="1" i="0" dirty="0">
                  <a:solidFill>
                    <a:srgbClr val="9933FF"/>
                  </a:solidFill>
                  <a:effectLst/>
                  <a:latin typeface="TimesNewRomanPS-BoldMT"/>
                </a:rPr>
                <a:t>trans</a:t>
              </a:r>
              <a:endParaRPr lang="en-US" dirty="0"/>
            </a:p>
          </p:txBody>
        </p:sp>
        <p:sp>
          <p:nvSpPr>
            <p:cNvPr id="23" name="Flèche : bas 22">
              <a:extLst>
                <a:ext uri="{FF2B5EF4-FFF2-40B4-BE49-F238E27FC236}">
                  <a16:creationId xmlns:a16="http://schemas.microsoft.com/office/drawing/2014/main" id="{77856C22-3483-804D-E667-E37AC94643B1}"/>
                </a:ext>
              </a:extLst>
            </p:cNvPr>
            <p:cNvSpPr/>
            <p:nvPr/>
          </p:nvSpPr>
          <p:spPr>
            <a:xfrm>
              <a:off x="3269974" y="4173092"/>
              <a:ext cx="198783" cy="458543"/>
            </a:xfrm>
            <a:prstGeom prst="downArrow">
              <a:avLst/>
            </a:prstGeom>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 name="Flèche : bas 23">
              <a:extLst>
                <a:ext uri="{FF2B5EF4-FFF2-40B4-BE49-F238E27FC236}">
                  <a16:creationId xmlns:a16="http://schemas.microsoft.com/office/drawing/2014/main" id="{7E176E04-3637-4A50-3CFB-098A3DF4FCFD}"/>
                </a:ext>
              </a:extLst>
            </p:cNvPr>
            <p:cNvSpPr/>
            <p:nvPr/>
          </p:nvSpPr>
          <p:spPr>
            <a:xfrm>
              <a:off x="8524462" y="4217225"/>
              <a:ext cx="198783" cy="458543"/>
            </a:xfrm>
            <a:prstGeom prst="downArrow">
              <a:avLst/>
            </a:prstGeom>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 name="ZoneTexte 26">
            <a:extLst>
              <a:ext uri="{FF2B5EF4-FFF2-40B4-BE49-F238E27FC236}">
                <a16:creationId xmlns:a16="http://schemas.microsoft.com/office/drawing/2014/main" id="{204684FB-AAF0-16D4-8B8F-AFACA8C2B735}"/>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2.	Molécules cycliques</a:t>
            </a:r>
            <a:endParaRPr lang="en-US" b="1" kern="100" dirty="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648711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43</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27" name="ZoneTexte 26">
            <a:extLst>
              <a:ext uri="{FF2B5EF4-FFF2-40B4-BE49-F238E27FC236}">
                <a16:creationId xmlns:a16="http://schemas.microsoft.com/office/drawing/2014/main" id="{204684FB-AAF0-16D4-8B8F-AFACA8C2B735}"/>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2.	Molécules cycliques</a:t>
            </a:r>
            <a:endParaRPr lang="en-US" b="1" kern="100" dirty="0">
              <a:latin typeface="Times New Roman" panose="02020603050405020304" pitchFamily="18" charset="0"/>
              <a:cs typeface="Arial" panose="020B0604020202020204" pitchFamily="34" charset="0"/>
            </a:endParaRPr>
          </a:p>
        </p:txBody>
      </p:sp>
      <p:sp>
        <p:nvSpPr>
          <p:cNvPr id="5" name="ZoneTexte 4">
            <a:extLst>
              <a:ext uri="{FF2B5EF4-FFF2-40B4-BE49-F238E27FC236}">
                <a16:creationId xmlns:a16="http://schemas.microsoft.com/office/drawing/2014/main" id="{181988A9-57A1-05B6-0814-95C65BF23D2D}"/>
              </a:ext>
            </a:extLst>
          </p:cNvPr>
          <p:cNvSpPr txBox="1"/>
          <p:nvPr/>
        </p:nvSpPr>
        <p:spPr>
          <a:xfrm>
            <a:off x="950843" y="1534438"/>
            <a:ext cx="1182757"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 :</a:t>
            </a:r>
            <a:endParaRPr lang="en-US" sz="1600"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grpSp>
        <p:nvGrpSpPr>
          <p:cNvPr id="52" name="Groupe 51">
            <a:extLst>
              <a:ext uri="{FF2B5EF4-FFF2-40B4-BE49-F238E27FC236}">
                <a16:creationId xmlns:a16="http://schemas.microsoft.com/office/drawing/2014/main" id="{C69E1F9C-3D82-3E45-3586-65F5F4A152FF}"/>
              </a:ext>
            </a:extLst>
          </p:cNvPr>
          <p:cNvGrpSpPr/>
          <p:nvPr/>
        </p:nvGrpSpPr>
        <p:grpSpPr>
          <a:xfrm>
            <a:off x="813817" y="4528303"/>
            <a:ext cx="6937511" cy="1449908"/>
            <a:chOff x="1431236" y="4895203"/>
            <a:chExt cx="6937511" cy="1449908"/>
          </a:xfrm>
        </p:grpSpPr>
        <p:pic>
          <p:nvPicPr>
            <p:cNvPr id="39" name="Image 38">
              <a:extLst>
                <a:ext uri="{FF2B5EF4-FFF2-40B4-BE49-F238E27FC236}">
                  <a16:creationId xmlns:a16="http://schemas.microsoft.com/office/drawing/2014/main" id="{94258B6E-9012-F352-49EF-39F58AC8A8FF}"/>
                </a:ext>
              </a:extLst>
            </p:cNvPr>
            <p:cNvPicPr>
              <a:picLocks noChangeAspect="1"/>
            </p:cNvPicPr>
            <p:nvPr/>
          </p:nvPicPr>
          <p:blipFill rotWithShape="1">
            <a:blip r:embed="rId3"/>
            <a:srcRect r="30765" b="30808"/>
            <a:stretch/>
          </p:blipFill>
          <p:spPr>
            <a:xfrm>
              <a:off x="1431236" y="4895203"/>
              <a:ext cx="6937511" cy="1449908"/>
            </a:xfrm>
            <a:prstGeom prst="rect">
              <a:avLst/>
            </a:prstGeom>
          </p:spPr>
        </p:pic>
        <p:cxnSp>
          <p:nvCxnSpPr>
            <p:cNvPr id="43" name="Connecteur droit 42">
              <a:extLst>
                <a:ext uri="{FF2B5EF4-FFF2-40B4-BE49-F238E27FC236}">
                  <a16:creationId xmlns:a16="http://schemas.microsoft.com/office/drawing/2014/main" id="{6E8BF317-F04D-AF9E-126B-561C9E73CF93}"/>
                </a:ext>
              </a:extLst>
            </p:cNvPr>
            <p:cNvCxnSpPr/>
            <p:nvPr/>
          </p:nvCxnSpPr>
          <p:spPr>
            <a:xfrm>
              <a:off x="3677477" y="4895203"/>
              <a:ext cx="0" cy="1355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502A6869-B6F4-8E74-1A9E-4A1719087663}"/>
                </a:ext>
              </a:extLst>
            </p:cNvPr>
            <p:cNvCxnSpPr/>
            <p:nvPr/>
          </p:nvCxnSpPr>
          <p:spPr>
            <a:xfrm>
              <a:off x="6096000" y="4895203"/>
              <a:ext cx="0" cy="1355668"/>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55" name="Groupe 54">
            <a:extLst>
              <a:ext uri="{FF2B5EF4-FFF2-40B4-BE49-F238E27FC236}">
                <a16:creationId xmlns:a16="http://schemas.microsoft.com/office/drawing/2014/main" id="{AD85E25B-95F0-C965-7545-8BF965A9B706}"/>
              </a:ext>
            </a:extLst>
          </p:cNvPr>
          <p:cNvGrpSpPr/>
          <p:nvPr/>
        </p:nvGrpSpPr>
        <p:grpSpPr>
          <a:xfrm>
            <a:off x="1656184" y="1965796"/>
            <a:ext cx="4057650" cy="1610845"/>
            <a:chOff x="1488528" y="1971114"/>
            <a:chExt cx="4057650" cy="1610845"/>
          </a:xfrm>
        </p:grpSpPr>
        <p:grpSp>
          <p:nvGrpSpPr>
            <p:cNvPr id="45" name="Groupe 44">
              <a:extLst>
                <a:ext uri="{FF2B5EF4-FFF2-40B4-BE49-F238E27FC236}">
                  <a16:creationId xmlns:a16="http://schemas.microsoft.com/office/drawing/2014/main" id="{5E1F7153-87B1-13C8-BB0B-63556C01A373}"/>
                </a:ext>
              </a:extLst>
            </p:cNvPr>
            <p:cNvGrpSpPr/>
            <p:nvPr/>
          </p:nvGrpSpPr>
          <p:grpSpPr>
            <a:xfrm>
              <a:off x="1488528" y="2349424"/>
              <a:ext cx="4057650" cy="1232535"/>
              <a:chOff x="355552" y="2196465"/>
              <a:chExt cx="4057650" cy="1232535"/>
            </a:xfrm>
          </p:grpSpPr>
          <p:sp>
            <p:nvSpPr>
              <p:cNvPr id="40" name="Rectangle 39">
                <a:extLst>
                  <a:ext uri="{FF2B5EF4-FFF2-40B4-BE49-F238E27FC236}">
                    <a16:creationId xmlns:a16="http://schemas.microsoft.com/office/drawing/2014/main" id="{83E47181-F038-2372-0C8F-F9FD1B04D478}"/>
                  </a:ext>
                </a:extLst>
              </p:cNvPr>
              <p:cNvSpPr/>
              <p:nvPr/>
            </p:nvSpPr>
            <p:spPr>
              <a:xfrm>
                <a:off x="355552" y="2196465"/>
                <a:ext cx="4057650" cy="12325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5" name="Image 14">
                <a:extLst>
                  <a:ext uri="{FF2B5EF4-FFF2-40B4-BE49-F238E27FC236}">
                    <a16:creationId xmlns:a16="http://schemas.microsoft.com/office/drawing/2014/main" id="{5790CE76-9BCE-A244-7CCB-08CE31F78B9D}"/>
                  </a:ext>
                </a:extLst>
              </p:cNvPr>
              <p:cNvPicPr>
                <a:picLocks noChangeAspect="1"/>
              </p:cNvPicPr>
              <p:nvPr/>
            </p:nvPicPr>
            <p:blipFill rotWithShape="1">
              <a:blip r:embed="rId4"/>
              <a:srcRect r="29379" b="23020"/>
              <a:stretch/>
            </p:blipFill>
            <p:spPr>
              <a:xfrm>
                <a:off x="646272" y="2323499"/>
                <a:ext cx="3766930" cy="828549"/>
              </a:xfrm>
              <a:prstGeom prst="rect">
                <a:avLst/>
              </a:prstGeom>
            </p:spPr>
          </p:pic>
          <p:sp>
            <p:nvSpPr>
              <p:cNvPr id="21" name="ZoneTexte 20">
                <a:extLst>
                  <a:ext uri="{FF2B5EF4-FFF2-40B4-BE49-F238E27FC236}">
                    <a16:creationId xmlns:a16="http://schemas.microsoft.com/office/drawing/2014/main" id="{9B42BBE9-BD69-792A-2BA2-651C75BF4236}"/>
                  </a:ext>
                </a:extLst>
              </p:cNvPr>
              <p:cNvSpPr txBox="1"/>
              <p:nvPr/>
            </p:nvSpPr>
            <p:spPr>
              <a:xfrm>
                <a:off x="3317393" y="3031174"/>
                <a:ext cx="510357" cy="338554"/>
              </a:xfrm>
              <a:prstGeom prst="rect">
                <a:avLst/>
              </a:prstGeom>
              <a:noFill/>
            </p:spPr>
            <p:txBody>
              <a:bodyPr wrap="square">
                <a:spAutoFit/>
              </a:bodyPr>
              <a:lstStyle/>
              <a:p>
                <a:r>
                  <a:rPr lang="fr-MA" sz="1600" b="1" dirty="0">
                    <a:solidFill>
                      <a:srgbClr val="FF0000"/>
                    </a:solidFill>
                    <a:latin typeface="TimesNewRomanPS-BoldMT"/>
                  </a:rPr>
                  <a:t>c</a:t>
                </a:r>
                <a:r>
                  <a:rPr lang="fr-MA" sz="1600" b="1" i="0" dirty="0">
                    <a:solidFill>
                      <a:srgbClr val="FF0000"/>
                    </a:solidFill>
                    <a:effectLst/>
                    <a:latin typeface="TimesNewRomanPS-BoldMT"/>
                  </a:rPr>
                  <a:t>is</a:t>
                </a:r>
                <a:endParaRPr lang="en-US" sz="1600" dirty="0"/>
              </a:p>
            </p:txBody>
          </p:sp>
          <p:sp>
            <p:nvSpPr>
              <p:cNvPr id="26" name="ZoneTexte 25">
                <a:extLst>
                  <a:ext uri="{FF2B5EF4-FFF2-40B4-BE49-F238E27FC236}">
                    <a16:creationId xmlns:a16="http://schemas.microsoft.com/office/drawing/2014/main" id="{9A9C9123-B006-9850-75BC-BEB6863094F1}"/>
                  </a:ext>
                </a:extLst>
              </p:cNvPr>
              <p:cNvSpPr txBox="1"/>
              <p:nvPr/>
            </p:nvSpPr>
            <p:spPr>
              <a:xfrm>
                <a:off x="1049437" y="3022527"/>
                <a:ext cx="746627" cy="338554"/>
              </a:xfrm>
              <a:prstGeom prst="rect">
                <a:avLst/>
              </a:prstGeom>
              <a:noFill/>
            </p:spPr>
            <p:txBody>
              <a:bodyPr wrap="square">
                <a:spAutoFit/>
              </a:bodyPr>
              <a:lstStyle/>
              <a:p>
                <a:r>
                  <a:rPr lang="fr-MA" sz="1600" b="1" i="0" dirty="0">
                    <a:solidFill>
                      <a:srgbClr val="9933FF"/>
                    </a:solidFill>
                    <a:effectLst/>
                    <a:latin typeface="TimesNewRomanPS-BoldMT"/>
                  </a:rPr>
                  <a:t>trans</a:t>
                </a:r>
                <a:endParaRPr lang="en-US" sz="1600" dirty="0"/>
              </a:p>
            </p:txBody>
          </p:sp>
        </p:grpSp>
        <p:sp>
          <p:nvSpPr>
            <p:cNvPr id="48" name="ZoneTexte 47">
              <a:extLst>
                <a:ext uri="{FF2B5EF4-FFF2-40B4-BE49-F238E27FC236}">
                  <a16:creationId xmlns:a16="http://schemas.microsoft.com/office/drawing/2014/main" id="{37A288A7-A480-18D0-4978-D95CA785D4CD}"/>
                </a:ext>
              </a:extLst>
            </p:cNvPr>
            <p:cNvSpPr txBox="1"/>
            <p:nvPr/>
          </p:nvSpPr>
          <p:spPr>
            <a:xfrm>
              <a:off x="2278262" y="1971114"/>
              <a:ext cx="2682464" cy="338554"/>
            </a:xfrm>
            <a:prstGeom prst="rect">
              <a:avLst/>
            </a:prstGeom>
            <a:noFill/>
          </p:spPr>
          <p:txBody>
            <a:bodyPr wrap="square">
              <a:spAutoFit/>
            </a:bodyPr>
            <a:lstStyle/>
            <a:p>
              <a:r>
                <a:rPr lang="fr-FR" sz="1600" b="1" dirty="0">
                  <a:solidFill>
                    <a:srgbClr val="000000"/>
                  </a:solidFill>
                  <a:effectLst/>
                  <a:latin typeface="Times New Roman" panose="02020603050405020304" pitchFamily="18" charset="0"/>
                  <a:ea typeface="Calibri" panose="020F0502020204030204" pitchFamily="34" charset="0"/>
                </a:rPr>
                <a:t>1,3-Dichlorocyclobutane</a:t>
              </a:r>
              <a:endParaRPr lang="en-US" sz="1600" b="1" dirty="0"/>
            </a:p>
          </p:txBody>
        </p:sp>
      </p:grpSp>
      <p:grpSp>
        <p:nvGrpSpPr>
          <p:cNvPr id="54" name="Groupe 53">
            <a:extLst>
              <a:ext uri="{FF2B5EF4-FFF2-40B4-BE49-F238E27FC236}">
                <a16:creationId xmlns:a16="http://schemas.microsoft.com/office/drawing/2014/main" id="{63156F06-E84C-DA0A-8387-A4F8642F871E}"/>
              </a:ext>
            </a:extLst>
          </p:cNvPr>
          <p:cNvGrpSpPr/>
          <p:nvPr/>
        </p:nvGrpSpPr>
        <p:grpSpPr>
          <a:xfrm>
            <a:off x="7645780" y="1729780"/>
            <a:ext cx="3595377" cy="2067914"/>
            <a:chOff x="6672641" y="1968683"/>
            <a:chExt cx="3595377" cy="2067914"/>
          </a:xfrm>
        </p:grpSpPr>
        <p:sp>
          <p:nvSpPr>
            <p:cNvPr id="41" name="Rectangle 40">
              <a:extLst>
                <a:ext uri="{FF2B5EF4-FFF2-40B4-BE49-F238E27FC236}">
                  <a16:creationId xmlns:a16="http://schemas.microsoft.com/office/drawing/2014/main" id="{E13A3F3E-0D32-B7D6-83DF-BF4C1C557C18}"/>
                </a:ext>
              </a:extLst>
            </p:cNvPr>
            <p:cNvSpPr/>
            <p:nvPr/>
          </p:nvSpPr>
          <p:spPr>
            <a:xfrm>
              <a:off x="6672641" y="2368625"/>
              <a:ext cx="3289434" cy="16679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pic>
          <p:nvPicPr>
            <p:cNvPr id="19" name="Image 18">
              <a:extLst>
                <a:ext uri="{FF2B5EF4-FFF2-40B4-BE49-F238E27FC236}">
                  <a16:creationId xmlns:a16="http://schemas.microsoft.com/office/drawing/2014/main" id="{6C1A2518-6FDD-BC3D-C88D-D3BB5E4D9C4F}"/>
                </a:ext>
              </a:extLst>
            </p:cNvPr>
            <p:cNvPicPr>
              <a:picLocks noChangeAspect="1"/>
            </p:cNvPicPr>
            <p:nvPr/>
          </p:nvPicPr>
          <p:blipFill rotWithShape="1">
            <a:blip r:embed="rId5"/>
            <a:srcRect r="72239" b="28437"/>
            <a:stretch/>
          </p:blipFill>
          <p:spPr>
            <a:xfrm>
              <a:off x="7008763" y="2442990"/>
              <a:ext cx="2691828" cy="1226947"/>
            </a:xfrm>
            <a:prstGeom prst="rect">
              <a:avLst/>
            </a:prstGeom>
          </p:spPr>
        </p:pic>
        <p:cxnSp>
          <p:nvCxnSpPr>
            <p:cNvPr id="34" name="Connecteur droit 33">
              <a:extLst>
                <a:ext uri="{FF2B5EF4-FFF2-40B4-BE49-F238E27FC236}">
                  <a16:creationId xmlns:a16="http://schemas.microsoft.com/office/drawing/2014/main" id="{48DD7F51-A51F-BB75-44F9-303D0FD2954C}"/>
                </a:ext>
              </a:extLst>
            </p:cNvPr>
            <p:cNvCxnSpPr>
              <a:cxnSpLocks/>
            </p:cNvCxnSpPr>
            <p:nvPr/>
          </p:nvCxnSpPr>
          <p:spPr>
            <a:xfrm>
              <a:off x="8242456" y="2406054"/>
              <a:ext cx="0" cy="1300817"/>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35" name="ZoneTexte 34">
              <a:extLst>
                <a:ext uri="{FF2B5EF4-FFF2-40B4-BE49-F238E27FC236}">
                  <a16:creationId xmlns:a16="http://schemas.microsoft.com/office/drawing/2014/main" id="{BBA61A4E-ACC6-4E1F-03A5-80AD8B51A153}"/>
                </a:ext>
              </a:extLst>
            </p:cNvPr>
            <p:cNvSpPr txBox="1"/>
            <p:nvPr/>
          </p:nvSpPr>
          <p:spPr>
            <a:xfrm>
              <a:off x="6937581" y="3633631"/>
              <a:ext cx="1268419" cy="307777"/>
            </a:xfrm>
            <a:prstGeom prst="rect">
              <a:avLst/>
            </a:prstGeom>
            <a:noFill/>
          </p:spPr>
          <p:txBody>
            <a:bodyPr wrap="square">
              <a:spAutoFit/>
            </a:bodyPr>
            <a:lstStyle/>
            <a:p>
              <a:r>
                <a:rPr lang="fr-MA" sz="1400" b="1" dirty="0">
                  <a:solidFill>
                    <a:srgbClr val="FF0000"/>
                  </a:solidFill>
                  <a:latin typeface="TimesNewRomanPS-BoldMT"/>
                </a:rPr>
                <a:t>C</a:t>
              </a:r>
              <a:r>
                <a:rPr lang="fr-MA" sz="1400" b="1" i="0" dirty="0">
                  <a:solidFill>
                    <a:srgbClr val="FF0000"/>
                  </a:solidFill>
                  <a:effectLst/>
                  <a:latin typeface="TimesNewRomanPS-BoldMT"/>
                </a:rPr>
                <a:t>is </a:t>
              </a:r>
              <a:r>
                <a:rPr lang="fr-MA" sz="1400" b="1" i="0" dirty="0">
                  <a:effectLst/>
                  <a:latin typeface="TimesNewRomanPS-BoldMT"/>
                </a:rPr>
                <a:t>(1R, 2S)</a:t>
              </a:r>
              <a:endParaRPr lang="en-US" sz="1400" dirty="0"/>
            </a:p>
          </p:txBody>
        </p:sp>
        <p:sp>
          <p:nvSpPr>
            <p:cNvPr id="36" name="ZoneTexte 35">
              <a:extLst>
                <a:ext uri="{FF2B5EF4-FFF2-40B4-BE49-F238E27FC236}">
                  <a16:creationId xmlns:a16="http://schemas.microsoft.com/office/drawing/2014/main" id="{5A2D9E7C-71BF-FFAF-C59C-89FE2623E145}"/>
                </a:ext>
              </a:extLst>
            </p:cNvPr>
            <p:cNvSpPr txBox="1"/>
            <p:nvPr/>
          </p:nvSpPr>
          <p:spPr>
            <a:xfrm>
              <a:off x="8509004" y="3632670"/>
              <a:ext cx="1268413" cy="307777"/>
            </a:xfrm>
            <a:prstGeom prst="rect">
              <a:avLst/>
            </a:prstGeom>
            <a:noFill/>
          </p:spPr>
          <p:txBody>
            <a:bodyPr wrap="square">
              <a:spAutoFit/>
            </a:bodyPr>
            <a:lstStyle/>
            <a:p>
              <a:r>
                <a:rPr lang="fr-MA" sz="1400" b="1" dirty="0">
                  <a:solidFill>
                    <a:srgbClr val="FF0000"/>
                  </a:solidFill>
                  <a:latin typeface="TimesNewRomanPS-BoldMT"/>
                </a:rPr>
                <a:t>C</a:t>
              </a:r>
              <a:r>
                <a:rPr lang="fr-MA" sz="1400" b="1" i="0" dirty="0">
                  <a:solidFill>
                    <a:srgbClr val="FF0000"/>
                  </a:solidFill>
                  <a:effectLst/>
                  <a:latin typeface="TimesNewRomanPS-BoldMT"/>
                </a:rPr>
                <a:t>is </a:t>
              </a:r>
              <a:r>
                <a:rPr lang="fr-MA" sz="1400" b="1" i="0" dirty="0">
                  <a:effectLst/>
                  <a:latin typeface="TimesNewRomanPS-BoldMT"/>
                </a:rPr>
                <a:t>(1S, 2R)</a:t>
              </a:r>
              <a:endParaRPr lang="en-US" sz="1400" dirty="0"/>
            </a:p>
          </p:txBody>
        </p:sp>
        <p:sp>
          <p:nvSpPr>
            <p:cNvPr id="50" name="ZoneTexte 49">
              <a:extLst>
                <a:ext uri="{FF2B5EF4-FFF2-40B4-BE49-F238E27FC236}">
                  <a16:creationId xmlns:a16="http://schemas.microsoft.com/office/drawing/2014/main" id="{F9F0BF30-E2D0-0A5A-EA37-015BBA6F00E2}"/>
                </a:ext>
              </a:extLst>
            </p:cNvPr>
            <p:cNvSpPr txBox="1"/>
            <p:nvPr/>
          </p:nvSpPr>
          <p:spPr>
            <a:xfrm>
              <a:off x="6937581" y="1968683"/>
              <a:ext cx="3330437" cy="338554"/>
            </a:xfrm>
            <a:prstGeom prst="rect">
              <a:avLst/>
            </a:prstGeom>
            <a:noFill/>
          </p:spPr>
          <p:txBody>
            <a:bodyPr wrap="square">
              <a:spAutoFit/>
            </a:bodyPr>
            <a:lstStyle/>
            <a:p>
              <a:r>
                <a:rPr lang="fr-FR" sz="1600" b="1" dirty="0">
                  <a:solidFill>
                    <a:srgbClr val="000000"/>
                  </a:solidFill>
                  <a:effectLst/>
                  <a:latin typeface="Times New Roman" panose="02020603050405020304" pitchFamily="18" charset="0"/>
                  <a:ea typeface="Calibri" panose="020F0502020204030204" pitchFamily="34" charset="0"/>
                </a:rPr>
                <a:t>1-Bromo-2-chlorocyclobutane</a:t>
              </a:r>
              <a:endParaRPr lang="en-US" sz="1600" b="1" dirty="0"/>
            </a:p>
          </p:txBody>
        </p:sp>
      </p:grpSp>
      <p:pic>
        <p:nvPicPr>
          <p:cNvPr id="53" name="Image 52">
            <a:extLst>
              <a:ext uri="{FF2B5EF4-FFF2-40B4-BE49-F238E27FC236}">
                <a16:creationId xmlns:a16="http://schemas.microsoft.com/office/drawing/2014/main" id="{B759D4F2-16A9-D805-3777-1D1F3893EFF4}"/>
              </a:ext>
            </a:extLst>
          </p:cNvPr>
          <p:cNvPicPr>
            <a:picLocks noChangeAspect="1"/>
          </p:cNvPicPr>
          <p:nvPr/>
        </p:nvPicPr>
        <p:blipFill rotWithShape="1">
          <a:blip r:embed="rId6"/>
          <a:srcRect r="30740" b="27518"/>
          <a:stretch/>
        </p:blipFill>
        <p:spPr>
          <a:xfrm>
            <a:off x="8354399" y="4732013"/>
            <a:ext cx="3997765" cy="1042488"/>
          </a:xfrm>
          <a:prstGeom prst="rect">
            <a:avLst/>
          </a:prstGeom>
        </p:spPr>
      </p:pic>
      <p:sp>
        <p:nvSpPr>
          <p:cNvPr id="56" name="Flèche : droite 55">
            <a:extLst>
              <a:ext uri="{FF2B5EF4-FFF2-40B4-BE49-F238E27FC236}">
                <a16:creationId xmlns:a16="http://schemas.microsoft.com/office/drawing/2014/main" id="{E517BC0E-282F-EF17-81E1-ADA148BFD505}"/>
              </a:ext>
            </a:extLst>
          </p:cNvPr>
          <p:cNvSpPr/>
          <p:nvPr/>
        </p:nvSpPr>
        <p:spPr>
          <a:xfrm>
            <a:off x="7408043" y="5052217"/>
            <a:ext cx="686569" cy="190811"/>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2900688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44</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295976BA-0218-0E1F-1795-97AA60481337}"/>
              </a:ext>
            </a:extLst>
          </p:cNvPr>
          <p:cNvSpPr txBox="1"/>
          <p:nvPr/>
        </p:nvSpPr>
        <p:spPr>
          <a:xfrm>
            <a:off x="813817" y="663764"/>
            <a:ext cx="6281530" cy="461665"/>
          </a:xfrm>
          <a:prstGeom prst="rect">
            <a:avLst/>
          </a:prstGeom>
          <a:noFill/>
        </p:spPr>
        <p:txBody>
          <a:bodyPr wrap="square">
            <a:spAutoFit/>
          </a:bodyPr>
          <a:lstStyle/>
          <a:p>
            <a:pPr>
              <a:spcBef>
                <a:spcPts val="800"/>
              </a:spcBef>
              <a:tabLst>
                <a:tab pos="804863" algn="l"/>
              </a:tabLst>
            </a:pPr>
            <a:r>
              <a:rPr lang="fr-FR" sz="2400" b="1" kern="100" dirty="0">
                <a:solidFill>
                  <a:schemeClr val="accent2">
                    <a:lumMod val="60000"/>
                    <a:lumOff val="40000"/>
                  </a:schemeClr>
                </a:solidFill>
                <a:latin typeface="Times New Roman" panose="02020603050405020304" pitchFamily="18" charset="0"/>
                <a:cs typeface="Arial" panose="020B0604020202020204" pitchFamily="34" charset="0"/>
              </a:rPr>
              <a:t>VII.	Isomérie géométrique</a:t>
            </a:r>
          </a:p>
        </p:txBody>
      </p:sp>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a:t>
            </a:r>
          </a:p>
        </p:txBody>
      </p:sp>
      <p:sp>
        <p:nvSpPr>
          <p:cNvPr id="27" name="ZoneTexte 26">
            <a:extLst>
              <a:ext uri="{FF2B5EF4-FFF2-40B4-BE49-F238E27FC236}">
                <a16:creationId xmlns:a16="http://schemas.microsoft.com/office/drawing/2014/main" id="{204684FB-AAF0-16D4-8B8F-AFACA8C2B735}"/>
              </a:ext>
            </a:extLst>
          </p:cNvPr>
          <p:cNvSpPr txBox="1"/>
          <p:nvPr/>
        </p:nvSpPr>
        <p:spPr>
          <a:xfrm>
            <a:off x="973619" y="1175088"/>
            <a:ext cx="8726972" cy="369332"/>
          </a:xfrm>
          <a:prstGeom prst="rect">
            <a:avLst/>
          </a:prstGeom>
          <a:noFill/>
        </p:spPr>
        <p:txBody>
          <a:bodyPr wrap="square">
            <a:spAutoFit/>
          </a:bodyPr>
          <a:lstStyle/>
          <a:p>
            <a:pPr indent="625475">
              <a:spcBef>
                <a:spcPts val="800"/>
              </a:spcBef>
            </a:pPr>
            <a:r>
              <a:rPr lang="fr-MA" b="1" kern="100" dirty="0">
                <a:latin typeface="Times New Roman" panose="02020603050405020304" pitchFamily="18" charset="0"/>
                <a:cs typeface="Arial" panose="020B0604020202020204" pitchFamily="34" charset="0"/>
              </a:rPr>
              <a:t>VII. 2.	Molécules cycliques</a:t>
            </a:r>
            <a:endParaRPr lang="en-US" b="1" kern="100" dirty="0">
              <a:latin typeface="Times New Roman" panose="02020603050405020304" pitchFamily="18" charset="0"/>
              <a:cs typeface="Arial" panose="020B0604020202020204" pitchFamily="34" charset="0"/>
            </a:endParaRPr>
          </a:p>
        </p:txBody>
      </p:sp>
      <p:sp>
        <p:nvSpPr>
          <p:cNvPr id="5" name="ZoneTexte 4">
            <a:extLst>
              <a:ext uri="{FF2B5EF4-FFF2-40B4-BE49-F238E27FC236}">
                <a16:creationId xmlns:a16="http://schemas.microsoft.com/office/drawing/2014/main" id="{181988A9-57A1-05B6-0814-95C65BF23D2D}"/>
              </a:ext>
            </a:extLst>
          </p:cNvPr>
          <p:cNvSpPr txBox="1"/>
          <p:nvPr/>
        </p:nvSpPr>
        <p:spPr>
          <a:xfrm>
            <a:off x="950842" y="1534439"/>
            <a:ext cx="8401879" cy="390684"/>
          </a:xfrm>
          <a:prstGeom prst="rect">
            <a:avLst/>
          </a:prstGeom>
          <a:noFill/>
        </p:spPr>
        <p:txBody>
          <a:bodyPr wrap="square">
            <a:spAutoFit/>
          </a:bodyPr>
          <a:lstStyle/>
          <a:p>
            <a:pPr>
              <a:lnSpc>
                <a:spcPct val="115000"/>
              </a:lnSpc>
              <a:spcAft>
                <a:spcPts val="800"/>
              </a:spcAft>
            </a:pPr>
            <a:r>
              <a:rPr lang="fr-FR" sz="1800" b="1" u="sng"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Exemple</a:t>
            </a:r>
            <a:r>
              <a:rPr lang="fr-FR" sz="1800"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 : </a:t>
            </a:r>
            <a:r>
              <a:rPr lang="fr-FR" sz="1800" b="1" kern="100"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Cis</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a:t>
            </a:r>
            <a:r>
              <a:rPr lang="fr-FR" sz="1800" b="1" kern="100" dirty="0">
                <a:solidFill>
                  <a:srgbClr val="9933FF"/>
                </a:solidFill>
                <a:effectLst/>
                <a:latin typeface="Times New Roman" panose="02020603050405020304" pitchFamily="18" charset="0"/>
                <a:ea typeface="Calibri" panose="020F0502020204030204" pitchFamily="34" charset="0"/>
                <a:cs typeface="Arial" panose="020B0604020202020204" pitchFamily="34" charset="0"/>
              </a:rPr>
              <a:t>Trans</a:t>
            </a:r>
            <a:r>
              <a:rPr lang="fr-FR" sz="1800" kern="100" dirty="0">
                <a:effectLst/>
                <a:latin typeface="Times New Roman" panose="02020603050405020304" pitchFamily="18" charset="0"/>
                <a:ea typeface="Calibri" panose="020F0502020204030204" pitchFamily="34" charset="0"/>
                <a:cs typeface="Arial" panose="020B0604020202020204" pitchFamily="34" charset="0"/>
              </a:rPr>
              <a:t> dans le cyclohexane di-substitués </a:t>
            </a:r>
            <a:r>
              <a:rPr lang="fr-FR" sz="1800" b="1" kern="100" dirty="0">
                <a:effectLst/>
                <a:latin typeface="Times New Roman" panose="02020603050405020304" pitchFamily="18" charset="0"/>
                <a:ea typeface="Calibri" panose="020F0502020204030204" pitchFamily="34" charset="0"/>
                <a:cs typeface="Arial" panose="020B0604020202020204" pitchFamily="34" charset="0"/>
              </a:rPr>
              <a:t>(autre représentation)</a:t>
            </a:r>
            <a:endParaRPr lang="en-US" sz="1600" b="1" kern="100" dirty="0">
              <a:solidFill>
                <a:srgbClr val="9933FF"/>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FB3699E6-09B4-7046-C83E-041E93D6C3CC}"/>
              </a:ext>
            </a:extLst>
          </p:cNvPr>
          <p:cNvPicPr>
            <a:picLocks noChangeAspect="1"/>
          </p:cNvPicPr>
          <p:nvPr/>
        </p:nvPicPr>
        <p:blipFill>
          <a:blip r:embed="rId3"/>
          <a:stretch>
            <a:fillRect/>
          </a:stretch>
        </p:blipFill>
        <p:spPr>
          <a:xfrm>
            <a:off x="4618384" y="1929739"/>
            <a:ext cx="6612834" cy="4124270"/>
          </a:xfrm>
          <a:prstGeom prst="rect">
            <a:avLst/>
          </a:prstGeom>
        </p:spPr>
      </p:pic>
      <p:sp>
        <p:nvSpPr>
          <p:cNvPr id="18" name="ZoneTexte 17">
            <a:extLst>
              <a:ext uri="{FF2B5EF4-FFF2-40B4-BE49-F238E27FC236}">
                <a16:creationId xmlns:a16="http://schemas.microsoft.com/office/drawing/2014/main" id="{63404646-FF3A-6E5E-1639-B994F8B0721F}"/>
              </a:ext>
            </a:extLst>
          </p:cNvPr>
          <p:cNvSpPr txBox="1"/>
          <p:nvPr/>
        </p:nvSpPr>
        <p:spPr>
          <a:xfrm>
            <a:off x="909356" y="2847984"/>
            <a:ext cx="2376644" cy="338554"/>
          </a:xfrm>
          <a:prstGeom prst="rect">
            <a:avLst/>
          </a:prstGeom>
          <a:noFill/>
        </p:spPr>
        <p:txBody>
          <a:bodyPr wrap="square">
            <a:spAutoFit/>
          </a:bodyPr>
          <a:lstStyle/>
          <a:p>
            <a:r>
              <a:rPr lang="fr-MA" sz="1600" b="1" dirty="0">
                <a:latin typeface="Times New Roman" panose="02020603050405020304" pitchFamily="18" charset="0"/>
                <a:cs typeface="Times New Roman" panose="02020603050405020304" pitchFamily="18" charset="0"/>
              </a:rPr>
              <a:t>En position 1,2 ou en 1,4:</a:t>
            </a:r>
            <a:endParaRPr lang="en-US" sz="1600" b="1" dirty="0">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CFDEA8F5-FE94-68E5-A159-AB00075E5A6B}"/>
              </a:ext>
            </a:extLst>
          </p:cNvPr>
          <p:cNvSpPr txBox="1"/>
          <p:nvPr/>
        </p:nvSpPr>
        <p:spPr>
          <a:xfrm>
            <a:off x="973619" y="5052650"/>
            <a:ext cx="1704147" cy="338554"/>
          </a:xfrm>
          <a:prstGeom prst="rect">
            <a:avLst/>
          </a:prstGeom>
          <a:noFill/>
        </p:spPr>
        <p:txBody>
          <a:bodyPr wrap="square">
            <a:spAutoFit/>
          </a:bodyPr>
          <a:lstStyle>
            <a:defPPr>
              <a:defRPr lang="en-US"/>
            </a:defPPr>
            <a:lvl1pPr>
              <a:defRPr sz="1600" b="1">
                <a:latin typeface="Times New Roman" panose="02020603050405020304" pitchFamily="18" charset="0"/>
                <a:cs typeface="Times New Roman" panose="02020603050405020304" pitchFamily="18" charset="0"/>
              </a:defRPr>
            </a:lvl1pPr>
          </a:lstStyle>
          <a:p>
            <a:r>
              <a:rPr lang="fr-MA" dirty="0"/>
              <a:t>En position 1,3:</a:t>
            </a:r>
            <a:endParaRPr lang="en-US" dirty="0"/>
          </a:p>
        </p:txBody>
      </p:sp>
      <p:sp>
        <p:nvSpPr>
          <p:cNvPr id="22" name="ZoneTexte 21">
            <a:extLst>
              <a:ext uri="{FF2B5EF4-FFF2-40B4-BE49-F238E27FC236}">
                <a16:creationId xmlns:a16="http://schemas.microsoft.com/office/drawing/2014/main" id="{280F8F45-7E74-9D95-3DA2-627A1BB58555}"/>
              </a:ext>
            </a:extLst>
          </p:cNvPr>
          <p:cNvSpPr txBox="1"/>
          <p:nvPr/>
        </p:nvSpPr>
        <p:spPr>
          <a:xfrm>
            <a:off x="3857965" y="2278045"/>
            <a:ext cx="510357" cy="338554"/>
          </a:xfrm>
          <a:prstGeom prst="rect">
            <a:avLst/>
          </a:prstGeom>
          <a:noFill/>
        </p:spPr>
        <p:txBody>
          <a:bodyPr wrap="square">
            <a:spAutoFit/>
          </a:bodyPr>
          <a:lstStyle/>
          <a:p>
            <a:r>
              <a:rPr lang="fr-MA" sz="1600" b="1" dirty="0">
                <a:solidFill>
                  <a:srgbClr val="FF0000"/>
                </a:solidFill>
                <a:latin typeface="TimesNewRomanPS-BoldMT"/>
              </a:rPr>
              <a:t>c</a:t>
            </a:r>
            <a:r>
              <a:rPr lang="fr-MA" sz="1600" b="1" i="0" dirty="0">
                <a:solidFill>
                  <a:srgbClr val="FF0000"/>
                </a:solidFill>
                <a:effectLst/>
                <a:latin typeface="TimesNewRomanPS-BoldMT"/>
              </a:rPr>
              <a:t>is</a:t>
            </a:r>
            <a:endParaRPr lang="en-US" sz="1600" dirty="0"/>
          </a:p>
        </p:txBody>
      </p:sp>
      <p:sp>
        <p:nvSpPr>
          <p:cNvPr id="23" name="ZoneTexte 22">
            <a:extLst>
              <a:ext uri="{FF2B5EF4-FFF2-40B4-BE49-F238E27FC236}">
                <a16:creationId xmlns:a16="http://schemas.microsoft.com/office/drawing/2014/main" id="{1271D0F9-436E-FB5F-1D38-F1038B3F4D5C}"/>
              </a:ext>
            </a:extLst>
          </p:cNvPr>
          <p:cNvSpPr txBox="1"/>
          <p:nvPr/>
        </p:nvSpPr>
        <p:spPr>
          <a:xfrm>
            <a:off x="3739830" y="3213740"/>
            <a:ext cx="746627" cy="338554"/>
          </a:xfrm>
          <a:prstGeom prst="rect">
            <a:avLst/>
          </a:prstGeom>
          <a:noFill/>
        </p:spPr>
        <p:txBody>
          <a:bodyPr wrap="square">
            <a:spAutoFit/>
          </a:bodyPr>
          <a:lstStyle/>
          <a:p>
            <a:r>
              <a:rPr lang="fr-MA" sz="1600" b="1" i="0" dirty="0">
                <a:solidFill>
                  <a:srgbClr val="9933FF"/>
                </a:solidFill>
                <a:effectLst/>
                <a:latin typeface="TimesNewRomanPS-BoldMT"/>
              </a:rPr>
              <a:t>trans</a:t>
            </a:r>
            <a:endParaRPr lang="en-US" sz="1600" dirty="0"/>
          </a:p>
        </p:txBody>
      </p:sp>
      <p:sp>
        <p:nvSpPr>
          <p:cNvPr id="24" name="ZoneTexte 23">
            <a:extLst>
              <a:ext uri="{FF2B5EF4-FFF2-40B4-BE49-F238E27FC236}">
                <a16:creationId xmlns:a16="http://schemas.microsoft.com/office/drawing/2014/main" id="{A20F53CB-0BEB-296D-86F7-0AEA378C6E53}"/>
              </a:ext>
            </a:extLst>
          </p:cNvPr>
          <p:cNvSpPr txBox="1"/>
          <p:nvPr/>
        </p:nvSpPr>
        <p:spPr>
          <a:xfrm>
            <a:off x="3871757" y="4577940"/>
            <a:ext cx="510357" cy="338554"/>
          </a:xfrm>
          <a:prstGeom prst="rect">
            <a:avLst/>
          </a:prstGeom>
          <a:noFill/>
        </p:spPr>
        <p:txBody>
          <a:bodyPr wrap="square">
            <a:spAutoFit/>
          </a:bodyPr>
          <a:lstStyle/>
          <a:p>
            <a:r>
              <a:rPr lang="fr-MA" sz="1600" b="1" dirty="0">
                <a:solidFill>
                  <a:srgbClr val="FF0000"/>
                </a:solidFill>
                <a:latin typeface="TimesNewRomanPS-BoldMT"/>
              </a:rPr>
              <a:t>c</a:t>
            </a:r>
            <a:r>
              <a:rPr lang="fr-MA" sz="1600" b="1" i="0" dirty="0">
                <a:solidFill>
                  <a:srgbClr val="FF0000"/>
                </a:solidFill>
                <a:effectLst/>
                <a:latin typeface="TimesNewRomanPS-BoldMT"/>
              </a:rPr>
              <a:t>is</a:t>
            </a:r>
            <a:endParaRPr lang="en-US" sz="1600" dirty="0"/>
          </a:p>
        </p:txBody>
      </p:sp>
      <p:sp>
        <p:nvSpPr>
          <p:cNvPr id="25" name="ZoneTexte 24">
            <a:extLst>
              <a:ext uri="{FF2B5EF4-FFF2-40B4-BE49-F238E27FC236}">
                <a16:creationId xmlns:a16="http://schemas.microsoft.com/office/drawing/2014/main" id="{27285577-7318-132B-E854-97E686936770}"/>
              </a:ext>
            </a:extLst>
          </p:cNvPr>
          <p:cNvSpPr txBox="1"/>
          <p:nvPr/>
        </p:nvSpPr>
        <p:spPr>
          <a:xfrm>
            <a:off x="3753622" y="5513635"/>
            <a:ext cx="746627" cy="338554"/>
          </a:xfrm>
          <a:prstGeom prst="rect">
            <a:avLst/>
          </a:prstGeom>
          <a:noFill/>
        </p:spPr>
        <p:txBody>
          <a:bodyPr wrap="square">
            <a:spAutoFit/>
          </a:bodyPr>
          <a:lstStyle/>
          <a:p>
            <a:r>
              <a:rPr lang="fr-MA" sz="1600" b="1" i="0" dirty="0">
                <a:solidFill>
                  <a:srgbClr val="9933FF"/>
                </a:solidFill>
                <a:effectLst/>
                <a:latin typeface="TimesNewRomanPS-BoldMT"/>
              </a:rPr>
              <a:t>trans</a:t>
            </a:r>
            <a:endParaRPr lang="en-US" sz="1600" dirty="0"/>
          </a:p>
        </p:txBody>
      </p:sp>
      <p:sp>
        <p:nvSpPr>
          <p:cNvPr id="28" name="Flèche : droite 27">
            <a:extLst>
              <a:ext uri="{FF2B5EF4-FFF2-40B4-BE49-F238E27FC236}">
                <a16:creationId xmlns:a16="http://schemas.microsoft.com/office/drawing/2014/main" id="{D67BC7A3-E74B-91B7-C71D-C358E5DA7840}"/>
              </a:ext>
            </a:extLst>
          </p:cNvPr>
          <p:cNvSpPr/>
          <p:nvPr/>
        </p:nvSpPr>
        <p:spPr>
          <a:xfrm>
            <a:off x="4368322" y="2425148"/>
            <a:ext cx="322948" cy="14491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 name="Flèche : droite 28">
            <a:extLst>
              <a:ext uri="{FF2B5EF4-FFF2-40B4-BE49-F238E27FC236}">
                <a16:creationId xmlns:a16="http://schemas.microsoft.com/office/drawing/2014/main" id="{3C2876E0-2399-D24E-7356-6A936A966490}"/>
              </a:ext>
            </a:extLst>
          </p:cNvPr>
          <p:cNvSpPr/>
          <p:nvPr/>
        </p:nvSpPr>
        <p:spPr>
          <a:xfrm>
            <a:off x="4400887" y="3323998"/>
            <a:ext cx="322948" cy="14491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 name="Flèche : droite 29">
            <a:extLst>
              <a:ext uri="{FF2B5EF4-FFF2-40B4-BE49-F238E27FC236}">
                <a16:creationId xmlns:a16="http://schemas.microsoft.com/office/drawing/2014/main" id="{A3F0C8AB-24D7-863A-7F67-96A259622F5B}"/>
              </a:ext>
            </a:extLst>
          </p:cNvPr>
          <p:cNvSpPr/>
          <p:nvPr/>
        </p:nvSpPr>
        <p:spPr>
          <a:xfrm>
            <a:off x="4368322" y="4698163"/>
            <a:ext cx="322948" cy="14491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 name="Flèche : droite 30">
            <a:extLst>
              <a:ext uri="{FF2B5EF4-FFF2-40B4-BE49-F238E27FC236}">
                <a16:creationId xmlns:a16="http://schemas.microsoft.com/office/drawing/2014/main" id="{553241AD-B2DD-AE5A-FB03-094E22A5869C}"/>
              </a:ext>
            </a:extLst>
          </p:cNvPr>
          <p:cNvSpPr/>
          <p:nvPr/>
        </p:nvSpPr>
        <p:spPr>
          <a:xfrm>
            <a:off x="4400887" y="5597013"/>
            <a:ext cx="322948" cy="144918"/>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 name="Accolade ouvrante 31">
            <a:extLst>
              <a:ext uri="{FF2B5EF4-FFF2-40B4-BE49-F238E27FC236}">
                <a16:creationId xmlns:a16="http://schemas.microsoft.com/office/drawing/2014/main" id="{96C79BF4-AB2D-3519-AB72-DB0D64FA6A34}"/>
              </a:ext>
            </a:extLst>
          </p:cNvPr>
          <p:cNvSpPr/>
          <p:nvPr/>
        </p:nvSpPr>
        <p:spPr>
          <a:xfrm>
            <a:off x="3417926" y="2278045"/>
            <a:ext cx="308113" cy="1485647"/>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3" name="Accolade ouvrante 32">
            <a:extLst>
              <a:ext uri="{FF2B5EF4-FFF2-40B4-BE49-F238E27FC236}">
                <a16:creationId xmlns:a16="http://schemas.microsoft.com/office/drawing/2014/main" id="{4318B681-3A26-A5D8-1878-CF754A54EB37}"/>
              </a:ext>
            </a:extLst>
          </p:cNvPr>
          <p:cNvSpPr/>
          <p:nvPr/>
        </p:nvSpPr>
        <p:spPr>
          <a:xfrm>
            <a:off x="3469418" y="4534935"/>
            <a:ext cx="308113" cy="1485647"/>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49694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22BF9-1318-AAC7-66F4-53AA17844F5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22BF540-FC95-8CB6-1176-FC89299F82B4}"/>
              </a:ext>
            </a:extLst>
          </p:cNvPr>
          <p:cNvSpPr txBox="1"/>
          <p:nvPr/>
        </p:nvSpPr>
        <p:spPr>
          <a:xfrm>
            <a:off x="76200" y="6419850"/>
            <a:ext cx="4057650" cy="369332"/>
          </a:xfrm>
          <a:prstGeom prst="rect">
            <a:avLst/>
          </a:prstGeom>
          <a:noFill/>
        </p:spPr>
        <p:txBody>
          <a:bodyPr wrap="square" rtlCol="0">
            <a:spAutoFit/>
          </a:bodyPr>
          <a:lstStyle/>
          <a:p>
            <a:r>
              <a:rPr lang="fr-FR" b="1" dirty="0" err="1">
                <a:solidFill>
                  <a:schemeClr val="bg1"/>
                </a:solidFill>
                <a:latin typeface="Times New Roman" panose="02020603050405020304" pitchFamily="18" charset="0"/>
                <a:cs typeface="Times New Roman" panose="02020603050405020304" pitchFamily="18" charset="0"/>
              </a:rPr>
              <a:t>Filière:PC-Physique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83CD5678-D1C4-E1CD-FC89-84421707AC3F}"/>
              </a:ext>
            </a:extLst>
          </p:cNvPr>
          <p:cNvSpPr txBox="1"/>
          <p:nvPr/>
        </p:nvSpPr>
        <p:spPr>
          <a:xfrm>
            <a:off x="8591550" y="6419850"/>
            <a:ext cx="3971925"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M127-Chimie </a:t>
            </a:r>
            <a:r>
              <a:rPr lang="en-US" b="1" dirty="0" err="1">
                <a:solidFill>
                  <a:schemeClr val="bg1"/>
                </a:solidFill>
                <a:latin typeface="Times New Roman" panose="02020603050405020304" pitchFamily="18" charset="0"/>
                <a:cs typeface="Times New Roman" panose="02020603050405020304" pitchFamily="18" charset="0"/>
              </a:rPr>
              <a:t>Organique</a:t>
            </a:r>
            <a:r>
              <a:rPr lang="en-US" b="1" dirty="0">
                <a:solidFill>
                  <a:schemeClr val="bg1"/>
                </a:solidFill>
                <a:latin typeface="Times New Roman" panose="02020603050405020304" pitchFamily="18" charset="0"/>
                <a:cs typeface="Times New Roman" panose="02020603050405020304" pitchFamily="18" charset="0"/>
              </a:rPr>
              <a:t> Générale </a:t>
            </a:r>
          </a:p>
        </p:txBody>
      </p:sp>
      <p:sp>
        <p:nvSpPr>
          <p:cNvPr id="4" name="Espace réservé du numéro de diapositive 3">
            <a:extLst>
              <a:ext uri="{FF2B5EF4-FFF2-40B4-BE49-F238E27FC236}">
                <a16:creationId xmlns:a16="http://schemas.microsoft.com/office/drawing/2014/main" id="{3351A395-206D-FD8B-7572-D96545B4ADAC}"/>
              </a:ext>
            </a:extLst>
          </p:cNvPr>
          <p:cNvSpPr>
            <a:spLocks noGrp="1"/>
          </p:cNvSpPr>
          <p:nvPr>
            <p:ph type="sldNum" sz="quarter" idx="12"/>
          </p:nvPr>
        </p:nvSpPr>
        <p:spPr>
          <a:xfrm>
            <a:off x="5734878" y="6419850"/>
            <a:ext cx="523047" cy="369332"/>
          </a:xfrm>
        </p:spPr>
        <p:txBody>
          <a:bodyPr/>
          <a:lstStyle/>
          <a:p>
            <a:fld id="{92D09504-E352-447E-8708-9E29931D3037}" type="slidenum">
              <a:rPr lang="en-US" sz="1400" b="1" smtClean="0">
                <a:latin typeface="Times New Roman" panose="02020603050405020304" pitchFamily="18" charset="0"/>
                <a:cs typeface="Times New Roman" panose="02020603050405020304" pitchFamily="18" charset="0"/>
              </a:rPr>
              <a:t>45</a:t>
            </a:fld>
            <a:endParaRPr lang="en-US" sz="1400" b="1" dirty="0">
              <a:latin typeface="Times New Roman" panose="02020603050405020304" pitchFamily="18" charset="0"/>
              <a:cs typeface="Times New Roman" panose="02020603050405020304" pitchFamily="18" charset="0"/>
            </a:endParaRPr>
          </a:p>
        </p:txBody>
      </p:sp>
      <p:pic>
        <p:nvPicPr>
          <p:cNvPr id="1026" name="Picture 2" descr="Département De Biologie FSA: Le département de Biologie de la Faculté des Sciences  Agadir">
            <a:extLst>
              <a:ext uri="{FF2B5EF4-FFF2-40B4-BE49-F238E27FC236}">
                <a16:creationId xmlns:a16="http://schemas.microsoft.com/office/drawing/2014/main" id="{05B22FB7-F597-9B68-0724-0BE9AC41A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479" y="68818"/>
            <a:ext cx="1349021" cy="134302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F2234935-4D9F-93CA-8A91-1EA4120760EC}"/>
              </a:ext>
            </a:extLst>
          </p:cNvPr>
          <p:cNvSpPr txBox="1"/>
          <p:nvPr/>
        </p:nvSpPr>
        <p:spPr>
          <a:xfrm>
            <a:off x="813817" y="190147"/>
            <a:ext cx="9838662" cy="461665"/>
          </a:xfrm>
          <a:prstGeom prst="rect">
            <a:avLst/>
          </a:prstGeom>
          <a:noFill/>
        </p:spPr>
        <p:txBody>
          <a:bodyPr wrap="square" rtlCol="0">
            <a:spAutoFit/>
          </a:bodyPr>
          <a:lstStyle/>
          <a:p>
            <a:r>
              <a:rPr lang="fr-MA" sz="2400" b="1" dirty="0">
                <a:solidFill>
                  <a:srgbClr val="000099"/>
                </a:solidFill>
                <a:latin typeface="Times New Roman" panose="02020603050405020304" pitchFamily="18" charset="0"/>
                <a:cs typeface="Times New Roman" panose="02020603050405020304" pitchFamily="18" charset="0"/>
              </a:rPr>
              <a:t>Chapitre 4 : ISOMERIE (Récapitulatif)</a:t>
            </a:r>
          </a:p>
        </p:txBody>
      </p:sp>
      <p:graphicFrame>
        <p:nvGraphicFramePr>
          <p:cNvPr id="10" name="Diagramme 9">
            <a:extLst>
              <a:ext uri="{FF2B5EF4-FFF2-40B4-BE49-F238E27FC236}">
                <a16:creationId xmlns:a16="http://schemas.microsoft.com/office/drawing/2014/main" id="{6E2679DC-0009-7B5F-CB13-014B279A253D}"/>
              </a:ext>
            </a:extLst>
          </p:cNvPr>
          <p:cNvGraphicFramePr/>
          <p:nvPr>
            <p:extLst>
              <p:ext uri="{D42A27DB-BD31-4B8C-83A1-F6EECF244321}">
                <p14:modId xmlns:p14="http://schemas.microsoft.com/office/powerpoint/2010/main" val="2990093816"/>
              </p:ext>
            </p:extLst>
          </p:nvPr>
        </p:nvGraphicFramePr>
        <p:xfrm>
          <a:off x="95250" y="60182"/>
          <a:ext cx="12001499" cy="63411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9809952"/>
      </p:ext>
    </p:extLst>
  </p:cSld>
  <p:clrMapOvr>
    <a:masterClrMapping/>
  </p:clrMapOvr>
</p:sld>
</file>

<file path=ppt/theme/theme1.xml><?xml version="1.0" encoding="utf-8"?>
<a:theme xmlns:a="http://schemas.openxmlformats.org/drawingml/2006/main" name="Rétrospective">
  <a:themeElements>
    <a:clrScheme name="Personnalisé 6">
      <a:dk1>
        <a:sysClr val="windowText" lastClr="000000"/>
      </a:dk1>
      <a:lt1>
        <a:sysClr val="window" lastClr="FFFFFF"/>
      </a:lt1>
      <a:dk2>
        <a:srgbClr val="344068"/>
      </a:dk2>
      <a:lt2>
        <a:srgbClr val="D9E0E6"/>
      </a:lt2>
      <a:accent1>
        <a:srgbClr val="1CADE4"/>
      </a:accent1>
      <a:accent2>
        <a:srgbClr val="000072"/>
      </a:accent2>
      <a:accent3>
        <a:srgbClr val="28C4CC"/>
      </a:accent3>
      <a:accent4>
        <a:srgbClr val="42BA97"/>
      </a:accent4>
      <a:accent5>
        <a:srgbClr val="3E8853"/>
      </a:accent5>
      <a:accent6>
        <a:srgbClr val="62A39F"/>
      </a:accent6>
      <a:hlink>
        <a:srgbClr val="6EAC1C"/>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24896</TotalTime>
  <Words>3478</Words>
  <Application>Microsoft Office PowerPoint</Application>
  <PresentationFormat>Grand écran</PresentationFormat>
  <Paragraphs>489</Paragraphs>
  <Slides>45</Slides>
  <Notes>0</Notes>
  <HiddenSlides>0</HiddenSlides>
  <MMClips>0</MMClips>
  <ScaleCrop>false</ScaleCrop>
  <HeadingPairs>
    <vt:vector size="8" baseType="variant">
      <vt:variant>
        <vt:lpstr>Polices utilisées</vt:lpstr>
      </vt:variant>
      <vt:variant>
        <vt:i4>9</vt:i4>
      </vt:variant>
      <vt:variant>
        <vt:lpstr>Thème</vt:lpstr>
      </vt:variant>
      <vt:variant>
        <vt:i4>1</vt:i4>
      </vt:variant>
      <vt:variant>
        <vt:lpstr>Serveurs OLE incorporés</vt:lpstr>
      </vt:variant>
      <vt:variant>
        <vt:i4>2</vt:i4>
      </vt:variant>
      <vt:variant>
        <vt:lpstr>Titres des diapositives</vt:lpstr>
      </vt:variant>
      <vt:variant>
        <vt:i4>45</vt:i4>
      </vt:variant>
    </vt:vector>
  </HeadingPairs>
  <TitlesOfParts>
    <vt:vector size="57" baseType="lpstr">
      <vt:lpstr>Arial</vt:lpstr>
      <vt:lpstr>Calibri</vt:lpstr>
      <vt:lpstr>Calibri Light</vt:lpstr>
      <vt:lpstr>Söhne</vt:lpstr>
      <vt:lpstr>Symbol</vt:lpstr>
      <vt:lpstr>Times New Roman</vt:lpstr>
      <vt:lpstr>TimesNewRomanPS-BoldMT</vt:lpstr>
      <vt:lpstr>TimesNewRomanPSMT</vt:lpstr>
      <vt:lpstr>Wingdings</vt:lpstr>
      <vt:lpstr>Rétrospective</vt:lpstr>
      <vt:lpstr>CS ChemDraw Drawing</vt:lpstr>
      <vt:lpstr>Image bitmap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Aziz</dc:creator>
  <cp:lastModifiedBy>Aziz</cp:lastModifiedBy>
  <cp:revision>153</cp:revision>
  <dcterms:created xsi:type="dcterms:W3CDTF">2024-02-18T09:25:27Z</dcterms:created>
  <dcterms:modified xsi:type="dcterms:W3CDTF">2024-04-12T02:01:43Z</dcterms:modified>
</cp:coreProperties>
</file>