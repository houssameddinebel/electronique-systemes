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57" r:id="rId2"/>
    <p:sldId id="258" r:id="rId3"/>
    <p:sldId id="269" r:id="rId4"/>
    <p:sldId id="270" r:id="rId5"/>
    <p:sldId id="268" r:id="rId6"/>
    <p:sldId id="271" r:id="rId7"/>
    <p:sldId id="272" r:id="rId8"/>
    <p:sldId id="275" r:id="rId9"/>
    <p:sldId id="276" r:id="rId10"/>
    <p:sldId id="277" r:id="rId11"/>
    <p:sldId id="278" r:id="rId12"/>
    <p:sldId id="279" r:id="rId13"/>
    <p:sldId id="287" r:id="rId14"/>
    <p:sldId id="288" r:id="rId15"/>
    <p:sldId id="280" r:id="rId16"/>
    <p:sldId id="282" r:id="rId17"/>
    <p:sldId id="281" r:id="rId18"/>
    <p:sldId id="285" r:id="rId19"/>
    <p:sldId id="286" r:id="rId20"/>
    <p:sldId id="284" r:id="rId21"/>
    <p:sldId id="28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ziz" initials="OA" lastIdx="2" clrIdx="0">
    <p:extLst>
      <p:ext uri="{19B8F6BF-5375-455C-9EA6-DF929625EA0E}">
        <p15:presenceInfo xmlns:p15="http://schemas.microsoft.com/office/powerpoint/2012/main" userId="Aziz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FF33CC"/>
    <a:srgbClr val="64430E"/>
    <a:srgbClr val="4B630F"/>
    <a:srgbClr val="4F1A58"/>
    <a:srgbClr val="0B67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8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2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1D2684-37C6-427D-A789-BC784710A539}" type="datetimeFigureOut">
              <a:rPr lang="en-US" smtClean="0"/>
              <a:t>2/21/2024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B1E153-059A-4831-B872-68D448D0B38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677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60F38-C9AE-4D77-A95C-8ABF16F766A3}" type="datetime1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58147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760EA-96A2-4377-9E71-DF4FC4176FE9}" type="datetime1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5551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A7F3D-7B9A-4C97-89DB-A2E2E031D79D}" type="datetime1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357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5AD0-642D-4333-A21E-555EB6BA133F}" type="datetime1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793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521FD-328D-420B-A334-100151A7F1B4}" type="datetime1">
              <a:rPr lang="en-US" smtClean="0"/>
              <a:t>2/21/2024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9379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D4BFA-F23D-4CEF-A401-876E7839B6D2}" type="datetime1">
              <a:rPr lang="en-US" smtClean="0"/>
              <a:t>2/21/2024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261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1596E-5750-4B26-A31D-9383A0F16FC9}" type="datetime1">
              <a:rPr lang="en-US" smtClean="0"/>
              <a:t>2/21/2024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4866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AED8990-F4DA-46D7-8527-01686EFE815F}" type="datetime1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028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95A72D-F3B4-489A-94E0-28182BAE299B}" type="datetime1">
              <a:rPr lang="en-US" smtClean="0"/>
              <a:t>2/21/2024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9302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7288F3-EBFB-4E9A-8AAC-62E662C55C03}" type="datetime1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290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27EA1C-FB7B-42BD-8156-51E079B019C1}" type="datetime1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393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F6471AB0-4FC5-4B4D-B6CC-558062AC61D8}" type="datetime1">
              <a:rPr lang="en-US" smtClean="0"/>
              <a:t>2/21/2024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2D09504-E352-447E-8708-9E29931D3037}" type="slidenum">
              <a:rPr lang="en-US" smtClean="0"/>
              <a:t>‹N°›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740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660A4B8-720E-E2D1-A91D-B849E18A7155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16AA9BB-5949-6F3D-0C2B-315E84D772FA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5D2252B-838F-2BEF-6BEC-D4408755D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47584" y="6419850"/>
            <a:ext cx="296833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B11191D2-27DC-3168-DA2D-5A29342E05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1490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itre 4">
            <a:extLst>
              <a:ext uri="{FF2B5EF4-FFF2-40B4-BE49-F238E27FC236}">
                <a16:creationId xmlns:a16="http://schemas.microsoft.com/office/drawing/2014/main" id="{6DDA8709-2EBD-4C39-3385-AA731F49981F}"/>
              </a:ext>
            </a:extLst>
          </p:cNvPr>
          <p:cNvSpPr txBox="1">
            <a:spLocks/>
          </p:cNvSpPr>
          <p:nvPr/>
        </p:nvSpPr>
        <p:spPr>
          <a:xfrm>
            <a:off x="1066800" y="2254468"/>
            <a:ext cx="10058400" cy="305095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7500"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fr-FR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Cours de Chimie Organique Générale</a:t>
            </a:r>
            <a:br>
              <a:rPr lang="fr-FR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 PC-Physique</a:t>
            </a:r>
            <a:br>
              <a:rPr lang="fr-FR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FR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b="1" spc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Module: M127</a:t>
            </a:r>
            <a:endParaRPr lang="en-US" b="1" spc="0" dirty="0">
              <a:ln w="22225">
                <a:solidFill>
                  <a:schemeClr val="accent2"/>
                </a:solidFill>
                <a:prstDash val="solid"/>
              </a:ln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4365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0DE56-9D7B-B828-A282-5708FCB5FE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FC26AF8B-4E47-46B9-C371-ECBD7AA2982D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485FE58-BA71-132A-C9AC-28B1B99DD80C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17D837-621E-AF43-B40D-3C47C7E71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4075" y="6419850"/>
            <a:ext cx="323850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4CEB8577-00F9-6550-3846-4B8FBA0E1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F242E90-9683-D70B-D447-0319385366EC}"/>
              </a:ext>
            </a:extLst>
          </p:cNvPr>
          <p:cNvSpPr txBox="1"/>
          <p:nvPr/>
        </p:nvSpPr>
        <p:spPr>
          <a:xfrm>
            <a:off x="813817" y="1517380"/>
            <a:ext cx="9838662" cy="4645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</a:pPr>
            <a:endParaRPr lang="fr-FR" sz="2400" b="1" kern="100" dirty="0"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>
              <a:lnSpc>
                <a:spcPct val="200000"/>
              </a:lnSpc>
              <a:spcAft>
                <a:spcPts val="800"/>
              </a:spcAft>
            </a:pPr>
            <a:r>
              <a:rPr lang="fr-MA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Permettre aux étudiants d’acquérir des connaissances de</a:t>
            </a:r>
          </a:p>
          <a:p>
            <a:pPr algn="ctr">
              <a:lnSpc>
                <a:spcPct val="200000"/>
              </a:lnSpc>
              <a:spcAft>
                <a:spcPts val="800"/>
              </a:spcAft>
            </a:pPr>
            <a:r>
              <a:rPr lang="fr-MA" sz="2800" b="1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base en chimie organique</a:t>
            </a:r>
            <a:endParaRPr lang="fr-FR" sz="2800" b="1" kern="100" dirty="0"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spcAft>
                <a:spcPts val="800"/>
              </a:spcAft>
            </a:pPr>
            <a:endParaRPr lang="fr-FR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spcAft>
                <a:spcPts val="800"/>
              </a:spcAft>
            </a:pPr>
            <a:endParaRPr lang="fr-FR" b="1" kern="100" dirty="0"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spcAft>
                <a:spcPts val="800"/>
              </a:spcAft>
            </a:pPr>
            <a:endParaRPr lang="fr-FR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82F1762-5F97-0339-0664-F5D374D075C3}"/>
              </a:ext>
            </a:extLst>
          </p:cNvPr>
          <p:cNvSpPr txBox="1"/>
          <p:nvPr/>
        </p:nvSpPr>
        <p:spPr>
          <a:xfrm>
            <a:off x="978409" y="419208"/>
            <a:ext cx="4352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Objectif du cours</a:t>
            </a:r>
          </a:p>
        </p:txBody>
      </p:sp>
    </p:spTree>
    <p:extLst>
      <p:ext uri="{BB962C8B-B14F-4D97-AF65-F5344CB8AC3E}">
        <p14:creationId xmlns:p14="http://schemas.microsoft.com/office/powerpoint/2010/main" val="10079052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2DA17-2723-1DB8-10C3-EA6303B5E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7FF5C56-7651-B82C-C06E-C934CD26D181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147035C-44E0-DF88-733F-0E112A10C347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3540FA1-4FB4-4B3C-A8C1-B2E0DAA18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4075" y="6419850"/>
            <a:ext cx="323850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9462C9DD-FC69-5ABB-888F-5CCD45027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422755D5-F43A-0A7C-893A-13C7C4A94CD0}"/>
              </a:ext>
            </a:extLst>
          </p:cNvPr>
          <p:cNvSpPr txBox="1"/>
          <p:nvPr/>
        </p:nvSpPr>
        <p:spPr>
          <a:xfrm>
            <a:off x="685800" y="1517380"/>
            <a:ext cx="11119104" cy="37851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fr-MA" sz="2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Respecter le début du cours ;</a:t>
            </a:r>
          </a:p>
          <a:p>
            <a:pPr marL="285750" indent="-28575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fr-MA" sz="2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Ne pas perturber le déroulement du cours ;</a:t>
            </a:r>
          </a:p>
          <a:p>
            <a:pPr marL="285750" indent="-28575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fr-MA" sz="2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Se concentrer en cours pour bien comprendre ;</a:t>
            </a:r>
          </a:p>
          <a:p>
            <a:pPr marL="285750" indent="-28575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fr-MA" sz="2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Avoir le support pédagogique et le compléter éventuellement par des notes personnelles ;</a:t>
            </a:r>
          </a:p>
          <a:p>
            <a:pPr marL="285750" indent="-285750">
              <a:lnSpc>
                <a:spcPct val="200000"/>
              </a:lnSpc>
              <a:spcAft>
                <a:spcPts val="800"/>
              </a:spcAft>
              <a:buFont typeface="Wingdings" panose="05000000000000000000" pitchFamily="2" charset="2"/>
              <a:buChar char="v"/>
            </a:pPr>
            <a:r>
              <a:rPr lang="fr-MA" sz="2200" b="1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Travailler régulièrement.</a:t>
            </a:r>
            <a:endParaRPr lang="fr-FR" sz="22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3A0AD1E-2ADA-C42A-FD16-65C55A6DA941}"/>
              </a:ext>
            </a:extLst>
          </p:cNvPr>
          <p:cNvSpPr txBox="1"/>
          <p:nvPr/>
        </p:nvSpPr>
        <p:spPr>
          <a:xfrm>
            <a:off x="795528" y="419209"/>
            <a:ext cx="76131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36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Règles à respecter pendant le cours</a:t>
            </a:r>
            <a:endParaRPr lang="fr-FR" sz="36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9522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608C78-F3D8-7A6A-5F99-14F20FAB2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CED5A83-3F7C-E230-7A74-50EBF6EBFCC1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8774B86-9679-E013-28E9-26700451CCD9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18C3C9-9BF6-0B25-A4F6-90E1A0724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4075" y="6419850"/>
            <a:ext cx="323850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368BA0AD-0E34-FD57-DD82-22C42598D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047BA5CD-870D-537E-AF71-0EFE500DC6AB}"/>
              </a:ext>
            </a:extLst>
          </p:cNvPr>
          <p:cNvSpPr txBox="1"/>
          <p:nvPr/>
        </p:nvSpPr>
        <p:spPr>
          <a:xfrm>
            <a:off x="685800" y="1517380"/>
            <a:ext cx="11119104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ln w="9525" cap="flat" cmpd="sng" algn="ctr">
                  <a:solidFill>
                    <a:srgbClr val="000000"/>
                  </a:solidFill>
                  <a:prstDash val="solid"/>
                  <a:round/>
                </a:ln>
                <a:solidFill>
                  <a:srgbClr val="C00000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Apprendre les faits: structures, règles de nomenclature, effets électroniques…</a:t>
            </a:r>
          </a:p>
          <a:p>
            <a:pPr algn="ctr"/>
            <a:endParaRPr lang="fr-FR" dirty="0">
              <a:ln w="9525" cap="flat" cmpd="sng" algn="ctr">
                <a:solidFill>
                  <a:srgbClr val="000000"/>
                </a:solidFill>
                <a:prstDash val="solid"/>
                <a:round/>
              </a:ln>
              <a:solidFill>
                <a:srgbClr val="C00000"/>
              </a:solidFill>
              <a:latin typeface="Arial Black" panose="020B0A04020102020204" pitchFamily="34" charset="0"/>
              <a:ea typeface="Times New Roman" panose="02020603050405020304" pitchFamily="18" charset="0"/>
            </a:endParaRPr>
          </a:p>
          <a:p>
            <a:pPr algn="ctr"/>
            <a:endParaRPr lang="fr-FR" dirty="0">
              <a:ln w="9525" cap="flat" cmpd="sng" algn="ctr">
                <a:solidFill>
                  <a:srgbClr val="000000"/>
                </a:solidFill>
                <a:prstDash val="solid"/>
                <a:round/>
              </a:ln>
              <a:solidFill>
                <a:srgbClr val="C00000"/>
              </a:solidFill>
              <a:latin typeface="Arial Black" panose="020B0A04020102020204" pitchFamily="34" charset="0"/>
              <a:ea typeface="Times New Roman" panose="02020603050405020304" pitchFamily="18" charset="0"/>
            </a:endParaRPr>
          </a:p>
          <a:p>
            <a:pPr algn="ctr"/>
            <a:endParaRPr lang="fr-FR" sz="1800" dirty="0">
              <a:ln w="9525" cap="flat" cmpd="sng" algn="ctr">
                <a:solidFill>
                  <a:srgbClr val="000000"/>
                </a:solidFill>
                <a:prstDash val="solid"/>
                <a:round/>
              </a:ln>
              <a:solidFill>
                <a:srgbClr val="C00000"/>
              </a:solidFill>
              <a:effectLst/>
              <a:latin typeface="Arial Black" panose="020B0A04020102020204" pitchFamily="34" charset="0"/>
              <a:ea typeface="Times New Roman" panose="02020603050405020304" pitchFamily="18" charset="0"/>
            </a:endParaRPr>
          </a:p>
          <a:p>
            <a:pPr algn="ctr"/>
            <a:r>
              <a:rPr lang="fr-FR" sz="1800" dirty="0">
                <a:ln w="9525" cap="flat" cmpd="sng" algn="ctr">
                  <a:solidFill>
                    <a:srgbClr val="000000"/>
                  </a:solidFill>
                  <a:prstDash val="solid"/>
                  <a:round/>
                </a:ln>
                <a:solidFill>
                  <a:srgbClr val="C00000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Cours</a:t>
            </a:r>
          </a:p>
          <a:p>
            <a:pPr algn="ctr"/>
            <a:endParaRPr lang="fr-FR" dirty="0">
              <a:ln w="9525" cap="flat" cmpd="sng" algn="ctr">
                <a:solidFill>
                  <a:srgbClr val="000000"/>
                </a:solidFill>
                <a:prstDash val="solid"/>
                <a:round/>
              </a:ln>
              <a:solidFill>
                <a:srgbClr val="C00000"/>
              </a:solidFill>
              <a:latin typeface="Arial Black" panose="020B0A04020102020204" pitchFamily="34" charset="0"/>
              <a:ea typeface="Times New Roman" panose="02020603050405020304" pitchFamily="18" charset="0"/>
            </a:endParaRPr>
          </a:p>
          <a:p>
            <a:pPr algn="ctr"/>
            <a:endParaRPr lang="fr-FR" dirty="0">
              <a:ln w="9525" cap="flat" cmpd="sng" algn="ctr">
                <a:solidFill>
                  <a:srgbClr val="000000"/>
                </a:solidFill>
                <a:prstDash val="solid"/>
                <a:round/>
              </a:ln>
              <a:solidFill>
                <a:srgbClr val="C00000"/>
              </a:solidFill>
              <a:latin typeface="Arial Black" panose="020B0A04020102020204" pitchFamily="34" charset="0"/>
              <a:ea typeface="Times New Roman" panose="02020603050405020304" pitchFamily="18" charset="0"/>
            </a:endParaRPr>
          </a:p>
          <a:p>
            <a:pPr algn="ctr"/>
            <a:r>
              <a:rPr lang="fr-FR" sz="1800" dirty="0">
                <a:ln w="9525" cap="flat" cmpd="sng" algn="ctr">
                  <a:solidFill>
                    <a:srgbClr val="000000"/>
                  </a:solidFill>
                  <a:prstDash val="solid"/>
                  <a:round/>
                </a:ln>
                <a:solidFill>
                  <a:srgbClr val="00B0F0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Appliquer les faits pour résoudre les problèmes</a:t>
            </a:r>
          </a:p>
          <a:p>
            <a:pPr algn="ctr"/>
            <a:endParaRPr lang="fr-FR" dirty="0">
              <a:ln w="9525" cap="flat" cmpd="sng" algn="ctr">
                <a:solidFill>
                  <a:srgbClr val="000000"/>
                </a:solidFill>
                <a:prstDash val="solid"/>
                <a:round/>
              </a:ln>
              <a:solidFill>
                <a:srgbClr val="00B0F0"/>
              </a:solidFill>
              <a:latin typeface="Arial Black" panose="020B0A04020102020204" pitchFamily="34" charset="0"/>
              <a:ea typeface="Times New Roman" panose="02020603050405020304" pitchFamily="18" charset="0"/>
            </a:endParaRPr>
          </a:p>
          <a:p>
            <a:pPr algn="ctr"/>
            <a:endParaRPr lang="fr-FR" sz="1800" dirty="0">
              <a:ln w="9525" cap="flat" cmpd="sng" algn="ctr">
                <a:solidFill>
                  <a:srgbClr val="000000"/>
                </a:solidFill>
                <a:prstDash val="solid"/>
                <a:round/>
              </a:ln>
              <a:solidFill>
                <a:srgbClr val="00B0F0"/>
              </a:solidFill>
              <a:effectLst/>
              <a:latin typeface="Arial Black" panose="020B0A04020102020204" pitchFamily="34" charset="0"/>
              <a:ea typeface="Times New Roman" panose="02020603050405020304" pitchFamily="18" charset="0"/>
            </a:endParaRPr>
          </a:p>
          <a:p>
            <a:pPr algn="ctr"/>
            <a:endParaRPr lang="fr-FR" sz="1800" dirty="0">
              <a:ln w="9525" cap="flat" cmpd="sng" algn="ctr">
                <a:solidFill>
                  <a:srgbClr val="000000"/>
                </a:solidFill>
                <a:prstDash val="solid"/>
                <a:round/>
              </a:ln>
              <a:solidFill>
                <a:srgbClr val="00B0F0"/>
              </a:solidFill>
              <a:effectLst/>
              <a:latin typeface="Arial Black" panose="020B0A04020102020204" pitchFamily="34" charset="0"/>
              <a:ea typeface="Times New Roman" panose="02020603050405020304" pitchFamily="18" charset="0"/>
            </a:endParaRPr>
          </a:p>
          <a:p>
            <a:pPr algn="ctr"/>
            <a:r>
              <a:rPr lang="fr-FR" sz="1800" dirty="0">
                <a:ln w="9525" cap="flat" cmpd="sng" algn="ctr">
                  <a:solidFill>
                    <a:srgbClr val="000000"/>
                  </a:solidFill>
                  <a:prstDash val="solid"/>
                  <a:round/>
                </a:ln>
                <a:solidFill>
                  <a:srgbClr val="00B0F0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</a:rPr>
              <a:t>TD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endParaRPr lang="fr-FR" dirty="0">
              <a:ln w="9525" cap="flat" cmpd="sng" algn="ctr">
                <a:solidFill>
                  <a:srgbClr val="000000"/>
                </a:solidFill>
                <a:prstDash val="solid"/>
                <a:round/>
              </a:ln>
              <a:solidFill>
                <a:srgbClr val="C00000"/>
              </a:solidFill>
              <a:latin typeface="Arial Black" panose="020B0A04020102020204" pitchFamily="34" charset="0"/>
              <a:ea typeface="Times New Roman" panose="02020603050405020304" pitchFamily="18" charset="0"/>
            </a:endParaRPr>
          </a:p>
          <a:p>
            <a:pPr algn="ctr"/>
            <a:endParaRPr lang="fr-FR" dirty="0">
              <a:ln w="9525" cap="flat" cmpd="sng" algn="ctr">
                <a:solidFill>
                  <a:srgbClr val="000000"/>
                </a:solidFill>
                <a:prstDash val="solid"/>
                <a:round/>
              </a:ln>
              <a:solidFill>
                <a:srgbClr val="C00000"/>
              </a:solidFill>
              <a:latin typeface="Arial Black" panose="020B0A04020102020204" pitchFamily="34" charset="0"/>
              <a:ea typeface="Times New Roman" panose="02020603050405020304" pitchFamily="18" charset="0"/>
            </a:endParaRPr>
          </a:p>
          <a:p>
            <a:pPr algn="ctr"/>
            <a:endParaRPr lang="fr-FR" dirty="0">
              <a:ln w="9525" cap="flat" cmpd="sng" algn="ctr">
                <a:solidFill>
                  <a:srgbClr val="000000"/>
                </a:solidFill>
                <a:prstDash val="solid"/>
                <a:round/>
              </a:ln>
              <a:solidFill>
                <a:srgbClr val="C00000"/>
              </a:solidFill>
              <a:latin typeface="Arial Black" panose="020B0A04020102020204" pitchFamily="34" charset="0"/>
              <a:ea typeface="Times New Roman" panose="02020603050405020304" pitchFamily="18" charset="0"/>
            </a:endParaRPr>
          </a:p>
          <a:p>
            <a:pPr algn="ctr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/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1880F00-05D9-8039-1805-019B0FF84F8E}"/>
              </a:ext>
            </a:extLst>
          </p:cNvPr>
          <p:cNvSpPr txBox="1"/>
          <p:nvPr/>
        </p:nvSpPr>
        <p:spPr>
          <a:xfrm>
            <a:off x="795528" y="172321"/>
            <a:ext cx="96469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6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Quelles sont les approches efficaces pour réussir ce module de chimie organique?</a:t>
            </a:r>
            <a:endParaRPr lang="fr-FR" sz="36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 descr="RÃ©sultat de recherche d'images pour &quot;la clÃ© de rÃ©ussite&quot;">
            <a:extLst>
              <a:ext uri="{FF2B5EF4-FFF2-40B4-BE49-F238E27FC236}">
                <a16:creationId xmlns:a16="http://schemas.microsoft.com/office/drawing/2014/main" id="{2C4A6F07-4E28-C362-2F91-8010402891B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3790" y="5448872"/>
            <a:ext cx="2344420" cy="82677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Flèche : bas 5">
            <a:extLst>
              <a:ext uri="{FF2B5EF4-FFF2-40B4-BE49-F238E27FC236}">
                <a16:creationId xmlns:a16="http://schemas.microsoft.com/office/drawing/2014/main" id="{D00FB672-591D-698F-4966-3EC9F9FB2E1E}"/>
              </a:ext>
            </a:extLst>
          </p:cNvPr>
          <p:cNvSpPr/>
          <p:nvPr/>
        </p:nvSpPr>
        <p:spPr>
          <a:xfrm>
            <a:off x="6096000" y="1993392"/>
            <a:ext cx="249936" cy="603504"/>
          </a:xfrm>
          <a:prstGeom prst="downArrow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lèche : bas 8">
            <a:extLst>
              <a:ext uri="{FF2B5EF4-FFF2-40B4-BE49-F238E27FC236}">
                <a16:creationId xmlns:a16="http://schemas.microsoft.com/office/drawing/2014/main" id="{CD1253A1-469E-A849-367B-AD9224619A84}"/>
              </a:ext>
            </a:extLst>
          </p:cNvPr>
          <p:cNvSpPr/>
          <p:nvPr/>
        </p:nvSpPr>
        <p:spPr>
          <a:xfrm>
            <a:off x="6092952" y="3828288"/>
            <a:ext cx="249936" cy="603504"/>
          </a:xfrm>
          <a:prstGeom prst="downArrow">
            <a:avLst/>
          </a:prstGeom>
          <a:ln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149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2B0080-BB80-8F78-64BE-688EEAFEF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E700B6C-FA1E-AA03-30E9-4EBA56344FF7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DFBE0A3-AF73-704E-4E4B-E4FB272FB0E3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225585D-429B-F8B6-4EFA-A5C264FDA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4075" y="6419850"/>
            <a:ext cx="323850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2EC88DFD-75AF-2872-7BD7-D68FE9A91D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D180793-32D5-7B70-FA7F-D30E73DA6E88}"/>
              </a:ext>
            </a:extLst>
          </p:cNvPr>
          <p:cNvSpPr txBox="1"/>
          <p:nvPr/>
        </p:nvSpPr>
        <p:spPr>
          <a:xfrm>
            <a:off x="813817" y="1517380"/>
            <a:ext cx="9838662" cy="3193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fr-FR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Chapitre 1 : STRUCTURES DES COMPOSES ORGANIQUES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fr-FR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Chapitre 2 : FORMULES ET FONCTIONS EN CHIMIE ORGANIQUE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fr-FR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Chapitre 3: PRINCIPALES REGLES DE NOMENCLATURE DES COMPOSES ORGANIQUES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fr-FR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Chapitre 4 : ISOMERIE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200000"/>
              </a:lnSpc>
              <a:spcAft>
                <a:spcPts val="800"/>
              </a:spcAft>
            </a:pPr>
            <a:r>
              <a:rPr lang="fr-FR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Chapitre </a:t>
            </a:r>
            <a:r>
              <a:rPr lang="fr-FR" b="1" kern="100" dirty="0"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5</a:t>
            </a:r>
            <a:r>
              <a:rPr lang="fr-FR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: EFFETS ELECTRONIQUES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82925EF-D5EC-9666-901F-F77F572AD11C}"/>
              </a:ext>
            </a:extLst>
          </p:cNvPr>
          <p:cNvSpPr txBox="1"/>
          <p:nvPr/>
        </p:nvSpPr>
        <p:spPr>
          <a:xfrm>
            <a:off x="813817" y="305324"/>
            <a:ext cx="43525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Descriptif du module</a:t>
            </a:r>
            <a:endParaRPr lang="en-US" sz="36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9795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5DAC2-4773-7B03-0328-68AF51669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25A373CB-3CD0-AC03-0925-7D458C29938D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5F5200A-36B5-C4DD-9F4A-DBFB086BC048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C7AACE-EA5B-4A63-E5CC-3E95C9DE3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4075" y="6419850"/>
            <a:ext cx="323850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7D54EB2C-229D-C60C-AB22-DD69ADC96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191E7D58-D590-606B-A557-90813AF334E9}"/>
              </a:ext>
            </a:extLst>
          </p:cNvPr>
          <p:cNvSpPr txBox="1"/>
          <p:nvPr/>
        </p:nvSpPr>
        <p:spPr>
          <a:xfrm>
            <a:off x="393192" y="2551837"/>
            <a:ext cx="1110995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MA" sz="36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1 : </a:t>
            </a:r>
            <a:br>
              <a:rPr lang="fr-MA" sz="36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fr-MA" sz="36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MA" sz="36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STRUCTURES DES COMPOSES ORGANIQUES</a:t>
            </a:r>
            <a:endParaRPr lang="en-US" sz="36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58413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EBC8C-0015-686C-0014-B8E9E9F11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7C4EA63D-6E6E-E9BE-E308-18E816E8B87A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AF8FB06-BD7F-12A5-E22B-E359CA21A74E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EE812D3-79DC-21AA-FA78-B8BA7CDD53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4075" y="6419850"/>
            <a:ext cx="323850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DE25BE6D-5E81-63BD-D82F-E4CDF34FE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D9CF3FDE-B871-ABB1-811E-AD0DB41F2DA6}"/>
              </a:ext>
            </a:extLst>
          </p:cNvPr>
          <p:cNvSpPr txBox="1"/>
          <p:nvPr/>
        </p:nvSpPr>
        <p:spPr>
          <a:xfrm>
            <a:off x="738850" y="1137523"/>
            <a:ext cx="9838662" cy="50182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fr-FR" sz="2400" b="1" u="sng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PLAN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I.	Chimie Organique et ses applications	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II.	Atome de Carbone</a:t>
            </a:r>
          </a:p>
          <a:p>
            <a:pPr marL="540000">
              <a:lnSpc>
                <a:spcPct val="150000"/>
              </a:lnSpc>
              <a:spcAft>
                <a:spcPts val="800"/>
              </a:spcAft>
            </a:pPr>
            <a:r>
              <a:rPr lang="fr-FR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II. 1.	Propriétés de l'atome de carbone</a:t>
            </a:r>
          </a:p>
          <a:p>
            <a:pPr marL="540000">
              <a:lnSpc>
                <a:spcPct val="150000"/>
              </a:lnSpc>
              <a:spcAft>
                <a:spcPts val="800"/>
              </a:spcAft>
            </a:pPr>
            <a:r>
              <a:rPr lang="fr-FR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II. 2.	Valence du carbone</a:t>
            </a:r>
          </a:p>
          <a:p>
            <a:pPr marL="540000">
              <a:lnSpc>
                <a:spcPct val="150000"/>
              </a:lnSpc>
              <a:spcAft>
                <a:spcPts val="800"/>
              </a:spcAft>
            </a:pPr>
            <a:r>
              <a:rPr lang="fr-FR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II. 3.	États d'hybridation du carbone</a:t>
            </a:r>
          </a:p>
          <a:p>
            <a:pPr marL="900000">
              <a:lnSpc>
                <a:spcPct val="150000"/>
              </a:lnSpc>
              <a:spcAft>
                <a:spcPts val="800"/>
              </a:spcAft>
            </a:pPr>
            <a:r>
              <a:rPr lang="fr-FR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II. 3. 1.	Hybridation sp</a:t>
            </a:r>
            <a:r>
              <a:rPr lang="fr-FR" sz="1800" b="1" kern="1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3</a:t>
            </a:r>
          </a:p>
          <a:p>
            <a:pPr marL="900000">
              <a:lnSpc>
                <a:spcPct val="150000"/>
              </a:lnSpc>
              <a:spcAft>
                <a:spcPts val="800"/>
              </a:spcAft>
            </a:pPr>
            <a:r>
              <a:rPr lang="fr-FR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II. 3. 2.	Hybridation sp</a:t>
            </a:r>
            <a:r>
              <a:rPr lang="fr-FR" sz="1800" b="1" kern="100" baseline="300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2</a:t>
            </a:r>
          </a:p>
          <a:p>
            <a:pPr marL="900000">
              <a:lnSpc>
                <a:spcPct val="150000"/>
              </a:lnSpc>
              <a:spcAft>
                <a:spcPts val="800"/>
              </a:spcAft>
            </a:pPr>
            <a:r>
              <a:rPr lang="fr-FR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II. 3. 3.	Hybridation </a:t>
            </a:r>
            <a:r>
              <a:rPr lang="fr-FR" sz="1800" b="1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sp</a:t>
            </a:r>
            <a:endParaRPr lang="fr-FR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9CEB35E-1390-D04B-F549-8113232585F5}"/>
              </a:ext>
            </a:extLst>
          </p:cNvPr>
          <p:cNvSpPr txBox="1"/>
          <p:nvPr/>
        </p:nvSpPr>
        <p:spPr>
          <a:xfrm>
            <a:off x="813817" y="454774"/>
            <a:ext cx="960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1 : STRUCTURES DES COMPOSES ORGANIQUES</a:t>
            </a:r>
            <a:endParaRPr lang="en-US" sz="24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98241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8B6001-1CA4-A6F6-9118-C84F6B3A6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ABEF4CD2-0C92-7021-462A-53FFBE0561A9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449A60C-B440-0C77-ECD1-3F21FAB0A113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39E8106-2C89-B121-9AB9-C19BE2A50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4075" y="6419850"/>
            <a:ext cx="323850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71C9E889-22BF-0B06-F103-53CC224C13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8B964D1F-D051-257E-CDC6-347D18F94020}"/>
              </a:ext>
            </a:extLst>
          </p:cNvPr>
          <p:cNvSpPr txBox="1"/>
          <p:nvPr/>
        </p:nvSpPr>
        <p:spPr>
          <a:xfrm>
            <a:off x="738849" y="1329547"/>
            <a:ext cx="10986425" cy="43099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600"/>
              </a:spcBef>
              <a:spcAft>
                <a:spcPts val="800"/>
              </a:spcAft>
            </a:pP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I.	Généralités	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fr-MA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 chimie est la science qui étudie les divers constituants de la matière, leurs propriétés, transformations et interactions. 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fr-MA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 chimie organique est appelée généralement la </a:t>
            </a:r>
            <a:r>
              <a:rPr lang="fr-MA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chimie du carbone</a:t>
            </a:r>
            <a:r>
              <a:rPr lang="fr-MA" sz="20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fr-MA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comprenant également d'autres éléments appelés hétéroatomes, tels que l'oxygène (O), l'azote (N), et les halogènes...  </a:t>
            </a:r>
          </a:p>
          <a:p>
            <a:pPr algn="just">
              <a:lnSpc>
                <a:spcPct val="150000"/>
              </a:lnSpc>
              <a:spcBef>
                <a:spcPts val="600"/>
              </a:spcBef>
            </a:pPr>
            <a:r>
              <a:rPr lang="fr-FR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     et même d</a:t>
            </a:r>
            <a:r>
              <a:rPr lang="fr-FR" sz="20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es métaux </a:t>
            </a:r>
            <a:endParaRPr lang="fr-MA" sz="20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eaLnBrk="1" hangingPunct="1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fr-MA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0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</a:t>
            </a:r>
            <a:r>
              <a:rPr lang="fr-FR" sz="2000" b="1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carbone</a:t>
            </a:r>
            <a:r>
              <a:rPr lang="fr-FR" sz="20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altLang="fr-FR" sz="20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l’élément central autour duquel s’est organisée la chimie de la vie</a:t>
            </a:r>
            <a:r>
              <a:rPr lang="fr-MA" sz="2000" dirty="0">
                <a:solidFill>
                  <a:srgbClr val="0D0D0D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v"/>
            </a:pPr>
            <a:r>
              <a:rPr lang="fr-MA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 La chimie organique influence notre quotidien de la santé, carburants, matériaux, polymères…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32529A3-6B5A-6897-F4D2-F47E099266F1}"/>
              </a:ext>
            </a:extLst>
          </p:cNvPr>
          <p:cNvSpPr txBox="1"/>
          <p:nvPr/>
        </p:nvSpPr>
        <p:spPr>
          <a:xfrm>
            <a:off x="813817" y="454774"/>
            <a:ext cx="960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1 : STRUCTURES DES COMPOSES ORGANIQUES</a:t>
            </a:r>
            <a:endParaRPr lang="en-US" sz="24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05769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15817B-3BFC-E5B7-8147-BB128E9AB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144061A-7DDA-CE91-0625-AA889C46A38D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918AEA5-535B-3633-4F47-37A8F6BA51BC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36BB24B-675E-CF6F-5237-1DA99A3F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34075" y="6419850"/>
            <a:ext cx="323850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F3AEA60C-66A8-F0CE-AE64-9E28F45A6B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B689491-48BD-C77E-AC29-0B3E8CB0A523}"/>
              </a:ext>
            </a:extLst>
          </p:cNvPr>
          <p:cNvSpPr txBox="1"/>
          <p:nvPr/>
        </p:nvSpPr>
        <p:spPr>
          <a:xfrm>
            <a:off x="738850" y="1356979"/>
            <a:ext cx="9838662" cy="225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I.</a:t>
            </a:r>
            <a:r>
              <a:rPr lang="fr-FR" sz="1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Atome de Carbone</a:t>
            </a:r>
            <a:endParaRPr lang="fr-FR" sz="1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40000">
              <a:lnSpc>
                <a:spcPct val="150000"/>
              </a:lnSpc>
              <a:spcAft>
                <a:spcPts val="800"/>
              </a:spcAft>
            </a:pPr>
            <a:r>
              <a:rPr lang="fr-FR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II. 1.	Propriétés de l'atome de carbone</a:t>
            </a:r>
          </a:p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fr-MA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Z = 6  </a:t>
            </a:r>
            <a:r>
              <a:rPr lang="fr-MA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=&gt; </a:t>
            </a:r>
            <a:r>
              <a:rPr lang="fr-FR" b="1" i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onfiguration électronique est : 1s</a:t>
            </a:r>
            <a:r>
              <a:rPr lang="fr-FR" sz="1800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2s</a:t>
            </a:r>
            <a:r>
              <a:rPr lang="fr-FR" sz="1800" b="1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fr-FR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2p</a:t>
            </a:r>
            <a:r>
              <a:rPr lang="fr-FR" sz="1800" b="1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endParaRPr lang="fr-MA" b="1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200000"/>
              </a:lnSpc>
            </a:pPr>
            <a:endParaRPr lang="fr-MA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07485BD-8E19-CF2A-026D-4AAA3F5DA355}"/>
              </a:ext>
            </a:extLst>
          </p:cNvPr>
          <p:cNvSpPr txBox="1"/>
          <p:nvPr/>
        </p:nvSpPr>
        <p:spPr>
          <a:xfrm>
            <a:off x="813817" y="454774"/>
            <a:ext cx="960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1 : STRUCTURES DES COMPOSES ORGANIQUES</a:t>
            </a:r>
            <a:endParaRPr lang="en-US" sz="24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72D3A20-0FE1-6511-A2F7-1ABFB79D58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9936" y="3306224"/>
            <a:ext cx="4395977" cy="1949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356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780CDC-CFB5-5370-B01C-0E7A96891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323F4C5-587E-4653-B12D-38DDDCBDF5C0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BAD494C-E33C-B43A-6FFB-6DBF52DD9278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60245B2-1424-B192-A4AB-80E8D1C79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888736" y="6464808"/>
            <a:ext cx="369189" cy="242078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09557F94-54D7-0E58-8E3D-E0FFA12268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0D150085-294D-1BCE-A178-2298FD6B56BB}"/>
              </a:ext>
            </a:extLst>
          </p:cNvPr>
          <p:cNvSpPr txBox="1"/>
          <p:nvPr/>
        </p:nvSpPr>
        <p:spPr>
          <a:xfrm>
            <a:off x="738850" y="1356979"/>
            <a:ext cx="9838662" cy="1736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I.</a:t>
            </a:r>
            <a:r>
              <a:rPr lang="fr-FR" sz="1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Atome de Carbone</a:t>
            </a:r>
            <a:endParaRPr lang="fr-FR" sz="1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40000">
              <a:lnSpc>
                <a:spcPct val="150000"/>
              </a:lnSpc>
              <a:spcAft>
                <a:spcPts val="800"/>
              </a:spcAft>
            </a:pPr>
            <a:r>
              <a:rPr lang="fr-FR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II. 1.	Propriétés de l'atome de carbone</a:t>
            </a:r>
          </a:p>
          <a:p>
            <a:pPr algn="just">
              <a:lnSpc>
                <a:spcPct val="200000"/>
              </a:lnSpc>
            </a:pPr>
            <a:endParaRPr lang="fr-MA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4745AE8-5E04-2A21-D66F-7C8E7A02EAF0}"/>
              </a:ext>
            </a:extLst>
          </p:cNvPr>
          <p:cNvSpPr txBox="1"/>
          <p:nvPr/>
        </p:nvSpPr>
        <p:spPr>
          <a:xfrm>
            <a:off x="813817" y="454774"/>
            <a:ext cx="960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1 : STRUCTURES DES COMPOSES ORGANIQUES</a:t>
            </a:r>
            <a:endParaRPr lang="en-US" sz="24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B46500F1-C71A-4D81-3B91-F554D14A1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1299" y="2826758"/>
            <a:ext cx="7325551" cy="972566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FF789092-00EC-BCD8-76BB-CEB0162FF2A9}"/>
              </a:ext>
            </a:extLst>
          </p:cNvPr>
          <p:cNvSpPr txBox="1"/>
          <p:nvPr/>
        </p:nvSpPr>
        <p:spPr>
          <a:xfrm>
            <a:off x="1776792" y="4435680"/>
            <a:ext cx="77202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P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ertes ou de gains d’électrons </a:t>
            </a:r>
            <a:r>
              <a:rPr lang="fr-FR" sz="2000" b="1" dirty="0">
                <a:solidFill>
                  <a:schemeClr val="accent2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=&gt;</a:t>
            </a:r>
            <a:r>
              <a:rPr lang="fr-FR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 P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rocessus énergétiquement très défavorisés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24879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49F7E-C2BB-7A8B-DC16-852B810E3F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72194E8-C6D7-94FD-8A9B-6F8FD480AD12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EB5223C-BD41-2616-DD47-13F9BB2F6C0A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48247DC-3274-7529-C03D-E108BCCAAF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406" y="6401562"/>
            <a:ext cx="369189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AB1DC17D-0438-9DEB-4A99-6017F720B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646651DD-AD57-5531-110E-D4954A37375F}"/>
              </a:ext>
            </a:extLst>
          </p:cNvPr>
          <p:cNvSpPr txBox="1"/>
          <p:nvPr/>
        </p:nvSpPr>
        <p:spPr>
          <a:xfrm>
            <a:off x="738850" y="1356979"/>
            <a:ext cx="9838662" cy="1736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I.</a:t>
            </a:r>
            <a:r>
              <a:rPr lang="fr-FR" sz="1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Atome de Carbone</a:t>
            </a:r>
            <a:endParaRPr lang="fr-FR" sz="1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40000">
              <a:lnSpc>
                <a:spcPct val="150000"/>
              </a:lnSpc>
              <a:spcAft>
                <a:spcPts val="800"/>
              </a:spcAft>
            </a:pPr>
            <a:r>
              <a:rPr lang="fr-FR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II. 1.	Propriétés de l'atome de carbone</a:t>
            </a:r>
          </a:p>
          <a:p>
            <a:pPr algn="just">
              <a:lnSpc>
                <a:spcPct val="200000"/>
              </a:lnSpc>
            </a:pPr>
            <a:endParaRPr lang="fr-MA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B3D7A77-CAA7-2A1E-6660-4DAC66A0F457}"/>
              </a:ext>
            </a:extLst>
          </p:cNvPr>
          <p:cNvSpPr txBox="1"/>
          <p:nvPr/>
        </p:nvSpPr>
        <p:spPr>
          <a:xfrm>
            <a:off x="813817" y="454774"/>
            <a:ext cx="960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1 : STRUCTURES DES COMPOSES ORGANIQUES</a:t>
            </a:r>
            <a:endParaRPr lang="en-US" sz="24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E3CB962-7334-6000-BBE3-1C307FDB1B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5979" y="2788921"/>
            <a:ext cx="4956875" cy="275151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3A00B91-49D0-324F-3BE2-443447BEC402}"/>
              </a:ext>
            </a:extLst>
          </p:cNvPr>
          <p:cNvSpPr txBox="1"/>
          <p:nvPr/>
        </p:nvSpPr>
        <p:spPr>
          <a:xfrm>
            <a:off x="4133850" y="2589746"/>
            <a:ext cx="62819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i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Électronégativité selon Pauling</a:t>
            </a:r>
            <a:endParaRPr lang="en-US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B1505D6-EA52-013F-0664-BE6F5FD8B48E}"/>
              </a:ext>
            </a:extLst>
          </p:cNvPr>
          <p:cNvSpPr txBox="1"/>
          <p:nvPr/>
        </p:nvSpPr>
        <p:spPr>
          <a:xfrm>
            <a:off x="1700403" y="5610813"/>
            <a:ext cx="87911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Le carbone occupe une position intermédiaire </a:t>
            </a:r>
            <a:r>
              <a:rPr lang="fr-FR" sz="1800" b="1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=&gt;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tendance à former des liaisons covalentes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1440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63BD4-2B87-C80F-3AEB-305B92430A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D8810E4-5328-FDFC-5673-4259E66307D0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EE3FA3C-933D-650A-54BD-82DC97E121FE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D9B8DB7-B907-71B8-5C8E-64C47A030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406" y="6401562"/>
            <a:ext cx="369189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4DB6A777-168A-B14F-DB69-3871CBB4E0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7D2B51AE-CD17-47CF-5A58-B85830DEB61D}"/>
              </a:ext>
            </a:extLst>
          </p:cNvPr>
          <p:cNvSpPr txBox="1"/>
          <p:nvPr/>
        </p:nvSpPr>
        <p:spPr>
          <a:xfrm>
            <a:off x="738850" y="1004554"/>
            <a:ext cx="9838662" cy="1736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I.</a:t>
            </a:r>
            <a:r>
              <a:rPr lang="fr-FR" sz="1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Atome de Carbone</a:t>
            </a:r>
            <a:endParaRPr lang="fr-FR" sz="1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40000">
              <a:lnSpc>
                <a:spcPct val="150000"/>
              </a:lnSpc>
              <a:spcAft>
                <a:spcPts val="800"/>
              </a:spcAft>
            </a:pPr>
            <a:r>
              <a:rPr lang="fr-FR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II. 1.	Propriétés de l'atome de carbone</a:t>
            </a:r>
          </a:p>
          <a:p>
            <a:pPr algn="just">
              <a:lnSpc>
                <a:spcPct val="200000"/>
              </a:lnSpc>
            </a:pPr>
            <a:endParaRPr lang="fr-MA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F6807C0-A43F-D968-984E-55F46BE9DC3F}"/>
              </a:ext>
            </a:extLst>
          </p:cNvPr>
          <p:cNvSpPr txBox="1"/>
          <p:nvPr/>
        </p:nvSpPr>
        <p:spPr>
          <a:xfrm>
            <a:off x="813817" y="454774"/>
            <a:ext cx="960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1 : STRUCTURES DES COMPOSES ORGANIQUES</a:t>
            </a:r>
            <a:endParaRPr lang="en-US" sz="24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utoShape 6" descr="1: (a) Une liaison covalente formée entre deux atomes identiques par la...  | Download Scientific Diagram">
            <a:extLst>
              <a:ext uri="{FF2B5EF4-FFF2-40B4-BE49-F238E27FC236}">
                <a16:creationId xmlns:a16="http://schemas.microsoft.com/office/drawing/2014/main" id="{4C560A36-0CC0-EE22-FF93-B6533C3D274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5E6519D-5369-8A85-838E-B152653BCBFA}"/>
              </a:ext>
            </a:extLst>
          </p:cNvPr>
          <p:cNvSpPr txBox="1"/>
          <p:nvPr/>
        </p:nvSpPr>
        <p:spPr>
          <a:xfrm>
            <a:off x="1275588" y="2111859"/>
            <a:ext cx="9838662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fr-FR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Une liaison covalente</a:t>
            </a:r>
            <a:r>
              <a:rPr lang="fr-FR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fr-FR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fr-FR" sz="1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=&gt;</a:t>
            </a:r>
            <a:r>
              <a:rPr lang="fr-FR" sz="1800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deux électrons de la couche externe de deux atomes A et B.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B53E7D9B-015E-82AE-7167-DBA04096BA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2031" y="2502543"/>
            <a:ext cx="4385399" cy="405567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D4ADF47-3F16-8624-7EAE-3A012EDA96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6393" y="3131867"/>
            <a:ext cx="6703575" cy="2973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84512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385A67-ED85-7B54-552B-B2932177C8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4C828DA4-2E13-8514-8F16-BD5151567089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B2B447F-D0D1-B982-136A-08C855950767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2238EC-2263-1D6C-C3A7-A1772BE30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406" y="6401562"/>
            <a:ext cx="369189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8BBB45F8-3004-3002-2C07-29C79C30C3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5DB874C-518F-17EF-C7BD-0B70DB8D91F5}"/>
              </a:ext>
            </a:extLst>
          </p:cNvPr>
          <p:cNvSpPr txBox="1"/>
          <p:nvPr/>
        </p:nvSpPr>
        <p:spPr>
          <a:xfrm>
            <a:off x="738850" y="1004554"/>
            <a:ext cx="9838662" cy="1736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I.</a:t>
            </a:r>
            <a:r>
              <a:rPr lang="fr-FR" sz="1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Atome de Carbone</a:t>
            </a:r>
            <a:endParaRPr lang="fr-FR" sz="1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40000">
              <a:lnSpc>
                <a:spcPct val="150000"/>
              </a:lnSpc>
              <a:spcAft>
                <a:spcPts val="800"/>
              </a:spcAft>
            </a:pPr>
            <a:r>
              <a:rPr lang="fr-FR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II. 1.	Propriétés de l'atome de carbone</a:t>
            </a:r>
          </a:p>
          <a:p>
            <a:pPr algn="just">
              <a:lnSpc>
                <a:spcPct val="200000"/>
              </a:lnSpc>
            </a:pPr>
            <a:endParaRPr lang="fr-MA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276A06E-11BB-F710-3CD0-51E1F515A390}"/>
              </a:ext>
            </a:extLst>
          </p:cNvPr>
          <p:cNvSpPr txBox="1"/>
          <p:nvPr/>
        </p:nvSpPr>
        <p:spPr>
          <a:xfrm>
            <a:off x="813817" y="454774"/>
            <a:ext cx="960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1 : STRUCTURES DES COMPOSES ORGANIQUES</a:t>
            </a:r>
            <a:endParaRPr lang="en-US" sz="24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utoShape 6" descr="1: (a) Une liaison covalente formée entre deux atomes identiques par la...  | Download Scientific Diagram">
            <a:extLst>
              <a:ext uri="{FF2B5EF4-FFF2-40B4-BE49-F238E27FC236}">
                <a16:creationId xmlns:a16="http://schemas.microsoft.com/office/drawing/2014/main" id="{89FBC8DF-CB2F-E2A8-221E-7B11CB9251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70BCBC0-E4BD-79D8-A419-2089EEC85108}"/>
              </a:ext>
            </a:extLst>
          </p:cNvPr>
          <p:cNvSpPr txBox="1"/>
          <p:nvPr/>
        </p:nvSpPr>
        <p:spPr>
          <a:xfrm>
            <a:off x="2955132" y="2093946"/>
            <a:ext cx="6281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</a:rPr>
              <a:t>Recouvrement axial entre les différents orbitales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778C757-1718-F791-2E63-2F452563DC28}"/>
              </a:ext>
            </a:extLst>
          </p:cNvPr>
          <p:cNvSpPr txBox="1"/>
          <p:nvPr/>
        </p:nvSpPr>
        <p:spPr>
          <a:xfrm>
            <a:off x="1302544" y="2511186"/>
            <a:ext cx="2907506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fr-FR" sz="1800" b="1" u="sng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Recouvrement axial liant σ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279A739-03F6-6BA0-EB69-EF1A05E1CF35}"/>
              </a:ext>
            </a:extLst>
          </p:cNvPr>
          <p:cNvSpPr txBox="1"/>
          <p:nvPr/>
        </p:nvSpPr>
        <p:spPr>
          <a:xfrm>
            <a:off x="7524750" y="2551286"/>
            <a:ext cx="3364706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fr-FR" sz="1800" b="1" u="sng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Recouvrement axial </a:t>
            </a:r>
            <a:r>
              <a:rPr lang="fr-FR" sz="1800" b="1" u="sng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antiliant</a:t>
            </a:r>
            <a:r>
              <a:rPr lang="fr-FR" sz="1800" b="1" u="sng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σ*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3" name="Image 22">
            <a:extLst>
              <a:ext uri="{FF2B5EF4-FFF2-40B4-BE49-F238E27FC236}">
                <a16:creationId xmlns:a16="http://schemas.microsoft.com/office/drawing/2014/main" id="{4302B043-9E36-2566-74A6-E43619DC010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817" y="3132848"/>
            <a:ext cx="4034790" cy="67881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" name="Image 23">
            <a:extLst>
              <a:ext uri="{FF2B5EF4-FFF2-40B4-BE49-F238E27FC236}">
                <a16:creationId xmlns:a16="http://schemas.microsoft.com/office/drawing/2014/main" id="{1C8C7F70-2C32-D15B-78C1-5877742092F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933" y="4896890"/>
            <a:ext cx="5066909" cy="884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Image 24">
            <a:extLst>
              <a:ext uri="{FF2B5EF4-FFF2-40B4-BE49-F238E27FC236}">
                <a16:creationId xmlns:a16="http://schemas.microsoft.com/office/drawing/2014/main" id="{4DE32B5A-14CC-71F8-C359-236AA924596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7149" y="3898842"/>
            <a:ext cx="4186868" cy="9565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Image 25">
            <a:extLst>
              <a:ext uri="{FF2B5EF4-FFF2-40B4-BE49-F238E27FC236}">
                <a16:creationId xmlns:a16="http://schemas.microsoft.com/office/drawing/2014/main" id="{2EF0CC6E-E404-B8E0-B01E-6FBFA2B8B6F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2313" y="3134226"/>
            <a:ext cx="4309110" cy="6965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25E1018C-3367-C652-B77A-4C9922D14C63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87" t="14008"/>
          <a:stretch/>
        </p:blipFill>
        <p:spPr bwMode="auto">
          <a:xfrm>
            <a:off x="7207985" y="3988182"/>
            <a:ext cx="4647565" cy="777875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28" name="Image 27">
            <a:extLst>
              <a:ext uri="{FF2B5EF4-FFF2-40B4-BE49-F238E27FC236}">
                <a16:creationId xmlns:a16="http://schemas.microsoft.com/office/drawing/2014/main" id="{EB3B68D9-DB8F-A696-D839-4494562A3B1F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601" y="4813292"/>
            <a:ext cx="5247399" cy="92386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244944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566203-119A-6CA6-E42E-40E1BAD01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8D5352DF-81A1-559D-94D9-85D787A0259E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1D75657-87CE-B1A7-17D7-1200BF38A802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46AD70D-DE92-7FF8-9303-688AB49DC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406" y="6401562"/>
            <a:ext cx="369189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1D67CB64-414E-7394-C836-25D63453F7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ABB6614B-561B-0721-56D0-5DE14471156C}"/>
              </a:ext>
            </a:extLst>
          </p:cNvPr>
          <p:cNvSpPr txBox="1"/>
          <p:nvPr/>
        </p:nvSpPr>
        <p:spPr>
          <a:xfrm>
            <a:off x="738850" y="1004554"/>
            <a:ext cx="9838662" cy="1736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I.</a:t>
            </a:r>
            <a:r>
              <a:rPr lang="fr-FR" sz="1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Atome de Carbone</a:t>
            </a:r>
            <a:endParaRPr lang="fr-FR" sz="1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40000">
              <a:lnSpc>
                <a:spcPct val="150000"/>
              </a:lnSpc>
              <a:spcAft>
                <a:spcPts val="800"/>
              </a:spcAft>
            </a:pPr>
            <a:r>
              <a:rPr lang="fr-FR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II. 1.	Propriétés de l'atome de carbone</a:t>
            </a:r>
          </a:p>
          <a:p>
            <a:pPr algn="just">
              <a:lnSpc>
                <a:spcPct val="200000"/>
              </a:lnSpc>
            </a:pPr>
            <a:endParaRPr lang="fr-MA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4FFE680-601A-72C2-87A8-00ED3808095C}"/>
              </a:ext>
            </a:extLst>
          </p:cNvPr>
          <p:cNvSpPr txBox="1"/>
          <p:nvPr/>
        </p:nvSpPr>
        <p:spPr>
          <a:xfrm>
            <a:off x="813817" y="454774"/>
            <a:ext cx="960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1 : STRUCTURES DES COMPOSES ORGANIQUES</a:t>
            </a:r>
            <a:endParaRPr lang="en-US" sz="24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utoShape 6" descr="1: (a) Une liaison covalente formée entre deux atomes identiques par la...  | Download Scientific Diagram">
            <a:extLst>
              <a:ext uri="{FF2B5EF4-FFF2-40B4-BE49-F238E27FC236}">
                <a16:creationId xmlns:a16="http://schemas.microsoft.com/office/drawing/2014/main" id="{A676E5F2-1C06-FBC5-A6EB-0226038871F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D627A63-1F4A-FB2C-5B2D-67551FDEEDBD}"/>
              </a:ext>
            </a:extLst>
          </p:cNvPr>
          <p:cNvSpPr txBox="1"/>
          <p:nvPr/>
        </p:nvSpPr>
        <p:spPr>
          <a:xfrm>
            <a:off x="2955132" y="2132046"/>
            <a:ext cx="6281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R</a:t>
            </a:r>
            <a:r>
              <a:rPr lang="fr-FR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ecouvrement </a:t>
            </a:r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latéral</a:t>
            </a:r>
            <a:r>
              <a:rPr lang="fr-FR" sz="18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entre les orbitales p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2CBFDA0-E0A0-342E-029A-5256A0D4179F}"/>
              </a:ext>
            </a:extLst>
          </p:cNvPr>
          <p:cNvSpPr txBox="1"/>
          <p:nvPr/>
        </p:nvSpPr>
        <p:spPr>
          <a:xfrm>
            <a:off x="1302543" y="2511186"/>
            <a:ext cx="3183731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fr-FR" sz="1800" b="1" u="sng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Recouvrement latéral liant </a:t>
            </a:r>
            <a:r>
              <a:rPr lang="el-GR" sz="1800" b="1" u="sng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π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ABAA4A5E-BEB3-5DDD-CB2C-6B97DF6C0FE9}"/>
              </a:ext>
            </a:extLst>
          </p:cNvPr>
          <p:cNvSpPr txBox="1"/>
          <p:nvPr/>
        </p:nvSpPr>
        <p:spPr>
          <a:xfrm>
            <a:off x="7524749" y="2551287"/>
            <a:ext cx="3616455" cy="3906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15000"/>
              </a:lnSpc>
              <a:spcAft>
                <a:spcPts val="800"/>
              </a:spcAft>
            </a:pPr>
            <a:r>
              <a:rPr lang="fr-FR" sz="1800" b="1" u="sng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Recouvrement latéral </a:t>
            </a:r>
            <a:r>
              <a:rPr lang="fr-FR" sz="1800" b="1" u="sng" kern="1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antiliant</a:t>
            </a:r>
            <a:r>
              <a:rPr lang="fr-FR" sz="1800" b="1" u="sng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  <a:r>
              <a:rPr lang="el-GR" sz="1800" b="1" u="sng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π</a:t>
            </a:r>
            <a:r>
              <a:rPr lang="fr-FR" sz="1800" b="1" u="sng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*</a:t>
            </a:r>
            <a:endParaRPr lang="en-US" sz="16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4E0622D0-2DCC-AC3C-12F0-D1C0F03BEB8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1938" y="2927015"/>
            <a:ext cx="3964940" cy="13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A17D4B20-A050-DFD0-AC75-5645059C3A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122" y="2967517"/>
            <a:ext cx="4064000" cy="13227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08F5484-EA43-60D5-9CD9-237D2D8DB12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0141" y="4959682"/>
            <a:ext cx="3224607" cy="128699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89C41BA4-E401-DD89-B054-C582669558D0}"/>
              </a:ext>
            </a:extLst>
          </p:cNvPr>
          <p:cNvSpPr txBox="1"/>
          <p:nvPr/>
        </p:nvSpPr>
        <p:spPr>
          <a:xfrm>
            <a:off x="3757565" y="4497645"/>
            <a:ext cx="46911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b="1" dirty="0">
                <a:solidFill>
                  <a:srgbClr val="FF0000"/>
                </a:solidFill>
                <a:latin typeface="Times New Roman" panose="02020603050405020304" pitchFamily="18" charset="0"/>
              </a:rPr>
              <a:t>Recouvrement nul entre deux orbitales s et p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414653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4CF2B3-1049-A950-FB69-D08E73590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5BA3BFE8-4BA9-31EA-19C1-F20C9BE10100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32EBBFA-B618-6AD3-591C-EC1C9CBA4834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E93A5FB-9749-14C9-1224-E20DD4A5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406" y="6401562"/>
            <a:ext cx="369189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38BFC562-59BF-13B9-905B-E82C1487C3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E8AEE94C-8CE5-22B8-D709-A62C1B3BD070}"/>
              </a:ext>
            </a:extLst>
          </p:cNvPr>
          <p:cNvSpPr txBox="1"/>
          <p:nvPr/>
        </p:nvSpPr>
        <p:spPr>
          <a:xfrm>
            <a:off x="738850" y="1356979"/>
            <a:ext cx="9838662" cy="1736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I.</a:t>
            </a:r>
            <a:r>
              <a:rPr lang="fr-FR" sz="1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Atome de Carbone</a:t>
            </a:r>
            <a:endParaRPr lang="fr-FR" sz="1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40000">
              <a:lnSpc>
                <a:spcPct val="150000"/>
              </a:lnSpc>
              <a:spcAft>
                <a:spcPts val="800"/>
              </a:spcAft>
            </a:pPr>
            <a:r>
              <a:rPr lang="fr-FR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II. 2.	Valence du carbone</a:t>
            </a:r>
          </a:p>
          <a:p>
            <a:pPr algn="just">
              <a:lnSpc>
                <a:spcPct val="200000"/>
              </a:lnSpc>
            </a:pPr>
            <a:endParaRPr lang="fr-MA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D35AE05-820E-E78A-CC4F-860DE74FBB38}"/>
              </a:ext>
            </a:extLst>
          </p:cNvPr>
          <p:cNvSpPr txBox="1"/>
          <p:nvPr/>
        </p:nvSpPr>
        <p:spPr>
          <a:xfrm>
            <a:off x="813817" y="454774"/>
            <a:ext cx="960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1 : STRUCTURES DES COMPOSES ORGANIQUES</a:t>
            </a:r>
            <a:endParaRPr lang="en-US" sz="24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utoShape 6" descr="1: (a) Une liaison covalente formée entre deux atomes identiques par la...  | Download Scientific Diagram">
            <a:extLst>
              <a:ext uri="{FF2B5EF4-FFF2-40B4-BE49-F238E27FC236}">
                <a16:creationId xmlns:a16="http://schemas.microsoft.com/office/drawing/2014/main" id="{05316275-3689-BF81-4501-3F89A32051D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92E888A-3CEA-424F-F5DD-28584CB1A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3516" y="2757376"/>
            <a:ext cx="6721802" cy="2934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6585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D69E0-0D22-158D-E983-94C72202B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0C259750-ACF9-9BC7-6070-8019057CFCCB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87274C3-7DCD-BCC7-647B-2B0C9FB5F3CD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AD90B95-BC55-0027-9B2C-DEB1C6E489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406" y="6401562"/>
            <a:ext cx="369189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F5B93164-FB82-2001-B77F-93CA182D0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DFCFFD7-3FCB-E3E1-E7A4-D9E5B8A08266}"/>
              </a:ext>
            </a:extLst>
          </p:cNvPr>
          <p:cNvSpPr txBox="1"/>
          <p:nvPr/>
        </p:nvSpPr>
        <p:spPr>
          <a:xfrm>
            <a:off x="738850" y="1356979"/>
            <a:ext cx="9838662" cy="1114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I.</a:t>
            </a:r>
            <a:r>
              <a:rPr lang="fr-FR" sz="1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Atome de Carbone</a:t>
            </a:r>
            <a:endParaRPr lang="fr-FR" sz="1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40000">
              <a:lnSpc>
                <a:spcPct val="150000"/>
              </a:lnSpc>
              <a:spcAft>
                <a:spcPts val="800"/>
              </a:spcAft>
            </a:pP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II. 3.	États d'hybridation du carbone</a:t>
            </a:r>
            <a:endParaRPr lang="fr-MA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F9B70CA-8606-7702-739A-B4110F1E9262}"/>
              </a:ext>
            </a:extLst>
          </p:cNvPr>
          <p:cNvSpPr txBox="1"/>
          <p:nvPr/>
        </p:nvSpPr>
        <p:spPr>
          <a:xfrm>
            <a:off x="813817" y="454774"/>
            <a:ext cx="960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1 : STRUCTURES DES COMPOSES ORGANIQUES</a:t>
            </a:r>
            <a:endParaRPr lang="en-US" sz="24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utoShape 6" descr="1: (a) Une liaison covalente formée entre deux atomes identiques par la...  | Download Scientific Diagram">
            <a:extLst>
              <a:ext uri="{FF2B5EF4-FFF2-40B4-BE49-F238E27FC236}">
                <a16:creationId xmlns:a16="http://schemas.microsoft.com/office/drawing/2014/main" id="{B0368EB1-1E29-4947-BD56-DDF954A6644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FCFE2FFA-F89F-7F55-3586-279DDF0AEBCD}"/>
              </a:ext>
            </a:extLst>
          </p:cNvPr>
          <p:cNvSpPr txBox="1"/>
          <p:nvPr/>
        </p:nvSpPr>
        <p:spPr>
          <a:xfrm>
            <a:off x="1196050" y="2521210"/>
            <a:ext cx="112626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Examinons le méthane CH</a:t>
            </a:r>
            <a:r>
              <a:rPr lang="fr-FR" sz="1800" baseline="-25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4 </a:t>
            </a:r>
            <a:r>
              <a:rPr lang="fr-FR" sz="1800" b="1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=&gt; </a:t>
            </a:r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Avec l’hypothèse de l’état excité du carbone (1électron 2s et 3 électrons 2p)</a:t>
            </a:r>
            <a:endParaRPr lang="en-US" b="1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E4BC482E-F540-4977-46BD-DD05D77703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005" y="2795627"/>
            <a:ext cx="4303074" cy="2409131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2FCCA3DA-9054-D673-948F-C1C94C9E22A5}"/>
              </a:ext>
            </a:extLst>
          </p:cNvPr>
          <p:cNvSpPr txBox="1"/>
          <p:nvPr/>
        </p:nvSpPr>
        <p:spPr>
          <a:xfrm>
            <a:off x="5523738" y="4082644"/>
            <a:ext cx="62819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ces trois liaisons font entre elles un angle de 90° comme les trois orbitales 2px, 2py et 2pz</a:t>
            </a:r>
            <a:endParaRPr lang="en-US" sz="1200" dirty="0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7DF79CC2-BF6E-FCC8-9986-25AF4379C424}"/>
              </a:ext>
            </a:extLst>
          </p:cNvPr>
          <p:cNvSpPr txBox="1"/>
          <p:nvPr/>
        </p:nvSpPr>
        <p:spPr>
          <a:xfrm>
            <a:off x="5523738" y="3034471"/>
            <a:ext cx="628192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Une liaison sans direction (les orbitales s ont une symétrie sphérique)</a:t>
            </a:r>
            <a:endParaRPr lang="en-US" sz="1200" dirty="0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DF4134D-B45F-D189-DF30-E8F0DA9FAEB1}"/>
              </a:ext>
            </a:extLst>
          </p:cNvPr>
          <p:cNvSpPr txBox="1"/>
          <p:nvPr/>
        </p:nvSpPr>
        <p:spPr>
          <a:xfrm>
            <a:off x="1288543" y="5225182"/>
            <a:ext cx="107129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Or les quatre liaisons parfaitement identiques / symétrie avec des angles de valence de 109°28 </a:t>
            </a:r>
            <a:r>
              <a:rPr lang="fr-FR" sz="1400" b="1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=&gt;</a:t>
            </a:r>
            <a:r>
              <a:rPr lang="fr-FR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Théorie d’hybridation</a:t>
            </a:r>
            <a:endParaRPr lang="en-US" sz="1400" dirty="0"/>
          </a:p>
        </p:txBody>
      </p:sp>
      <p:sp>
        <p:nvSpPr>
          <p:cNvPr id="17" name="Accolade fermante 16">
            <a:extLst>
              <a:ext uri="{FF2B5EF4-FFF2-40B4-BE49-F238E27FC236}">
                <a16:creationId xmlns:a16="http://schemas.microsoft.com/office/drawing/2014/main" id="{FFCE241E-874A-B532-9C11-149689F135C1}"/>
              </a:ext>
            </a:extLst>
          </p:cNvPr>
          <p:cNvSpPr/>
          <p:nvPr/>
        </p:nvSpPr>
        <p:spPr>
          <a:xfrm>
            <a:off x="5204079" y="3553578"/>
            <a:ext cx="304800" cy="1347251"/>
          </a:xfrm>
          <a:prstGeom prst="rightBrac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12420786-6722-ADA4-273D-E77D1212C5AB}"/>
              </a:ext>
            </a:extLst>
          </p:cNvPr>
          <p:cNvSpPr txBox="1"/>
          <p:nvPr/>
        </p:nvSpPr>
        <p:spPr>
          <a:xfrm>
            <a:off x="1318879" y="5713905"/>
            <a:ext cx="998005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H</a:t>
            </a:r>
            <a:r>
              <a:rPr lang="fr-FR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ybridations </a:t>
            </a:r>
            <a:r>
              <a:rPr lang="fr-FR" sz="14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</a:rPr>
              <a:t>du Carbon</a:t>
            </a:r>
            <a:r>
              <a:rPr lang="fr-FR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: </a:t>
            </a:r>
            <a:r>
              <a:rPr lang="fr-FR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sp</a:t>
            </a:r>
            <a:r>
              <a:rPr lang="fr-FR" sz="1400" b="1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3</a:t>
            </a:r>
            <a:r>
              <a:rPr lang="fr-FR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, sp</a:t>
            </a:r>
            <a:r>
              <a:rPr lang="fr-FR" sz="1400" b="1" baseline="30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2</a:t>
            </a:r>
            <a:r>
              <a:rPr lang="fr-FR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fr-FR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et</a:t>
            </a:r>
            <a:r>
              <a:rPr lang="fr-FR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fr-FR" sz="14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sp</a:t>
            </a:r>
            <a:r>
              <a:rPr lang="fr-FR" sz="14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  </a:t>
            </a:r>
            <a:r>
              <a:rPr lang="fr-FR" sz="1400" b="1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=&gt;</a:t>
            </a:r>
            <a:r>
              <a:rPr lang="fr-FR" sz="1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    une orbitale s avec trois, deux ou une orbitale p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7554304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D60279-3298-380D-8C1C-FF878D58F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DE72608F-36C3-B0E9-F67D-378EE2DF07E6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43D9B27-1AB5-2FB4-DA09-82684269E546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7141A44-D76D-F310-5271-1B18D2611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406" y="6401562"/>
            <a:ext cx="369189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49A978BD-A013-A75B-3D21-26831B925D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BDC952F-989D-43FE-D80E-856E22078B1D}"/>
              </a:ext>
            </a:extLst>
          </p:cNvPr>
          <p:cNvSpPr txBox="1"/>
          <p:nvPr/>
        </p:nvSpPr>
        <p:spPr>
          <a:xfrm>
            <a:off x="738850" y="1356979"/>
            <a:ext cx="9838662" cy="1736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I.</a:t>
            </a:r>
            <a:r>
              <a:rPr lang="fr-FR" sz="1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Atome de Carbone</a:t>
            </a:r>
            <a:endParaRPr lang="fr-FR" sz="1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40000">
              <a:lnSpc>
                <a:spcPct val="150000"/>
              </a:lnSpc>
              <a:spcAft>
                <a:spcPts val="800"/>
              </a:spcAft>
            </a:pP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II. 3.	États d'hybridation du carbone</a:t>
            </a:r>
            <a:endParaRPr lang="fr-FR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200000"/>
              </a:lnSpc>
            </a:pPr>
            <a:endParaRPr lang="fr-MA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6514EC6-3DA5-39FB-42AE-EFBA09E40269}"/>
              </a:ext>
            </a:extLst>
          </p:cNvPr>
          <p:cNvSpPr txBox="1"/>
          <p:nvPr/>
        </p:nvSpPr>
        <p:spPr>
          <a:xfrm>
            <a:off x="813817" y="454774"/>
            <a:ext cx="960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1 : STRUCTURES DES COMPOSES ORGANIQUES</a:t>
            </a:r>
            <a:endParaRPr lang="en-US" sz="24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utoShape 6" descr="1: (a) Une liaison covalente formée entre deux atomes identiques par la...  | Download Scientific Diagram">
            <a:extLst>
              <a:ext uri="{FF2B5EF4-FFF2-40B4-BE49-F238E27FC236}">
                <a16:creationId xmlns:a16="http://schemas.microsoft.com/office/drawing/2014/main" id="{2A2485D2-7EBF-684B-1BFB-51CE1F217DD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32F2395-6903-CF1E-1EB2-BC2F841DE5BE}"/>
              </a:ext>
            </a:extLst>
          </p:cNvPr>
          <p:cNvSpPr txBox="1"/>
          <p:nvPr/>
        </p:nvSpPr>
        <p:spPr>
          <a:xfrm>
            <a:off x="393192" y="2445263"/>
            <a:ext cx="3029712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fontAlgn="base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2117F1"/>
              </a:buClr>
              <a:buSzPts val="1200"/>
              <a:tabLst>
                <a:tab pos="630555" algn="l"/>
              </a:tabLst>
            </a:pPr>
            <a:r>
              <a:rPr lang="fr-FR" sz="1800" b="1" u="sng" strike="noStrike" kern="0" spc="0" dirty="0">
                <a:ln>
                  <a:noFill/>
                </a:ln>
                <a:solidFill>
                  <a:srgbClr val="00B050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Bookman Old Style" panose="02050604050505020204" pitchFamily="18" charset="0"/>
                <a:cs typeface="Bookman Old Style" panose="02050604050505020204" pitchFamily="18" charset="0"/>
              </a:rPr>
              <a:t>Hybridation sp</a:t>
            </a:r>
            <a:r>
              <a:rPr lang="fr-FR" sz="1800" b="1" u="sng" strike="noStrike" kern="0" spc="0" baseline="30000" dirty="0">
                <a:ln>
                  <a:noFill/>
                </a:ln>
                <a:solidFill>
                  <a:srgbClr val="00B050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Bookman Old Style" panose="02050604050505020204" pitchFamily="18" charset="0"/>
                <a:cs typeface="Bookman Old Style" panose="02050604050505020204" pitchFamily="18" charset="0"/>
              </a:rPr>
              <a:t>3</a:t>
            </a:r>
            <a:r>
              <a:rPr lang="fr-FR" sz="1800" b="1" u="sng" strike="noStrike" kern="0" spc="0" dirty="0">
                <a:ln>
                  <a:noFill/>
                </a:ln>
                <a:solidFill>
                  <a:srgbClr val="00B050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Bookman Old Style" panose="02050604050505020204" pitchFamily="18" charset="0"/>
                <a:cs typeface="Bookman Old Style" panose="02050604050505020204" pitchFamily="18" charset="0"/>
              </a:rPr>
              <a:t> </a:t>
            </a:r>
            <a:endParaRPr lang="en-US" sz="1800" b="1" u="sng" strike="noStrike" kern="0" spc="0" dirty="0">
              <a:ln>
                <a:noFill/>
              </a:ln>
              <a:solidFill>
                <a:srgbClr val="00B050"/>
              </a:solidFill>
              <a:effectLst>
                <a:glow>
                  <a:srgbClr val="000000"/>
                </a:glow>
                <a:outerShdw sx="0" sy="0">
                  <a:srgbClr val="000000"/>
                </a:outerShdw>
                <a:reflection stA="0" endPos="0" fadeDir="0" sx="0" sy="0"/>
              </a:effectLst>
              <a:latin typeface="Times New Roman" panose="02020603050405020304" pitchFamily="18" charset="0"/>
              <a:ea typeface="Bookman Old Style" panose="02050604050505020204" pitchFamily="18" charset="0"/>
              <a:cs typeface="Bookman Old Style" panose="02050604050505020204" pitchFamily="18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F5D015E-6103-4BF2-2BBB-EBA36A9E8037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225296" y="2956453"/>
            <a:ext cx="3867912" cy="2070336"/>
          </a:xfrm>
          <a:prstGeom prst="rect">
            <a:avLst/>
          </a:prstGeom>
        </p:spPr>
      </p:pic>
      <p:pic>
        <p:nvPicPr>
          <p:cNvPr id="12" name="Image 11">
            <a:extLst>
              <a:ext uri="{FF2B5EF4-FFF2-40B4-BE49-F238E27FC236}">
                <a16:creationId xmlns:a16="http://schemas.microsoft.com/office/drawing/2014/main" id="{BCC83EF0-129E-BE59-FC1F-E6B206F347F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6231"/>
          <a:stretch/>
        </p:blipFill>
        <p:spPr bwMode="auto">
          <a:xfrm>
            <a:off x="6566674" y="3093608"/>
            <a:ext cx="4708879" cy="164289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8824998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2BF227-7BF4-4EFD-E33A-113890C16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D29DF0E4-455A-2D22-3CD5-273F4CB3B165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7F8DF81-2C36-D893-BD77-C19F9AD78E88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90D7BCA-E2D2-8A1D-135E-0107DB61A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406" y="6401562"/>
            <a:ext cx="369189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B68A6401-13C4-7720-2049-6BE318D71F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19766B7D-D2AD-7D35-660C-32EACFF8E1A9}"/>
              </a:ext>
            </a:extLst>
          </p:cNvPr>
          <p:cNvSpPr txBox="1"/>
          <p:nvPr/>
        </p:nvSpPr>
        <p:spPr>
          <a:xfrm>
            <a:off x="738850" y="1356979"/>
            <a:ext cx="9838662" cy="1736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I.</a:t>
            </a:r>
            <a:r>
              <a:rPr lang="fr-FR" sz="1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Atome de Carbone</a:t>
            </a:r>
            <a:endParaRPr lang="fr-FR" sz="1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40000">
              <a:lnSpc>
                <a:spcPct val="150000"/>
              </a:lnSpc>
              <a:spcAft>
                <a:spcPts val="800"/>
              </a:spcAft>
            </a:pP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II. 3.	États d'hybridation du carbone</a:t>
            </a:r>
            <a:endParaRPr lang="fr-FR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200000"/>
              </a:lnSpc>
            </a:pPr>
            <a:endParaRPr lang="fr-MA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F266710-9547-4920-3BA5-F9A77A750CDF}"/>
              </a:ext>
            </a:extLst>
          </p:cNvPr>
          <p:cNvSpPr txBox="1"/>
          <p:nvPr/>
        </p:nvSpPr>
        <p:spPr>
          <a:xfrm>
            <a:off x="813817" y="454774"/>
            <a:ext cx="960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1 : STRUCTURES DES COMPOSES ORGANIQUES</a:t>
            </a:r>
            <a:endParaRPr lang="en-US" sz="24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utoShape 6" descr="1: (a) Une liaison covalente formée entre deux atomes identiques par la...  | Download Scientific Diagram">
            <a:extLst>
              <a:ext uri="{FF2B5EF4-FFF2-40B4-BE49-F238E27FC236}">
                <a16:creationId xmlns:a16="http://schemas.microsoft.com/office/drawing/2014/main" id="{5132A24B-B946-3571-FADA-B3961F0E9BA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9FA5696-B14F-7D4F-18C6-7371E9C339C4}"/>
              </a:ext>
            </a:extLst>
          </p:cNvPr>
          <p:cNvSpPr txBox="1"/>
          <p:nvPr/>
        </p:nvSpPr>
        <p:spPr>
          <a:xfrm>
            <a:off x="393192" y="2445263"/>
            <a:ext cx="3029712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fontAlgn="base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2117F1"/>
              </a:buClr>
              <a:buSzPts val="1200"/>
              <a:tabLst>
                <a:tab pos="630555" algn="l"/>
              </a:tabLst>
            </a:pPr>
            <a:r>
              <a:rPr lang="fr-FR" sz="1800" b="1" u="sng" strike="noStrike" kern="0" spc="0" dirty="0">
                <a:ln>
                  <a:noFill/>
                </a:ln>
                <a:solidFill>
                  <a:srgbClr val="00B050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Bookman Old Style" panose="02050604050505020204" pitchFamily="18" charset="0"/>
                <a:cs typeface="Bookman Old Style" panose="02050604050505020204" pitchFamily="18" charset="0"/>
              </a:rPr>
              <a:t>Hybridation sp</a:t>
            </a:r>
            <a:r>
              <a:rPr lang="fr-FR" b="1" u="sng" kern="0" baseline="30000" dirty="0">
                <a:solidFill>
                  <a:srgbClr val="00B050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Bookman Old Style" panose="02050604050505020204" pitchFamily="18" charset="0"/>
                <a:cs typeface="Bookman Old Style" panose="02050604050505020204" pitchFamily="18" charset="0"/>
              </a:rPr>
              <a:t>2</a:t>
            </a:r>
            <a:r>
              <a:rPr lang="fr-FR" sz="1800" b="1" u="sng" strike="noStrike" kern="0" spc="0" dirty="0">
                <a:ln>
                  <a:noFill/>
                </a:ln>
                <a:solidFill>
                  <a:srgbClr val="00B050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Bookman Old Style" panose="02050604050505020204" pitchFamily="18" charset="0"/>
                <a:cs typeface="Bookman Old Style" panose="02050604050505020204" pitchFamily="18" charset="0"/>
              </a:rPr>
              <a:t> </a:t>
            </a:r>
            <a:endParaRPr lang="en-US" sz="1800" b="1" u="sng" strike="noStrike" kern="0" spc="0" dirty="0">
              <a:ln>
                <a:noFill/>
              </a:ln>
              <a:solidFill>
                <a:srgbClr val="00B050"/>
              </a:solidFill>
              <a:effectLst>
                <a:glow>
                  <a:srgbClr val="000000"/>
                </a:glow>
                <a:outerShdw sx="0" sy="0">
                  <a:srgbClr val="000000"/>
                </a:outerShdw>
                <a:reflection stA="0" endPos="0" fadeDir="0" sx="0" sy="0"/>
              </a:effectLst>
              <a:latin typeface="Times New Roman" panose="02020603050405020304" pitchFamily="18" charset="0"/>
              <a:ea typeface="Bookman Old Style" panose="02050604050505020204" pitchFamily="18" charset="0"/>
              <a:cs typeface="Bookman Old Style" panose="02050604050505020204" pitchFamily="18" charset="0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B3EB60B-0308-F06C-7745-4B585C913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682" y="3394809"/>
            <a:ext cx="4584573" cy="2012957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B005FF1-CFB8-1696-1BFD-27708D0CE9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595" y="2762016"/>
            <a:ext cx="5550408" cy="2961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0001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B74D64-936F-FCE0-F0CF-0BB9AE0CAA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E8F4CFB9-4C34-C680-279E-35CFD5E40D4F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7FD709A-799E-0131-A00E-E5DC42567250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992176-5253-38E5-2419-A18C8168B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406" y="6401562"/>
            <a:ext cx="369189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597E69B1-6D5D-F970-E296-CF57606EB5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37BF24B3-0C03-4D70-6B33-D35C50C4310E}"/>
              </a:ext>
            </a:extLst>
          </p:cNvPr>
          <p:cNvSpPr txBox="1"/>
          <p:nvPr/>
        </p:nvSpPr>
        <p:spPr>
          <a:xfrm>
            <a:off x="738850" y="1356979"/>
            <a:ext cx="9838662" cy="1736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I.</a:t>
            </a:r>
            <a:r>
              <a:rPr lang="fr-FR" sz="1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Atome de Carbone</a:t>
            </a:r>
            <a:endParaRPr lang="fr-FR" sz="1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40000">
              <a:lnSpc>
                <a:spcPct val="150000"/>
              </a:lnSpc>
              <a:spcAft>
                <a:spcPts val="800"/>
              </a:spcAft>
            </a:pP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II. 3.	États d'hybridation du carbone</a:t>
            </a:r>
            <a:endParaRPr lang="fr-FR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200000"/>
              </a:lnSpc>
            </a:pPr>
            <a:endParaRPr lang="fr-MA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C396DE0-69AD-1B74-656C-E269A7C4D71F}"/>
              </a:ext>
            </a:extLst>
          </p:cNvPr>
          <p:cNvSpPr txBox="1"/>
          <p:nvPr/>
        </p:nvSpPr>
        <p:spPr>
          <a:xfrm>
            <a:off x="813817" y="454774"/>
            <a:ext cx="960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1 : STRUCTURES DES COMPOSES ORGANIQUES</a:t>
            </a:r>
            <a:endParaRPr lang="en-US" sz="24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utoShape 6" descr="1: (a) Une liaison covalente formée entre deux atomes identiques par la...  | Download Scientific Diagram">
            <a:extLst>
              <a:ext uri="{FF2B5EF4-FFF2-40B4-BE49-F238E27FC236}">
                <a16:creationId xmlns:a16="http://schemas.microsoft.com/office/drawing/2014/main" id="{A91C439F-15EA-8008-DF50-BC1B8F223E7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2589D5F-FDD3-51CC-620D-6516F879509D}"/>
              </a:ext>
            </a:extLst>
          </p:cNvPr>
          <p:cNvSpPr txBox="1"/>
          <p:nvPr/>
        </p:nvSpPr>
        <p:spPr>
          <a:xfrm>
            <a:off x="393192" y="2445263"/>
            <a:ext cx="3029712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 fontAlgn="base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Clr>
                <a:srgbClr val="2117F1"/>
              </a:buClr>
              <a:buSzPts val="1200"/>
              <a:tabLst>
                <a:tab pos="630555" algn="l"/>
              </a:tabLst>
            </a:pPr>
            <a:r>
              <a:rPr lang="fr-FR" sz="1800" b="1" u="sng" strike="noStrike" kern="0" spc="0" dirty="0">
                <a:ln>
                  <a:noFill/>
                </a:ln>
                <a:solidFill>
                  <a:srgbClr val="00B050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Bookman Old Style" panose="02050604050505020204" pitchFamily="18" charset="0"/>
                <a:cs typeface="Bookman Old Style" panose="02050604050505020204" pitchFamily="18" charset="0"/>
              </a:rPr>
              <a:t>Hybridation </a:t>
            </a:r>
            <a:r>
              <a:rPr lang="fr-FR" sz="1800" b="1" u="sng" strike="noStrike" kern="0" spc="0" dirty="0" err="1">
                <a:ln>
                  <a:noFill/>
                </a:ln>
                <a:solidFill>
                  <a:srgbClr val="00B050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Bookman Old Style" panose="02050604050505020204" pitchFamily="18" charset="0"/>
                <a:cs typeface="Bookman Old Style" panose="02050604050505020204" pitchFamily="18" charset="0"/>
              </a:rPr>
              <a:t>sp</a:t>
            </a:r>
            <a:r>
              <a:rPr lang="fr-FR" sz="1800" b="1" u="sng" strike="noStrike" kern="0" spc="0" dirty="0">
                <a:ln>
                  <a:noFill/>
                </a:ln>
                <a:solidFill>
                  <a:srgbClr val="00B050"/>
                </a:solidFill>
                <a:effectLst>
                  <a:glow>
                    <a:srgbClr val="000000"/>
                  </a:glow>
                  <a:outerShdw sx="0" sy="0">
                    <a:srgbClr val="000000"/>
                  </a:outerShdw>
                  <a:reflection stA="0" endPos="0" fadeDir="0" sx="0" sy="0"/>
                </a:effectLst>
                <a:latin typeface="Times New Roman" panose="02020603050405020304" pitchFamily="18" charset="0"/>
                <a:ea typeface="Bookman Old Style" panose="02050604050505020204" pitchFamily="18" charset="0"/>
                <a:cs typeface="Bookman Old Style" panose="02050604050505020204" pitchFamily="18" charset="0"/>
              </a:rPr>
              <a:t> </a:t>
            </a:r>
            <a:endParaRPr lang="en-US" sz="1800" b="1" u="sng" strike="noStrike" kern="0" spc="0" dirty="0">
              <a:ln>
                <a:noFill/>
              </a:ln>
              <a:solidFill>
                <a:srgbClr val="00B050"/>
              </a:solidFill>
              <a:effectLst>
                <a:glow>
                  <a:srgbClr val="000000"/>
                </a:glow>
                <a:outerShdw sx="0" sy="0">
                  <a:srgbClr val="000000"/>
                </a:outerShdw>
                <a:reflection stA="0" endPos="0" fadeDir="0" sx="0" sy="0"/>
              </a:effectLst>
              <a:latin typeface="Times New Roman" panose="02020603050405020304" pitchFamily="18" charset="0"/>
              <a:ea typeface="Bookman Old Style" panose="02050604050505020204" pitchFamily="18" charset="0"/>
              <a:cs typeface="Bookman Old Style" panose="02050604050505020204" pitchFamily="18" charset="0"/>
            </a:endParaRP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09F2817C-79DA-43BA-C15D-0CEDC16ED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8376" y="2445263"/>
            <a:ext cx="6784847" cy="388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16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181C4-6B27-8B75-B098-ACE990B3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C8881CDA-55F5-9C1D-3B61-489113A3D5AD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CBC970F-86DE-E67A-6ABC-EAAE052F22B0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93C3F0A-89C5-9144-18A4-6B97299B8D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406" y="6401562"/>
            <a:ext cx="369189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36FA7DB4-606E-CFCF-715D-DC36F645EE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C1352FE4-CEBC-E803-8F15-A6291336F4E4}"/>
              </a:ext>
            </a:extLst>
          </p:cNvPr>
          <p:cNvSpPr txBox="1"/>
          <p:nvPr/>
        </p:nvSpPr>
        <p:spPr>
          <a:xfrm>
            <a:off x="738850" y="1356979"/>
            <a:ext cx="9838662" cy="17366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I.</a:t>
            </a:r>
            <a:r>
              <a:rPr lang="fr-FR" sz="18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	</a:t>
            </a: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Atome de Carbone</a:t>
            </a:r>
            <a:endParaRPr lang="fr-FR" sz="1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540000">
              <a:lnSpc>
                <a:spcPct val="150000"/>
              </a:lnSpc>
              <a:spcAft>
                <a:spcPts val="800"/>
              </a:spcAft>
            </a:pPr>
            <a:r>
              <a:rPr lang="fr-MA" sz="18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II. 3.	États d'hybridation du carbone</a:t>
            </a:r>
            <a:endParaRPr lang="fr-FR" sz="1800" b="1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just">
              <a:lnSpc>
                <a:spcPct val="200000"/>
              </a:lnSpc>
            </a:pPr>
            <a:endParaRPr lang="fr-MA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A1DDD58-FB13-605D-5B2C-6CD562EC978D}"/>
              </a:ext>
            </a:extLst>
          </p:cNvPr>
          <p:cNvSpPr txBox="1"/>
          <p:nvPr/>
        </p:nvSpPr>
        <p:spPr>
          <a:xfrm>
            <a:off x="813817" y="454774"/>
            <a:ext cx="960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1 : STRUCTURES DES COMPOSES ORGANIQUES</a:t>
            </a:r>
            <a:endParaRPr lang="en-US" sz="24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utoShape 6" descr="1: (a) Une liaison covalente formée entre deux atomes identiques par la...  | Download Scientific Diagram">
            <a:extLst>
              <a:ext uri="{FF2B5EF4-FFF2-40B4-BE49-F238E27FC236}">
                <a16:creationId xmlns:a16="http://schemas.microsoft.com/office/drawing/2014/main" id="{948C9141-B377-A315-BD5A-BF28624A21E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0AF980FF-35C4-63E6-AC60-49640CF5541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6293613"/>
              </p:ext>
            </p:extLst>
          </p:nvPr>
        </p:nvGraphicFramePr>
        <p:xfrm>
          <a:off x="2084832" y="2583512"/>
          <a:ext cx="7195185" cy="84548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07273">
                  <a:extLst>
                    <a:ext uri="{9D8B030D-6E8A-4147-A177-3AD203B41FA5}">
                      <a16:colId xmlns:a16="http://schemas.microsoft.com/office/drawing/2014/main" val="1304976572"/>
                    </a:ext>
                  </a:extLst>
                </a:gridCol>
                <a:gridCol w="1829304">
                  <a:extLst>
                    <a:ext uri="{9D8B030D-6E8A-4147-A177-3AD203B41FA5}">
                      <a16:colId xmlns:a16="http://schemas.microsoft.com/office/drawing/2014/main" val="799057715"/>
                    </a:ext>
                  </a:extLst>
                </a:gridCol>
                <a:gridCol w="1829304">
                  <a:extLst>
                    <a:ext uri="{9D8B030D-6E8A-4147-A177-3AD203B41FA5}">
                      <a16:colId xmlns:a16="http://schemas.microsoft.com/office/drawing/2014/main" val="2924954503"/>
                    </a:ext>
                  </a:extLst>
                </a:gridCol>
                <a:gridCol w="1829304">
                  <a:extLst>
                    <a:ext uri="{9D8B030D-6E8A-4147-A177-3AD203B41FA5}">
                      <a16:colId xmlns:a16="http://schemas.microsoft.com/office/drawing/2014/main" val="1114676338"/>
                    </a:ext>
                  </a:extLst>
                </a:gridCol>
              </a:tblGrid>
              <a:tr h="38143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État d’hybridation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</a:t>
                      </a:r>
                      <a:r>
                        <a:rPr lang="fr-FR" sz="1200" kern="10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</a:t>
                      </a:r>
                      <a:r>
                        <a:rPr lang="fr-FR" sz="1200" kern="10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33640532"/>
                  </a:ext>
                </a:extLst>
              </a:tr>
              <a:tr h="2320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Électronégativité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2,48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2,75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3,3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816111343"/>
                  </a:ext>
                </a:extLst>
              </a:tr>
              <a:tr h="23202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% du caractère s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33,3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15117688"/>
                  </a:ext>
                </a:extLst>
              </a:tr>
            </a:tbl>
          </a:graphicData>
        </a:graphic>
      </p:graphicFrame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19BCAD7E-186F-7FC6-52A7-14570BED46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9292838"/>
              </p:ext>
            </p:extLst>
          </p:nvPr>
        </p:nvGraphicFramePr>
        <p:xfrm>
          <a:off x="2094737" y="3715885"/>
          <a:ext cx="7195184" cy="60425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98796">
                  <a:extLst>
                    <a:ext uri="{9D8B030D-6E8A-4147-A177-3AD203B41FA5}">
                      <a16:colId xmlns:a16="http://schemas.microsoft.com/office/drawing/2014/main" val="753970479"/>
                    </a:ext>
                  </a:extLst>
                </a:gridCol>
                <a:gridCol w="1798796">
                  <a:extLst>
                    <a:ext uri="{9D8B030D-6E8A-4147-A177-3AD203B41FA5}">
                      <a16:colId xmlns:a16="http://schemas.microsoft.com/office/drawing/2014/main" val="3566976834"/>
                    </a:ext>
                  </a:extLst>
                </a:gridCol>
                <a:gridCol w="1798796">
                  <a:extLst>
                    <a:ext uri="{9D8B030D-6E8A-4147-A177-3AD203B41FA5}">
                      <a16:colId xmlns:a16="http://schemas.microsoft.com/office/drawing/2014/main" val="1716218214"/>
                    </a:ext>
                  </a:extLst>
                </a:gridCol>
                <a:gridCol w="1798796">
                  <a:extLst>
                    <a:ext uri="{9D8B030D-6E8A-4147-A177-3AD203B41FA5}">
                      <a16:colId xmlns:a16="http://schemas.microsoft.com/office/drawing/2014/main" val="374106315"/>
                    </a:ext>
                  </a:extLst>
                </a:gridCol>
              </a:tblGrid>
              <a:tr h="3021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Liaison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 ̶ C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C=C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C≡C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48992962"/>
                  </a:ext>
                </a:extLst>
              </a:tr>
              <a:tr h="30212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Longueur en Å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1,54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1,34</a:t>
                      </a:r>
                      <a:endParaRPr lang="en-US" sz="11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1,20</a:t>
                      </a:r>
                      <a:endParaRPr lang="en-US" sz="11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499971678"/>
                  </a:ext>
                </a:extLst>
              </a:tr>
            </a:tbl>
          </a:graphicData>
        </a:graphic>
      </p:graphicFrame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F8BC9B97-CD13-FF7A-D7D4-317435338F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2853095"/>
              </p:ext>
            </p:extLst>
          </p:nvPr>
        </p:nvGraphicFramePr>
        <p:xfrm>
          <a:off x="2094737" y="4673211"/>
          <a:ext cx="7185280" cy="132257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96320">
                  <a:extLst>
                    <a:ext uri="{9D8B030D-6E8A-4147-A177-3AD203B41FA5}">
                      <a16:colId xmlns:a16="http://schemas.microsoft.com/office/drawing/2014/main" val="752225791"/>
                    </a:ext>
                  </a:extLst>
                </a:gridCol>
                <a:gridCol w="1796320">
                  <a:extLst>
                    <a:ext uri="{9D8B030D-6E8A-4147-A177-3AD203B41FA5}">
                      <a16:colId xmlns:a16="http://schemas.microsoft.com/office/drawing/2014/main" val="2444246043"/>
                    </a:ext>
                  </a:extLst>
                </a:gridCol>
                <a:gridCol w="1796320">
                  <a:extLst>
                    <a:ext uri="{9D8B030D-6E8A-4147-A177-3AD203B41FA5}">
                      <a16:colId xmlns:a16="http://schemas.microsoft.com/office/drawing/2014/main" val="2795002771"/>
                    </a:ext>
                  </a:extLst>
                </a:gridCol>
                <a:gridCol w="1796320">
                  <a:extLst>
                    <a:ext uri="{9D8B030D-6E8A-4147-A177-3AD203B41FA5}">
                      <a16:colId xmlns:a16="http://schemas.microsoft.com/office/drawing/2014/main" val="389598507"/>
                    </a:ext>
                  </a:extLst>
                </a:gridCol>
              </a:tblGrid>
              <a:tr h="18992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Hybridation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</a:t>
                      </a:r>
                      <a:r>
                        <a:rPr lang="fr-FR" sz="1200" kern="100" baseline="30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</a:t>
                      </a:r>
                      <a:r>
                        <a:rPr lang="fr-FR" sz="1200" kern="100" baseline="30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07719384"/>
                  </a:ext>
                </a:extLst>
              </a:tr>
              <a:tr h="10875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pKa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12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42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12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fr-FR" sz="12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36,5</a:t>
                      </a:r>
                      <a:endParaRPr lang="en-US" sz="12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endParaRPr lang="en-US" sz="1200" kern="1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2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en-US" sz="12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/>
                </a:tc>
                <a:extLst>
                  <a:ext uri="{0D108BD9-81ED-4DB2-BD59-A6C34878D82A}">
                    <a16:rowId xmlns:a16="http://schemas.microsoft.com/office/drawing/2014/main" val="1758831833"/>
                  </a:ext>
                </a:extLst>
              </a:tr>
            </a:tbl>
          </a:graphicData>
        </a:graphic>
      </p:graphicFrame>
      <p:graphicFrame>
        <p:nvGraphicFramePr>
          <p:cNvPr id="11" name="Objet 10">
            <a:extLst>
              <a:ext uri="{FF2B5EF4-FFF2-40B4-BE49-F238E27FC236}">
                <a16:creationId xmlns:a16="http://schemas.microsoft.com/office/drawing/2014/main" id="{ACEF4AA3-23D8-4552-93DB-ED779DD8CC4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26768199"/>
              </p:ext>
            </p:extLst>
          </p:nvPr>
        </p:nvGraphicFramePr>
        <p:xfrm>
          <a:off x="4371594" y="4955434"/>
          <a:ext cx="822198" cy="7581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3" imgW="2101587" imgH="1936850" progId="Paint.Picture">
                  <p:embed/>
                </p:oleObj>
              </mc:Choice>
              <mc:Fallback>
                <p:oleObj name="Image bitmap" r:id="rId3" imgW="2101587" imgH="1936850" progId="Paint.Picture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71594" y="4955434"/>
                        <a:ext cx="822198" cy="75813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t 11">
            <a:extLst>
              <a:ext uri="{FF2B5EF4-FFF2-40B4-BE49-F238E27FC236}">
                <a16:creationId xmlns:a16="http://schemas.microsoft.com/office/drawing/2014/main" id="{383E62B5-A954-3DC9-7B98-72038523154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27103065"/>
              </p:ext>
            </p:extLst>
          </p:nvPr>
        </p:nvGraphicFramePr>
        <p:xfrm>
          <a:off x="6096000" y="5016255"/>
          <a:ext cx="897923" cy="57192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5" imgW="1961905" imgH="1251014" progId="Paint.Picture">
                  <p:embed/>
                </p:oleObj>
              </mc:Choice>
              <mc:Fallback>
                <p:oleObj name="Image bitmap" r:id="rId5" imgW="1961905" imgH="1251014" progId="Paint.Picture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6000" y="5016255"/>
                        <a:ext cx="897923" cy="57192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Objet 12">
            <a:extLst>
              <a:ext uri="{FF2B5EF4-FFF2-40B4-BE49-F238E27FC236}">
                <a16:creationId xmlns:a16="http://schemas.microsoft.com/office/drawing/2014/main" id="{6B01EEE6-3E50-D8D0-F3EA-74E6E849C30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6779365"/>
              </p:ext>
            </p:extLst>
          </p:nvPr>
        </p:nvGraphicFramePr>
        <p:xfrm>
          <a:off x="7752113" y="5193317"/>
          <a:ext cx="1179576" cy="291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 bitmap" r:id="rId7" imgW="2063856" imgH="507937" progId="Paint.Picture">
                  <p:embed/>
                </p:oleObj>
              </mc:Choice>
              <mc:Fallback>
                <p:oleObj name="Image bitmap" r:id="rId7" imgW="2063856" imgH="507937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52113" y="5193317"/>
                        <a:ext cx="1179576" cy="29116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992933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B8644-A9E3-9B36-42CA-AA0DCFC1E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6773F0EB-F6DD-A152-F24F-CFDE49710660}"/>
              </a:ext>
            </a:extLst>
          </p:cNvPr>
          <p:cNvSpPr txBox="1"/>
          <p:nvPr/>
        </p:nvSpPr>
        <p:spPr>
          <a:xfrm>
            <a:off x="76200" y="6419850"/>
            <a:ext cx="4057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Filière:PC-Physique</a:t>
            </a:r>
            <a:endParaRPr lang="en-US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F25F193-8D5B-3100-8784-8385941EF494}"/>
              </a:ext>
            </a:extLst>
          </p:cNvPr>
          <p:cNvSpPr txBox="1"/>
          <p:nvPr/>
        </p:nvSpPr>
        <p:spPr>
          <a:xfrm>
            <a:off x="8591550" y="6419850"/>
            <a:ext cx="39719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M127-Chimie </a:t>
            </a:r>
            <a:r>
              <a:rPr lang="en-US" b="1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Organique</a:t>
            </a:r>
            <a:r>
              <a:rPr lang="en-US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Générale 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430C33B-E32F-D83A-D4FB-194E322E10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911406" y="6401562"/>
            <a:ext cx="369189" cy="369332"/>
          </a:xfrm>
        </p:spPr>
        <p:txBody>
          <a:bodyPr/>
          <a:lstStyle/>
          <a:p>
            <a:fld id="{92D09504-E352-447E-8708-9E29931D3037}" type="slidenum">
              <a:rPr lang="en-US" sz="1400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fld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Département De Biologie FSA: Le département de Biologie de la Faculté des Sciences  Agadir">
            <a:extLst>
              <a:ext uri="{FF2B5EF4-FFF2-40B4-BE49-F238E27FC236}">
                <a16:creationId xmlns:a16="http://schemas.microsoft.com/office/drawing/2014/main" id="{2151CB75-A51F-CD6E-1258-AE1BB523C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2479" y="68818"/>
            <a:ext cx="1349021" cy="1343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ZoneTexte 6">
            <a:extLst>
              <a:ext uri="{FF2B5EF4-FFF2-40B4-BE49-F238E27FC236}">
                <a16:creationId xmlns:a16="http://schemas.microsoft.com/office/drawing/2014/main" id="{5A089024-B83B-2612-C519-6184FDCD2390}"/>
              </a:ext>
            </a:extLst>
          </p:cNvPr>
          <p:cNvSpPr txBox="1"/>
          <p:nvPr/>
        </p:nvSpPr>
        <p:spPr>
          <a:xfrm>
            <a:off x="738850" y="1356979"/>
            <a:ext cx="9838662" cy="5799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fr-FR" sz="2400" b="1" kern="100" dirty="0"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Arial" panose="020B0604020202020204" pitchFamily="34" charset="0"/>
              </a:rPr>
              <a:t>Hybridation d’Azote et d’Oxygène</a:t>
            </a:r>
            <a:endParaRPr lang="fr-FR" sz="1800" b="1" kern="100" dirty="0"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154A4EF-62BF-4327-D016-054D1529B293}"/>
              </a:ext>
            </a:extLst>
          </p:cNvPr>
          <p:cNvSpPr txBox="1"/>
          <p:nvPr/>
        </p:nvSpPr>
        <p:spPr>
          <a:xfrm>
            <a:off x="813817" y="454774"/>
            <a:ext cx="9601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MA" sz="2400" b="1" dirty="0">
                <a:solidFill>
                  <a:srgbClr val="0000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Chapitre 1 : STRUCTURES DES COMPOSES ORGANIQUES</a:t>
            </a:r>
            <a:endParaRPr lang="en-US" sz="2400" b="1" dirty="0">
              <a:solidFill>
                <a:srgbClr val="000099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AutoShape 6" descr="1: (a) Une liaison covalente formée entre deux atomes identiques par la...  | Download Scientific Diagram">
            <a:extLst>
              <a:ext uri="{FF2B5EF4-FFF2-40B4-BE49-F238E27FC236}">
                <a16:creationId xmlns:a16="http://schemas.microsoft.com/office/drawing/2014/main" id="{755DD2BD-A1D7-3598-8A5D-D3EE7E3DBAD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9" name="Image 18">
            <a:extLst>
              <a:ext uri="{FF2B5EF4-FFF2-40B4-BE49-F238E27FC236}">
                <a16:creationId xmlns:a16="http://schemas.microsoft.com/office/drawing/2014/main" id="{D82B6A79-638E-46DD-FC6E-9E5EECC2019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151" t="32000" r="20574" b="25868"/>
          <a:stretch/>
        </p:blipFill>
        <p:spPr>
          <a:xfrm>
            <a:off x="2737295" y="2894981"/>
            <a:ext cx="6739128" cy="2889504"/>
          </a:xfrm>
          <a:prstGeom prst="rect">
            <a:avLst/>
          </a:prstGeom>
        </p:spPr>
      </p:pic>
      <p:sp>
        <p:nvSpPr>
          <p:cNvPr id="21" name="ZoneTexte 20">
            <a:extLst>
              <a:ext uri="{FF2B5EF4-FFF2-40B4-BE49-F238E27FC236}">
                <a16:creationId xmlns:a16="http://schemas.microsoft.com/office/drawing/2014/main" id="{593E9418-F597-A92D-52C5-88BE2E44C746}"/>
              </a:ext>
            </a:extLst>
          </p:cNvPr>
          <p:cNvSpPr txBox="1"/>
          <p:nvPr/>
        </p:nvSpPr>
        <p:spPr>
          <a:xfrm>
            <a:off x="622300" y="2049446"/>
            <a:ext cx="103413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les atomes d’azote et d’oxygène possèdent des orbitales s et p dans leur couche externe. Par analogie avec le carbone, on parlera d’un état d’hybridation pour ces atomes:</a:t>
            </a:r>
            <a:endParaRPr lang="en-US" dirty="0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75FEA643-A382-B260-5984-6C2502BC3303}"/>
              </a:ext>
            </a:extLst>
          </p:cNvPr>
          <p:cNvSpPr txBox="1"/>
          <p:nvPr/>
        </p:nvSpPr>
        <p:spPr>
          <a:xfrm>
            <a:off x="3002471" y="5799023"/>
            <a:ext cx="68488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</a:t>
            </a:r>
            <a:r>
              <a:rPr lang="fr-FR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n-1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avec n: le nombre de liaisons </a:t>
            </a:r>
            <a:r>
              <a:rPr lang="fr-FR" sz="18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σ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et le nombre de doublet libre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641875"/>
      </p:ext>
    </p:extLst>
  </p:cSld>
  <p:clrMapOvr>
    <a:masterClrMapping/>
  </p:clrMapOvr>
</p:sld>
</file>

<file path=ppt/theme/theme1.xml><?xml version="1.0" encoding="utf-8"?>
<a:theme xmlns:a="http://schemas.openxmlformats.org/drawingml/2006/main" name="Rétrospective">
  <a:themeElements>
    <a:clrScheme name="Personnalisé 6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000072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étrospectiv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étrospective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3639</TotalTime>
  <Words>1047</Words>
  <Application>Microsoft Office PowerPoint</Application>
  <PresentationFormat>Grand écran</PresentationFormat>
  <Paragraphs>209</Paragraphs>
  <Slides>21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9" baseType="lpstr">
      <vt:lpstr>Arial</vt:lpstr>
      <vt:lpstr>Arial Black</vt:lpstr>
      <vt:lpstr>Calibri</vt:lpstr>
      <vt:lpstr>Calibri Light</vt:lpstr>
      <vt:lpstr>Times New Roman</vt:lpstr>
      <vt:lpstr>Wingdings</vt:lpstr>
      <vt:lpstr>Rétrospective</vt:lpstr>
      <vt:lpstr>Image bitmap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Aziz</dc:creator>
  <cp:lastModifiedBy>Aziz</cp:lastModifiedBy>
  <cp:revision>22</cp:revision>
  <dcterms:created xsi:type="dcterms:W3CDTF">2024-02-18T09:25:27Z</dcterms:created>
  <dcterms:modified xsi:type="dcterms:W3CDTF">2024-02-21T10:40:08Z</dcterms:modified>
</cp:coreProperties>
</file>