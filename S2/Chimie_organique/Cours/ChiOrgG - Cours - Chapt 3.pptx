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0"/>
  </p:notesMasterIdLst>
  <p:sldIdLst>
    <p:sldId id="257" r:id="rId2"/>
    <p:sldId id="271" r:id="rId3"/>
    <p:sldId id="272" r:id="rId4"/>
    <p:sldId id="319" r:id="rId5"/>
    <p:sldId id="321" r:id="rId6"/>
    <p:sldId id="356" r:id="rId7"/>
    <p:sldId id="324" r:id="rId8"/>
    <p:sldId id="325" r:id="rId9"/>
    <p:sldId id="326" r:id="rId10"/>
    <p:sldId id="327" r:id="rId11"/>
    <p:sldId id="328" r:id="rId12"/>
    <p:sldId id="330" r:id="rId13"/>
    <p:sldId id="331" r:id="rId14"/>
    <p:sldId id="332" r:id="rId15"/>
    <p:sldId id="357" r:id="rId16"/>
    <p:sldId id="358" r:id="rId17"/>
    <p:sldId id="333" r:id="rId18"/>
    <p:sldId id="334" r:id="rId19"/>
    <p:sldId id="335" r:id="rId20"/>
    <p:sldId id="337" r:id="rId21"/>
    <p:sldId id="338" r:id="rId22"/>
    <p:sldId id="339" r:id="rId23"/>
    <p:sldId id="340" r:id="rId24"/>
    <p:sldId id="341" r:id="rId25"/>
    <p:sldId id="342" r:id="rId26"/>
    <p:sldId id="343" r:id="rId27"/>
    <p:sldId id="344" r:id="rId28"/>
    <p:sldId id="345" r:id="rId29"/>
    <p:sldId id="346" r:id="rId30"/>
    <p:sldId id="349" r:id="rId31"/>
    <p:sldId id="347" r:id="rId32"/>
    <p:sldId id="336" r:id="rId33"/>
    <p:sldId id="350" r:id="rId34"/>
    <p:sldId id="351" r:id="rId35"/>
    <p:sldId id="352" r:id="rId36"/>
    <p:sldId id="353" r:id="rId37"/>
    <p:sldId id="354" r:id="rId38"/>
    <p:sldId id="35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ziz" initials="OA" lastIdx="2" clrIdx="0">
    <p:extLst>
      <p:ext uri="{19B8F6BF-5375-455C-9EA6-DF929625EA0E}">
        <p15:presenceInfo xmlns:p15="http://schemas.microsoft.com/office/powerpoint/2012/main" userId="Azi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33CC"/>
    <a:srgbClr val="64430E"/>
    <a:srgbClr val="4B630F"/>
    <a:srgbClr val="4F1A58"/>
    <a:srgbClr val="0B6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60"/>
  </p:normalViewPr>
  <p:slideViewPr>
    <p:cSldViewPr snapToGrid="0">
      <p:cViewPr varScale="1">
        <p:scale>
          <a:sx n="64" d="100"/>
          <a:sy n="64" d="100"/>
        </p:scale>
        <p:origin x="6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D2684-37C6-427D-A789-BC784710A539}" type="datetimeFigureOut">
              <a:rPr lang="en-US" smtClean="0"/>
              <a:t>3/13/2024</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1E153-059A-4831-B872-68D448D0B38F}" type="slidenum">
              <a:rPr lang="en-US" smtClean="0"/>
              <a:t>‹N°›</a:t>
            </a:fld>
            <a:endParaRPr lang="en-US"/>
          </a:p>
        </p:txBody>
      </p:sp>
    </p:spTree>
    <p:extLst>
      <p:ext uri="{BB962C8B-B14F-4D97-AF65-F5344CB8AC3E}">
        <p14:creationId xmlns:p14="http://schemas.microsoft.com/office/powerpoint/2010/main" val="371167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F2560F38-C9AE-4D77-A95C-8ABF16F766A3}" type="datetime1">
              <a:rPr lang="en-US" smtClean="0"/>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814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01760EA-96A2-4377-9E71-DF4FC4176FE9}" type="datetime1">
              <a:rPr lang="en-US" smtClean="0"/>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81155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92A7F3D-7B9A-4C97-89DB-A2E2E031D79D}" type="datetime1">
              <a:rPr lang="en-US" smtClean="0"/>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35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1615AD0-642D-4333-A21E-555EB6BA133F}" type="datetime1">
              <a:rPr lang="en-US" smtClean="0"/>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68479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97280" y="2582335"/>
            <a:ext cx="493776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920" y="2582334"/>
            <a:ext cx="493776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28521FD-328D-420B-A334-100151A7F1B4}" type="datetime1">
              <a:rPr lang="en-US" smtClean="0"/>
              <a:t>3/13/2024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2089379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4AD4BFA-F23D-4CEF-A401-876E7839B6D2}" type="datetime1">
              <a:rPr lang="en-US" smtClean="0"/>
              <a:t>3/13/2024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4164261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B91596E-5750-4B26-A31D-9383A0F16FC9}" type="datetime1">
              <a:rPr lang="en-US" smtClean="0"/>
              <a:t>3/13/2024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160486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AED8990-F4DA-46D7-8527-01686EFE815F}" type="datetime1">
              <a:rPr lang="en-US" smtClean="0"/>
              <a:t>3/13/2024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2D09504-E352-447E-8708-9E29931D3037}" type="slidenum">
              <a:rPr lang="en-US" smtClean="0"/>
              <a:t>‹N°›</a:t>
            </a:fld>
            <a:endParaRPr lang="en-US"/>
          </a:p>
        </p:txBody>
      </p:sp>
    </p:spTree>
    <p:extLst>
      <p:ext uri="{BB962C8B-B14F-4D97-AF65-F5344CB8AC3E}">
        <p14:creationId xmlns:p14="http://schemas.microsoft.com/office/powerpoint/2010/main" val="414802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295A72D-F3B4-489A-94E0-28182BAE299B}" type="datetime1">
              <a:rPr lang="en-US" smtClean="0"/>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209930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7288F3-EBFB-4E9A-8AAC-62E662C55C03}" type="datetime1">
              <a:rPr lang="en-US" smtClean="0"/>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01029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27EA1C-FB7B-42BD-8156-51E079B019C1}" type="datetime1">
              <a:rPr lang="en-US" smtClean="0"/>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3538393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6471AB0-4FC5-4B4D-B6CC-558062AC61D8}" type="datetime1">
              <a:rPr lang="en-US" smtClean="0"/>
              <a:t>3/13/2024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2D09504-E352-447E-8708-9E29931D3037}" type="slidenum">
              <a:rPr lang="en-US" smtClean="0"/>
              <a:t>‹N°›</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740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oleObject" Target="../embeddings/oleObject4.bin"/><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e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9.emf"/></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660A4B8-720E-E2D1-A91D-B849E18A7155}"/>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A16AA9BB-5949-6F3D-0C2B-315E84D772F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E5D2252B-838F-2BEF-6BEC-D4408755D292}"/>
              </a:ext>
            </a:extLst>
          </p:cNvPr>
          <p:cNvSpPr>
            <a:spLocks noGrp="1"/>
          </p:cNvSpPr>
          <p:nvPr>
            <p:ph type="sldNum" sz="quarter" idx="12"/>
          </p:nvPr>
        </p:nvSpPr>
        <p:spPr>
          <a:xfrm>
            <a:off x="5947584" y="6419850"/>
            <a:ext cx="29683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B11191D2-27DC-3168-DA2D-5A29342E0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490"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Titre 4">
            <a:extLst>
              <a:ext uri="{FF2B5EF4-FFF2-40B4-BE49-F238E27FC236}">
                <a16:creationId xmlns:a16="http://schemas.microsoft.com/office/drawing/2014/main" id="{6DDA8709-2EBD-4C39-3385-AA731F49981F}"/>
              </a:ext>
            </a:extLst>
          </p:cNvPr>
          <p:cNvSpPr txBox="1">
            <a:spLocks/>
          </p:cNvSpPr>
          <p:nvPr/>
        </p:nvSpPr>
        <p:spPr>
          <a:xfrm>
            <a:off x="1066800" y="2254468"/>
            <a:ext cx="10058400" cy="3050957"/>
          </a:xfrm>
          <a:prstGeom prst="rect">
            <a:avLst/>
          </a:prstGeom>
        </p:spPr>
        <p:style>
          <a:lnRef idx="2">
            <a:schemeClr val="accent2"/>
          </a:lnRef>
          <a:fillRef idx="1">
            <a:schemeClr val="lt1"/>
          </a:fillRef>
          <a:effectRef idx="0">
            <a:schemeClr val="accent2"/>
          </a:effectRef>
          <a:fontRef idx="minor">
            <a:schemeClr val="dk1"/>
          </a:fontRef>
        </p:style>
        <p:txBody>
          <a:bodyPr>
            <a:normAutofit fontScale="97500" lnSpcReduction="10000"/>
          </a:bodyPr>
          <a:lstStyle>
            <a:lvl1pPr algn="l" defTabSz="914400" rtl="0" eaLnBrk="1" latinLnBrk="0" hangingPunct="1">
              <a:lnSpc>
                <a:spcPct val="85000"/>
              </a:lnSpc>
              <a:spcBef>
                <a:spcPct val="0"/>
              </a:spcBef>
              <a:buNone/>
              <a:defRPr sz="4800" kern="1200" spc="-50"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Cours de Chimie Organique Générale</a:t>
            </a: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Filière: PC-Physique</a:t>
            </a: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Module: M127</a:t>
            </a:r>
            <a:endParaRPr lang="en-US"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9436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DAC2-4773-7B03-0328-68AF51669C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5A373CB-3CD0-AC03-0925-7D458C29938D}"/>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E5F5200A-36B5-C4DD-9F4A-DBFB086BC048}"/>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5FC7AACE-EA5B-4A63-E5CC-3E95C9DE3934}"/>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D54EB2C-229D-C60C-AB22-DD69ADC96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191E7D58-D590-606B-A557-90813AF334E9}"/>
              </a:ext>
            </a:extLst>
          </p:cNvPr>
          <p:cNvSpPr txBox="1"/>
          <p:nvPr/>
        </p:nvSpPr>
        <p:spPr>
          <a:xfrm>
            <a:off x="541021" y="2186128"/>
            <a:ext cx="11109959" cy="2485745"/>
          </a:xfrm>
          <a:prstGeom prst="rect">
            <a:avLst/>
          </a:prstGeom>
          <a:noFill/>
        </p:spPr>
        <p:txBody>
          <a:bodyPr wrap="square" rtlCol="0">
            <a:spAutoFit/>
          </a:bodyPr>
          <a:lstStyle/>
          <a:p>
            <a:pPr algn="ctr">
              <a:lnSpc>
                <a:spcPct val="150000"/>
              </a:lnSpc>
            </a:pPr>
            <a:r>
              <a:rPr lang="fr-MA" sz="3600" b="1" dirty="0">
                <a:solidFill>
                  <a:srgbClr val="000099"/>
                </a:solidFill>
                <a:latin typeface="Times New Roman" panose="02020603050405020304" pitchFamily="18" charset="0"/>
                <a:cs typeface="Times New Roman" panose="02020603050405020304" pitchFamily="18" charset="0"/>
              </a:rPr>
              <a:t>Chapitre 3: </a:t>
            </a:r>
          </a:p>
          <a:p>
            <a:pPr algn="ctr">
              <a:lnSpc>
                <a:spcPct val="150000"/>
              </a:lnSpc>
            </a:pPr>
            <a:r>
              <a:rPr lang="fr-MA" sz="3600" b="1" dirty="0">
                <a:solidFill>
                  <a:srgbClr val="000099"/>
                </a:solidFill>
                <a:latin typeface="Times New Roman" panose="02020603050405020304" pitchFamily="18" charset="0"/>
                <a:cs typeface="Times New Roman" panose="02020603050405020304" pitchFamily="18" charset="0"/>
              </a:rPr>
              <a:t>PRINCIPALES REGLES DE NOMENCLATURE DES COMPOSES ORGANIQUES</a:t>
            </a:r>
          </a:p>
        </p:txBody>
      </p:sp>
    </p:spTree>
    <p:extLst>
      <p:ext uri="{BB962C8B-B14F-4D97-AF65-F5344CB8AC3E}">
        <p14:creationId xmlns:p14="http://schemas.microsoft.com/office/powerpoint/2010/main" val="985841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EBC8C-0015-686C-0014-B8E9E9F119E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C4EA63D-6E6E-E9BE-E308-18E816E8B87A}"/>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3AF8FB06-BD7F-12A5-E22B-E359CA21A74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1EE812D3-79DC-21AA-FA78-B8BA7CDD53D2}"/>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DE25BE6D-5E81-63BD-D82F-E4CDF34FE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D9CF3FDE-B871-ABB1-811E-AD0DB41F2DA6}"/>
              </a:ext>
            </a:extLst>
          </p:cNvPr>
          <p:cNvSpPr txBox="1"/>
          <p:nvPr/>
        </p:nvSpPr>
        <p:spPr>
          <a:xfrm>
            <a:off x="738850" y="1137523"/>
            <a:ext cx="9838662" cy="3602525"/>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	Nomenclature en chimie organique</a:t>
            </a:r>
          </a:p>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a:p>
            <a:pPr indent="625475">
              <a:lnSpc>
                <a:spcPct val="150000"/>
              </a:lnSpc>
              <a:spcAft>
                <a:spcPts val="800"/>
              </a:spcAft>
            </a:pPr>
            <a:r>
              <a:rPr lang="fr-MA" b="1" kern="100" dirty="0">
                <a:latin typeface="Times New Roman" panose="02020603050405020304" pitchFamily="18" charset="0"/>
                <a:cs typeface="Arial" panose="020B0604020202020204" pitchFamily="34" charset="0"/>
              </a:rPr>
              <a:t>IV. 1.	Fonctions simples</a:t>
            </a:r>
          </a:p>
          <a:p>
            <a:pPr indent="625475">
              <a:lnSpc>
                <a:spcPct val="150000"/>
              </a:lnSpc>
              <a:spcAft>
                <a:spcPts val="800"/>
              </a:spcAft>
            </a:pPr>
            <a:r>
              <a:rPr lang="fr-MA" b="1" kern="100" dirty="0">
                <a:latin typeface="Times New Roman" panose="02020603050405020304" pitchFamily="18" charset="0"/>
                <a:cs typeface="Arial" panose="020B0604020202020204" pitchFamily="34" charset="0"/>
              </a:rPr>
              <a:t>IV. 2.	Fonctions multiples</a:t>
            </a:r>
          </a:p>
        </p:txBody>
      </p:sp>
      <p:sp>
        <p:nvSpPr>
          <p:cNvPr id="8" name="ZoneTexte 7">
            <a:extLst>
              <a:ext uri="{FF2B5EF4-FFF2-40B4-BE49-F238E27FC236}">
                <a16:creationId xmlns:a16="http://schemas.microsoft.com/office/drawing/2014/main" id="{29CEB35E-1390-D04B-F549-8113232585F5}"/>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Tree>
    <p:extLst>
      <p:ext uri="{BB962C8B-B14F-4D97-AF65-F5344CB8AC3E}">
        <p14:creationId xmlns:p14="http://schemas.microsoft.com/office/powerpoint/2010/main" val="16982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584252"/>
            <a:ext cx="6281530" cy="579967"/>
          </a:xfrm>
          <a:prstGeom prst="rect">
            <a:avLst/>
          </a:prstGeom>
          <a:noFill/>
        </p:spPr>
        <p:txBody>
          <a:bodyPr wrap="square">
            <a:spAutoFit/>
          </a:bodyPr>
          <a:lstStyle/>
          <a:p>
            <a:pPr>
              <a:lnSpc>
                <a:spcPct val="150000"/>
              </a:lnSpc>
              <a:spcAft>
                <a:spcPts val="800"/>
              </a:spcAft>
              <a:tabLst>
                <a:tab pos="447675"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	Nomenclature en chimie organique</a:t>
            </a:r>
          </a:p>
        </p:txBody>
      </p:sp>
      <p:sp>
        <p:nvSpPr>
          <p:cNvPr id="7" name="ZoneTexte 6">
            <a:extLst>
              <a:ext uri="{FF2B5EF4-FFF2-40B4-BE49-F238E27FC236}">
                <a16:creationId xmlns:a16="http://schemas.microsoft.com/office/drawing/2014/main" id="{511FF84D-0E67-817B-6E66-D9A928F2B7DB}"/>
              </a:ext>
            </a:extLst>
          </p:cNvPr>
          <p:cNvSpPr txBox="1"/>
          <p:nvPr/>
        </p:nvSpPr>
        <p:spPr>
          <a:xfrm>
            <a:off x="337930" y="1411842"/>
            <a:ext cx="11261035" cy="4407681"/>
          </a:xfrm>
          <a:prstGeom prst="rect">
            <a:avLst/>
          </a:prstGeom>
          <a:noFill/>
        </p:spPr>
        <p:txBody>
          <a:bodyPr wrap="square">
            <a:spAutoFit/>
          </a:bodyPr>
          <a:lstStyle/>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L'Union Internationale de Chimie Pure et Appliquée </a:t>
            </a: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(IUPAC)</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 a été responsable de l'élaboration des règles de nomenclature chimique depuis 1965. </a:t>
            </a:r>
            <a:endParaRPr lang="fr-FR" kern="1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En 2014, l'IUPAC a introduit de nouvelles directives pour l'attribution des  la nomenclature préféré de l’IUPAC  (</a:t>
            </a:r>
            <a:r>
              <a:rPr lang="fr-FR" sz="1800" b="1" kern="100" dirty="0" err="1">
                <a:effectLst/>
                <a:latin typeface="Times New Roman" panose="02020603050405020304" pitchFamily="18" charset="0"/>
                <a:ea typeface="Calibri" panose="020F0502020204030204" pitchFamily="34" charset="0"/>
                <a:cs typeface="Arial" panose="020B0604020202020204" pitchFamily="34" charset="0"/>
              </a:rPr>
              <a:t>P</a:t>
            </a:r>
            <a:r>
              <a:rPr lang="fr-FR" sz="1800" kern="100" dirty="0" err="1">
                <a:effectLst/>
                <a:latin typeface="Times New Roman" panose="02020603050405020304" pitchFamily="18" charset="0"/>
                <a:ea typeface="Calibri" panose="020F0502020204030204" pitchFamily="34" charset="0"/>
                <a:cs typeface="Arial" panose="020B0604020202020204" pitchFamily="34" charset="0"/>
              </a:rPr>
              <a:t>referred</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I</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UPAC </a:t>
            </a:r>
            <a:r>
              <a:rPr lang="fr-FR" sz="1800" b="1" kern="100" dirty="0" err="1">
                <a:effectLst/>
                <a:latin typeface="Times New Roman" panose="02020603050405020304" pitchFamily="18" charset="0"/>
                <a:ea typeface="Calibri" panose="020F0502020204030204" pitchFamily="34" charset="0"/>
                <a:cs typeface="Arial" panose="020B0604020202020204" pitchFamily="34" charset="0"/>
              </a:rPr>
              <a:t>N</a:t>
            </a:r>
            <a:r>
              <a:rPr lang="fr-FR" sz="1800" kern="100" dirty="0" err="1">
                <a:effectLst/>
                <a:latin typeface="Times New Roman" panose="02020603050405020304" pitchFamily="18" charset="0"/>
                <a:ea typeface="Calibri" panose="020F0502020204030204" pitchFamily="34" charset="0"/>
                <a:cs typeface="Arial" panose="020B0604020202020204" pitchFamily="34" charset="0"/>
              </a:rPr>
              <a:t>ames</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PIN</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Les modifications les plus significatives apportées au PIN comprennent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chaîne principale est déterminée par le nombre maximal de carbones plutôt que par le nombre d'insaturations.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chaîne principale doit contenir la fonction principale et le plus grand nombre de carbones, et non le maximum de fonctions.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La nomenclature systématique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Wingdings" panose="05000000000000000000" pitchFamily="2" charset="2"/>
              <a:buChar char=""/>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Identifier le nom d'une molécule en connaissant sa structure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Wingdings" panose="05000000000000000000" pitchFamily="2" charset="2"/>
              <a:buChar char=""/>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Trouver la structure d'une molécule en connaissant son nom.</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2F01D687-5E25-1950-BE8C-D7ABAFA4582A}"/>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Tree>
    <p:extLst>
      <p:ext uri="{BB962C8B-B14F-4D97-AF65-F5344CB8AC3E}">
        <p14:creationId xmlns:p14="http://schemas.microsoft.com/office/powerpoint/2010/main" val="1937628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E3BD-DCAD-804B-EF3F-24091C46E72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768839A-31F8-FD3A-CD86-E8301E028A4E}"/>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92AFF7D7-4DDA-BEE7-6EB7-AB2B0E10EC75}"/>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EB865422-6728-2DE9-2026-E04A9CA33D58}"/>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8767081C-992A-BC36-7401-0D1750554B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059BB07-382A-7095-6E9A-AF55DB17C735}"/>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30388428-AF24-9948-75AF-DAD438DCADE8}"/>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73685100-016A-07FD-2234-60DD1EC88B92}"/>
              </a:ext>
            </a:extLst>
          </p:cNvPr>
          <p:cNvSpPr>
            <a:spLocks noChangeArrowheads="1"/>
          </p:cNvSpPr>
          <p:nvPr/>
        </p:nvSpPr>
        <p:spPr bwMode="auto">
          <a:xfrm>
            <a:off x="1535140" y="1227177"/>
            <a:ext cx="33287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1.	Alcanes à chaîne linéaire</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4" name="ZoneTexte 13">
            <a:extLst>
              <a:ext uri="{FF2B5EF4-FFF2-40B4-BE49-F238E27FC236}">
                <a16:creationId xmlns:a16="http://schemas.microsoft.com/office/drawing/2014/main" id="{ABE4A1A6-8415-36B3-5A4D-0DF37B620B97}"/>
              </a:ext>
            </a:extLst>
          </p:cNvPr>
          <p:cNvSpPr txBox="1"/>
          <p:nvPr/>
        </p:nvSpPr>
        <p:spPr>
          <a:xfrm>
            <a:off x="813815" y="1596509"/>
            <a:ext cx="10814967" cy="39068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alcanes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
            </a:r>
            <a:r>
              <a:rPr lang="fr-FR" sz="1800" b="1"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a:t>
            </a:r>
            <a:r>
              <a:rPr lang="fr-FR" sz="1800" b="1"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2n+2</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se termine par le suffixe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406" name="Picture 382" descr="Aucune description de photo disponible.">
            <a:extLst>
              <a:ext uri="{FF2B5EF4-FFF2-40B4-BE49-F238E27FC236}">
                <a16:creationId xmlns:a16="http://schemas.microsoft.com/office/drawing/2014/main" id="{431D72AF-0079-EAF8-D99B-C0F89ED2D3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673" b="4846"/>
          <a:stretch/>
        </p:blipFill>
        <p:spPr bwMode="auto">
          <a:xfrm>
            <a:off x="2179982" y="2028799"/>
            <a:ext cx="6904383" cy="42193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7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0A1A-BDC6-98F3-5062-BA0EAE49270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3CF310E-E881-FB62-F303-34401AD9F2DE}"/>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0A229685-60D5-FF45-5BE7-E72AE1527B79}"/>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0FFDBE2B-15B6-8D15-8E95-57C1F33F55CE}"/>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E2F3DC01-0555-6E78-9BE6-74266F55C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FDD0164A-4CA9-C12A-B703-6499A79F9DB4}"/>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7DBE350E-3956-87AC-840F-5A5B6D084133}"/>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592C9768-A6EE-1875-A549-9BEF173785FC}"/>
              </a:ext>
            </a:extLst>
          </p:cNvPr>
          <p:cNvSpPr>
            <a:spLocks noChangeArrowheads="1"/>
          </p:cNvSpPr>
          <p:nvPr/>
        </p:nvSpPr>
        <p:spPr bwMode="auto">
          <a:xfrm>
            <a:off x="1535140" y="1227177"/>
            <a:ext cx="33287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1.	Alcanes à chaîne linéaire</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4" name="ZoneTexte 13">
            <a:extLst>
              <a:ext uri="{FF2B5EF4-FFF2-40B4-BE49-F238E27FC236}">
                <a16:creationId xmlns:a16="http://schemas.microsoft.com/office/drawing/2014/main" id="{569EAEED-9952-83AB-CB82-D8D395F308B8}"/>
              </a:ext>
            </a:extLst>
          </p:cNvPr>
          <p:cNvSpPr txBox="1"/>
          <p:nvPr/>
        </p:nvSpPr>
        <p:spPr>
          <a:xfrm>
            <a:off x="813816" y="2010646"/>
            <a:ext cx="4057650" cy="1050605"/>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Pour nommer un alkyle (substituants), il suffit de remplacer la terminaison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par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yle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Image 6">
            <a:extLst>
              <a:ext uri="{FF2B5EF4-FFF2-40B4-BE49-F238E27FC236}">
                <a16:creationId xmlns:a16="http://schemas.microsoft.com/office/drawing/2014/main" id="{98400EBA-6738-3D38-FA6F-7BF08168074E}"/>
              </a:ext>
            </a:extLst>
          </p:cNvPr>
          <p:cNvPicPr>
            <a:picLocks noChangeAspect="1"/>
          </p:cNvPicPr>
          <p:nvPr/>
        </p:nvPicPr>
        <p:blipFill rotWithShape="1">
          <a:blip r:embed="rId3"/>
          <a:srcRect r="26614" b="6679"/>
          <a:stretch/>
        </p:blipFill>
        <p:spPr>
          <a:xfrm>
            <a:off x="5306975" y="1227177"/>
            <a:ext cx="5626068" cy="5094853"/>
          </a:xfrm>
          <a:prstGeom prst="rect">
            <a:avLst/>
          </a:prstGeom>
        </p:spPr>
      </p:pic>
    </p:spTree>
    <p:extLst>
      <p:ext uri="{BB962C8B-B14F-4D97-AF65-F5344CB8AC3E}">
        <p14:creationId xmlns:p14="http://schemas.microsoft.com/office/powerpoint/2010/main" val="2999248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DDAC6-30C5-673E-EA5F-C4F77925721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FE7BBE1-3F51-82D0-67A6-633F02F6ACE0}"/>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C5046C7-8ECE-4FA7-24CE-425F6EF6F3B4}"/>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186CC787-9ED9-7A6E-6FF6-CC3E115DD0A9}"/>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E1D4CD19-BD04-CDD7-31E8-CED60BCE7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9DDB4961-9BFB-D385-97BB-A78D19B2B300}"/>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981006C2-A573-79E0-A5E6-E14650BC2B5C}"/>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DB5317F7-8553-D93A-CEBB-FF7A77F6CCD8}"/>
              </a:ext>
            </a:extLst>
          </p:cNvPr>
          <p:cNvSpPr>
            <a:spLocks noChangeArrowheads="1"/>
          </p:cNvSpPr>
          <p:nvPr/>
        </p:nvSpPr>
        <p:spPr bwMode="auto">
          <a:xfrm>
            <a:off x="1535140" y="1227177"/>
            <a:ext cx="34099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2.	Alcanes à chaîne ramifiée</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989E3333-1A6A-2510-3484-7A906E34E0DE}"/>
              </a:ext>
            </a:extLst>
          </p:cNvPr>
          <p:cNvSpPr txBox="1"/>
          <p:nvPr/>
        </p:nvSpPr>
        <p:spPr>
          <a:xfrm>
            <a:off x="190500" y="1467302"/>
            <a:ext cx="11810999" cy="4756687"/>
          </a:xfrm>
          <a:prstGeom prst="rect">
            <a:avLst/>
          </a:prstGeom>
          <a:noFill/>
        </p:spPr>
        <p:txBody>
          <a:bodyPr wrap="square">
            <a:spAutoFit/>
          </a:bodyPr>
          <a:lstStyle/>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a:t>
            </a:r>
            <a:r>
              <a:rPr lang="fr-FR" sz="1600" b="1"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n°l</a:t>
            </a: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L’hydrocarbure prend le nom de la chaine principale qui est la plus longue chaîne présente dans la formule.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n°2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S’il existe plusieurs enchaînements de même longueur, on choisit comme chaîne principale celle qui comporte le plus grand nombre de ramifications.</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n°3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numérote cette chaîne à partir de l’extrémité la plus proche des ramifications. Le sens de la numérotation est choisi de façon à obtenir l’ensemble de "plus bas indice". Cet ensemble est celui qui comporte l’indice le plus bas dès qu’apparaît la première différence.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n°4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Lorsque les indices de numérotation sont les mêmes dans les deux sens, on attribut l’indice le plus petit au premier nommé par ordre alphabétique.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n°5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range les substituants par ordre alphabétique avant le nom de l’hydrocarbure. Chaque substituant est précédé du numéro du carbone qui le porte. La voyelle terminale des noms des substituants est supprimée.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n°6 :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Lorsqu'une molécule contient un même substituant en plusieurs exemplaires, on fait précéder le nom de celui-ci par un préfixe multiplicatif, di, tri, </a:t>
            </a:r>
            <a:r>
              <a:rPr lang="fr-FR" sz="16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térta</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positions d'attache de ces substituants sur la chaîne principale sont indiquées par des numéros séparés par des virgules.</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6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Attention </a:t>
            </a:r>
            <a:r>
              <a:rPr lang="fr-FR" sz="1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les préfixes multiplicatifs et autres (tertio et sec) ne sont pas pris en compte dans l'ordre alphabétique, contrairement aux préfixes </a:t>
            </a:r>
            <a:r>
              <a:rPr lang="fr-FR" sz="16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iso</a:t>
            </a:r>
            <a:r>
              <a:rPr lang="fr-FR" sz="1600" i="1"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 </a:t>
            </a:r>
            <a:r>
              <a:rPr lang="fr-FR" sz="16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néo et cyclo.</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59544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ED98B-D096-F6B6-245E-3FB20AF9770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1AA6F9B-B05F-E18D-40B9-1D226B86C599}"/>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7DA21CC5-AE4C-FC13-5321-BE9D6F43071B}"/>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D4ED192-53D7-45CA-C9F7-2BB2523F88F3}"/>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5A65AC5-E818-3785-6D7E-59C0664052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8DBC7C4-BB79-0200-541D-E27CA79A6B92}"/>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A7C4477B-96B3-D79F-76FC-9EEE5A4CDFE7}"/>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BBFB189A-AB8E-530E-1F05-940367ACB397}"/>
              </a:ext>
            </a:extLst>
          </p:cNvPr>
          <p:cNvSpPr>
            <a:spLocks noChangeArrowheads="1"/>
          </p:cNvSpPr>
          <p:nvPr/>
        </p:nvSpPr>
        <p:spPr bwMode="auto">
          <a:xfrm>
            <a:off x="1535140" y="1227177"/>
            <a:ext cx="34099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2.	Alcanes à chaîne ramifiée</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au 4">
            <a:extLst>
              <a:ext uri="{FF2B5EF4-FFF2-40B4-BE49-F238E27FC236}">
                <a16:creationId xmlns:a16="http://schemas.microsoft.com/office/drawing/2014/main" id="{69512541-6F6F-4AF4-22C4-648C7D680B1E}"/>
              </a:ext>
            </a:extLst>
          </p:cNvPr>
          <p:cNvGraphicFramePr>
            <a:graphicFrameLocks noGrp="1"/>
          </p:cNvGraphicFramePr>
          <p:nvPr>
            <p:extLst>
              <p:ext uri="{D42A27DB-BD31-4B8C-83A1-F6EECF244321}">
                <p14:modId xmlns:p14="http://schemas.microsoft.com/office/powerpoint/2010/main" val="3073642136"/>
              </p:ext>
            </p:extLst>
          </p:nvPr>
        </p:nvGraphicFramePr>
        <p:xfrm>
          <a:off x="1236000" y="2386318"/>
          <a:ext cx="9720000" cy="3313421"/>
        </p:xfrm>
        <a:graphic>
          <a:graphicData uri="http://schemas.openxmlformats.org/drawingml/2006/table">
            <a:tbl>
              <a:tblPr firstRow="1" firstCol="1" bandRow="1">
                <a:tableStyleId>{BC89EF96-8CEA-46FF-86C4-4CE0E7609802}</a:tableStyleId>
              </a:tblPr>
              <a:tblGrid>
                <a:gridCol w="3240000">
                  <a:extLst>
                    <a:ext uri="{9D8B030D-6E8A-4147-A177-3AD203B41FA5}">
                      <a16:colId xmlns:a16="http://schemas.microsoft.com/office/drawing/2014/main" val="891294482"/>
                    </a:ext>
                  </a:extLst>
                </a:gridCol>
                <a:gridCol w="3240000">
                  <a:extLst>
                    <a:ext uri="{9D8B030D-6E8A-4147-A177-3AD203B41FA5}">
                      <a16:colId xmlns:a16="http://schemas.microsoft.com/office/drawing/2014/main" val="561540629"/>
                    </a:ext>
                  </a:extLst>
                </a:gridCol>
                <a:gridCol w="3240000">
                  <a:extLst>
                    <a:ext uri="{9D8B030D-6E8A-4147-A177-3AD203B41FA5}">
                      <a16:colId xmlns:a16="http://schemas.microsoft.com/office/drawing/2014/main" val="1134147270"/>
                    </a:ext>
                  </a:extLst>
                </a:gridCol>
              </a:tblGrid>
              <a:tr h="3313421">
                <a:tc>
                  <a:txBody>
                    <a:bodyPr/>
                    <a:lstStyle/>
                    <a:p>
                      <a:pPr algn="ctr">
                        <a:lnSpc>
                          <a:spcPct val="150000"/>
                        </a:lnSpc>
                        <a:spcAft>
                          <a:spcPts val="1200"/>
                        </a:spcAft>
                      </a:pPr>
                      <a:endParaRPr lang="en-US" sz="1100" kern="10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spcAft>
                          <a:spcPts val="1200"/>
                        </a:spcAft>
                      </a:pPr>
                      <a:r>
                        <a:rPr lang="fr-FR" sz="1600" kern="100" dirty="0">
                          <a:solidFill>
                            <a:schemeClr val="tx1"/>
                          </a:solidFill>
                          <a:effectLst/>
                          <a:latin typeface="Times New Roman" panose="02020603050405020304" pitchFamily="18" charset="0"/>
                          <a:cs typeface="Times New Roman" panose="02020603050405020304" pitchFamily="18" charset="0"/>
                        </a:rPr>
                        <a:t>2,6-diméthyloctane</a:t>
                      </a:r>
                    </a:p>
                    <a:p>
                      <a:pPr algn="ctr">
                        <a:lnSpc>
                          <a:spcPct val="150000"/>
                        </a:lnSpc>
                        <a:spcAft>
                          <a:spcPts val="1200"/>
                        </a:spcAft>
                      </a:pP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50000"/>
                        </a:lnSpc>
                        <a:spcAft>
                          <a:spcPts val="1200"/>
                        </a:spcAft>
                      </a:pPr>
                      <a:endParaRPr lang="en-US" sz="1100" kern="10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spcAft>
                          <a:spcPts val="1200"/>
                        </a:spcAft>
                      </a:pPr>
                      <a:r>
                        <a:rPr lang="fr-FR" sz="1200" kern="100" dirty="0">
                          <a:solidFill>
                            <a:schemeClr val="tx1"/>
                          </a:solidFill>
                          <a:effectLst/>
                          <a:latin typeface="Times New Roman" panose="02020603050405020304" pitchFamily="18" charset="0"/>
                          <a:cs typeface="Times New Roman" panose="02020603050405020304" pitchFamily="18" charset="0"/>
                        </a:rPr>
                        <a:t> </a:t>
                      </a:r>
                      <a:endParaRPr lang="en-US" sz="1100" kern="100" dirty="0">
                        <a:solidFill>
                          <a:schemeClr val="tx1"/>
                        </a:solidFill>
                        <a:effectLst/>
                        <a:latin typeface="Times New Roman" panose="02020603050405020304" pitchFamily="18" charset="0"/>
                        <a:cs typeface="Times New Roman" panose="02020603050405020304" pitchFamily="18" charset="0"/>
                      </a:endParaRPr>
                    </a:p>
                    <a:p>
                      <a:pPr marL="0" algn="ctr" defTabSz="914400" rtl="0" eaLnBrk="1" latinLnBrk="0" hangingPunct="1">
                        <a:lnSpc>
                          <a:spcPct val="150000"/>
                        </a:lnSpc>
                        <a:spcAft>
                          <a:spcPts val="1200"/>
                        </a:spcAft>
                      </a:pPr>
                      <a:r>
                        <a:rPr lang="fr-FR" sz="1600" b="1" kern="100" dirty="0">
                          <a:solidFill>
                            <a:schemeClr val="tx1"/>
                          </a:solidFill>
                          <a:effectLst/>
                          <a:latin typeface="Times New Roman" panose="02020603050405020304" pitchFamily="18" charset="0"/>
                          <a:cs typeface="Times New Roman" panose="02020603050405020304" pitchFamily="18" charset="0"/>
                        </a:rPr>
                        <a:t>3-éthyl-2,4,7-triméthylnonane</a:t>
                      </a:r>
                    </a:p>
                    <a:p>
                      <a:pPr algn="ctr">
                        <a:lnSpc>
                          <a:spcPct val="150000"/>
                        </a:lnSpc>
                        <a:spcAft>
                          <a:spcPts val="1200"/>
                        </a:spcAft>
                      </a:pP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50000"/>
                        </a:lnSpc>
                        <a:spcAft>
                          <a:spcPts val="1200"/>
                        </a:spcAft>
                      </a:pPr>
                      <a:endParaRPr lang="en-US" sz="1100" kern="100" dirty="0">
                        <a:solidFill>
                          <a:schemeClr val="tx1"/>
                        </a:solidFill>
                        <a:effectLst/>
                        <a:latin typeface="Times New Roman" panose="02020603050405020304" pitchFamily="18" charset="0"/>
                        <a:cs typeface="Times New Roman" panose="02020603050405020304" pitchFamily="18" charset="0"/>
                      </a:endParaRPr>
                    </a:p>
                    <a:p>
                      <a:pPr marL="0" algn="ctr" defTabSz="914400" rtl="0" eaLnBrk="1" latinLnBrk="0" hangingPunct="1">
                        <a:lnSpc>
                          <a:spcPct val="150000"/>
                        </a:lnSpc>
                        <a:spcAft>
                          <a:spcPts val="1200"/>
                        </a:spcAft>
                      </a:pPr>
                      <a:r>
                        <a:rPr lang="fr-FR" sz="1600" b="1" kern="100" dirty="0">
                          <a:solidFill>
                            <a:schemeClr val="tx1"/>
                          </a:solidFill>
                          <a:effectLst/>
                          <a:latin typeface="Times New Roman" panose="02020603050405020304" pitchFamily="18" charset="0"/>
                          <a:cs typeface="Times New Roman" panose="02020603050405020304" pitchFamily="18" charset="0"/>
                        </a:rPr>
                        <a:t>3-éthyl-5-méthyl-4-propylheptane</a:t>
                      </a:r>
                    </a:p>
                    <a:p>
                      <a:pPr algn="ctr">
                        <a:lnSpc>
                          <a:spcPct val="150000"/>
                        </a:lnSpc>
                        <a:spcAft>
                          <a:spcPts val="1200"/>
                        </a:spcAft>
                      </a:pP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03962268"/>
                  </a:ext>
                </a:extLst>
              </a:tr>
            </a:tbl>
          </a:graphicData>
        </a:graphic>
      </p:graphicFrame>
      <p:pic>
        <p:nvPicPr>
          <p:cNvPr id="2051" name="Picture 3">
            <a:extLst>
              <a:ext uri="{FF2B5EF4-FFF2-40B4-BE49-F238E27FC236}">
                <a16:creationId xmlns:a16="http://schemas.microsoft.com/office/drawing/2014/main" id="{9325A920-B2F5-3CA3-B2C0-07C4F9EC1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79" r="60344" b="72205"/>
          <a:stretch>
            <a:fillRect/>
          </a:stretch>
        </p:blipFill>
        <p:spPr bwMode="auto">
          <a:xfrm>
            <a:off x="1794320" y="2982573"/>
            <a:ext cx="2225266" cy="12766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8A2DF8B4-ADDA-0E64-E195-324EFC0E0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3919" r="24071" b="72995"/>
          <a:stretch>
            <a:fillRect/>
          </a:stretch>
        </p:blipFill>
        <p:spPr bwMode="auto">
          <a:xfrm>
            <a:off x="4972978" y="2996148"/>
            <a:ext cx="2225266" cy="1168826"/>
          </a:xfrm>
          <a:prstGeom prst="rect">
            <a:avLst/>
          </a:prstGeom>
          <a:noFill/>
          <a:extLst>
            <a:ext uri="{909E8E84-426E-40DD-AFC4-6F175D3DCCD1}">
              <a14:hiddenFill xmlns:a14="http://schemas.microsoft.com/office/drawing/2010/main">
                <a:solidFill>
                  <a:srgbClr val="FFFFFF"/>
                </a:solidFill>
              </a14:hiddenFill>
            </a:ext>
          </a:extLst>
        </p:spPr>
      </p:pic>
      <p:pic>
        <p:nvPicPr>
          <p:cNvPr id="2049" name="Image 1">
            <a:extLst>
              <a:ext uri="{FF2B5EF4-FFF2-40B4-BE49-F238E27FC236}">
                <a16:creationId xmlns:a16="http://schemas.microsoft.com/office/drawing/2014/main" id="{D37F499A-4211-7A23-509B-0D695AA2A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19" t="41142" r="50777" b="13432"/>
          <a:stretch>
            <a:fillRect/>
          </a:stretch>
        </p:blipFill>
        <p:spPr bwMode="auto">
          <a:xfrm>
            <a:off x="8237642" y="2892027"/>
            <a:ext cx="2338361" cy="1491129"/>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AE8BA97E-15A4-946B-F551-FCA1839CC7AD}"/>
              </a:ext>
            </a:extLst>
          </p:cNvPr>
          <p:cNvSpPr txBox="1"/>
          <p:nvPr/>
        </p:nvSpPr>
        <p:spPr>
          <a:xfrm>
            <a:off x="826618" y="1714415"/>
            <a:ext cx="1439277" cy="369332"/>
          </a:xfrm>
          <a:prstGeom prst="rect">
            <a:avLst/>
          </a:prstGeom>
          <a:noFill/>
        </p:spPr>
        <p:txBody>
          <a:bodyPr wrap="square" rtlCol="0">
            <a:spAutoFit/>
          </a:bodyPr>
          <a:lstStyle/>
          <a:p>
            <a:r>
              <a:rPr lang="fr-FR" b="1" u="sng" dirty="0">
                <a:latin typeface="Times New Roman" panose="02020603050405020304" pitchFamily="18" charset="0"/>
                <a:cs typeface="Times New Roman" panose="02020603050405020304" pitchFamily="18" charset="0"/>
              </a:rPr>
              <a:t>Exemple</a:t>
            </a:r>
            <a:endParaRPr lang="en-US"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211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AD5A-51D7-773F-93A2-E9ACC9F38758}"/>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2CF531E-6C04-3504-7AF8-A4398291102C}"/>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A88FB362-F0DB-E1E2-967F-23CB09F471E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DF02B7B8-A8CB-F9B2-12C7-2BF592172035}"/>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635E5510-0010-99A5-4CCB-8D3482EC2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D42E932C-8838-1F53-B893-7C1A0F979397}"/>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380AE35D-8B3E-A12F-D3BA-45C799133E87}"/>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84A4D7A4-ECB7-3A2B-9EBC-B1725A4005A4}"/>
              </a:ext>
            </a:extLst>
          </p:cNvPr>
          <p:cNvSpPr>
            <a:spLocks noChangeArrowheads="1"/>
          </p:cNvSpPr>
          <p:nvPr/>
        </p:nvSpPr>
        <p:spPr bwMode="auto">
          <a:xfrm>
            <a:off x="1535140" y="1227177"/>
            <a:ext cx="2659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3.	Alcènes et alcynes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04094379-CB08-3EE3-AF1F-9DC9AC9A2489}"/>
              </a:ext>
            </a:extLst>
          </p:cNvPr>
          <p:cNvSpPr txBox="1"/>
          <p:nvPr/>
        </p:nvSpPr>
        <p:spPr>
          <a:xfrm>
            <a:off x="813815" y="1970258"/>
            <a:ext cx="10536671" cy="3133487"/>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Pour les nommer, on remplace la terminaison «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des alcanes par la terminaison «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éne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pour les alcènes ou «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yne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pour les alcynes.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Règle n°7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IUPAC</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La chaine principale est celle qui contient le plus d'insaturations.</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effectLst/>
                <a:latin typeface="Times New Roman" panose="02020603050405020304" pitchFamily="18" charset="0"/>
                <a:ea typeface="Calibri" panose="020F0502020204030204" pitchFamily="34" charset="0"/>
                <a:cs typeface="Arial" panose="020B0604020202020204" pitchFamily="34" charset="0"/>
              </a:rPr>
              <a:t>PIN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La chaine principale est celle qui contient le plus de carbones et non celle qui comporte le plus d'insaturations.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2111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28CA-D4A2-EB6E-A8A9-AE45B12265D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5C82621-6C14-FCFB-37BA-AE4614031BA5}"/>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4D7B033D-0067-25D0-BCCA-92FF8025002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27D4E702-FDF5-0950-4B1F-601D633FC4D6}"/>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8E937D3-2DA6-9D24-598F-F1BECBAD5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2BC0525-D6C4-2D3E-3A3C-16195EB659CB}"/>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B6EF1A92-FB8E-2E74-837C-176E62C9174F}"/>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A77F8860-C14A-69E3-FDB8-5C3377BFA97B}"/>
              </a:ext>
            </a:extLst>
          </p:cNvPr>
          <p:cNvSpPr>
            <a:spLocks noChangeArrowheads="1"/>
          </p:cNvSpPr>
          <p:nvPr/>
        </p:nvSpPr>
        <p:spPr bwMode="auto">
          <a:xfrm>
            <a:off x="1535140" y="1227177"/>
            <a:ext cx="2659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3.	Alcènes et alcynes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FCEB2F03-B4C7-BCAA-4A39-A33AEE947F5E}"/>
              </a:ext>
            </a:extLst>
          </p:cNvPr>
          <p:cNvSpPr txBox="1"/>
          <p:nvPr/>
        </p:nvSpPr>
        <p:spPr>
          <a:xfrm>
            <a:off x="822927" y="1659467"/>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1</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0" name="Tableau 9">
            <a:extLst>
              <a:ext uri="{FF2B5EF4-FFF2-40B4-BE49-F238E27FC236}">
                <a16:creationId xmlns:a16="http://schemas.microsoft.com/office/drawing/2014/main" id="{4A354107-4AEB-34CD-50E4-7A34705FEEF4}"/>
              </a:ext>
            </a:extLst>
          </p:cNvPr>
          <p:cNvGraphicFramePr>
            <a:graphicFrameLocks noGrp="1"/>
          </p:cNvGraphicFramePr>
          <p:nvPr>
            <p:extLst>
              <p:ext uri="{D42A27DB-BD31-4B8C-83A1-F6EECF244321}">
                <p14:modId xmlns:p14="http://schemas.microsoft.com/office/powerpoint/2010/main" val="2229028793"/>
              </p:ext>
            </p:extLst>
          </p:nvPr>
        </p:nvGraphicFramePr>
        <p:xfrm>
          <a:off x="1488019" y="2282761"/>
          <a:ext cx="9215962" cy="3889465"/>
        </p:xfrm>
        <a:graphic>
          <a:graphicData uri="http://schemas.openxmlformats.org/drawingml/2006/table">
            <a:tbl>
              <a:tblPr firstRow="1" firstCol="1" bandRow="1">
                <a:tableStyleId>{69012ECD-51FC-41F1-AA8D-1B2483CD663E}</a:tableStyleId>
              </a:tblPr>
              <a:tblGrid>
                <a:gridCol w="4607981">
                  <a:extLst>
                    <a:ext uri="{9D8B030D-6E8A-4147-A177-3AD203B41FA5}">
                      <a16:colId xmlns:a16="http://schemas.microsoft.com/office/drawing/2014/main" val="740380705"/>
                    </a:ext>
                  </a:extLst>
                </a:gridCol>
                <a:gridCol w="4607981">
                  <a:extLst>
                    <a:ext uri="{9D8B030D-6E8A-4147-A177-3AD203B41FA5}">
                      <a16:colId xmlns:a16="http://schemas.microsoft.com/office/drawing/2014/main" val="237966875"/>
                    </a:ext>
                  </a:extLst>
                </a:gridCol>
              </a:tblGrid>
              <a:tr h="366300">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de l’IUPAC</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R w="57150" cap="flat" cmpd="sng" algn="ctr">
                      <a:solidFill>
                        <a:schemeClr val="accent1">
                          <a:lumMod val="50000"/>
                        </a:schemeClr>
                      </a:solidFill>
                      <a:prstDash val="solid"/>
                      <a:round/>
                      <a:headEnd type="none" w="med" len="med"/>
                      <a:tailEnd type="none" w="med" len="med"/>
                    </a:lnR>
                    <a:noFill/>
                  </a:tcPr>
                </a:tc>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du PIN</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57150" cap="flat" cmpd="sng" algn="ctr">
                      <a:solidFill>
                        <a:schemeClr val="accent1">
                          <a:lumMod val="50000"/>
                        </a:schemeClr>
                      </a:solidFill>
                      <a:prstDash val="solid"/>
                      <a:round/>
                      <a:headEnd type="none" w="med" len="med"/>
                      <a:tailEnd type="none" w="med" len="med"/>
                    </a:lnL>
                    <a:noFill/>
                  </a:tcPr>
                </a:tc>
                <a:extLst>
                  <a:ext uri="{0D108BD9-81ED-4DB2-BD59-A6C34878D82A}">
                    <a16:rowId xmlns:a16="http://schemas.microsoft.com/office/drawing/2014/main" val="3211025395"/>
                  </a:ext>
                </a:extLst>
              </a:tr>
              <a:tr h="3523165">
                <a:tc>
                  <a:txBody>
                    <a:bodyPr/>
                    <a:lstStyle/>
                    <a:p>
                      <a:pPr algn="ctr">
                        <a:lnSpc>
                          <a:spcPct val="115000"/>
                        </a:lnSpc>
                        <a:spcAft>
                          <a:spcPts val="800"/>
                        </a:spcAft>
                      </a:pPr>
                      <a:endParaRPr lang="en-US" sz="14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r>
                        <a:rPr lang="fr-FR" sz="1600" b="0" kern="100" dirty="0">
                          <a:effectLst/>
                          <a:latin typeface="Times New Roman" panose="02020603050405020304" pitchFamily="18" charset="0"/>
                          <a:cs typeface="Times New Roman" panose="02020603050405020304" pitchFamily="18" charset="0"/>
                        </a:rPr>
                        <a:t> </a:t>
                      </a:r>
                      <a:endParaRPr lang="en-US" sz="14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endParaRPr lang="fr-FR"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endParaRPr lang="fr-FR"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r>
                        <a:rPr lang="fr-FR" sz="1600" b="0" kern="100" dirty="0">
                          <a:effectLst/>
                          <a:latin typeface="Times New Roman" panose="02020603050405020304" pitchFamily="18" charset="0"/>
                          <a:cs typeface="Times New Roman" panose="02020603050405020304" pitchFamily="18" charset="0"/>
                        </a:rPr>
                        <a:t>La chaîne principale est celle qui contient 6 atomes de carbone et la double liaison,</a:t>
                      </a:r>
                      <a:endParaRPr lang="en-US" sz="1600" b="0" kern="100" dirty="0">
                        <a:effectLst/>
                        <a:latin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fr-FR" sz="1600" b="0" kern="100" dirty="0">
                          <a:effectLst/>
                          <a:latin typeface="Times New Roman" panose="02020603050405020304" pitchFamily="18" charset="0"/>
                          <a:cs typeface="Times New Roman" panose="02020603050405020304" pitchFamily="18" charset="0"/>
                        </a:rPr>
                        <a:t>l'indice le plus petit pour la double liaison c'est un hex-1-éne.</a:t>
                      </a:r>
                      <a:endParaRPr lang="en-US" sz="1600" b="0" kern="100" dirty="0">
                        <a:effectLst/>
                        <a:latin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fr-FR" sz="1600" b="0" kern="100" dirty="0">
                          <a:effectLst/>
                          <a:latin typeface="Times New Roman" panose="02020603050405020304" pitchFamily="18" charset="0"/>
                          <a:cs typeface="Times New Roman" panose="02020603050405020304" pitchFamily="18" charset="0"/>
                        </a:rPr>
                        <a:t>un </a:t>
                      </a:r>
                      <a:r>
                        <a:rPr lang="fr-FR" sz="1600" b="0" kern="100" dirty="0" err="1">
                          <a:effectLst/>
                          <a:latin typeface="Times New Roman" panose="02020603050405020304" pitchFamily="18" charset="0"/>
                          <a:cs typeface="Times New Roman" panose="02020603050405020304" pitchFamily="18" charset="0"/>
                        </a:rPr>
                        <a:t>propyl</a:t>
                      </a:r>
                      <a:r>
                        <a:rPr lang="fr-FR" sz="1600" b="0" kern="100" dirty="0">
                          <a:effectLst/>
                          <a:latin typeface="Times New Roman" panose="02020603050405020304" pitchFamily="18" charset="0"/>
                          <a:cs typeface="Times New Roman" panose="02020603050405020304" pitchFamily="18" charset="0"/>
                        </a:rPr>
                        <a:t> en position 3</a:t>
                      </a:r>
                      <a:endParaRPr lang="en-US"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tabLst>
                          <a:tab pos="1620520" algn="l"/>
                        </a:tabLst>
                      </a:pPr>
                      <a:r>
                        <a:rPr lang="fr-FR" sz="1600" b="0" kern="100" dirty="0">
                          <a:effectLst/>
                          <a:latin typeface="Times New Roman" panose="02020603050405020304" pitchFamily="18" charset="0"/>
                          <a:cs typeface="Times New Roman" panose="02020603050405020304" pitchFamily="18" charset="0"/>
                        </a:rPr>
                        <a:t>D'où le nom :  </a:t>
                      </a:r>
                      <a:r>
                        <a:rPr lang="fr-FR" sz="1600" b="1" kern="100" dirty="0">
                          <a:effectLst/>
                          <a:latin typeface="Times New Roman" panose="02020603050405020304" pitchFamily="18" charset="0"/>
                          <a:cs typeface="Times New Roman" panose="02020603050405020304" pitchFamily="18" charset="0"/>
                        </a:rPr>
                        <a:t>3-propylhex-1-éne</a:t>
                      </a:r>
                      <a:endPar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R w="57150" cap="flat" cmpd="sng" algn="ctr">
                      <a:solidFill>
                        <a:schemeClr val="accent1">
                          <a:lumMod val="50000"/>
                        </a:schemeClr>
                      </a:solidFill>
                      <a:prstDash val="solid"/>
                      <a:round/>
                      <a:headEnd type="none" w="med" len="med"/>
                      <a:tailEnd type="none" w="med" len="med"/>
                    </a:lnR>
                  </a:tcPr>
                </a:tc>
                <a:tc>
                  <a:txBody>
                    <a:bodyPr/>
                    <a:lstStyle/>
                    <a:p>
                      <a:pPr algn="ctr">
                        <a:lnSpc>
                          <a:spcPct val="115000"/>
                        </a:lnSpc>
                        <a:spcAft>
                          <a:spcPts val="800"/>
                        </a:spcAft>
                      </a:pPr>
                      <a:endParaRPr lang="fr-FR"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r>
                        <a:rPr lang="fr-FR" sz="1600" b="0" kern="100" dirty="0">
                          <a:effectLst/>
                          <a:latin typeface="Times New Roman" panose="02020603050405020304" pitchFamily="18" charset="0"/>
                          <a:cs typeface="Times New Roman" panose="02020603050405020304" pitchFamily="18" charset="0"/>
                        </a:rPr>
                        <a:t> </a:t>
                      </a:r>
                      <a:endParaRPr lang="en-US" sz="14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endParaRPr lang="fr-FR"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endParaRPr lang="fr-FR"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pPr>
                      <a:r>
                        <a:rPr lang="fr-FR" sz="1600" b="0" kern="100" dirty="0">
                          <a:effectLst/>
                          <a:latin typeface="Times New Roman" panose="02020603050405020304" pitchFamily="18" charset="0"/>
                          <a:cs typeface="Times New Roman" panose="02020603050405020304" pitchFamily="18" charset="0"/>
                        </a:rPr>
                        <a:t>La chaîne principale est celle qui contient 7 atomes de carbone et non pas celle qui contient la double liaison,</a:t>
                      </a:r>
                      <a:endParaRPr lang="en-US" sz="1600" b="0" kern="100" dirty="0">
                        <a:effectLst/>
                        <a:latin typeface="Times New Roman" panose="02020603050405020304" pitchFamily="18"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fr-FR" sz="1600" b="0" kern="100" dirty="0">
                          <a:effectLst/>
                          <a:latin typeface="Times New Roman" panose="02020603050405020304" pitchFamily="18" charset="0"/>
                          <a:cs typeface="Times New Roman" panose="02020603050405020304" pitchFamily="18" charset="0"/>
                        </a:rPr>
                        <a:t>c'est un heptane</a:t>
                      </a:r>
                      <a:endParaRPr lang="en-US" sz="1600" b="0" kern="100" dirty="0">
                        <a:effectLst/>
                        <a:latin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fr-FR" sz="1600" b="0" kern="100" dirty="0">
                          <a:effectLst/>
                          <a:latin typeface="Times New Roman" panose="02020603050405020304" pitchFamily="18" charset="0"/>
                          <a:cs typeface="Times New Roman" panose="02020603050405020304" pitchFamily="18" charset="0"/>
                        </a:rPr>
                        <a:t>un vinyle (-CH=CH</a:t>
                      </a:r>
                      <a:r>
                        <a:rPr lang="fr-FR" sz="1600" b="0" kern="100" baseline="-25000" dirty="0">
                          <a:effectLst/>
                          <a:latin typeface="Times New Roman" panose="02020603050405020304" pitchFamily="18" charset="0"/>
                          <a:cs typeface="Times New Roman" panose="02020603050405020304" pitchFamily="18" charset="0"/>
                        </a:rPr>
                        <a:t>2</a:t>
                      </a:r>
                      <a:r>
                        <a:rPr lang="fr-FR" sz="1600" b="0" kern="100" dirty="0">
                          <a:effectLst/>
                          <a:latin typeface="Times New Roman" panose="02020603050405020304" pitchFamily="18" charset="0"/>
                          <a:cs typeface="Times New Roman" panose="02020603050405020304" pitchFamily="18" charset="0"/>
                        </a:rPr>
                        <a:t>) en position 4</a:t>
                      </a:r>
                      <a:endParaRPr lang="en-US" sz="1600" b="0" kern="100" dirty="0">
                        <a:effectLst/>
                        <a:latin typeface="Times New Roman" panose="02020603050405020304" pitchFamily="18" charset="0"/>
                        <a:cs typeface="Times New Roman" panose="02020603050405020304" pitchFamily="18" charset="0"/>
                      </a:endParaRPr>
                    </a:p>
                    <a:p>
                      <a:pPr algn="just">
                        <a:lnSpc>
                          <a:spcPct val="115000"/>
                        </a:lnSpc>
                        <a:spcAft>
                          <a:spcPts val="800"/>
                        </a:spcAft>
                        <a:tabLst>
                          <a:tab pos="1620520" algn="l"/>
                        </a:tabLst>
                      </a:pPr>
                      <a:r>
                        <a:rPr lang="fr-FR" sz="1600" b="0" kern="100" dirty="0">
                          <a:effectLst/>
                          <a:latin typeface="Times New Roman" panose="02020603050405020304" pitchFamily="18" charset="0"/>
                          <a:cs typeface="Times New Roman" panose="02020603050405020304" pitchFamily="18" charset="0"/>
                        </a:rPr>
                        <a:t>D'où le nom :  </a:t>
                      </a:r>
                      <a:r>
                        <a:rPr lang="fr-FR" sz="1600" b="1" kern="100" dirty="0">
                          <a:effectLst/>
                          <a:latin typeface="Times New Roman" panose="02020603050405020304" pitchFamily="18" charset="0"/>
                          <a:cs typeface="Times New Roman" panose="02020603050405020304" pitchFamily="18" charset="0"/>
                        </a:rPr>
                        <a:t>4-Vinylheptane</a:t>
                      </a:r>
                      <a:endPar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57150" cap="flat" cmpd="sng" algn="ctr">
                      <a:solidFill>
                        <a:schemeClr val="accent1">
                          <a:lumMod val="50000"/>
                        </a:schemeClr>
                      </a:solidFill>
                      <a:prstDash val="solid"/>
                      <a:round/>
                      <a:headEnd type="none" w="med" len="med"/>
                      <a:tailEnd type="none" w="med" len="med"/>
                    </a:lnL>
                  </a:tcPr>
                </a:tc>
                <a:extLst>
                  <a:ext uri="{0D108BD9-81ED-4DB2-BD59-A6C34878D82A}">
                    <a16:rowId xmlns:a16="http://schemas.microsoft.com/office/drawing/2014/main" val="2789091581"/>
                  </a:ext>
                </a:extLst>
              </a:tr>
            </a:tbl>
          </a:graphicData>
        </a:graphic>
      </p:graphicFrame>
      <p:graphicFrame>
        <p:nvGraphicFramePr>
          <p:cNvPr id="11" name="Objet 10">
            <a:extLst>
              <a:ext uri="{FF2B5EF4-FFF2-40B4-BE49-F238E27FC236}">
                <a16:creationId xmlns:a16="http://schemas.microsoft.com/office/drawing/2014/main" id="{33B7764D-BA94-295D-322E-8C1ECA772237}"/>
              </a:ext>
            </a:extLst>
          </p:cNvPr>
          <p:cNvGraphicFramePr>
            <a:graphicFrameLocks noChangeAspect="1"/>
          </p:cNvGraphicFramePr>
          <p:nvPr>
            <p:extLst>
              <p:ext uri="{D42A27DB-BD31-4B8C-83A1-F6EECF244321}">
                <p14:modId xmlns:p14="http://schemas.microsoft.com/office/powerpoint/2010/main" val="1355883288"/>
              </p:ext>
            </p:extLst>
          </p:nvPr>
        </p:nvGraphicFramePr>
        <p:xfrm>
          <a:off x="2400986" y="2752106"/>
          <a:ext cx="2287895" cy="1138952"/>
        </p:xfrm>
        <a:graphic>
          <a:graphicData uri="http://schemas.openxmlformats.org/presentationml/2006/ole">
            <mc:AlternateContent xmlns:mc="http://schemas.openxmlformats.org/markup-compatibility/2006">
              <mc:Choice xmlns:v="urn:schemas-microsoft-com:vml" Requires="v">
                <p:oleObj name="Image bitmap" r:id="rId3" imgW="2203563" imgH="1092256" progId="Paint.Picture">
                  <p:embed/>
                </p:oleObj>
              </mc:Choice>
              <mc:Fallback>
                <p:oleObj name="Image bitmap" r:id="rId3" imgW="2203563" imgH="1092256"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986" y="2752106"/>
                        <a:ext cx="2287895" cy="1138952"/>
                      </a:xfrm>
                      <a:prstGeom prst="rect">
                        <a:avLst/>
                      </a:prstGeom>
                      <a:noFill/>
                    </p:spPr>
                  </p:pic>
                </p:oleObj>
              </mc:Fallback>
            </mc:AlternateContent>
          </a:graphicData>
        </a:graphic>
      </p:graphicFrame>
      <p:pic>
        <p:nvPicPr>
          <p:cNvPr id="4097" name="Image 1">
            <a:extLst>
              <a:ext uri="{FF2B5EF4-FFF2-40B4-BE49-F238E27FC236}">
                <a16:creationId xmlns:a16="http://schemas.microsoft.com/office/drawing/2014/main" id="{88AE6F00-F641-2BCF-609D-A8C061DB2F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4457" y="2831929"/>
            <a:ext cx="2317867" cy="1079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027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28B5-0639-1F6C-6B8B-3368E6367AB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8D23055-9C7B-046A-FD05-A87066E0757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2B5D7BED-1044-A54D-DE8A-61719731F183}"/>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28111F64-755E-93FD-A004-6199C75726F3}"/>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D977B5C1-9D1D-F7F9-877C-262C664F42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05D738A-A2C9-8840-A731-1B249322D881}"/>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F3BD7797-4777-D6E0-841D-16F137CC04A6}"/>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89EE3FDD-6464-2ED0-454C-722B6395ACC7}"/>
              </a:ext>
            </a:extLst>
          </p:cNvPr>
          <p:cNvSpPr>
            <a:spLocks noChangeArrowheads="1"/>
          </p:cNvSpPr>
          <p:nvPr/>
        </p:nvSpPr>
        <p:spPr bwMode="auto">
          <a:xfrm>
            <a:off x="1535140" y="1227177"/>
            <a:ext cx="2659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3.	Alcènes et alcynes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2F693EB5-70AB-DC5A-71EB-7C31AD97A91C}"/>
              </a:ext>
            </a:extLst>
          </p:cNvPr>
          <p:cNvSpPr txBox="1"/>
          <p:nvPr/>
        </p:nvSpPr>
        <p:spPr>
          <a:xfrm>
            <a:off x="822927" y="1659467"/>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2</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0" name="Tableau 9">
            <a:extLst>
              <a:ext uri="{FF2B5EF4-FFF2-40B4-BE49-F238E27FC236}">
                <a16:creationId xmlns:a16="http://schemas.microsoft.com/office/drawing/2014/main" id="{E59EA0EB-9C4C-31F8-99F1-A97C833CAFED}"/>
              </a:ext>
            </a:extLst>
          </p:cNvPr>
          <p:cNvGraphicFramePr>
            <a:graphicFrameLocks noGrp="1"/>
          </p:cNvGraphicFramePr>
          <p:nvPr>
            <p:extLst>
              <p:ext uri="{D42A27DB-BD31-4B8C-83A1-F6EECF244321}">
                <p14:modId xmlns:p14="http://schemas.microsoft.com/office/powerpoint/2010/main" val="13201793"/>
              </p:ext>
            </p:extLst>
          </p:nvPr>
        </p:nvGraphicFramePr>
        <p:xfrm>
          <a:off x="1480930" y="2252944"/>
          <a:ext cx="9223051" cy="3889465"/>
        </p:xfrm>
        <a:graphic>
          <a:graphicData uri="http://schemas.openxmlformats.org/drawingml/2006/table">
            <a:tbl>
              <a:tblPr firstRow="1" firstCol="1" bandRow="1">
                <a:tableStyleId>{69012ECD-51FC-41F1-AA8D-1B2483CD663E}</a:tableStyleId>
              </a:tblPr>
              <a:tblGrid>
                <a:gridCol w="4615070">
                  <a:extLst>
                    <a:ext uri="{9D8B030D-6E8A-4147-A177-3AD203B41FA5}">
                      <a16:colId xmlns:a16="http://schemas.microsoft.com/office/drawing/2014/main" val="740380705"/>
                    </a:ext>
                  </a:extLst>
                </a:gridCol>
                <a:gridCol w="4607981">
                  <a:extLst>
                    <a:ext uri="{9D8B030D-6E8A-4147-A177-3AD203B41FA5}">
                      <a16:colId xmlns:a16="http://schemas.microsoft.com/office/drawing/2014/main" val="237966875"/>
                    </a:ext>
                  </a:extLst>
                </a:gridCol>
              </a:tblGrid>
              <a:tr h="366300">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de l’IUPAC</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R w="57150" cap="flat" cmpd="sng" algn="ctr">
                      <a:solidFill>
                        <a:schemeClr val="accent1">
                          <a:lumMod val="50000"/>
                        </a:schemeClr>
                      </a:solidFill>
                      <a:prstDash val="solid"/>
                      <a:round/>
                      <a:headEnd type="none" w="med" len="med"/>
                      <a:tailEnd type="none" w="med" len="med"/>
                    </a:lnR>
                    <a:noFill/>
                  </a:tcPr>
                </a:tc>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du PIN</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57150" cap="flat" cmpd="sng" algn="ctr">
                      <a:solidFill>
                        <a:schemeClr val="accent1">
                          <a:lumMod val="50000"/>
                        </a:schemeClr>
                      </a:solidFill>
                      <a:prstDash val="solid"/>
                      <a:round/>
                      <a:headEnd type="none" w="med" len="med"/>
                      <a:tailEnd type="none" w="med" len="med"/>
                    </a:lnL>
                    <a:noFill/>
                  </a:tcPr>
                </a:tc>
                <a:extLst>
                  <a:ext uri="{0D108BD9-81ED-4DB2-BD59-A6C34878D82A}">
                    <a16:rowId xmlns:a16="http://schemas.microsoft.com/office/drawing/2014/main" val="3211025395"/>
                  </a:ext>
                </a:extLst>
              </a:tr>
              <a:tr h="3523165">
                <a:tc>
                  <a:txBody>
                    <a:bodyPr/>
                    <a:lstStyle/>
                    <a:p>
                      <a:pPr algn="just" defTabSz="914400" rtl="0" eaLnBrk="1" latinLnBrk="0" hangingPunct="1">
                        <a:lnSpc>
                          <a:spcPct val="115000"/>
                        </a:lnSpc>
                        <a:spcAft>
                          <a:spcPts val="800"/>
                        </a:spcAft>
                      </a:pP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 </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La chaîne principale est celle qui contient 5 atomes de carbone et l’insaturation,</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c'est un pent-1-ène</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deux éthyles en position 2 et 3</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D'où le nom : </a:t>
                      </a:r>
                      <a:r>
                        <a:rPr lang="fr-FR" sz="1600" b="1" kern="100" dirty="0">
                          <a:solidFill>
                            <a:schemeClr val="tx1"/>
                          </a:solidFill>
                          <a:effectLst/>
                          <a:latin typeface="Times New Roman" panose="02020603050405020304" pitchFamily="18" charset="0"/>
                          <a:ea typeface="+mn-ea"/>
                          <a:cs typeface="Times New Roman" panose="02020603050405020304" pitchFamily="18" charset="0"/>
                        </a:rPr>
                        <a:t>2,3-diéthyl pent-1-éne</a:t>
                      </a:r>
                      <a:endParaRPr lang="en-US" sz="16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lnR w="57150" cap="flat" cmpd="sng" algn="ctr">
                      <a:solidFill>
                        <a:schemeClr val="accent1">
                          <a:lumMod val="50000"/>
                        </a:schemeClr>
                      </a:solidFill>
                      <a:prstDash val="solid"/>
                      <a:round/>
                      <a:headEnd type="none" w="med" len="med"/>
                      <a:tailEnd type="none" w="med" len="med"/>
                    </a:lnR>
                  </a:tcPr>
                </a:tc>
                <a:tc>
                  <a:txBody>
                    <a:bodyPr/>
                    <a:lstStyle/>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 </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La chaîne principale est celle qui contient 6 atomes de carbone,</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c'est un hexane</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un éthyle en position 3</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un méthylène (=CH2) en position 4</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D'où le nom : </a:t>
                      </a:r>
                      <a:r>
                        <a:rPr lang="fr-FR" sz="1600" b="1" kern="100" dirty="0">
                          <a:solidFill>
                            <a:schemeClr val="tx1"/>
                          </a:solidFill>
                          <a:effectLst/>
                          <a:latin typeface="Times New Roman" panose="02020603050405020304" pitchFamily="18" charset="0"/>
                          <a:ea typeface="+mn-ea"/>
                          <a:cs typeface="Times New Roman" panose="02020603050405020304" pitchFamily="18" charset="0"/>
                        </a:rPr>
                        <a:t>3-éthyl-4-méthvlènehexane</a:t>
                      </a:r>
                    </a:p>
                  </a:txBody>
                  <a:tcPr marL="68580" marR="68580" marT="0" marB="0">
                    <a:lnL w="57150" cap="flat" cmpd="sng" algn="ctr">
                      <a:solidFill>
                        <a:schemeClr val="accent1">
                          <a:lumMod val="50000"/>
                        </a:schemeClr>
                      </a:solidFill>
                      <a:prstDash val="solid"/>
                      <a:round/>
                      <a:headEnd type="none" w="med" len="med"/>
                      <a:tailEnd type="none" w="med" len="med"/>
                    </a:lnL>
                  </a:tcPr>
                </a:tc>
                <a:extLst>
                  <a:ext uri="{0D108BD9-81ED-4DB2-BD59-A6C34878D82A}">
                    <a16:rowId xmlns:a16="http://schemas.microsoft.com/office/drawing/2014/main" val="2789091581"/>
                  </a:ext>
                </a:extLst>
              </a:tr>
            </a:tbl>
          </a:graphicData>
        </a:graphic>
      </p:graphicFrame>
      <p:graphicFrame>
        <p:nvGraphicFramePr>
          <p:cNvPr id="8" name="Objet 7">
            <a:extLst>
              <a:ext uri="{FF2B5EF4-FFF2-40B4-BE49-F238E27FC236}">
                <a16:creationId xmlns:a16="http://schemas.microsoft.com/office/drawing/2014/main" id="{E8F70CBB-6A39-E978-7A09-A310DEE45CE3}"/>
              </a:ext>
            </a:extLst>
          </p:cNvPr>
          <p:cNvGraphicFramePr>
            <a:graphicFrameLocks noChangeAspect="1"/>
          </p:cNvGraphicFramePr>
          <p:nvPr>
            <p:extLst>
              <p:ext uri="{D42A27DB-BD31-4B8C-83A1-F6EECF244321}">
                <p14:modId xmlns:p14="http://schemas.microsoft.com/office/powerpoint/2010/main" val="3194045157"/>
              </p:ext>
            </p:extLst>
          </p:nvPr>
        </p:nvGraphicFramePr>
        <p:xfrm>
          <a:off x="2474844" y="2685234"/>
          <a:ext cx="1848678" cy="1332550"/>
        </p:xfrm>
        <a:graphic>
          <a:graphicData uri="http://schemas.openxmlformats.org/presentationml/2006/ole">
            <mc:AlternateContent xmlns:mc="http://schemas.openxmlformats.org/markup-compatibility/2006">
              <mc:Choice xmlns:v="urn:schemas-microsoft-com:vml" Requires="v">
                <p:oleObj name="Image bitmap" r:id="rId3" imgW="1542857" imgH="1117460" progId="Paint.Picture">
                  <p:embed/>
                </p:oleObj>
              </mc:Choice>
              <mc:Fallback>
                <p:oleObj name="Image bitmap" r:id="rId3" imgW="1542857" imgH="1117460"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4844" y="2685234"/>
                        <a:ext cx="1848678" cy="1332550"/>
                      </a:xfrm>
                      <a:prstGeom prst="rect">
                        <a:avLst/>
                      </a:prstGeom>
                      <a:noFill/>
                    </p:spPr>
                  </p:pic>
                </p:oleObj>
              </mc:Fallback>
            </mc:AlternateContent>
          </a:graphicData>
        </a:graphic>
      </p:graphicFrame>
      <p:pic>
        <p:nvPicPr>
          <p:cNvPr id="13" name="Image 12">
            <a:extLst>
              <a:ext uri="{FF2B5EF4-FFF2-40B4-BE49-F238E27FC236}">
                <a16:creationId xmlns:a16="http://schemas.microsoft.com/office/drawing/2014/main" id="{D881E2CE-9CE2-2A9C-6E60-D115B70B7E92}"/>
              </a:ext>
            </a:extLst>
          </p:cNvPr>
          <p:cNvPicPr>
            <a:picLocks noChangeAspect="1"/>
          </p:cNvPicPr>
          <p:nvPr/>
        </p:nvPicPr>
        <p:blipFill>
          <a:blip r:embed="rId5"/>
          <a:stretch>
            <a:fillRect/>
          </a:stretch>
        </p:blipFill>
        <p:spPr>
          <a:xfrm>
            <a:off x="7395899" y="2753335"/>
            <a:ext cx="2006519" cy="1241819"/>
          </a:xfrm>
          <a:prstGeom prst="rect">
            <a:avLst/>
          </a:prstGeom>
        </p:spPr>
      </p:pic>
    </p:spTree>
    <p:extLst>
      <p:ext uri="{BB962C8B-B14F-4D97-AF65-F5344CB8AC3E}">
        <p14:creationId xmlns:p14="http://schemas.microsoft.com/office/powerpoint/2010/main" val="746188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F0C3A-F131-DEC6-DE4F-B76872953B3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FE571F5E-6207-7271-4567-5F7F94513B4F}"/>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27CBB012-A048-7A65-0877-0793A2538187}"/>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69EAC847-80DC-4D05-443E-C9D890550266}"/>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CBC34BB-A0B1-BCA9-08CA-444E4AD7D5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9041FD03-B051-9A7B-7676-9FFB45827BFD}"/>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030BA4BA-B8BF-8704-5AAD-ECD9627C74B8}"/>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D7D6DC98-0B06-2312-B52A-476A8396C6CD}"/>
              </a:ext>
            </a:extLst>
          </p:cNvPr>
          <p:cNvSpPr>
            <a:spLocks noChangeArrowheads="1"/>
          </p:cNvSpPr>
          <p:nvPr/>
        </p:nvSpPr>
        <p:spPr bwMode="auto">
          <a:xfrm>
            <a:off x="1535140" y="1227177"/>
            <a:ext cx="2659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3.	Alcènes et alcynes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F3ED9675-222B-2C3C-8714-8C24585F5FF1}"/>
              </a:ext>
            </a:extLst>
          </p:cNvPr>
          <p:cNvSpPr txBox="1"/>
          <p:nvPr/>
        </p:nvSpPr>
        <p:spPr>
          <a:xfrm>
            <a:off x="822927" y="1659467"/>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0" name="Tableau 9">
            <a:extLst>
              <a:ext uri="{FF2B5EF4-FFF2-40B4-BE49-F238E27FC236}">
                <a16:creationId xmlns:a16="http://schemas.microsoft.com/office/drawing/2014/main" id="{B0F26F83-A3F7-DD92-47A8-8D74C3536114}"/>
              </a:ext>
            </a:extLst>
          </p:cNvPr>
          <p:cNvGraphicFramePr>
            <a:graphicFrameLocks noGrp="1"/>
          </p:cNvGraphicFramePr>
          <p:nvPr>
            <p:extLst>
              <p:ext uri="{D42A27DB-BD31-4B8C-83A1-F6EECF244321}">
                <p14:modId xmlns:p14="http://schemas.microsoft.com/office/powerpoint/2010/main" val="2876153682"/>
              </p:ext>
            </p:extLst>
          </p:nvPr>
        </p:nvGraphicFramePr>
        <p:xfrm>
          <a:off x="1480930" y="2252944"/>
          <a:ext cx="9223051" cy="3889465"/>
        </p:xfrm>
        <a:graphic>
          <a:graphicData uri="http://schemas.openxmlformats.org/drawingml/2006/table">
            <a:tbl>
              <a:tblPr firstRow="1" firstCol="1" bandRow="1">
                <a:tableStyleId>{69012ECD-51FC-41F1-AA8D-1B2483CD663E}</a:tableStyleId>
              </a:tblPr>
              <a:tblGrid>
                <a:gridCol w="4615070">
                  <a:extLst>
                    <a:ext uri="{9D8B030D-6E8A-4147-A177-3AD203B41FA5}">
                      <a16:colId xmlns:a16="http://schemas.microsoft.com/office/drawing/2014/main" val="740380705"/>
                    </a:ext>
                  </a:extLst>
                </a:gridCol>
                <a:gridCol w="4607981">
                  <a:extLst>
                    <a:ext uri="{9D8B030D-6E8A-4147-A177-3AD203B41FA5}">
                      <a16:colId xmlns:a16="http://schemas.microsoft.com/office/drawing/2014/main" val="237966875"/>
                    </a:ext>
                  </a:extLst>
                </a:gridCol>
              </a:tblGrid>
              <a:tr h="366300">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de l’IUPAC</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R w="57150" cap="flat" cmpd="sng" algn="ctr">
                      <a:solidFill>
                        <a:schemeClr val="accent1">
                          <a:lumMod val="50000"/>
                        </a:schemeClr>
                      </a:solidFill>
                      <a:prstDash val="solid"/>
                      <a:round/>
                      <a:headEnd type="none" w="med" len="med"/>
                      <a:tailEnd type="none" w="med" len="med"/>
                    </a:lnR>
                    <a:noFill/>
                  </a:tcPr>
                </a:tc>
                <a:tc>
                  <a:txBody>
                    <a:bodyPr/>
                    <a:lstStyle/>
                    <a:p>
                      <a:pPr algn="ctr">
                        <a:lnSpc>
                          <a:spcPct val="115000"/>
                        </a:lnSpc>
                        <a:spcAft>
                          <a:spcPts val="800"/>
                        </a:spcAft>
                      </a:pPr>
                      <a:r>
                        <a:rPr lang="fr-FR" sz="1800" b="1" kern="100" dirty="0">
                          <a:solidFill>
                            <a:schemeClr val="tx1"/>
                          </a:solidFill>
                          <a:effectLst/>
                          <a:latin typeface="Times New Roman" panose="02020603050405020304" pitchFamily="18" charset="0"/>
                          <a:cs typeface="Times New Roman" panose="02020603050405020304" pitchFamily="18" charset="0"/>
                        </a:rPr>
                        <a:t>Règles du PIN</a:t>
                      </a:r>
                      <a:endParaRPr lang="en-US" sz="16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57150" cap="flat" cmpd="sng" algn="ctr">
                      <a:solidFill>
                        <a:schemeClr val="accent1">
                          <a:lumMod val="50000"/>
                        </a:schemeClr>
                      </a:solidFill>
                      <a:prstDash val="solid"/>
                      <a:round/>
                      <a:headEnd type="none" w="med" len="med"/>
                      <a:tailEnd type="none" w="med" len="med"/>
                    </a:lnL>
                    <a:noFill/>
                  </a:tcPr>
                </a:tc>
                <a:extLst>
                  <a:ext uri="{0D108BD9-81ED-4DB2-BD59-A6C34878D82A}">
                    <a16:rowId xmlns:a16="http://schemas.microsoft.com/office/drawing/2014/main" val="3211025395"/>
                  </a:ext>
                </a:extLst>
              </a:tr>
              <a:tr h="3523165">
                <a:tc>
                  <a:txBody>
                    <a:bodyPr/>
                    <a:lstStyle/>
                    <a:p>
                      <a:pPr algn="just" defTabSz="914400" rtl="0" eaLnBrk="1" latinLnBrk="0" hangingPunct="1">
                        <a:lnSpc>
                          <a:spcPct val="115000"/>
                        </a:lnSpc>
                        <a:spcAft>
                          <a:spcPts val="800"/>
                        </a:spcAft>
                      </a:pP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 </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La chaîne principale est celle qui contient le plus d’insaturation,</a:t>
                      </a: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c'est un hex-l-èn-5-yne</a:t>
                      </a: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un méthyle en position 3</a:t>
                      </a: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un </a:t>
                      </a:r>
                      <a:r>
                        <a:rPr lang="fr-MA" sz="1600" b="0" kern="100" dirty="0" err="1">
                          <a:solidFill>
                            <a:schemeClr val="tx1"/>
                          </a:solidFill>
                          <a:effectLst/>
                          <a:latin typeface="Times New Roman" panose="02020603050405020304" pitchFamily="18" charset="0"/>
                          <a:ea typeface="+mn-ea"/>
                          <a:cs typeface="Times New Roman" panose="02020603050405020304" pitchFamily="18" charset="0"/>
                        </a:rPr>
                        <a:t>propyl</a:t>
                      </a:r>
                      <a:r>
                        <a:rPr lang="fr-MA" sz="1600" b="0" kern="100" dirty="0">
                          <a:solidFill>
                            <a:schemeClr val="tx1"/>
                          </a:solidFill>
                          <a:effectLst/>
                          <a:latin typeface="Times New Roman" panose="02020603050405020304" pitchFamily="18" charset="0"/>
                          <a:ea typeface="+mn-ea"/>
                          <a:cs typeface="Times New Roman" panose="02020603050405020304" pitchFamily="18" charset="0"/>
                        </a:rPr>
                        <a:t> en position 4</a:t>
                      </a:r>
                    </a:p>
                    <a:p>
                      <a:pPr algn="just" defTabSz="914400" rtl="0" eaLnBrk="1" latinLnBrk="0" hangingPunct="1">
                        <a:lnSpc>
                          <a:spcPct val="115000"/>
                        </a:lnSpc>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D'où le nom : </a:t>
                      </a:r>
                      <a:r>
                        <a:rPr lang="fr-MA" sz="1600" b="1" kern="100" dirty="0">
                          <a:solidFill>
                            <a:schemeClr val="tx1"/>
                          </a:solidFill>
                          <a:effectLst/>
                          <a:latin typeface="Times New Roman" panose="02020603050405020304" pitchFamily="18" charset="0"/>
                          <a:ea typeface="+mn-ea"/>
                          <a:cs typeface="Times New Roman" panose="02020603050405020304" pitchFamily="18" charset="0"/>
                        </a:rPr>
                        <a:t>3-méthyl-4-propylhex-l-én-5-yne</a:t>
                      </a:r>
                    </a:p>
                  </a:txBody>
                  <a:tcPr marL="68580" marR="68580" marT="0" marB="0">
                    <a:lnR w="57150" cap="flat" cmpd="sng" algn="ctr">
                      <a:solidFill>
                        <a:schemeClr val="accent1">
                          <a:lumMod val="50000"/>
                        </a:schemeClr>
                      </a:solidFill>
                      <a:prstDash val="solid"/>
                      <a:round/>
                      <a:headEnd type="none" w="med" len="med"/>
                      <a:tailEnd type="none" w="med" len="med"/>
                    </a:lnR>
                  </a:tcPr>
                </a:tc>
                <a:tc>
                  <a:txBody>
                    <a:bodyPr/>
                    <a:lstStyle/>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r>
                        <a:rPr lang="fr-FR" sz="1600" b="0" kern="100" dirty="0">
                          <a:solidFill>
                            <a:schemeClr val="tx1"/>
                          </a:solidFill>
                          <a:effectLst/>
                          <a:latin typeface="Times New Roman" panose="02020603050405020304" pitchFamily="18" charset="0"/>
                          <a:ea typeface="+mn-ea"/>
                          <a:cs typeface="Times New Roman" panose="02020603050405020304" pitchFamily="18" charset="0"/>
                        </a:rPr>
                        <a:t> </a:t>
                      </a:r>
                      <a:endParaRPr lang="en-US"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spcAft>
                          <a:spcPts val="800"/>
                        </a:spcAft>
                      </a:pPr>
                      <a:endParaRPr lang="fr-FR" sz="1600" b="0" kern="100" dirty="0">
                        <a:solidFill>
                          <a:schemeClr val="tx1"/>
                        </a:solidFill>
                        <a:effectLst/>
                        <a:latin typeface="Times New Roman" panose="02020603050405020304" pitchFamily="18" charset="0"/>
                        <a:ea typeface="+mn-ea"/>
                        <a:cs typeface="Times New Roman" panose="02020603050405020304" pitchFamily="18" charset="0"/>
                      </a:endParaRPr>
                    </a:p>
                    <a:p>
                      <a:pPr algn="just" defTabSz="914400" rtl="0" eaLnBrk="1" latinLnBrk="0" hangingPunct="1">
                        <a:lnSpc>
                          <a:spcPct val="115000"/>
                        </a:lnSpc>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La chaîne principale est celle qui contient 7 atomes de carbone et la double liaison, </a:t>
                      </a: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c'est un </a:t>
                      </a:r>
                      <a:r>
                        <a:rPr lang="fr-MA" sz="1600" b="0" kern="100" dirty="0" err="1">
                          <a:solidFill>
                            <a:schemeClr val="tx1"/>
                          </a:solidFill>
                          <a:effectLst/>
                          <a:latin typeface="Times New Roman" panose="02020603050405020304" pitchFamily="18" charset="0"/>
                          <a:ea typeface="+mn-ea"/>
                          <a:cs typeface="Times New Roman" panose="02020603050405020304" pitchFamily="18" charset="0"/>
                        </a:rPr>
                        <a:t>hept</a:t>
                      </a:r>
                      <a:r>
                        <a:rPr lang="fr-MA" sz="1600" b="0" kern="100" dirty="0">
                          <a:solidFill>
                            <a:schemeClr val="tx1"/>
                          </a:solidFill>
                          <a:effectLst/>
                          <a:latin typeface="Times New Roman" panose="02020603050405020304" pitchFamily="18" charset="0"/>
                          <a:ea typeface="+mn-ea"/>
                          <a:cs typeface="Times New Roman" panose="02020603050405020304" pitchFamily="18" charset="0"/>
                        </a:rPr>
                        <a:t>-l-</a:t>
                      </a:r>
                      <a:r>
                        <a:rPr lang="fr-MA" sz="1600" b="0" kern="100" dirty="0" err="1">
                          <a:solidFill>
                            <a:schemeClr val="tx1"/>
                          </a:solidFill>
                          <a:effectLst/>
                          <a:latin typeface="Times New Roman" panose="02020603050405020304" pitchFamily="18" charset="0"/>
                          <a:ea typeface="+mn-ea"/>
                          <a:cs typeface="Times New Roman" panose="02020603050405020304" pitchFamily="18" charset="0"/>
                        </a:rPr>
                        <a:t>ène</a:t>
                      </a:r>
                      <a:endParaRPr lang="fr-MA" sz="1600" b="0" kern="100" dirty="0">
                        <a:solidFill>
                          <a:schemeClr val="tx1"/>
                        </a:solidFill>
                        <a:effectLst/>
                        <a:latin typeface="Times New Roman" panose="02020603050405020304" pitchFamily="18" charset="0"/>
                        <a:ea typeface="+mn-ea"/>
                        <a:cs typeface="Times New Roman" panose="02020603050405020304" pitchFamily="18" charset="0"/>
                      </a:endParaRP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un méthyle en position 3</a:t>
                      </a:r>
                    </a:p>
                    <a:p>
                      <a:pPr marL="342900" lvl="0" indent="-342900" algn="just" defTabSz="914400" rtl="0" eaLnBrk="1" latinLnBrk="0" hangingPunct="1">
                        <a:lnSpc>
                          <a:spcPct val="115000"/>
                        </a:lnSpc>
                        <a:buFont typeface="Wingdings" panose="05000000000000000000" pitchFamily="2" charset="2"/>
                        <a:buChar char=""/>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un </a:t>
                      </a:r>
                      <a:r>
                        <a:rPr lang="fr-MA" sz="1600" b="0" kern="100" dirty="0" err="1">
                          <a:solidFill>
                            <a:schemeClr val="tx1"/>
                          </a:solidFill>
                          <a:effectLst/>
                          <a:latin typeface="Times New Roman" panose="02020603050405020304" pitchFamily="18" charset="0"/>
                          <a:ea typeface="+mn-ea"/>
                          <a:cs typeface="Times New Roman" panose="02020603050405020304" pitchFamily="18" charset="0"/>
                        </a:rPr>
                        <a:t>éthynyle</a:t>
                      </a:r>
                      <a:r>
                        <a:rPr lang="fr-MA" sz="1600" b="0" kern="100" dirty="0">
                          <a:solidFill>
                            <a:schemeClr val="tx1"/>
                          </a:solidFill>
                          <a:effectLst/>
                          <a:latin typeface="Times New Roman" panose="02020603050405020304" pitchFamily="18" charset="0"/>
                          <a:ea typeface="+mn-ea"/>
                          <a:cs typeface="Times New Roman" panose="02020603050405020304" pitchFamily="18" charset="0"/>
                        </a:rPr>
                        <a:t> (-C≡CH) en position 4</a:t>
                      </a:r>
                    </a:p>
                    <a:p>
                      <a:pPr algn="just" defTabSz="914400" rtl="0" eaLnBrk="1" latinLnBrk="0" hangingPunct="1">
                        <a:lnSpc>
                          <a:spcPct val="115000"/>
                        </a:lnSpc>
                      </a:pPr>
                      <a:r>
                        <a:rPr lang="fr-MA" sz="1600" b="0" kern="100" dirty="0">
                          <a:solidFill>
                            <a:schemeClr val="tx1"/>
                          </a:solidFill>
                          <a:effectLst/>
                          <a:latin typeface="Times New Roman" panose="02020603050405020304" pitchFamily="18" charset="0"/>
                          <a:ea typeface="+mn-ea"/>
                          <a:cs typeface="Times New Roman" panose="02020603050405020304" pitchFamily="18" charset="0"/>
                        </a:rPr>
                        <a:t>D'où le nom : </a:t>
                      </a:r>
                      <a:r>
                        <a:rPr lang="fr-MA" sz="1600" b="1" kern="100" dirty="0">
                          <a:solidFill>
                            <a:schemeClr val="tx1"/>
                          </a:solidFill>
                          <a:effectLst/>
                          <a:latin typeface="Times New Roman" panose="02020603050405020304" pitchFamily="18" charset="0"/>
                          <a:ea typeface="+mn-ea"/>
                          <a:cs typeface="Times New Roman" panose="02020603050405020304" pitchFamily="18" charset="0"/>
                        </a:rPr>
                        <a:t>4-éthynyl-3-méthylhept-1-éne</a:t>
                      </a:r>
                    </a:p>
                  </a:txBody>
                  <a:tcPr marL="68580" marR="68580" marT="0" marB="0">
                    <a:lnL w="57150" cap="flat" cmpd="sng" algn="ctr">
                      <a:solidFill>
                        <a:schemeClr val="accent1">
                          <a:lumMod val="50000"/>
                        </a:schemeClr>
                      </a:solidFill>
                      <a:prstDash val="solid"/>
                      <a:round/>
                      <a:headEnd type="none" w="med" len="med"/>
                      <a:tailEnd type="none" w="med" len="med"/>
                    </a:lnL>
                  </a:tcPr>
                </a:tc>
                <a:extLst>
                  <a:ext uri="{0D108BD9-81ED-4DB2-BD59-A6C34878D82A}">
                    <a16:rowId xmlns:a16="http://schemas.microsoft.com/office/drawing/2014/main" val="2789091581"/>
                  </a:ext>
                </a:extLst>
              </a:tr>
            </a:tbl>
          </a:graphicData>
        </a:graphic>
      </p:graphicFrame>
      <p:graphicFrame>
        <p:nvGraphicFramePr>
          <p:cNvPr id="11" name="Objet 10">
            <a:extLst>
              <a:ext uri="{FF2B5EF4-FFF2-40B4-BE49-F238E27FC236}">
                <a16:creationId xmlns:a16="http://schemas.microsoft.com/office/drawing/2014/main" id="{A7BF71E6-5ABA-50B7-010C-84E8B55E3264}"/>
              </a:ext>
            </a:extLst>
          </p:cNvPr>
          <p:cNvGraphicFramePr>
            <a:graphicFrameLocks noChangeAspect="1"/>
          </p:cNvGraphicFramePr>
          <p:nvPr>
            <p:extLst>
              <p:ext uri="{D42A27DB-BD31-4B8C-83A1-F6EECF244321}">
                <p14:modId xmlns:p14="http://schemas.microsoft.com/office/powerpoint/2010/main" val="1302256892"/>
              </p:ext>
            </p:extLst>
          </p:nvPr>
        </p:nvGraphicFramePr>
        <p:xfrm>
          <a:off x="2715505" y="2728231"/>
          <a:ext cx="1856495" cy="1272218"/>
        </p:xfrm>
        <a:graphic>
          <a:graphicData uri="http://schemas.openxmlformats.org/presentationml/2006/ole">
            <mc:AlternateContent xmlns:mc="http://schemas.openxmlformats.org/markup-compatibility/2006">
              <mc:Choice xmlns:v="urn:schemas-microsoft-com:vml" Requires="v">
                <p:oleObj name="Image bitmap" r:id="rId3" imgW="1733333" imgH="1181161" progId="Paint.Picture">
                  <p:embed/>
                </p:oleObj>
              </mc:Choice>
              <mc:Fallback>
                <p:oleObj name="Image bitmap" r:id="rId3" imgW="1733333" imgH="1181161"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5505" y="2728231"/>
                        <a:ext cx="1856495" cy="1272218"/>
                      </a:xfrm>
                      <a:prstGeom prst="rect">
                        <a:avLst/>
                      </a:prstGeom>
                      <a:noFill/>
                    </p:spPr>
                  </p:pic>
                </p:oleObj>
              </mc:Fallback>
            </mc:AlternateContent>
          </a:graphicData>
        </a:graphic>
      </p:graphicFrame>
      <p:graphicFrame>
        <p:nvGraphicFramePr>
          <p:cNvPr id="15" name="Objet 14">
            <a:extLst>
              <a:ext uri="{FF2B5EF4-FFF2-40B4-BE49-F238E27FC236}">
                <a16:creationId xmlns:a16="http://schemas.microsoft.com/office/drawing/2014/main" id="{681AB235-8C76-0860-BBB5-5A6038236898}"/>
              </a:ext>
            </a:extLst>
          </p:cNvPr>
          <p:cNvGraphicFramePr>
            <a:graphicFrameLocks noChangeAspect="1"/>
          </p:cNvGraphicFramePr>
          <p:nvPr>
            <p:extLst>
              <p:ext uri="{D42A27DB-BD31-4B8C-83A1-F6EECF244321}">
                <p14:modId xmlns:p14="http://schemas.microsoft.com/office/powerpoint/2010/main" val="3175540949"/>
              </p:ext>
            </p:extLst>
          </p:nvPr>
        </p:nvGraphicFramePr>
        <p:xfrm>
          <a:off x="7530534" y="2783152"/>
          <a:ext cx="1945961" cy="1217297"/>
        </p:xfrm>
        <a:graphic>
          <a:graphicData uri="http://schemas.openxmlformats.org/presentationml/2006/ole">
            <mc:AlternateContent xmlns:mc="http://schemas.openxmlformats.org/markup-compatibility/2006">
              <mc:Choice xmlns:v="urn:schemas-microsoft-com:vml" Requires="v">
                <p:oleObj name="Image bitmap" r:id="rId5" imgW="1879697" imgH="1174603" progId="Paint.Picture">
                  <p:embed/>
                </p:oleObj>
              </mc:Choice>
              <mc:Fallback>
                <p:oleObj name="Image bitmap" r:id="rId5" imgW="1879697" imgH="1174603"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0534" y="2783152"/>
                        <a:ext cx="1945961" cy="1217297"/>
                      </a:xfrm>
                      <a:prstGeom prst="rect">
                        <a:avLst/>
                      </a:prstGeom>
                      <a:noFill/>
                    </p:spPr>
                  </p:pic>
                </p:oleObj>
              </mc:Fallback>
            </mc:AlternateContent>
          </a:graphicData>
        </a:graphic>
      </p:graphicFrame>
    </p:spTree>
    <p:extLst>
      <p:ext uri="{BB962C8B-B14F-4D97-AF65-F5344CB8AC3E}">
        <p14:creationId xmlns:p14="http://schemas.microsoft.com/office/powerpoint/2010/main" val="322091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6C877-70BD-628A-7D13-F9B1280B283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71EFA1E-02C8-3CA6-D2C3-F57C42CCE5F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37139A8C-D23C-1732-D08C-7B4E3748B641}"/>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822B3463-D8EE-9DD7-27AD-38A5CCC1720D}"/>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20550A88-D519-008A-AF9E-5DD900443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32A9A60-0F21-ED33-139A-E0C195F28376}"/>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	Règles de nomenclature en chimie organique</a:t>
            </a:r>
          </a:p>
        </p:txBody>
      </p:sp>
      <p:sp>
        <p:nvSpPr>
          <p:cNvPr id="9" name="ZoneTexte 8">
            <a:extLst>
              <a:ext uri="{FF2B5EF4-FFF2-40B4-BE49-F238E27FC236}">
                <a16:creationId xmlns:a16="http://schemas.microsoft.com/office/drawing/2014/main" id="{535F74B3-A820-2F4F-67C5-9A0A6964BFBA}"/>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67C67DD3-076C-EB9A-EFFC-4BDB11A1FF68}"/>
              </a:ext>
            </a:extLst>
          </p:cNvPr>
          <p:cNvSpPr>
            <a:spLocks noChangeArrowheads="1"/>
          </p:cNvSpPr>
          <p:nvPr/>
        </p:nvSpPr>
        <p:spPr bwMode="auto">
          <a:xfrm>
            <a:off x="1535140" y="1227177"/>
            <a:ext cx="2659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 3.	Alcènes et alcynes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BB260AFC-0AD7-A03D-5F9A-E0C8BDDA2AC4}"/>
              </a:ext>
            </a:extLst>
          </p:cNvPr>
          <p:cNvSpPr txBox="1"/>
          <p:nvPr/>
        </p:nvSpPr>
        <p:spPr>
          <a:xfrm>
            <a:off x="822927" y="1659467"/>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4</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ZoneTexte 7">
            <a:extLst>
              <a:ext uri="{FF2B5EF4-FFF2-40B4-BE49-F238E27FC236}">
                <a16:creationId xmlns:a16="http://schemas.microsoft.com/office/drawing/2014/main" id="{E537A9D0-337A-8C7D-9E11-08D0299A9684}"/>
              </a:ext>
            </a:extLst>
          </p:cNvPr>
          <p:cNvSpPr txBox="1"/>
          <p:nvPr/>
        </p:nvSpPr>
        <p:spPr>
          <a:xfrm>
            <a:off x="921672" y="3663854"/>
            <a:ext cx="10348656" cy="1870064"/>
          </a:xfrm>
          <a:prstGeom prst="rect">
            <a:avLst/>
          </a:prstGeom>
          <a:noFill/>
        </p:spPr>
        <p:txBody>
          <a:bodyPr wrap="square">
            <a:spAutoFit/>
          </a:bodyPr>
          <a:lstStyle/>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chaîne principale est celle qui contient 7 atomes de carbone avec une double et une triple liaison (que ce soit en utilisant les règles de l'IUPAC ou celles du PIN),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c'est un hept-l-én-6-yne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propyle en position 4</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tabLst>
                <a:tab pos="1620520" algn="l"/>
              </a:tabLs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D'où le nom</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4-Propylhept-l-én-6-yne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E4047BE3-FBB9-B619-48A9-6A68A11CE4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7251" y="1980041"/>
            <a:ext cx="2391479" cy="1506621"/>
          </a:xfrm>
          <a:prstGeom prst="rect">
            <a:avLst/>
          </a:prstGeom>
          <a:noFill/>
          <a:ln>
            <a:noFill/>
          </a:ln>
        </p:spPr>
      </p:pic>
    </p:spTree>
    <p:extLst>
      <p:ext uri="{BB962C8B-B14F-4D97-AF65-F5344CB8AC3E}">
        <p14:creationId xmlns:p14="http://schemas.microsoft.com/office/powerpoint/2010/main" val="4015463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B1AA-00D4-08DA-F22E-E0B71DA335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6623CAC-B717-B6C7-3C86-0BF475FE4FB9}"/>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0288A9F5-878C-6EB1-6C95-71B0896FB6A8}"/>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58B5EE3-20B6-549A-9B5E-7983D65C0019}"/>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C1545DC9-D8DD-CA7B-A8D9-A484FACD6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84D1E251-D842-7AE0-0DA1-79B878576054}"/>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p:txBody>
      </p:sp>
      <p:sp>
        <p:nvSpPr>
          <p:cNvPr id="9" name="ZoneTexte 8">
            <a:extLst>
              <a:ext uri="{FF2B5EF4-FFF2-40B4-BE49-F238E27FC236}">
                <a16:creationId xmlns:a16="http://schemas.microsoft.com/office/drawing/2014/main" id="{B7D639E9-EA00-A851-D345-AA7C6B0D0F94}"/>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0759BD35-BCC9-D5DF-96D3-CC46F3E6277E}"/>
              </a:ext>
            </a:extLst>
          </p:cNvPr>
          <p:cNvSpPr>
            <a:spLocks noChangeArrowheads="1"/>
          </p:cNvSpPr>
          <p:nvPr/>
        </p:nvSpPr>
        <p:spPr bwMode="auto">
          <a:xfrm>
            <a:off x="1535140" y="1227177"/>
            <a:ext cx="21723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III. 1.	Cycloalcanes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0" name="ZoneTexte 9">
            <a:extLst>
              <a:ext uri="{FF2B5EF4-FFF2-40B4-BE49-F238E27FC236}">
                <a16:creationId xmlns:a16="http://schemas.microsoft.com/office/drawing/2014/main" id="{A03F8C26-AB8A-6ACF-6AB2-386B7D66DDCB}"/>
              </a:ext>
            </a:extLst>
          </p:cNvPr>
          <p:cNvSpPr txBox="1"/>
          <p:nvPr/>
        </p:nvSpPr>
        <p:spPr>
          <a:xfrm>
            <a:off x="813815" y="1659467"/>
            <a:ext cx="10874601" cy="646331"/>
          </a:xfrm>
          <a:prstGeom prst="rect">
            <a:avLst/>
          </a:prstGeom>
          <a:noFill/>
        </p:spPr>
        <p:txBody>
          <a:bodyPr wrap="square">
            <a:spAutoFit/>
          </a:bodyPr>
          <a:lstStyle/>
          <a:p>
            <a:r>
              <a:rPr lang="fr-MA" sz="1800" dirty="0">
                <a:effectLst/>
                <a:latin typeface="Times New Roman" panose="02020603050405020304" pitchFamily="18" charset="0"/>
                <a:ea typeface="Times New Roman" panose="02020603050405020304" pitchFamily="18" charset="0"/>
              </a:rPr>
              <a:t>Le préfixe "cyclo" est employé avec le nom de l'hydrocarbure acyclique qui possède le même nombre d'atomes de carbone. </a:t>
            </a:r>
            <a:endParaRPr lang="en-US" dirty="0"/>
          </a:p>
        </p:txBody>
      </p:sp>
      <p:pic>
        <p:nvPicPr>
          <p:cNvPr id="14" name="Image 13">
            <a:extLst>
              <a:ext uri="{FF2B5EF4-FFF2-40B4-BE49-F238E27FC236}">
                <a16:creationId xmlns:a16="http://schemas.microsoft.com/office/drawing/2014/main" id="{05DC00CC-7145-2611-FE25-2252A9B2B794}"/>
              </a:ext>
            </a:extLst>
          </p:cNvPr>
          <p:cNvPicPr>
            <a:picLocks noChangeAspect="1"/>
          </p:cNvPicPr>
          <p:nvPr/>
        </p:nvPicPr>
        <p:blipFill>
          <a:blip r:embed="rId3"/>
          <a:stretch>
            <a:fillRect/>
          </a:stretch>
        </p:blipFill>
        <p:spPr>
          <a:xfrm>
            <a:off x="2762249" y="2189675"/>
            <a:ext cx="5829300" cy="1000125"/>
          </a:xfrm>
          <a:prstGeom prst="rect">
            <a:avLst/>
          </a:prstGeom>
        </p:spPr>
      </p:pic>
      <p:sp>
        <p:nvSpPr>
          <p:cNvPr id="16" name="ZoneTexte 15">
            <a:extLst>
              <a:ext uri="{FF2B5EF4-FFF2-40B4-BE49-F238E27FC236}">
                <a16:creationId xmlns:a16="http://schemas.microsoft.com/office/drawing/2014/main" id="{03AAA2FA-B483-136A-65AF-0B0BE829FA14}"/>
              </a:ext>
            </a:extLst>
          </p:cNvPr>
          <p:cNvSpPr txBox="1"/>
          <p:nvPr/>
        </p:nvSpPr>
        <p:spPr>
          <a:xfrm>
            <a:off x="813814" y="3668202"/>
            <a:ext cx="11301985" cy="2585323"/>
          </a:xfrm>
          <a:prstGeom prst="rect">
            <a:avLst/>
          </a:prstGeom>
          <a:noFill/>
        </p:spPr>
        <p:txBody>
          <a:bodyPr wrap="square">
            <a:spAutoFit/>
          </a:bodyPr>
          <a:lstStyle/>
          <a:p>
            <a:r>
              <a:rPr lang="fr-MA" sz="1800" b="1" i="0" u="sng" dirty="0">
                <a:solidFill>
                  <a:srgbClr val="000000"/>
                </a:solidFill>
                <a:effectLst/>
                <a:latin typeface="TimesNewRomanPSMT"/>
              </a:rPr>
              <a:t>Cycloalcanes substitués:</a:t>
            </a:r>
          </a:p>
          <a:p>
            <a:endParaRPr lang="fr-MA" sz="1800" b="0" i="0" dirty="0">
              <a:solidFill>
                <a:srgbClr val="000000"/>
              </a:solidFill>
              <a:effectLst/>
              <a:latin typeface="TimesNewRomanPSMT"/>
            </a:endParaRPr>
          </a:p>
          <a:p>
            <a:pPr marL="285750" indent="-285750">
              <a:buFont typeface="Arial" panose="020B0604020202020204" pitchFamily="34" charset="0"/>
              <a:buChar char="•"/>
            </a:pPr>
            <a:r>
              <a:rPr lang="fr-MA" sz="1800" b="0" i="0" dirty="0">
                <a:solidFill>
                  <a:srgbClr val="000000"/>
                </a:solidFill>
                <a:effectLst/>
                <a:latin typeface="TimesNewRomanPSMT"/>
              </a:rPr>
              <a:t>La chaîne latérale liée à un grand cycle aura le cycle comme chaîne principale.</a:t>
            </a:r>
          </a:p>
          <a:p>
            <a:pPr marL="285750" indent="-285750">
              <a:buFont typeface="Arial" panose="020B0604020202020204" pitchFamily="34" charset="0"/>
              <a:buChar char="•"/>
            </a:pPr>
            <a:endParaRPr lang="fr-MA" sz="1800" b="0" i="0" dirty="0">
              <a:solidFill>
                <a:srgbClr val="000000"/>
              </a:solidFill>
              <a:effectLst/>
              <a:latin typeface="TimesNewRomanPSMT"/>
            </a:endParaRPr>
          </a:p>
          <a:p>
            <a:pPr marL="285750" indent="-285750">
              <a:buFont typeface="Arial" panose="020B0604020202020204" pitchFamily="34" charset="0"/>
              <a:buChar char="•"/>
            </a:pPr>
            <a:r>
              <a:rPr lang="fr-MA" sz="1800" b="0" i="0" dirty="0">
                <a:solidFill>
                  <a:srgbClr val="000000"/>
                </a:solidFill>
                <a:effectLst/>
                <a:latin typeface="TimesNewRomanPSMT"/>
              </a:rPr>
              <a:t>Si la chaîne latérale et le cycle ont le même nombre d'atomes de carbone, le cycle est considéré comme la chaîne principale.</a:t>
            </a:r>
          </a:p>
          <a:p>
            <a:pPr marL="285750" indent="-285750">
              <a:buFont typeface="Arial" panose="020B0604020202020204" pitchFamily="34" charset="0"/>
              <a:buChar char="•"/>
            </a:pPr>
            <a:endParaRPr lang="fr-MA" sz="1800" b="0" i="0" dirty="0">
              <a:solidFill>
                <a:srgbClr val="000000"/>
              </a:solidFill>
              <a:effectLst/>
              <a:latin typeface="TimesNewRomanPSMT"/>
            </a:endParaRPr>
          </a:p>
          <a:p>
            <a:pPr marL="285750" indent="-285750">
              <a:buFont typeface="Arial" panose="020B0604020202020204" pitchFamily="34" charset="0"/>
              <a:buChar char="•"/>
            </a:pPr>
            <a:r>
              <a:rPr lang="fr-MA" sz="1800" b="0" i="0" dirty="0">
                <a:solidFill>
                  <a:srgbClr val="000000"/>
                </a:solidFill>
                <a:effectLst/>
                <a:latin typeface="TimesNewRomanPSMT"/>
              </a:rPr>
              <a:t>Un petit cycle attaché à une grande chaîne signifie que la chaîne latérale sera la chaîne principale.</a:t>
            </a:r>
            <a:br>
              <a:rPr lang="fr-MA" dirty="0"/>
            </a:br>
            <a:endParaRPr lang="en-US" dirty="0"/>
          </a:p>
        </p:txBody>
      </p:sp>
    </p:spTree>
    <p:extLst>
      <p:ext uri="{BB962C8B-B14F-4D97-AF65-F5344CB8AC3E}">
        <p14:creationId xmlns:p14="http://schemas.microsoft.com/office/powerpoint/2010/main" val="2624038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DA84-A834-3017-9A48-5C3E8BA5B5E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A9EDB59-126C-6E91-F866-CC3BA25B9561}"/>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BCB9107B-680D-B0CF-AD2F-7E0F6E5C40F1}"/>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5F9D18A-2476-9477-3853-DB2D8F7CAF2D}"/>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A69FC705-68B9-B0B2-4973-D1BE64278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06E3FD9-6170-2FDC-2A2D-20F3E43105A9}"/>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p:txBody>
      </p:sp>
      <p:sp>
        <p:nvSpPr>
          <p:cNvPr id="9" name="ZoneTexte 8">
            <a:extLst>
              <a:ext uri="{FF2B5EF4-FFF2-40B4-BE49-F238E27FC236}">
                <a16:creationId xmlns:a16="http://schemas.microsoft.com/office/drawing/2014/main" id="{CE2F5C27-42E3-F614-4512-409D479B1423}"/>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1BCAA46F-0AB8-A8D5-6CA7-35698BE704B4}"/>
              </a:ext>
            </a:extLst>
          </p:cNvPr>
          <p:cNvSpPr>
            <a:spLocks noChangeArrowheads="1"/>
          </p:cNvSpPr>
          <p:nvPr/>
        </p:nvSpPr>
        <p:spPr bwMode="auto">
          <a:xfrm>
            <a:off x="1535140" y="1227177"/>
            <a:ext cx="21723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III. 1.	Cycloalcanes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A3748554-657B-88BD-95BF-D004098EBDED}"/>
              </a:ext>
            </a:extLst>
          </p:cNvPr>
          <p:cNvSpPr txBox="1"/>
          <p:nvPr/>
        </p:nvSpPr>
        <p:spPr>
          <a:xfrm>
            <a:off x="904461" y="1576125"/>
            <a:ext cx="6281530" cy="369332"/>
          </a:xfrm>
          <a:prstGeom prst="rect">
            <a:avLst/>
          </a:prstGeom>
          <a:noFill/>
        </p:spPr>
        <p:txBody>
          <a:bodyPr wrap="square">
            <a:spAutoFit/>
          </a:bodyPr>
          <a:lstStyle/>
          <a:p>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Exemples</a:t>
            </a:r>
            <a:endParaRPr lang="en-US" dirty="0"/>
          </a:p>
        </p:txBody>
      </p:sp>
      <p:pic>
        <p:nvPicPr>
          <p:cNvPr id="8" name="Image 7">
            <a:extLst>
              <a:ext uri="{FF2B5EF4-FFF2-40B4-BE49-F238E27FC236}">
                <a16:creationId xmlns:a16="http://schemas.microsoft.com/office/drawing/2014/main" id="{FC4703B9-BFA9-BFEF-49CB-95AD3B78C6BD}"/>
              </a:ext>
            </a:extLst>
          </p:cNvPr>
          <p:cNvPicPr>
            <a:picLocks noChangeAspect="1"/>
          </p:cNvPicPr>
          <p:nvPr/>
        </p:nvPicPr>
        <p:blipFill>
          <a:blip r:embed="rId3"/>
          <a:stretch>
            <a:fillRect/>
          </a:stretch>
        </p:blipFill>
        <p:spPr>
          <a:xfrm>
            <a:off x="1722051" y="2053752"/>
            <a:ext cx="1604963" cy="942975"/>
          </a:xfrm>
          <a:prstGeom prst="rect">
            <a:avLst/>
          </a:prstGeom>
        </p:spPr>
      </p:pic>
      <p:pic>
        <p:nvPicPr>
          <p:cNvPr id="14" name="Image 13">
            <a:extLst>
              <a:ext uri="{FF2B5EF4-FFF2-40B4-BE49-F238E27FC236}">
                <a16:creationId xmlns:a16="http://schemas.microsoft.com/office/drawing/2014/main" id="{E31DDC3A-9025-6C3A-5069-347C75D9D181}"/>
              </a:ext>
            </a:extLst>
          </p:cNvPr>
          <p:cNvPicPr>
            <a:picLocks noChangeAspect="1"/>
          </p:cNvPicPr>
          <p:nvPr/>
        </p:nvPicPr>
        <p:blipFill>
          <a:blip r:embed="rId4"/>
          <a:stretch>
            <a:fillRect/>
          </a:stretch>
        </p:blipFill>
        <p:spPr>
          <a:xfrm>
            <a:off x="8888371" y="2012127"/>
            <a:ext cx="2286000" cy="1053981"/>
          </a:xfrm>
          <a:prstGeom prst="rect">
            <a:avLst/>
          </a:prstGeom>
        </p:spPr>
      </p:pic>
      <p:grpSp>
        <p:nvGrpSpPr>
          <p:cNvPr id="25" name="Groupe 24">
            <a:extLst>
              <a:ext uri="{FF2B5EF4-FFF2-40B4-BE49-F238E27FC236}">
                <a16:creationId xmlns:a16="http://schemas.microsoft.com/office/drawing/2014/main" id="{BEF3B6E0-04E8-2BBD-DE32-220E66CB05D8}"/>
              </a:ext>
            </a:extLst>
          </p:cNvPr>
          <p:cNvGrpSpPr/>
          <p:nvPr/>
        </p:nvGrpSpPr>
        <p:grpSpPr>
          <a:xfrm>
            <a:off x="1097819" y="2107708"/>
            <a:ext cx="10229170" cy="1425911"/>
            <a:chOff x="1097819" y="2107708"/>
            <a:chExt cx="10229170" cy="1425911"/>
          </a:xfrm>
        </p:grpSpPr>
        <p:sp>
          <p:nvSpPr>
            <p:cNvPr id="11" name="ZoneTexte 10">
              <a:extLst>
                <a:ext uri="{FF2B5EF4-FFF2-40B4-BE49-F238E27FC236}">
                  <a16:creationId xmlns:a16="http://schemas.microsoft.com/office/drawing/2014/main" id="{9F1089AC-46C5-229D-C07B-A8EDD2EEB489}"/>
                </a:ext>
              </a:extLst>
            </p:cNvPr>
            <p:cNvSpPr txBox="1"/>
            <p:nvPr/>
          </p:nvSpPr>
          <p:spPr>
            <a:xfrm>
              <a:off x="1097819" y="2948844"/>
              <a:ext cx="2286000" cy="584775"/>
            </a:xfrm>
            <a:prstGeom prst="rect">
              <a:avLst/>
            </a:prstGeom>
            <a:noFill/>
          </p:spPr>
          <p:txBody>
            <a:bodyPr wrap="square">
              <a:spAutoFit/>
            </a:bodyPr>
            <a:lstStyle/>
            <a:p>
              <a:pPr algn="ctr"/>
              <a:r>
                <a:rPr lang="en-US" sz="1600" b="1" i="0" dirty="0" err="1">
                  <a:solidFill>
                    <a:srgbClr val="000000"/>
                  </a:solidFill>
                  <a:effectLst/>
                  <a:latin typeface="TimesNewRoman"/>
                </a:rPr>
                <a:t>é</a:t>
              </a:r>
              <a:r>
                <a:rPr lang="en-US" sz="1400" b="1" i="0" dirty="0" err="1">
                  <a:solidFill>
                    <a:srgbClr val="000000"/>
                  </a:solidFill>
                  <a:effectLst/>
                  <a:latin typeface="TimesNewRoman"/>
                </a:rPr>
                <a:t>thylcyclopentane</a:t>
              </a:r>
              <a:r>
                <a:rPr lang="en-US" sz="1400" b="1" i="0" dirty="0">
                  <a:solidFill>
                    <a:srgbClr val="000000"/>
                  </a:solidFill>
                  <a:effectLst/>
                  <a:latin typeface="TimesNewRoman"/>
                </a:rPr>
                <a:t> </a:t>
              </a:r>
              <a:br>
                <a:rPr lang="en-US" sz="1400" b="1" i="0" dirty="0">
                  <a:solidFill>
                    <a:srgbClr val="000000"/>
                  </a:solidFill>
                  <a:effectLst/>
                  <a:latin typeface="TimesNewRoman"/>
                </a:rPr>
              </a:br>
              <a:r>
                <a:rPr lang="en-US" sz="1400" b="1" i="0" dirty="0">
                  <a:solidFill>
                    <a:srgbClr val="000000"/>
                  </a:solidFill>
                  <a:effectLst/>
                  <a:latin typeface="TimesNewRoman"/>
                </a:rPr>
                <a:t>(1-</a:t>
              </a:r>
              <a:r>
                <a:rPr lang="en-US" sz="1600" b="1" i="0" dirty="0">
                  <a:solidFill>
                    <a:srgbClr val="000000"/>
                  </a:solidFill>
                  <a:effectLst/>
                  <a:latin typeface="TimesNewRoman"/>
                </a:rPr>
                <a:t>é</a:t>
              </a:r>
              <a:r>
                <a:rPr lang="en-US" sz="1400" b="1" i="0" dirty="0">
                  <a:solidFill>
                    <a:srgbClr val="000000"/>
                  </a:solidFill>
                  <a:effectLst/>
                  <a:latin typeface="TimesNewRoman"/>
                </a:rPr>
                <a:t>thylcyclopentane)</a:t>
              </a:r>
              <a:endParaRPr lang="en-US" sz="1400" b="1" dirty="0"/>
            </a:p>
          </p:txBody>
        </p:sp>
        <p:sp>
          <p:nvSpPr>
            <p:cNvPr id="16" name="ZoneTexte 15">
              <a:extLst>
                <a:ext uri="{FF2B5EF4-FFF2-40B4-BE49-F238E27FC236}">
                  <a16:creationId xmlns:a16="http://schemas.microsoft.com/office/drawing/2014/main" id="{611F35CB-BEF9-864E-C52F-B825E01D82C7}"/>
                </a:ext>
              </a:extLst>
            </p:cNvPr>
            <p:cNvSpPr txBox="1"/>
            <p:nvPr/>
          </p:nvSpPr>
          <p:spPr>
            <a:xfrm>
              <a:off x="9140380" y="3117159"/>
              <a:ext cx="2186609" cy="307777"/>
            </a:xfrm>
            <a:prstGeom prst="rect">
              <a:avLst/>
            </a:prstGeom>
            <a:noFill/>
          </p:spPr>
          <p:txBody>
            <a:bodyPr wrap="square">
              <a:spAutoFit/>
            </a:bodyPr>
            <a:lstStyle/>
            <a:p>
              <a:r>
                <a:rPr lang="en-US" sz="1400" b="1" i="0" dirty="0" err="1">
                  <a:solidFill>
                    <a:srgbClr val="000000"/>
                  </a:solidFill>
                  <a:effectLst/>
                  <a:latin typeface="Times New Roman" panose="02020603050405020304" pitchFamily="18" charset="0"/>
                  <a:cs typeface="Times New Roman" panose="02020603050405020304" pitchFamily="18" charset="0"/>
                </a:rPr>
                <a:t>cyclopentylhexane</a:t>
              </a:r>
              <a:r>
                <a:rPr lang="en-US" sz="1400" dirty="0">
                  <a:latin typeface="Times New Roman" panose="02020603050405020304" pitchFamily="18" charset="0"/>
                  <a:cs typeface="Times New Roman" panose="02020603050405020304" pitchFamily="18" charset="0"/>
                </a:rPr>
                <a:t> </a:t>
              </a:r>
            </a:p>
          </p:txBody>
        </p:sp>
        <p:pic>
          <p:nvPicPr>
            <p:cNvPr id="18" name="Image 17">
              <a:extLst>
                <a:ext uri="{FF2B5EF4-FFF2-40B4-BE49-F238E27FC236}">
                  <a16:creationId xmlns:a16="http://schemas.microsoft.com/office/drawing/2014/main" id="{671EACE9-1E23-AF85-5A06-8851A4F54C25}"/>
                </a:ext>
              </a:extLst>
            </p:cNvPr>
            <p:cNvPicPr>
              <a:picLocks noChangeAspect="1"/>
            </p:cNvPicPr>
            <p:nvPr/>
          </p:nvPicPr>
          <p:blipFill>
            <a:blip r:embed="rId5"/>
            <a:stretch>
              <a:fillRect/>
            </a:stretch>
          </p:blipFill>
          <p:spPr>
            <a:xfrm>
              <a:off x="4891045" y="2107708"/>
              <a:ext cx="2186609" cy="1059404"/>
            </a:xfrm>
            <a:prstGeom prst="rect">
              <a:avLst/>
            </a:prstGeom>
          </p:spPr>
        </p:pic>
        <p:sp>
          <p:nvSpPr>
            <p:cNvPr id="20" name="ZoneTexte 19">
              <a:extLst>
                <a:ext uri="{FF2B5EF4-FFF2-40B4-BE49-F238E27FC236}">
                  <a16:creationId xmlns:a16="http://schemas.microsoft.com/office/drawing/2014/main" id="{FB9230AB-AF63-2C33-4DA2-42B8BBF42D4C}"/>
                </a:ext>
              </a:extLst>
            </p:cNvPr>
            <p:cNvSpPr txBox="1"/>
            <p:nvPr/>
          </p:nvSpPr>
          <p:spPr>
            <a:xfrm>
              <a:off x="5124067" y="3117159"/>
              <a:ext cx="2186609" cy="307777"/>
            </a:xfrm>
            <a:prstGeom prst="rect">
              <a:avLst/>
            </a:prstGeom>
            <a:noFill/>
          </p:spPr>
          <p:txBody>
            <a:bodyPr wrap="square">
              <a:spAutoFit/>
            </a:bodyPr>
            <a:lstStyle/>
            <a:p>
              <a:r>
                <a:rPr lang="en-US" sz="1400" b="1" dirty="0" err="1">
                  <a:solidFill>
                    <a:srgbClr val="000000"/>
                  </a:solidFill>
                  <a:latin typeface="TimesNewRoman"/>
                </a:rPr>
                <a:t>pent</a:t>
              </a:r>
              <a:r>
                <a:rPr lang="en-US" sz="1400" b="1" i="0" dirty="0" err="1">
                  <a:solidFill>
                    <a:srgbClr val="000000"/>
                  </a:solidFill>
                  <a:effectLst/>
                  <a:latin typeface="TimesNewRoman"/>
                </a:rPr>
                <a:t>ylcyclopentane</a:t>
              </a:r>
              <a:endParaRPr lang="en-US" sz="1400" b="1" dirty="0"/>
            </a:p>
          </p:txBody>
        </p:sp>
      </p:grpSp>
      <p:pic>
        <p:nvPicPr>
          <p:cNvPr id="27" name="Image 26">
            <a:extLst>
              <a:ext uri="{FF2B5EF4-FFF2-40B4-BE49-F238E27FC236}">
                <a16:creationId xmlns:a16="http://schemas.microsoft.com/office/drawing/2014/main" id="{E4F4ED01-3968-78A7-7077-797053FF4BA2}"/>
              </a:ext>
            </a:extLst>
          </p:cNvPr>
          <p:cNvPicPr>
            <a:picLocks noChangeAspect="1"/>
          </p:cNvPicPr>
          <p:nvPr/>
        </p:nvPicPr>
        <p:blipFill>
          <a:blip r:embed="rId6"/>
          <a:stretch>
            <a:fillRect/>
          </a:stretch>
        </p:blipFill>
        <p:spPr>
          <a:xfrm>
            <a:off x="411232" y="3961200"/>
            <a:ext cx="11590268" cy="1901386"/>
          </a:xfrm>
          <a:prstGeom prst="rect">
            <a:avLst/>
          </a:prstGeom>
        </p:spPr>
      </p:pic>
      <p:cxnSp>
        <p:nvCxnSpPr>
          <p:cNvPr id="29" name="Connecteur droit 28">
            <a:extLst>
              <a:ext uri="{FF2B5EF4-FFF2-40B4-BE49-F238E27FC236}">
                <a16:creationId xmlns:a16="http://schemas.microsoft.com/office/drawing/2014/main" id="{130EDF69-B1EB-68D5-3B15-16912049381D}"/>
              </a:ext>
            </a:extLst>
          </p:cNvPr>
          <p:cNvCxnSpPr>
            <a:cxnSpLocks/>
          </p:cNvCxnSpPr>
          <p:nvPr/>
        </p:nvCxnSpPr>
        <p:spPr>
          <a:xfrm>
            <a:off x="2703443" y="4065104"/>
            <a:ext cx="0" cy="17974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B8A6BD39-1BDA-E9C1-35DC-DA83DB6A2646}"/>
              </a:ext>
            </a:extLst>
          </p:cNvPr>
          <p:cNvCxnSpPr>
            <a:cxnSpLocks/>
          </p:cNvCxnSpPr>
          <p:nvPr/>
        </p:nvCxnSpPr>
        <p:spPr>
          <a:xfrm>
            <a:off x="5330686" y="4065104"/>
            <a:ext cx="0" cy="17974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69BD5511-8451-1820-0FD6-3A25F71075E8}"/>
              </a:ext>
            </a:extLst>
          </p:cNvPr>
          <p:cNvCxnSpPr>
            <a:cxnSpLocks/>
          </p:cNvCxnSpPr>
          <p:nvPr/>
        </p:nvCxnSpPr>
        <p:spPr>
          <a:xfrm>
            <a:off x="7659756" y="4065104"/>
            <a:ext cx="0" cy="17974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5BC5E8C2-141C-DB70-8E35-E39911EE8A24}"/>
              </a:ext>
            </a:extLst>
          </p:cNvPr>
          <p:cNvCxnSpPr>
            <a:cxnSpLocks/>
          </p:cNvCxnSpPr>
          <p:nvPr/>
        </p:nvCxnSpPr>
        <p:spPr>
          <a:xfrm>
            <a:off x="9799982" y="4065104"/>
            <a:ext cx="0" cy="1797482"/>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540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D15F-41DA-A8B1-76A0-FCEF65EB2F0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7543377-F34B-DC9F-72FF-857FD935CA45}"/>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F5443FB3-5458-D680-9776-B91FB974E866}"/>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5C947836-3D88-3E59-AA10-544DA0E9B066}"/>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AE38C1DA-7883-0647-95D4-AD742A9D23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8C70FBE0-8F33-1AA6-7417-1A09A026268D}"/>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p:txBody>
      </p:sp>
      <p:sp>
        <p:nvSpPr>
          <p:cNvPr id="9" name="ZoneTexte 8">
            <a:extLst>
              <a:ext uri="{FF2B5EF4-FFF2-40B4-BE49-F238E27FC236}">
                <a16:creationId xmlns:a16="http://schemas.microsoft.com/office/drawing/2014/main" id="{9382644D-32D2-3BC6-069A-055F6E53D9AA}"/>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432A0051-EB2D-2CE6-C38B-01FC9A52C41A}"/>
              </a:ext>
            </a:extLst>
          </p:cNvPr>
          <p:cNvSpPr>
            <a:spLocks noChangeArrowheads="1"/>
          </p:cNvSpPr>
          <p:nvPr/>
        </p:nvSpPr>
        <p:spPr bwMode="auto">
          <a:xfrm>
            <a:off x="1535140" y="1227177"/>
            <a:ext cx="21723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III. 1.	Cycloalcanes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23242647-2A1F-1FFA-1B48-D8BB321539E6}"/>
              </a:ext>
            </a:extLst>
          </p:cNvPr>
          <p:cNvSpPr txBox="1"/>
          <p:nvPr/>
        </p:nvSpPr>
        <p:spPr>
          <a:xfrm>
            <a:off x="813816" y="1576125"/>
            <a:ext cx="6281530" cy="369332"/>
          </a:xfrm>
          <a:prstGeom prst="rect">
            <a:avLst/>
          </a:prstGeom>
          <a:noFill/>
        </p:spPr>
        <p:txBody>
          <a:bodyPr wrap="square">
            <a:spAutoFit/>
          </a:bodyPr>
          <a:lstStyle/>
          <a:p>
            <a:r>
              <a:rPr lang="fr-FR" b="1" u="sng" kern="100" dirty="0">
                <a:solidFill>
                  <a:srgbClr val="000000"/>
                </a:solidFill>
                <a:latin typeface="Times New Roman" panose="02020603050405020304" pitchFamily="18" charset="0"/>
                <a:cs typeface="Times New Roman" panose="02020603050405020304" pitchFamily="18" charset="0"/>
              </a:rPr>
              <a:t>Remarque 1</a:t>
            </a:r>
          </a:p>
        </p:txBody>
      </p:sp>
      <p:sp>
        <p:nvSpPr>
          <p:cNvPr id="8" name="ZoneTexte 7">
            <a:extLst>
              <a:ext uri="{FF2B5EF4-FFF2-40B4-BE49-F238E27FC236}">
                <a16:creationId xmlns:a16="http://schemas.microsoft.com/office/drawing/2014/main" id="{6F9264DF-C5F8-724D-EA38-80863E5A752A}"/>
              </a:ext>
            </a:extLst>
          </p:cNvPr>
          <p:cNvSpPr txBox="1"/>
          <p:nvPr/>
        </p:nvSpPr>
        <p:spPr>
          <a:xfrm>
            <a:off x="813816" y="2008415"/>
            <a:ext cx="10724087" cy="369332"/>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Si 2 séquences ont le même total d’indices, l’ordre alphabétique des substituants est déterminant</a:t>
            </a:r>
          </a:p>
        </p:txBody>
      </p:sp>
      <p:pic>
        <p:nvPicPr>
          <p:cNvPr id="10" name="Image 9">
            <a:extLst>
              <a:ext uri="{FF2B5EF4-FFF2-40B4-BE49-F238E27FC236}">
                <a16:creationId xmlns:a16="http://schemas.microsoft.com/office/drawing/2014/main" id="{AD9254AF-0709-2DB6-56C1-6F95A366C0FF}"/>
              </a:ext>
            </a:extLst>
          </p:cNvPr>
          <p:cNvPicPr>
            <a:picLocks noChangeAspect="1"/>
          </p:cNvPicPr>
          <p:nvPr/>
        </p:nvPicPr>
        <p:blipFill rotWithShape="1">
          <a:blip r:embed="rId3"/>
          <a:srcRect l="63060" t="4985"/>
          <a:stretch/>
        </p:blipFill>
        <p:spPr>
          <a:xfrm>
            <a:off x="7017026" y="2415334"/>
            <a:ext cx="2001005" cy="1514475"/>
          </a:xfrm>
          <a:prstGeom prst="rect">
            <a:avLst/>
          </a:prstGeom>
        </p:spPr>
      </p:pic>
      <p:sp>
        <p:nvSpPr>
          <p:cNvPr id="11" name="ZoneTexte 10">
            <a:extLst>
              <a:ext uri="{FF2B5EF4-FFF2-40B4-BE49-F238E27FC236}">
                <a16:creationId xmlns:a16="http://schemas.microsoft.com/office/drawing/2014/main" id="{63426C90-32F7-414E-105B-5D67AEC3905A}"/>
              </a:ext>
            </a:extLst>
          </p:cNvPr>
          <p:cNvSpPr txBox="1"/>
          <p:nvPr/>
        </p:nvSpPr>
        <p:spPr>
          <a:xfrm>
            <a:off x="813816" y="3886592"/>
            <a:ext cx="6281530" cy="369332"/>
          </a:xfrm>
          <a:prstGeom prst="rect">
            <a:avLst/>
          </a:prstGeom>
          <a:noFill/>
        </p:spPr>
        <p:txBody>
          <a:bodyPr wrap="square">
            <a:spAutoFit/>
          </a:bodyPr>
          <a:lstStyle/>
          <a:p>
            <a:r>
              <a:rPr lang="fr-FR" b="1" u="sng" kern="100" dirty="0">
                <a:solidFill>
                  <a:srgbClr val="000000"/>
                </a:solidFill>
                <a:latin typeface="Times New Roman" panose="02020603050405020304" pitchFamily="18" charset="0"/>
                <a:cs typeface="Times New Roman" panose="02020603050405020304" pitchFamily="18" charset="0"/>
              </a:rPr>
              <a:t>Remarque 2</a:t>
            </a:r>
          </a:p>
        </p:txBody>
      </p:sp>
      <p:sp>
        <p:nvSpPr>
          <p:cNvPr id="14" name="ZoneTexte 13">
            <a:extLst>
              <a:ext uri="{FF2B5EF4-FFF2-40B4-BE49-F238E27FC236}">
                <a16:creationId xmlns:a16="http://schemas.microsoft.com/office/drawing/2014/main" id="{6B510721-48C9-3775-4D21-1B66DC80DB5F}"/>
              </a:ext>
            </a:extLst>
          </p:cNvPr>
          <p:cNvSpPr txBox="1"/>
          <p:nvPr/>
        </p:nvSpPr>
        <p:spPr>
          <a:xfrm>
            <a:off x="725555" y="4183869"/>
            <a:ext cx="10812347" cy="646331"/>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Les mêmes règles sont valables pour les cycloalcènes, à l’exception de donner la priorité à la double liaison pour la numérotation si le cycloalcène est ramifié.</a:t>
            </a:r>
          </a:p>
        </p:txBody>
      </p:sp>
      <p:graphicFrame>
        <p:nvGraphicFramePr>
          <p:cNvPr id="15" name="Objet 14">
            <a:extLst>
              <a:ext uri="{FF2B5EF4-FFF2-40B4-BE49-F238E27FC236}">
                <a16:creationId xmlns:a16="http://schemas.microsoft.com/office/drawing/2014/main" id="{6006102E-81D8-029D-3BBF-A042E6D7F927}"/>
              </a:ext>
            </a:extLst>
          </p:cNvPr>
          <p:cNvGraphicFramePr>
            <a:graphicFrameLocks noChangeAspect="1"/>
          </p:cNvGraphicFramePr>
          <p:nvPr>
            <p:extLst>
              <p:ext uri="{D42A27DB-BD31-4B8C-83A1-F6EECF244321}">
                <p14:modId xmlns:p14="http://schemas.microsoft.com/office/powerpoint/2010/main" val="1808809907"/>
              </p:ext>
            </p:extLst>
          </p:nvPr>
        </p:nvGraphicFramePr>
        <p:xfrm>
          <a:off x="5132112" y="4626547"/>
          <a:ext cx="2747577" cy="1570950"/>
        </p:xfrm>
        <a:graphic>
          <a:graphicData uri="http://schemas.openxmlformats.org/presentationml/2006/ole">
            <mc:AlternateContent xmlns:mc="http://schemas.openxmlformats.org/markup-compatibility/2006">
              <mc:Choice xmlns:v="urn:schemas-microsoft-com:vml" Requires="v">
                <p:oleObj name="CS ChemDraw Drawing" r:id="rId4" imgW="2784037" imgH="1592404" progId="ChemDraw.Document.6.0">
                  <p:embed/>
                </p:oleObj>
              </mc:Choice>
              <mc:Fallback>
                <p:oleObj name="CS ChemDraw Drawing" r:id="rId4" imgW="2784037" imgH="1592404" progId="ChemDraw.Document.6.0">
                  <p:embed/>
                  <p:pic>
                    <p:nvPicPr>
                      <p:cNvPr id="4" name="Objet 3">
                        <a:extLst>
                          <a:ext uri="{FF2B5EF4-FFF2-40B4-BE49-F238E27FC236}">
                            <a16:creationId xmlns:a16="http://schemas.microsoft.com/office/drawing/2014/main" id="{AA2FB17F-E2D0-42C3-9589-C2A24D0F0B83}"/>
                          </a:ext>
                        </a:extLst>
                      </p:cNvPr>
                      <p:cNvPicPr/>
                      <p:nvPr/>
                    </p:nvPicPr>
                    <p:blipFill>
                      <a:blip r:embed="rId5"/>
                      <a:stretch>
                        <a:fillRect/>
                      </a:stretch>
                    </p:blipFill>
                    <p:spPr>
                      <a:xfrm>
                        <a:off x="5132112" y="4626547"/>
                        <a:ext cx="2747577" cy="1570950"/>
                      </a:xfrm>
                      <a:prstGeom prst="rect">
                        <a:avLst/>
                      </a:prstGeom>
                    </p:spPr>
                  </p:pic>
                </p:oleObj>
              </mc:Fallback>
            </mc:AlternateContent>
          </a:graphicData>
        </a:graphic>
      </p:graphicFrame>
      <p:sp>
        <p:nvSpPr>
          <p:cNvPr id="16" name="ZoneTexte 15">
            <a:extLst>
              <a:ext uri="{FF2B5EF4-FFF2-40B4-BE49-F238E27FC236}">
                <a16:creationId xmlns:a16="http://schemas.microsoft.com/office/drawing/2014/main" id="{7FD8D50B-6583-595F-C34B-1B94A9FB30F2}"/>
              </a:ext>
            </a:extLst>
          </p:cNvPr>
          <p:cNvSpPr txBox="1"/>
          <p:nvPr/>
        </p:nvSpPr>
        <p:spPr>
          <a:xfrm>
            <a:off x="2105025" y="2577535"/>
            <a:ext cx="3990975" cy="923330"/>
          </a:xfrm>
          <a:prstGeom prst="rect">
            <a:avLst/>
          </a:prstGeom>
          <a:noFill/>
        </p:spPr>
        <p:txBody>
          <a:bodyPr wrap="square" rtlCol="0">
            <a:spAutoFit/>
          </a:bodyPr>
          <a:lstStyle/>
          <a:p>
            <a:pPr algn="ctr"/>
            <a:r>
              <a:rPr lang="fr-FR" dirty="0">
                <a:solidFill>
                  <a:schemeClr val="accent2">
                    <a:lumMod val="60000"/>
                    <a:lumOff val="40000"/>
                  </a:schemeClr>
                </a:solidFill>
                <a:latin typeface="Times New Roman" panose="02020603050405020304" pitchFamily="18" charset="0"/>
                <a:cs typeface="Times New Roman" panose="02020603050405020304" pitchFamily="18" charset="0"/>
              </a:rPr>
              <a:t>1-chloro-2-méthyl-4-propylcyclopentane</a:t>
            </a:r>
            <a:br>
              <a:rPr lang="fr-FR" dirty="0">
                <a:solidFill>
                  <a:schemeClr val="accent2">
                    <a:lumMod val="60000"/>
                    <a:lumOff val="40000"/>
                  </a:schemeClr>
                </a:solidFill>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et non</a:t>
            </a:r>
            <a:br>
              <a:rPr lang="fr-FR" dirty="0">
                <a:latin typeface="Times New Roman" panose="02020603050405020304" pitchFamily="18" charset="0"/>
                <a:cs typeface="Times New Roman" panose="02020603050405020304" pitchFamily="18" charset="0"/>
              </a:rPr>
            </a:br>
            <a:r>
              <a:rPr lang="fr-FR" dirty="0">
                <a:solidFill>
                  <a:srgbClr val="FF0000"/>
                </a:solidFill>
                <a:latin typeface="Times New Roman" panose="02020603050405020304" pitchFamily="18" charset="0"/>
                <a:cs typeface="Times New Roman" panose="02020603050405020304" pitchFamily="18" charset="0"/>
              </a:rPr>
              <a:t>2-chloro-1-méthyl-4-propylcyclopentane</a:t>
            </a: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020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9650-1F74-477E-0377-01012305142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A7BC05-E112-F1B0-5C9F-8D7E5E1016C7}"/>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29509AE5-468E-82FE-D837-65EE9FDF0E55}"/>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9B0AEE2F-5FA3-7098-397A-B80DE8ABDD0E}"/>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9C11EFFF-C352-B386-1D34-B12CA27371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F90563A-3738-31BE-E336-FBB232974ADA}"/>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p:txBody>
      </p:sp>
      <p:sp>
        <p:nvSpPr>
          <p:cNvPr id="9" name="ZoneTexte 8">
            <a:extLst>
              <a:ext uri="{FF2B5EF4-FFF2-40B4-BE49-F238E27FC236}">
                <a16:creationId xmlns:a16="http://schemas.microsoft.com/office/drawing/2014/main" id="{A8BE8615-8553-C1EE-69AE-61141412D5B0}"/>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52C5DD71-11E3-0B04-36E2-23F81DB958F3}"/>
              </a:ext>
            </a:extLst>
          </p:cNvPr>
          <p:cNvSpPr>
            <a:spLocks noChangeArrowheads="1"/>
          </p:cNvSpPr>
          <p:nvPr/>
        </p:nvSpPr>
        <p:spPr bwMode="auto">
          <a:xfrm>
            <a:off x="1535140" y="1227177"/>
            <a:ext cx="28158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III. 2.	Cycles aromatiques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0" name="ZoneTexte 9">
            <a:extLst>
              <a:ext uri="{FF2B5EF4-FFF2-40B4-BE49-F238E27FC236}">
                <a16:creationId xmlns:a16="http://schemas.microsoft.com/office/drawing/2014/main" id="{EA36E7E1-C9E5-976C-00F5-FE2DB4DE2424}"/>
              </a:ext>
            </a:extLst>
          </p:cNvPr>
          <p:cNvSpPr txBox="1"/>
          <p:nvPr/>
        </p:nvSpPr>
        <p:spPr>
          <a:xfrm>
            <a:off x="774060" y="1692847"/>
            <a:ext cx="11187684" cy="390684"/>
          </a:xfrm>
          <a:prstGeom prst="rect">
            <a:avLst/>
          </a:prstGeom>
          <a:noFill/>
        </p:spPr>
        <p:txBody>
          <a:bodyPr wrap="square">
            <a:spAutoFit/>
          </a:bodyPr>
          <a:lstStyle/>
          <a:p>
            <a:pPr>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Les atomes de carbone dans les cycles aromatiques sont hybridés sp</a:t>
            </a:r>
            <a:r>
              <a:rPr lang="fr-FR" sz="1800" kern="100" baseline="30000" dirty="0">
                <a:effectLst/>
                <a:latin typeface="Times New Roman" panose="02020603050405020304" pitchFamily="18" charset="0"/>
                <a:ea typeface="Calibri" panose="020F0502020204030204" pitchFamily="34" charset="0"/>
                <a:cs typeface="Arial" panose="020B0604020202020204" pitchFamily="34" charset="0"/>
              </a:rPr>
              <a:t>2</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 Dans ce cours, on n’utilise que des noms triviaux.</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16DA6D4D-B93C-E427-E678-44544B64CBF5}"/>
              </a:ext>
            </a:extLst>
          </p:cNvPr>
          <p:cNvPicPr>
            <a:picLocks noChangeAspect="1"/>
          </p:cNvPicPr>
          <p:nvPr/>
        </p:nvPicPr>
        <p:blipFill>
          <a:blip r:embed="rId3"/>
          <a:stretch>
            <a:fillRect/>
          </a:stretch>
        </p:blipFill>
        <p:spPr>
          <a:xfrm>
            <a:off x="2458755" y="2135841"/>
            <a:ext cx="7274491" cy="4066968"/>
          </a:xfrm>
          <a:prstGeom prst="rect">
            <a:avLst/>
          </a:prstGeom>
        </p:spPr>
      </p:pic>
    </p:spTree>
    <p:extLst>
      <p:ext uri="{BB962C8B-B14F-4D97-AF65-F5344CB8AC3E}">
        <p14:creationId xmlns:p14="http://schemas.microsoft.com/office/powerpoint/2010/main" val="2592189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0933-0219-4DEE-4660-C1582C45866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4B29CB2-330B-85A8-134F-C2AD2362541E}"/>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B9C3FA3F-5BDC-243D-FCC2-217DF8992D67}"/>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29FB9FC3-67E0-8D5D-7DF3-3804F0FBCE7E}"/>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F27CFADD-AEC0-3FE3-DDF4-010EA1E5D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4AF32AAE-F49A-0EDB-4AEE-41FEE087AA41}"/>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III.	 Nomenclature des composes cycliques</a:t>
            </a:r>
          </a:p>
        </p:txBody>
      </p:sp>
      <p:sp>
        <p:nvSpPr>
          <p:cNvPr id="9" name="ZoneTexte 8">
            <a:extLst>
              <a:ext uri="{FF2B5EF4-FFF2-40B4-BE49-F238E27FC236}">
                <a16:creationId xmlns:a16="http://schemas.microsoft.com/office/drawing/2014/main" id="{974B02B9-4AE1-BC2C-2E88-2018EFF0AF68}"/>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E8BEA5BD-FCA0-8F6E-E5C1-37FC218B272E}"/>
              </a:ext>
            </a:extLst>
          </p:cNvPr>
          <p:cNvSpPr>
            <a:spLocks noChangeArrowheads="1"/>
          </p:cNvSpPr>
          <p:nvPr/>
        </p:nvSpPr>
        <p:spPr bwMode="auto">
          <a:xfrm>
            <a:off x="1535140" y="1227177"/>
            <a:ext cx="2142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III. 3.	Hétérocycles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38EB3F0A-286B-22C4-561F-44D4D91A3732}"/>
              </a:ext>
            </a:extLst>
          </p:cNvPr>
          <p:cNvSpPr txBox="1"/>
          <p:nvPr/>
        </p:nvSpPr>
        <p:spPr>
          <a:xfrm>
            <a:off x="813816" y="1918933"/>
            <a:ext cx="10934236" cy="709233"/>
          </a:xfrm>
          <a:prstGeom prst="rect">
            <a:avLst/>
          </a:prstGeom>
          <a:noFill/>
        </p:spPr>
        <p:txBody>
          <a:bodyPr wrap="square">
            <a:spAutoFit/>
          </a:bodyPr>
          <a:lstStyle/>
          <a:p>
            <a:pPr>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Les règles de nomenclature IUPAC pour les hétérocycles ne seront pas traitées dans ce programme, cependant on donnera quelques noms triviaux des hétérocycles.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Image 7">
            <a:extLst>
              <a:ext uri="{FF2B5EF4-FFF2-40B4-BE49-F238E27FC236}">
                <a16:creationId xmlns:a16="http://schemas.microsoft.com/office/drawing/2014/main" id="{14E76ED8-7483-37FC-A455-90B6EDCDE667}"/>
              </a:ext>
            </a:extLst>
          </p:cNvPr>
          <p:cNvPicPr>
            <a:picLocks noChangeAspect="1"/>
          </p:cNvPicPr>
          <p:nvPr/>
        </p:nvPicPr>
        <p:blipFill>
          <a:blip r:embed="rId3"/>
          <a:stretch>
            <a:fillRect/>
          </a:stretch>
        </p:blipFill>
        <p:spPr>
          <a:xfrm>
            <a:off x="2214034" y="3072978"/>
            <a:ext cx="6377515" cy="1488248"/>
          </a:xfrm>
          <a:prstGeom prst="rect">
            <a:avLst/>
          </a:prstGeom>
        </p:spPr>
      </p:pic>
    </p:spTree>
    <p:extLst>
      <p:ext uri="{BB962C8B-B14F-4D97-AF65-F5344CB8AC3E}">
        <p14:creationId xmlns:p14="http://schemas.microsoft.com/office/powerpoint/2010/main" val="716356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7573A-3373-B3BD-649D-7FB98ECE1CD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0D34E82-2B19-2D93-E083-F3AC88B3D308}"/>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C9273496-91ED-E36B-CF37-18017BBE7351}"/>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73D0FCF6-93D9-1BD1-319D-D5EBC4C51B1C}"/>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3B99ED55-20AB-438F-3A22-C42CF2B04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03D1048-6ACD-CCCF-8E26-60888FD8C418}"/>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9EB24AAD-AE93-2F99-7685-275E124E7DD4}"/>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8FA46C28-6C2B-19B7-084D-FF2EEC76CC68}"/>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4" name="ZoneTexte 13">
            <a:extLst>
              <a:ext uri="{FF2B5EF4-FFF2-40B4-BE49-F238E27FC236}">
                <a16:creationId xmlns:a16="http://schemas.microsoft.com/office/drawing/2014/main" id="{D403E105-7754-AC3D-4A47-2D003BA5BACD}"/>
              </a:ext>
            </a:extLst>
          </p:cNvPr>
          <p:cNvSpPr txBox="1"/>
          <p:nvPr/>
        </p:nvSpPr>
        <p:spPr>
          <a:xfrm>
            <a:off x="993084" y="1775694"/>
            <a:ext cx="10576063" cy="3554627"/>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composé est dit à fonction simple s’il contient un seul groupe fonctionnel (qui est un atome ou groupe d’atomes) qui caractérise une fonction.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Règle n°8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UIPAC</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La chaîne principale contient la fonction principale, le plus d’insaturation, le plus grand nombre de carbones et le plus de ramifications.</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effectLst/>
                <a:latin typeface="Times New Roman" panose="02020603050405020304" pitchFamily="18" charset="0"/>
                <a:ea typeface="Calibri" panose="020F0502020204030204" pitchFamily="34" charset="0"/>
                <a:cs typeface="Arial" panose="020B0604020202020204" pitchFamily="34" charset="0"/>
              </a:rPr>
              <a:t>PIN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La chaîne principale est celle qui possède la fonction et le plus grand nombre de carbones.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Règle n°9 : </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On numérote cette chaîne de manière à attribuer à la fonction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principale le plus petit indice possible.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1073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ADCB4-105A-B885-DFB2-B8D75F8055A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5325F80-C3AB-F78B-A163-EC226DBD4DCE}"/>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57420A7-5F8A-73EF-43AB-692AFE321751}"/>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78E00AD0-263B-7C26-100F-8509CEF94E3F}"/>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572F27FE-0186-3F58-8647-2F8B51545A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1AA2AED4-BC21-6A65-1E1B-12027A797CA4}"/>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4AE306F7-3CA5-BEF4-49D0-152AD227E697}"/>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C4F914AB-8D7C-6DBE-769C-B3D36C11F5A6}"/>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au 4">
            <a:extLst>
              <a:ext uri="{FF2B5EF4-FFF2-40B4-BE49-F238E27FC236}">
                <a16:creationId xmlns:a16="http://schemas.microsoft.com/office/drawing/2014/main" id="{B2FB78C2-F0AA-BABB-1BCC-5C964965CE0B}"/>
              </a:ext>
            </a:extLst>
          </p:cNvPr>
          <p:cNvGraphicFramePr>
            <a:graphicFrameLocks noGrp="1"/>
          </p:cNvGraphicFramePr>
          <p:nvPr>
            <p:extLst>
              <p:ext uri="{D42A27DB-BD31-4B8C-83A1-F6EECF244321}">
                <p14:modId xmlns:p14="http://schemas.microsoft.com/office/powerpoint/2010/main" val="1465385148"/>
              </p:ext>
            </p:extLst>
          </p:nvPr>
        </p:nvGraphicFramePr>
        <p:xfrm>
          <a:off x="2105025" y="2035502"/>
          <a:ext cx="7953375" cy="4136720"/>
        </p:xfrm>
        <a:graphic>
          <a:graphicData uri="http://schemas.openxmlformats.org/drawingml/2006/table">
            <a:tbl>
              <a:tblPr firstRow="1" firstCol="1" bandRow="1">
                <a:tableStyleId>{72833802-FEF1-4C79-8D5D-14CF1EAF98D9}</a:tableStyleId>
              </a:tblPr>
              <a:tblGrid>
                <a:gridCol w="1986480">
                  <a:extLst>
                    <a:ext uri="{9D8B030D-6E8A-4147-A177-3AD203B41FA5}">
                      <a16:colId xmlns:a16="http://schemas.microsoft.com/office/drawing/2014/main" val="1791882574"/>
                    </a:ext>
                  </a:extLst>
                </a:gridCol>
                <a:gridCol w="1790722">
                  <a:extLst>
                    <a:ext uri="{9D8B030D-6E8A-4147-A177-3AD203B41FA5}">
                      <a16:colId xmlns:a16="http://schemas.microsoft.com/office/drawing/2014/main" val="4043270489"/>
                    </a:ext>
                  </a:extLst>
                </a:gridCol>
                <a:gridCol w="2296895">
                  <a:extLst>
                    <a:ext uri="{9D8B030D-6E8A-4147-A177-3AD203B41FA5}">
                      <a16:colId xmlns:a16="http://schemas.microsoft.com/office/drawing/2014/main" val="1746394160"/>
                    </a:ext>
                  </a:extLst>
                </a:gridCol>
                <a:gridCol w="1879278">
                  <a:extLst>
                    <a:ext uri="{9D8B030D-6E8A-4147-A177-3AD203B41FA5}">
                      <a16:colId xmlns:a16="http://schemas.microsoft.com/office/drawing/2014/main" val="1546544611"/>
                    </a:ext>
                  </a:extLst>
                </a:gridCol>
              </a:tblGrid>
              <a:tr h="295480">
                <a:tc>
                  <a:txBody>
                    <a:bodyPr/>
                    <a:lstStyle/>
                    <a:p>
                      <a:pPr algn="just">
                        <a:lnSpc>
                          <a:spcPct val="115000"/>
                        </a:lnSpc>
                        <a:spcAft>
                          <a:spcPts val="800"/>
                        </a:spcAft>
                      </a:pPr>
                      <a:r>
                        <a:rPr lang="fr-MA" sz="1200" b="1" kern="100" dirty="0">
                          <a:effectLst/>
                          <a:latin typeface="Times New Roman" panose="02020603050405020304" pitchFamily="18" charset="0"/>
                          <a:cs typeface="Times New Roman" panose="02020603050405020304" pitchFamily="18" charset="0"/>
                        </a:rPr>
                        <a:t>Fonction</a:t>
                      </a:r>
                      <a:endParaRPr lang="en-US"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Formule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Suffixe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Préfixe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2992164"/>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Acide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RCOOH</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Ac. H.C. oïque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carboxy</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04179325"/>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Anhydride d’acide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RCOOCOR’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Anhydride. H.C. oïque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 </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43165366"/>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Ester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RCOOR’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 oate d’alkyle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alkoxycarbonyle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0898512"/>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Halogénure d’acide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RCOX</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Halogénue d’alkoyle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halogénoformyle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6058222"/>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Amide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RCONH</a:t>
                      </a:r>
                      <a:r>
                        <a:rPr lang="fr-MA" sz="1200" b="1" kern="100" baseline="-25000">
                          <a:effectLst/>
                          <a:latin typeface="Times New Roman" panose="02020603050405020304" pitchFamily="18" charset="0"/>
                          <a:cs typeface="Times New Roman" panose="02020603050405020304" pitchFamily="18" charset="0"/>
                        </a:rPr>
                        <a:t>2</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H.C.amide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alcanamide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63864132"/>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Nitrile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RC≡N</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H.C.nitrile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cyano</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80596897"/>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Aldéhyde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RCHO</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H.C.al</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dirty="0">
                          <a:effectLst/>
                          <a:latin typeface="Times New Roman" panose="02020603050405020304" pitchFamily="18" charset="0"/>
                          <a:cs typeface="Times New Roman" panose="02020603050405020304" pitchFamily="18" charset="0"/>
                        </a:rPr>
                        <a:t>oxo ou formyle</a:t>
                      </a:r>
                      <a:endParaRPr lang="en-US"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32166822"/>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Cétone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RCOR’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H.C.one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dirty="0">
                          <a:effectLst/>
                          <a:latin typeface="Times New Roman" panose="02020603050405020304" pitchFamily="18" charset="0"/>
                          <a:cs typeface="Times New Roman" panose="02020603050405020304" pitchFamily="18" charset="0"/>
                        </a:rPr>
                        <a:t>oxo</a:t>
                      </a:r>
                      <a:endParaRPr lang="en-US"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5397253"/>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Alcool</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ROH</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H.C.ol</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hydroxy</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7524440"/>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Amine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RNH</a:t>
                      </a:r>
                      <a:r>
                        <a:rPr lang="fr-MA" sz="1200" b="1" kern="100" baseline="-25000">
                          <a:effectLst/>
                          <a:latin typeface="Times New Roman" panose="02020603050405020304" pitchFamily="18" charset="0"/>
                          <a:cs typeface="Times New Roman" panose="02020603050405020304" pitchFamily="18" charset="0"/>
                        </a:rPr>
                        <a:t>2</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H.C.amine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amino</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36381537"/>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Composé nitré</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RNO</a:t>
                      </a:r>
                      <a:r>
                        <a:rPr lang="fr-MA" sz="1200" b="1" kern="100" baseline="-25000">
                          <a:effectLst/>
                          <a:latin typeface="Times New Roman" panose="02020603050405020304" pitchFamily="18" charset="0"/>
                          <a:cs typeface="Times New Roman" panose="02020603050405020304" pitchFamily="18" charset="0"/>
                        </a:rPr>
                        <a:t>2</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Jamais en suffixe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nitro</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1039577"/>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Composé halogéné</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RX</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Jamais en suffixe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halogéno</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5941615"/>
                  </a:ext>
                </a:extLst>
              </a:tr>
              <a:tr h="295480">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Ether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ROR’</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a:effectLst/>
                          <a:latin typeface="Times New Roman" panose="02020603050405020304" pitchFamily="18" charset="0"/>
                          <a:cs typeface="Times New Roman" panose="02020603050405020304" pitchFamily="18" charset="0"/>
                        </a:rPr>
                        <a:t>Jamais en suffixe</a:t>
                      </a:r>
                      <a:endParaRPr lang="en-US" sz="11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800"/>
                        </a:spcAft>
                      </a:pPr>
                      <a:r>
                        <a:rPr lang="fr-MA" sz="1200" b="1" kern="100" dirty="0" err="1">
                          <a:effectLst/>
                          <a:latin typeface="Times New Roman" panose="02020603050405020304" pitchFamily="18" charset="0"/>
                          <a:cs typeface="Times New Roman" panose="02020603050405020304" pitchFamily="18" charset="0"/>
                        </a:rPr>
                        <a:t>alkoxy</a:t>
                      </a:r>
                      <a:endParaRPr lang="en-US" sz="11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97508321"/>
                  </a:ext>
                </a:extLst>
              </a:tr>
            </a:tbl>
          </a:graphicData>
        </a:graphic>
      </p:graphicFrame>
      <p:sp>
        <p:nvSpPr>
          <p:cNvPr id="7" name="Rectangle 1">
            <a:extLst>
              <a:ext uri="{FF2B5EF4-FFF2-40B4-BE49-F238E27FC236}">
                <a16:creationId xmlns:a16="http://schemas.microsoft.com/office/drawing/2014/main" id="{0D31F032-A5FD-08D0-698B-22CE6EEDD152}"/>
              </a:ext>
            </a:extLst>
          </p:cNvPr>
          <p:cNvSpPr>
            <a:spLocks noChangeArrowheads="1"/>
          </p:cNvSpPr>
          <p:nvPr/>
        </p:nvSpPr>
        <p:spPr bwMode="auto">
          <a:xfrm>
            <a:off x="3628501" y="1712337"/>
            <a:ext cx="47931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Tableau : Ordre de priorité des principales fonctions</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949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26939-65B2-043F-C001-BFCBE5360DE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C1F4C1A-A604-1182-56A1-7A414D2AA72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D8EEE73E-C366-C65A-E7F0-2FBF3168F257}"/>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B2075B39-52E2-4D6E-BB99-4DF5C02C92B8}"/>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5103F3D8-6CF3-6DE0-2732-9808F6B13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151F07E-822E-4586-9B02-9D87C44788B3}"/>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EBE12860-A229-0E33-9569-6EE971627EAD}"/>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FCB011A8-7A61-0F99-CC86-9B76CD66D883}"/>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E08B9FCA-E1F0-002C-1DCB-3B245718E590}"/>
              </a:ext>
            </a:extLst>
          </p:cNvPr>
          <p:cNvSpPr>
            <a:spLocks noChangeArrowheads="1"/>
          </p:cNvSpPr>
          <p:nvPr/>
        </p:nvSpPr>
        <p:spPr bwMode="auto">
          <a:xfrm>
            <a:off x="1535140" y="1620996"/>
            <a:ext cx="30267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1.	Acides carboxyliques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14" name="ZoneTexte 13">
            <a:extLst>
              <a:ext uri="{FF2B5EF4-FFF2-40B4-BE49-F238E27FC236}">
                <a16:creationId xmlns:a16="http://schemas.microsoft.com/office/drawing/2014/main" id="{6D12AC5E-D9D8-CBAB-FE4E-0694296F2268}"/>
              </a:ext>
            </a:extLst>
          </p:cNvPr>
          <p:cNvSpPr txBox="1"/>
          <p:nvPr/>
        </p:nvSpPr>
        <p:spPr>
          <a:xfrm>
            <a:off x="813815" y="1999075"/>
            <a:ext cx="10646001" cy="1429926"/>
          </a:xfrm>
          <a:prstGeom prst="rect">
            <a:avLst/>
          </a:prstGeom>
          <a:noFill/>
        </p:spPr>
        <p:txBody>
          <a:bodyPr wrap="square">
            <a:spAutoFit/>
          </a:bodyPr>
          <a:lstStyle/>
          <a:p>
            <a:pPr>
              <a:lnSpc>
                <a:spcPct val="115000"/>
              </a:lnSpc>
              <a:spcAft>
                <a:spcPts val="6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r>
              <a:rPr lang="fr-FR" sz="1800" b="1"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oïque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utilisé lorsque le carbone du groupe acide carboxylique fait partie du groupe de base (chaîne ou cycle principal).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-carboxylique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utilisé lorsque le carbone du groupe acide carboxylique ne fait pas partie du groupe de base (cycle)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Image 6">
            <a:extLst>
              <a:ext uri="{FF2B5EF4-FFF2-40B4-BE49-F238E27FC236}">
                <a16:creationId xmlns:a16="http://schemas.microsoft.com/office/drawing/2014/main" id="{C243432D-7FB8-A964-FB5B-F0E786A942D8}"/>
              </a:ext>
            </a:extLst>
          </p:cNvPr>
          <p:cNvPicPr>
            <a:picLocks noChangeAspect="1"/>
          </p:cNvPicPr>
          <p:nvPr/>
        </p:nvPicPr>
        <p:blipFill>
          <a:blip r:embed="rId3"/>
          <a:stretch>
            <a:fillRect/>
          </a:stretch>
        </p:blipFill>
        <p:spPr>
          <a:xfrm>
            <a:off x="1869826" y="3855613"/>
            <a:ext cx="8322724" cy="1876903"/>
          </a:xfrm>
          <a:prstGeom prst="rect">
            <a:avLst/>
          </a:prstGeom>
        </p:spPr>
      </p:pic>
    </p:spTree>
    <p:extLst>
      <p:ext uri="{BB962C8B-B14F-4D97-AF65-F5344CB8AC3E}">
        <p14:creationId xmlns:p14="http://schemas.microsoft.com/office/powerpoint/2010/main" val="144605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34C94-88E0-EFD7-4801-29990AA1800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5DDB1E6-7BF6-1DCE-B61D-3C4C439C202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0C4AFB48-8B3B-2222-066E-F368D6B0EA0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17D59F5D-AEE1-2E1D-0A62-4985CC2F4222}"/>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B26EAF1D-4542-4BD0-85B0-A7D3B320A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C881704C-A30B-62BD-E561-4F64AD80DC83}"/>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1DFE8AE4-5215-E21C-B272-F1B6FB90E368}"/>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5623F1AC-56E5-850E-8A84-C11E1C0E4511}"/>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34103A13-ED1E-701D-0239-FB0B004C3558}"/>
              </a:ext>
            </a:extLst>
          </p:cNvPr>
          <p:cNvSpPr>
            <a:spLocks noChangeArrowheads="1"/>
          </p:cNvSpPr>
          <p:nvPr/>
        </p:nvSpPr>
        <p:spPr bwMode="auto">
          <a:xfrm>
            <a:off x="1535140" y="1620996"/>
            <a:ext cx="28889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2.	Anhydrides d’acide</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43A5AC0F-7B1F-E584-4B9E-2BCA845E9FC6}"/>
              </a:ext>
            </a:extLst>
          </p:cNvPr>
          <p:cNvSpPr txBox="1"/>
          <p:nvPr/>
        </p:nvSpPr>
        <p:spPr>
          <a:xfrm>
            <a:off x="813815" y="1915496"/>
            <a:ext cx="5746011" cy="1346331"/>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anhydrides d’acide sont deux molécules </a:t>
            </a:r>
            <a:r>
              <a:rPr lang="fr-FR"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d’acides condensé.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Leur nomenclature est très simple, il suffit de remplacer le mot acide par </a:t>
            </a: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anhydride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et de conserver le reste de la nomenclature de l’acide de base.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Image 15">
            <a:extLst>
              <a:ext uri="{FF2B5EF4-FFF2-40B4-BE49-F238E27FC236}">
                <a16:creationId xmlns:a16="http://schemas.microsoft.com/office/drawing/2014/main" id="{1764A11A-738C-AB4A-4488-DA08343D28A7}"/>
              </a:ext>
            </a:extLst>
          </p:cNvPr>
          <p:cNvPicPr>
            <a:picLocks noChangeAspect="1"/>
          </p:cNvPicPr>
          <p:nvPr/>
        </p:nvPicPr>
        <p:blipFill rotWithShape="1">
          <a:blip r:embed="rId3"/>
          <a:srcRect l="27806" r="28326"/>
          <a:stretch/>
        </p:blipFill>
        <p:spPr>
          <a:xfrm>
            <a:off x="7281151" y="1620996"/>
            <a:ext cx="3647661" cy="1481851"/>
          </a:xfrm>
          <a:prstGeom prst="rect">
            <a:avLst/>
          </a:prstGeom>
        </p:spPr>
      </p:pic>
      <p:sp>
        <p:nvSpPr>
          <p:cNvPr id="18" name="ZoneTexte 17">
            <a:extLst>
              <a:ext uri="{FF2B5EF4-FFF2-40B4-BE49-F238E27FC236}">
                <a16:creationId xmlns:a16="http://schemas.microsoft.com/office/drawing/2014/main" id="{48D48089-19BC-E1C6-348A-14CA1674332C}"/>
              </a:ext>
            </a:extLst>
          </p:cNvPr>
          <p:cNvSpPr txBox="1"/>
          <p:nvPr/>
        </p:nvSpPr>
        <p:spPr>
          <a:xfrm>
            <a:off x="813815" y="3408201"/>
            <a:ext cx="5537289" cy="1664879"/>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Dans le cas d’anhydrides mixtes, on place le nom des deux acides par ordre alphabétique. Les anhydrides mixtes (substituants différents) sont nommés en faisant suivre le mot </a:t>
            </a:r>
            <a:r>
              <a:rPr lang="fr-FR" sz="18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anhydride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séparés par un tiret et cités dans l’ordre alphabétique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9" name="Image 18">
            <a:extLst>
              <a:ext uri="{FF2B5EF4-FFF2-40B4-BE49-F238E27FC236}">
                <a16:creationId xmlns:a16="http://schemas.microsoft.com/office/drawing/2014/main" id="{52BCE9C6-A180-B427-17DD-C7D9D1DA53BD}"/>
              </a:ext>
            </a:extLst>
          </p:cNvPr>
          <p:cNvPicPr>
            <a:picLocks noChangeAspect="1"/>
          </p:cNvPicPr>
          <p:nvPr/>
        </p:nvPicPr>
        <p:blipFill rotWithShape="1">
          <a:blip r:embed="rId4"/>
          <a:srcRect l="31088" r="29127"/>
          <a:stretch/>
        </p:blipFill>
        <p:spPr>
          <a:xfrm>
            <a:off x="7540967" y="3261827"/>
            <a:ext cx="3128028" cy="1584090"/>
          </a:xfrm>
          <a:prstGeom prst="rect">
            <a:avLst/>
          </a:prstGeom>
        </p:spPr>
      </p:pic>
      <p:sp>
        <p:nvSpPr>
          <p:cNvPr id="21" name="ZoneTexte 20">
            <a:extLst>
              <a:ext uri="{FF2B5EF4-FFF2-40B4-BE49-F238E27FC236}">
                <a16:creationId xmlns:a16="http://schemas.microsoft.com/office/drawing/2014/main" id="{A6D7183F-0076-8A41-1C53-DCC9AD565380}"/>
              </a:ext>
            </a:extLst>
          </p:cNvPr>
          <p:cNvSpPr txBox="1"/>
          <p:nvPr/>
        </p:nvSpPr>
        <p:spPr>
          <a:xfrm>
            <a:off x="847359" y="5237004"/>
            <a:ext cx="5444110" cy="1027782"/>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anhydrides cycliques sont nommés, comme les anhydrides symétriques, on se réfère au nom du diacide correspondant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6" name="Image 25">
            <a:extLst>
              <a:ext uri="{FF2B5EF4-FFF2-40B4-BE49-F238E27FC236}">
                <a16:creationId xmlns:a16="http://schemas.microsoft.com/office/drawing/2014/main" id="{634ADA46-4BD4-F0C8-8779-B792712AD0B2}"/>
              </a:ext>
            </a:extLst>
          </p:cNvPr>
          <p:cNvPicPr>
            <a:picLocks noChangeAspect="1"/>
          </p:cNvPicPr>
          <p:nvPr/>
        </p:nvPicPr>
        <p:blipFill>
          <a:blip r:embed="rId5"/>
          <a:stretch>
            <a:fillRect/>
          </a:stretch>
        </p:blipFill>
        <p:spPr>
          <a:xfrm>
            <a:off x="6676106" y="5148470"/>
            <a:ext cx="1813125" cy="1116316"/>
          </a:xfrm>
          <a:prstGeom prst="rect">
            <a:avLst/>
          </a:prstGeom>
        </p:spPr>
      </p:pic>
      <p:pic>
        <p:nvPicPr>
          <p:cNvPr id="33" name="Image 32">
            <a:extLst>
              <a:ext uri="{FF2B5EF4-FFF2-40B4-BE49-F238E27FC236}">
                <a16:creationId xmlns:a16="http://schemas.microsoft.com/office/drawing/2014/main" id="{DC12C160-56ED-B833-F56B-C03D1363DC4D}"/>
              </a:ext>
            </a:extLst>
          </p:cNvPr>
          <p:cNvPicPr>
            <a:picLocks noChangeAspect="1"/>
          </p:cNvPicPr>
          <p:nvPr/>
        </p:nvPicPr>
        <p:blipFill>
          <a:blip r:embed="rId6"/>
          <a:stretch>
            <a:fillRect/>
          </a:stretch>
        </p:blipFill>
        <p:spPr>
          <a:xfrm>
            <a:off x="9338579" y="5310581"/>
            <a:ext cx="1629396" cy="977638"/>
          </a:xfrm>
          <a:prstGeom prst="rect">
            <a:avLst/>
          </a:prstGeom>
        </p:spPr>
      </p:pic>
    </p:spTree>
    <p:extLst>
      <p:ext uri="{BB962C8B-B14F-4D97-AF65-F5344CB8AC3E}">
        <p14:creationId xmlns:p14="http://schemas.microsoft.com/office/powerpoint/2010/main" val="2555717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305E-1CDD-DCC4-3FCD-28271FDE42F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D076C49-AC53-848A-FA35-34F52E24D03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6DBE97D4-504C-F00D-489C-9901CD8488E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8249E48B-DB63-73DA-B31C-0F16C4316C34}"/>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96D00FA5-136B-E83E-0066-EDE60230A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7941D0C-7613-C09E-BFED-D7FB91701028}"/>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039B971F-2586-9720-A56B-28EB81B6F1A9}"/>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CE12B803-888B-A9B7-6F28-0D33799C9A8D}"/>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B02CBDE3-A6EE-68F7-E70C-069A4C88ADF1}"/>
              </a:ext>
            </a:extLst>
          </p:cNvPr>
          <p:cNvSpPr>
            <a:spLocks noChangeArrowheads="1"/>
          </p:cNvSpPr>
          <p:nvPr/>
        </p:nvSpPr>
        <p:spPr bwMode="auto">
          <a:xfrm>
            <a:off x="1535140" y="1620996"/>
            <a:ext cx="17203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3.	Esters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F73E8490-AAAA-D644-AA0F-06F93B167D1B}"/>
              </a:ext>
            </a:extLst>
          </p:cNvPr>
          <p:cNvSpPr txBox="1"/>
          <p:nvPr/>
        </p:nvSpPr>
        <p:spPr>
          <a:xfrm>
            <a:off x="813816" y="2350270"/>
            <a:ext cx="10894480" cy="709233"/>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esters sont nommés en remplaçant, dans le nom de l’alcane, la terminaison </a:t>
            </a:r>
            <a:r>
              <a:rPr lang="fr-FR" sz="1800" b="1" i="1"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ane</a:t>
            </a:r>
            <a:r>
              <a:rPr lang="fr-FR" sz="18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par la terminaison -</a:t>
            </a:r>
            <a:r>
              <a:rPr lang="fr-FR" sz="1800" b="1" i="1"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anoate</a:t>
            </a:r>
            <a:r>
              <a:rPr lang="fr-FR" sz="18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en faisant suivre cette dénomination par le nom du groupe alkyle ou aryle.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4806C13F-61D0-4973-5DDB-33E9FE78973D}"/>
              </a:ext>
            </a:extLst>
          </p:cNvPr>
          <p:cNvPicPr>
            <a:picLocks noChangeAspect="1"/>
          </p:cNvPicPr>
          <p:nvPr/>
        </p:nvPicPr>
        <p:blipFill rotWithShape="1">
          <a:blip r:embed="rId3"/>
          <a:srcRect l="37527" r="36779"/>
          <a:stretch/>
        </p:blipFill>
        <p:spPr>
          <a:xfrm>
            <a:off x="4781965" y="3994358"/>
            <a:ext cx="1877252" cy="1278885"/>
          </a:xfrm>
          <a:prstGeom prst="rect">
            <a:avLst/>
          </a:prstGeom>
        </p:spPr>
      </p:pic>
    </p:spTree>
    <p:extLst>
      <p:ext uri="{BB962C8B-B14F-4D97-AF65-F5344CB8AC3E}">
        <p14:creationId xmlns:p14="http://schemas.microsoft.com/office/powerpoint/2010/main" val="3643153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86D33-A180-71E2-5C26-0AAC96F5C0B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821B7B3-7952-EDF8-4B3E-0149D6CA82CB}"/>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07188856-6E6E-DDFE-FFC2-B7FD449EC6D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AF3CA7A8-7BF6-ED0A-FF9D-4F29942D3466}"/>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AAB3E33-8310-9767-2DE7-5489AC7805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31D3422-0BC7-2A99-D186-ED18EA46F7B6}"/>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0B4CEC0B-B0B3-FE91-90C0-F1D83D3F5664}"/>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992DCE03-1401-5B1F-F39D-2196B01BD0D2}"/>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BF2CCCB-B548-FF49-384D-1C7AAF2B9601}"/>
              </a:ext>
            </a:extLst>
          </p:cNvPr>
          <p:cNvSpPr>
            <a:spLocks noChangeArrowheads="1"/>
          </p:cNvSpPr>
          <p:nvPr/>
        </p:nvSpPr>
        <p:spPr bwMode="auto">
          <a:xfrm>
            <a:off x="1535140" y="1620996"/>
            <a:ext cx="28868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4.	Halogénure d’acide</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ADB7ABCF-84EF-984A-49B6-BC2A4C92C7F8}"/>
              </a:ext>
            </a:extLst>
          </p:cNvPr>
          <p:cNvSpPr txBox="1"/>
          <p:nvPr/>
        </p:nvSpPr>
        <p:spPr>
          <a:xfrm>
            <a:off x="813816" y="2190995"/>
            <a:ext cx="10705636" cy="709233"/>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remplace dans le nom de l'acide correspondant la terminaison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oïque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par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oyle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Les halogénures d'acyles (R-COX) sont nommés en faisant précéder le nom du groupe acyle (RCO-) par le préfixe « halogénure de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4" name="Image 13">
            <a:extLst>
              <a:ext uri="{FF2B5EF4-FFF2-40B4-BE49-F238E27FC236}">
                <a16:creationId xmlns:a16="http://schemas.microsoft.com/office/drawing/2014/main" id="{99E850C1-4714-27CB-FE5E-31AA6565081D}"/>
              </a:ext>
            </a:extLst>
          </p:cNvPr>
          <p:cNvPicPr>
            <a:picLocks noChangeAspect="1"/>
          </p:cNvPicPr>
          <p:nvPr/>
        </p:nvPicPr>
        <p:blipFill rotWithShape="1">
          <a:blip r:embed="rId3"/>
          <a:srcRect b="22983"/>
          <a:stretch/>
        </p:blipFill>
        <p:spPr>
          <a:xfrm>
            <a:off x="1435504" y="3334226"/>
            <a:ext cx="8737896" cy="1638814"/>
          </a:xfrm>
          <a:prstGeom prst="rect">
            <a:avLst/>
          </a:prstGeom>
        </p:spPr>
      </p:pic>
    </p:spTree>
    <p:extLst>
      <p:ext uri="{BB962C8B-B14F-4D97-AF65-F5344CB8AC3E}">
        <p14:creationId xmlns:p14="http://schemas.microsoft.com/office/powerpoint/2010/main" val="179629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FDDCE-7159-CE55-E87E-143CFAFAEE78}"/>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001D035-2704-91F4-37D8-D801A595CADC}"/>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F2D08176-3828-A466-B6B5-8B13667C1FD0}"/>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7F5BFB3B-A4BE-04BC-95F4-B308BE75DB32}"/>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A4E9AB43-D49C-E5A4-4EC0-C8F4880C1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1AD8F570-64AA-5FC5-4516-53BD11A7A03D}"/>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E7A748C3-8E07-371C-273E-8083F755DF61}"/>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918FF1CE-3739-E35E-A6E2-DA8B82B76847}"/>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6C183FF-ABF3-1F92-C896-8738AAF78099}"/>
              </a:ext>
            </a:extLst>
          </p:cNvPr>
          <p:cNvSpPr>
            <a:spLocks noChangeArrowheads="1"/>
          </p:cNvSpPr>
          <p:nvPr/>
        </p:nvSpPr>
        <p:spPr bwMode="auto">
          <a:xfrm>
            <a:off x="1535140" y="1620996"/>
            <a:ext cx="18341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5.	Amides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21C5E7D7-93E5-66EF-4623-3A73C00F895A}"/>
              </a:ext>
            </a:extLst>
          </p:cNvPr>
          <p:cNvSpPr txBox="1"/>
          <p:nvPr/>
        </p:nvSpPr>
        <p:spPr>
          <a:xfrm>
            <a:off x="813815" y="2154927"/>
            <a:ext cx="10606245" cy="709233"/>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-amide est utilisé lorsque le carbone du groupe amide fait partie du groupe de base (chaîne ou cycle principal).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5B11804A-C8EB-E15A-83BB-FACDC9254066}"/>
              </a:ext>
            </a:extLst>
          </p:cNvPr>
          <p:cNvPicPr>
            <a:picLocks noChangeAspect="1"/>
          </p:cNvPicPr>
          <p:nvPr/>
        </p:nvPicPr>
        <p:blipFill rotWithShape="1">
          <a:blip r:embed="rId3"/>
          <a:srcRect b="26632"/>
          <a:stretch/>
        </p:blipFill>
        <p:spPr>
          <a:xfrm>
            <a:off x="1829032" y="2546484"/>
            <a:ext cx="8533936" cy="1524730"/>
          </a:xfrm>
          <a:prstGeom prst="rect">
            <a:avLst/>
          </a:prstGeom>
        </p:spPr>
      </p:pic>
      <p:sp>
        <p:nvSpPr>
          <p:cNvPr id="17" name="ZoneTexte 16">
            <a:extLst>
              <a:ext uri="{FF2B5EF4-FFF2-40B4-BE49-F238E27FC236}">
                <a16:creationId xmlns:a16="http://schemas.microsoft.com/office/drawing/2014/main" id="{DF469CFE-ABE4-3B43-CE22-718377A58B9F}"/>
              </a:ext>
            </a:extLst>
          </p:cNvPr>
          <p:cNvSpPr txBox="1"/>
          <p:nvPr/>
        </p:nvSpPr>
        <p:spPr>
          <a:xfrm>
            <a:off x="914400" y="4201647"/>
            <a:ext cx="10406270" cy="390684"/>
          </a:xfrm>
          <a:prstGeom prst="rect">
            <a:avLst/>
          </a:prstGeom>
          <a:noFill/>
        </p:spPr>
        <p:txBody>
          <a:bodyPr wrap="square">
            <a:spAutoFit/>
          </a:bodyPr>
          <a:lstStyle/>
          <a:p>
            <a:pPr>
              <a:lnSpc>
                <a:spcPct val="115000"/>
              </a:lnSpc>
              <a:spcBef>
                <a:spcPts val="1200"/>
              </a:spcBef>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carboxamide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utilisé lorsque le carbone du groupe amide ne fait pas partie du groupe de base.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0" name="Image 19">
            <a:extLst>
              <a:ext uri="{FF2B5EF4-FFF2-40B4-BE49-F238E27FC236}">
                <a16:creationId xmlns:a16="http://schemas.microsoft.com/office/drawing/2014/main" id="{9EEA087A-D335-99D7-8B61-8B7FED06129F}"/>
              </a:ext>
            </a:extLst>
          </p:cNvPr>
          <p:cNvPicPr>
            <a:picLocks noChangeAspect="1"/>
          </p:cNvPicPr>
          <p:nvPr/>
        </p:nvPicPr>
        <p:blipFill rotWithShape="1">
          <a:blip r:embed="rId4"/>
          <a:srcRect l="35457" r="35917"/>
          <a:stretch/>
        </p:blipFill>
        <p:spPr>
          <a:xfrm>
            <a:off x="4785691" y="4726109"/>
            <a:ext cx="2400300" cy="1716071"/>
          </a:xfrm>
          <a:prstGeom prst="rect">
            <a:avLst/>
          </a:prstGeom>
        </p:spPr>
      </p:pic>
      <p:pic>
        <p:nvPicPr>
          <p:cNvPr id="23555" name="Picture 3">
            <a:extLst>
              <a:ext uri="{FF2B5EF4-FFF2-40B4-BE49-F238E27FC236}">
                <a16:creationId xmlns:a16="http://schemas.microsoft.com/office/drawing/2014/main" id="{F4C567F8-892F-4F51-A4D0-86249F6500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 cy="584200"/>
          </a:xfrm>
          <a:prstGeom prst="rect">
            <a:avLst/>
          </a:prstGeom>
          <a:noFill/>
          <a:extLst>
            <a:ext uri="{909E8E84-426E-40DD-AFC4-6F175D3DCCD1}">
              <a14:hiddenFill xmlns:a14="http://schemas.microsoft.com/office/drawing/2010/main">
                <a:solidFill>
                  <a:srgbClr val="FFFFFF"/>
                </a:solidFill>
              </a14:hiddenFill>
            </a:ext>
          </a:extLst>
        </p:spPr>
      </p:pic>
      <p:pic>
        <p:nvPicPr>
          <p:cNvPr id="23554" name="Picture 2">
            <a:extLst>
              <a:ext uri="{FF2B5EF4-FFF2-40B4-BE49-F238E27FC236}">
                <a16:creationId xmlns:a16="http://schemas.microsoft.com/office/drawing/2014/main" id="{9614D305-BE3F-7DE2-CABE-3A0442B26C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35100" cy="584200"/>
          </a:xfrm>
          <a:prstGeom prst="rect">
            <a:avLst/>
          </a:prstGeom>
          <a:noFill/>
          <a:extLst>
            <a:ext uri="{909E8E84-426E-40DD-AFC4-6F175D3DCCD1}">
              <a14:hiddenFill xmlns:a14="http://schemas.microsoft.com/office/drawing/2010/main">
                <a:solidFill>
                  <a:srgbClr val="FFFFFF"/>
                </a:solidFill>
              </a14:hiddenFill>
            </a:ext>
          </a:extLst>
        </p:spPr>
      </p:pic>
      <p:pic>
        <p:nvPicPr>
          <p:cNvPr id="23553" name="Picture 1">
            <a:extLst>
              <a:ext uri="{FF2B5EF4-FFF2-40B4-BE49-F238E27FC236}">
                <a16:creationId xmlns:a16="http://schemas.microsoft.com/office/drawing/2014/main" id="{CC7BA492-48B1-CCC4-8B3B-EEC9B0C7D3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041400" cy="72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996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43A4-9880-4B4D-3075-F17AA578D08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C962B45-4DD5-2F79-0B38-EF0274FCA1B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EC4301BC-745B-F86B-B373-606D19D01850}"/>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DCC82531-348E-CBE0-F1A2-8CEFB5936423}"/>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3D827A8F-5C86-D080-539C-C29937D55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24FFF6F-0404-8249-ACAF-93C239545182}"/>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FCBAC600-6BFB-06AC-3C70-2C1B0B37C52D}"/>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D69CA1B3-1FF3-538C-51B1-1B9718DA2038}"/>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3143D327-B56F-C94A-571C-A62CAE116DFD}"/>
              </a:ext>
            </a:extLst>
          </p:cNvPr>
          <p:cNvSpPr>
            <a:spLocks noChangeArrowheads="1"/>
          </p:cNvSpPr>
          <p:nvPr/>
        </p:nvSpPr>
        <p:spPr bwMode="auto">
          <a:xfrm>
            <a:off x="1535140" y="1620996"/>
            <a:ext cx="20842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6.	Aldéhydes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C9E5526C-45C2-9677-9A87-551DA1E13154}"/>
              </a:ext>
            </a:extLst>
          </p:cNvPr>
          <p:cNvSpPr txBox="1"/>
          <p:nvPr/>
        </p:nvSpPr>
        <p:spPr>
          <a:xfrm>
            <a:off x="813815" y="2078007"/>
            <a:ext cx="10486975" cy="1142271"/>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–al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utilisé lorsque le carbone du groupe aldéhyde fait partie du groupe de base (chaîne ou cycle principal).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suffixe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carbaldéhyde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utilisé lorsque le carbone du groupe aldéhyde ne fait pas partie du groupe de base.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EC0AB251-8166-521B-3D72-F9DA5D2EDC19}"/>
              </a:ext>
            </a:extLst>
          </p:cNvPr>
          <p:cNvPicPr>
            <a:picLocks noChangeAspect="1"/>
          </p:cNvPicPr>
          <p:nvPr/>
        </p:nvPicPr>
        <p:blipFill>
          <a:blip r:embed="rId3"/>
          <a:stretch>
            <a:fillRect/>
          </a:stretch>
        </p:blipFill>
        <p:spPr>
          <a:xfrm>
            <a:off x="1725060" y="3701775"/>
            <a:ext cx="8850482" cy="1734929"/>
          </a:xfrm>
          <a:prstGeom prst="rect">
            <a:avLst/>
          </a:prstGeom>
        </p:spPr>
      </p:pic>
    </p:spTree>
    <p:extLst>
      <p:ext uri="{BB962C8B-B14F-4D97-AF65-F5344CB8AC3E}">
        <p14:creationId xmlns:p14="http://schemas.microsoft.com/office/powerpoint/2010/main" val="4244591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CEB7-F3AA-B120-D6E9-BE7A21AC0D8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965E02A-91EF-56BE-47E6-C2B238AE6B69}"/>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A73BF01A-49CE-5982-4C0C-CF285C2FC9E9}"/>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BCE13B0B-CFDA-B48D-930C-464BDD9C5012}"/>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822E944D-E7E7-7AAF-A39F-CFF4C862F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1B2C9BA-F67E-3981-7B20-7CE6F1053B69}"/>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C87B6315-BA09-29A1-60DB-39F0CEF480AD}"/>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16CBCC6C-619A-466F-198C-14D2F9FCA259}"/>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294F8721-CBC6-35A2-4C30-6AF252B46A2F}"/>
              </a:ext>
            </a:extLst>
          </p:cNvPr>
          <p:cNvSpPr>
            <a:spLocks noChangeArrowheads="1"/>
          </p:cNvSpPr>
          <p:nvPr/>
        </p:nvSpPr>
        <p:spPr bwMode="auto">
          <a:xfrm>
            <a:off x="1535140" y="1620996"/>
            <a:ext cx="18678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7.	Cétones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54E15A36-13CA-3AA2-EF42-140F51995940}"/>
              </a:ext>
            </a:extLst>
          </p:cNvPr>
          <p:cNvSpPr txBox="1"/>
          <p:nvPr/>
        </p:nvSpPr>
        <p:spPr>
          <a:xfrm>
            <a:off x="813816" y="2119978"/>
            <a:ext cx="10616184" cy="709233"/>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ajoute le suffixe "one" au nom de l'hydrocarbure correspondant avec élision du e muet précédé d'un indice de position.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Image 9">
            <a:extLst>
              <a:ext uri="{FF2B5EF4-FFF2-40B4-BE49-F238E27FC236}">
                <a16:creationId xmlns:a16="http://schemas.microsoft.com/office/drawing/2014/main" id="{5AA7422B-5B85-3991-EBBF-C7A0A5D90EDD}"/>
              </a:ext>
            </a:extLst>
          </p:cNvPr>
          <p:cNvPicPr>
            <a:picLocks noChangeAspect="1"/>
          </p:cNvPicPr>
          <p:nvPr/>
        </p:nvPicPr>
        <p:blipFill rotWithShape="1">
          <a:blip r:embed="rId3"/>
          <a:srcRect l="16203" r="13398" b="17656"/>
          <a:stretch/>
        </p:blipFill>
        <p:spPr>
          <a:xfrm>
            <a:off x="3402958" y="3096864"/>
            <a:ext cx="6088911" cy="2303078"/>
          </a:xfrm>
          <a:prstGeom prst="rect">
            <a:avLst/>
          </a:prstGeom>
        </p:spPr>
      </p:pic>
    </p:spTree>
    <p:extLst>
      <p:ext uri="{BB962C8B-B14F-4D97-AF65-F5344CB8AC3E}">
        <p14:creationId xmlns:p14="http://schemas.microsoft.com/office/powerpoint/2010/main" val="2582215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6287-CAAD-C46B-EFB0-F99573C63C6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CDACB14-3341-1DD0-4658-8E679CE28F90}"/>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D2150A1-D331-2747-878E-1EB982E308FD}"/>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7541E67-1D28-378F-74DB-06F664B00723}"/>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BC1F69D2-3D36-073A-6318-2DB895FDA5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7DEDB52-FC83-2ECF-8BE5-6492FC1CE05A}"/>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96E0E003-DDA6-5113-6CE8-4725A2C5A2FD}"/>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0BD724EF-98A9-D204-A131-98FC40208EC2}"/>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B56B333E-4544-CB28-4D26-DFA394FEA0BE}"/>
              </a:ext>
            </a:extLst>
          </p:cNvPr>
          <p:cNvSpPr>
            <a:spLocks noChangeArrowheads="1"/>
          </p:cNvSpPr>
          <p:nvPr/>
        </p:nvSpPr>
        <p:spPr bwMode="auto">
          <a:xfrm>
            <a:off x="1535140" y="1620996"/>
            <a:ext cx="18117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8.	Alcools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79D9A41C-124E-9182-D895-C1761306D15E}"/>
              </a:ext>
            </a:extLst>
          </p:cNvPr>
          <p:cNvSpPr txBox="1"/>
          <p:nvPr/>
        </p:nvSpPr>
        <p:spPr>
          <a:xfrm>
            <a:off x="695739" y="2229558"/>
            <a:ext cx="11062252" cy="709233"/>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utilise le suffixe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ol</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à la place de "e" terminal de l’hydrocarbure correspondant. Si la molécule contient plus d’une fonction alcool, la terminaison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ol</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précédée d'un préfixe multiplicatif di, tri …. (diols, triols…)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Image 9">
            <a:extLst>
              <a:ext uri="{FF2B5EF4-FFF2-40B4-BE49-F238E27FC236}">
                <a16:creationId xmlns:a16="http://schemas.microsoft.com/office/drawing/2014/main" id="{DD963206-A4E8-684F-EC5D-D580721F5E3F}"/>
              </a:ext>
            </a:extLst>
          </p:cNvPr>
          <p:cNvPicPr>
            <a:picLocks noChangeAspect="1"/>
          </p:cNvPicPr>
          <p:nvPr/>
        </p:nvPicPr>
        <p:blipFill rotWithShape="1">
          <a:blip r:embed="rId3"/>
          <a:srcRect b="19496"/>
          <a:stretch/>
        </p:blipFill>
        <p:spPr>
          <a:xfrm>
            <a:off x="1820797" y="3637763"/>
            <a:ext cx="8525838" cy="1749485"/>
          </a:xfrm>
          <a:prstGeom prst="rect">
            <a:avLst/>
          </a:prstGeom>
        </p:spPr>
      </p:pic>
    </p:spTree>
    <p:extLst>
      <p:ext uri="{BB962C8B-B14F-4D97-AF65-F5344CB8AC3E}">
        <p14:creationId xmlns:p14="http://schemas.microsoft.com/office/powerpoint/2010/main" val="2711475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B814E-B154-9037-F041-D5F5BFBE975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0A9478E6-652D-A137-C397-1D1FC491AAA2}"/>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E23C16BA-9677-B0A1-4982-C350870D93AD}"/>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5B4C58E-8623-CC21-DAD4-7929B940E995}"/>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4B6FF50F-2DC1-4782-15F8-63D1953DE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DD53F5D-BF82-F350-3930-FCCA71180481}"/>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C4A606E6-3484-CC51-8263-8CCC3714578C}"/>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482EC5CF-AC8E-B223-4497-E189589CD545}"/>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B578AA24-ADAF-957B-C002-4DB452E63447}"/>
              </a:ext>
            </a:extLst>
          </p:cNvPr>
          <p:cNvSpPr>
            <a:spLocks noChangeArrowheads="1"/>
          </p:cNvSpPr>
          <p:nvPr/>
        </p:nvSpPr>
        <p:spPr bwMode="auto">
          <a:xfrm>
            <a:off x="1535140" y="1620996"/>
            <a:ext cx="18341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9.	Amines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96592C7E-373E-9414-2CE2-1D4D4E7C49B9}"/>
              </a:ext>
            </a:extLst>
          </p:cNvPr>
          <p:cNvSpPr txBox="1"/>
          <p:nvPr/>
        </p:nvSpPr>
        <p:spPr>
          <a:xfrm>
            <a:off x="4370949" y="1568866"/>
            <a:ext cx="6281530" cy="390684"/>
          </a:xfrm>
          <a:prstGeom prst="rect">
            <a:avLst/>
          </a:prstGeom>
          <a:noFill/>
        </p:spPr>
        <p:txBody>
          <a:bodyPr wrap="square">
            <a:spAutoFit/>
          </a:bodyPr>
          <a:lstStyle/>
          <a:p>
            <a:pPr lvl="0" algn="just" rtl="0">
              <a:lnSpc>
                <a:spcPct val="115000"/>
              </a:lnSpc>
              <a:spcAft>
                <a:spcPts val="800"/>
              </a:spcAft>
            </a:pPr>
            <a:r>
              <a:rPr lang="fr-FR" sz="1800" b="1" i="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Amine primaire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Flèche : droite 9">
            <a:extLst>
              <a:ext uri="{FF2B5EF4-FFF2-40B4-BE49-F238E27FC236}">
                <a16:creationId xmlns:a16="http://schemas.microsoft.com/office/drawing/2014/main" id="{34DBF24C-64DE-1FA5-0BA5-B0DA6DE3B4D2}"/>
              </a:ext>
            </a:extLst>
          </p:cNvPr>
          <p:cNvSpPr/>
          <p:nvPr/>
        </p:nvSpPr>
        <p:spPr>
          <a:xfrm>
            <a:off x="3568148" y="1705634"/>
            <a:ext cx="467139" cy="169277"/>
          </a:xfrm>
          <a:prstGeom prst="rightArrow">
            <a:avLst/>
          </a:prstGeom>
          <a:no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5" name="ZoneTexte 14">
            <a:extLst>
              <a:ext uri="{FF2B5EF4-FFF2-40B4-BE49-F238E27FC236}">
                <a16:creationId xmlns:a16="http://schemas.microsoft.com/office/drawing/2014/main" id="{9381DEB1-8A40-CE2D-5F9E-452D5168564C}"/>
              </a:ext>
            </a:extLst>
          </p:cNvPr>
          <p:cNvSpPr txBox="1"/>
          <p:nvPr/>
        </p:nvSpPr>
        <p:spPr>
          <a:xfrm>
            <a:off x="729357" y="1874911"/>
            <a:ext cx="10968999" cy="113037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amines primaires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RNH</a:t>
            </a:r>
            <a:r>
              <a:rPr lang="fr-FR" sz="1800" b="1"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2</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sont nommées soit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SzPts val="1300"/>
              <a:buFont typeface="TimesNewRomanPSMT"/>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En ajoutant la terminaison amine au nom du radical R. L’atome du carbone directement lié à l’atome d’azote porte le numéro 1.</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Image 15">
            <a:extLst>
              <a:ext uri="{FF2B5EF4-FFF2-40B4-BE49-F238E27FC236}">
                <a16:creationId xmlns:a16="http://schemas.microsoft.com/office/drawing/2014/main" id="{EE8906C6-6C3A-EB9E-CA78-5FABFFBF7497}"/>
              </a:ext>
            </a:extLst>
          </p:cNvPr>
          <p:cNvPicPr>
            <a:picLocks noChangeAspect="1"/>
          </p:cNvPicPr>
          <p:nvPr/>
        </p:nvPicPr>
        <p:blipFill rotWithShape="1">
          <a:blip r:embed="rId3"/>
          <a:srcRect l="8169" t="1" r="4862" b="28712"/>
          <a:stretch/>
        </p:blipFill>
        <p:spPr>
          <a:xfrm>
            <a:off x="2956061" y="2770344"/>
            <a:ext cx="7350818" cy="1470484"/>
          </a:xfrm>
          <a:prstGeom prst="rect">
            <a:avLst/>
          </a:prstGeom>
        </p:spPr>
      </p:pic>
      <p:sp>
        <p:nvSpPr>
          <p:cNvPr id="18" name="ZoneTexte 17">
            <a:extLst>
              <a:ext uri="{FF2B5EF4-FFF2-40B4-BE49-F238E27FC236}">
                <a16:creationId xmlns:a16="http://schemas.microsoft.com/office/drawing/2014/main" id="{ED67A4C4-9CEC-5925-4EE8-29EFE0196031}"/>
              </a:ext>
            </a:extLst>
          </p:cNvPr>
          <p:cNvSpPr txBox="1"/>
          <p:nvPr/>
        </p:nvSpPr>
        <p:spPr>
          <a:xfrm>
            <a:off x="646871" y="4274539"/>
            <a:ext cx="10898257" cy="390684"/>
          </a:xfrm>
          <a:prstGeom prst="rect">
            <a:avLst/>
          </a:prstGeom>
          <a:noFill/>
        </p:spPr>
        <p:txBody>
          <a:bodyPr wrap="square">
            <a:spAutoFit/>
          </a:bodyPr>
          <a:lstStyle/>
          <a:p>
            <a:pPr marL="342900" lvl="0" indent="-342900" algn="just" rtl="0">
              <a:lnSpc>
                <a:spcPct val="115000"/>
              </a:lnSpc>
              <a:spcBef>
                <a:spcPts val="1200"/>
              </a:spcBef>
              <a:spcAft>
                <a:spcPts val="800"/>
              </a:spcAft>
              <a:buSzPts val="1300"/>
              <a:buFont typeface="TimesNewRomanPSMT"/>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en ajoutant le suffixe amine au nom de la chaîne hydrocarbonée (avec élision de la voyelle “e”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5" name="Image 24">
            <a:extLst>
              <a:ext uri="{FF2B5EF4-FFF2-40B4-BE49-F238E27FC236}">
                <a16:creationId xmlns:a16="http://schemas.microsoft.com/office/drawing/2014/main" id="{E4E08BCF-C3A1-DD40-72D9-0E8CA6BA23C8}"/>
              </a:ext>
            </a:extLst>
          </p:cNvPr>
          <p:cNvPicPr>
            <a:picLocks noChangeAspect="1"/>
          </p:cNvPicPr>
          <p:nvPr/>
        </p:nvPicPr>
        <p:blipFill>
          <a:blip r:embed="rId4"/>
          <a:stretch>
            <a:fillRect/>
          </a:stretch>
        </p:blipFill>
        <p:spPr>
          <a:xfrm>
            <a:off x="2960587" y="4893148"/>
            <a:ext cx="6901099" cy="1408776"/>
          </a:xfrm>
          <a:prstGeom prst="rect">
            <a:avLst/>
          </a:prstGeom>
        </p:spPr>
      </p:pic>
    </p:spTree>
    <p:extLst>
      <p:ext uri="{BB962C8B-B14F-4D97-AF65-F5344CB8AC3E}">
        <p14:creationId xmlns:p14="http://schemas.microsoft.com/office/powerpoint/2010/main" val="952375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53B9-78DD-74E5-A081-C5897603CBE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59D3B9F-36E8-2606-261B-A474E4FF2628}"/>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EDFFBC8B-EAE0-D830-7B60-3DA183A9825C}"/>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B85B4E78-029D-9BD5-3930-B0A35BDED019}"/>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877D70B-D8A1-EE32-DCA9-193C59B75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F19B1B25-A2CD-FC20-E467-CDF2FF559A1A}"/>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398B695A-744E-9648-6124-00443E53326E}"/>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0D507352-816E-E066-74BA-8895B309A456}"/>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D99C30EF-49FF-0899-2568-3494F3A1C1C5}"/>
              </a:ext>
            </a:extLst>
          </p:cNvPr>
          <p:cNvSpPr>
            <a:spLocks noChangeArrowheads="1"/>
          </p:cNvSpPr>
          <p:nvPr/>
        </p:nvSpPr>
        <p:spPr bwMode="auto">
          <a:xfrm>
            <a:off x="1535140" y="1620996"/>
            <a:ext cx="18341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9.	Amines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A10ECD64-1D47-7F24-3665-402C4467E64D}"/>
              </a:ext>
            </a:extLst>
          </p:cNvPr>
          <p:cNvSpPr txBox="1"/>
          <p:nvPr/>
        </p:nvSpPr>
        <p:spPr>
          <a:xfrm>
            <a:off x="4370949" y="1568866"/>
            <a:ext cx="6281530" cy="390684"/>
          </a:xfrm>
          <a:prstGeom prst="rect">
            <a:avLst/>
          </a:prstGeom>
          <a:noFill/>
        </p:spPr>
        <p:txBody>
          <a:bodyPr wrap="square">
            <a:spAutoFit/>
          </a:bodyPr>
          <a:lstStyle/>
          <a:p>
            <a:pPr lvl="0" algn="just" rtl="0">
              <a:lnSpc>
                <a:spcPct val="115000"/>
              </a:lnSpc>
              <a:spcAft>
                <a:spcPts val="800"/>
              </a:spcAft>
            </a:pPr>
            <a:r>
              <a:rPr lang="fr-MA" sz="1800" b="1" i="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Amine secondaire et amine tertiaire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Flèche : droite 9">
            <a:extLst>
              <a:ext uri="{FF2B5EF4-FFF2-40B4-BE49-F238E27FC236}">
                <a16:creationId xmlns:a16="http://schemas.microsoft.com/office/drawing/2014/main" id="{6541C600-DBAC-067A-9559-475290289DE1}"/>
              </a:ext>
            </a:extLst>
          </p:cNvPr>
          <p:cNvSpPr/>
          <p:nvPr/>
        </p:nvSpPr>
        <p:spPr>
          <a:xfrm>
            <a:off x="3568148" y="1705634"/>
            <a:ext cx="467139" cy="169277"/>
          </a:xfrm>
          <a:prstGeom prst="rightArrow">
            <a:avLst/>
          </a:prstGeom>
          <a:no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ZoneTexte 10">
            <a:extLst>
              <a:ext uri="{FF2B5EF4-FFF2-40B4-BE49-F238E27FC236}">
                <a16:creationId xmlns:a16="http://schemas.microsoft.com/office/drawing/2014/main" id="{5F496633-FC5E-6368-356B-A53D67AF5F1B}"/>
              </a:ext>
            </a:extLst>
          </p:cNvPr>
          <p:cNvSpPr txBox="1"/>
          <p:nvPr/>
        </p:nvSpPr>
        <p:spPr>
          <a:xfrm>
            <a:off x="813815" y="1911010"/>
            <a:ext cx="10695697" cy="1027782"/>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elles sont symétriques (les deux ou les trois groupes radicaux R sont identiques), les amines secondaires ou tertiaires sont nommées selon la même règle que les amines primaires, mais en faisant précéder le nom des groupes R par le préfixe multiplicatif di ou tri.</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Image 15">
            <a:extLst>
              <a:ext uri="{FF2B5EF4-FFF2-40B4-BE49-F238E27FC236}">
                <a16:creationId xmlns:a16="http://schemas.microsoft.com/office/drawing/2014/main" id="{2333387B-DD6D-CE1D-FC0D-39A697DC4920}"/>
              </a:ext>
            </a:extLst>
          </p:cNvPr>
          <p:cNvPicPr>
            <a:picLocks noChangeAspect="1"/>
          </p:cNvPicPr>
          <p:nvPr/>
        </p:nvPicPr>
        <p:blipFill rotWithShape="1">
          <a:blip r:embed="rId3"/>
          <a:srcRect l="16682" r="18846" b="26934"/>
          <a:stretch/>
        </p:blipFill>
        <p:spPr>
          <a:xfrm>
            <a:off x="3681627" y="2851795"/>
            <a:ext cx="4699121" cy="1299674"/>
          </a:xfrm>
          <a:prstGeom prst="rect">
            <a:avLst/>
          </a:prstGeom>
        </p:spPr>
      </p:pic>
      <p:sp>
        <p:nvSpPr>
          <p:cNvPr id="18" name="ZoneTexte 17">
            <a:extLst>
              <a:ext uri="{FF2B5EF4-FFF2-40B4-BE49-F238E27FC236}">
                <a16:creationId xmlns:a16="http://schemas.microsoft.com/office/drawing/2014/main" id="{70F79974-0F28-255D-8D3B-A5A8296CFE93}"/>
              </a:ext>
            </a:extLst>
          </p:cNvPr>
          <p:cNvSpPr txBox="1"/>
          <p:nvPr/>
        </p:nvSpPr>
        <p:spPr>
          <a:xfrm>
            <a:off x="813815" y="4211275"/>
            <a:ext cx="11033628" cy="1025730"/>
          </a:xfrm>
          <a:prstGeom prst="rect">
            <a:avLst/>
          </a:prstGeom>
          <a:noFill/>
        </p:spPr>
        <p:txBody>
          <a:bodyPr wrap="square">
            <a:spAutoFit/>
          </a:bodyPr>
          <a:lstStyle/>
          <a:p>
            <a:pPr algn="just">
              <a:lnSpc>
                <a:spcPct val="115000"/>
              </a:lnSpc>
              <a:spcBef>
                <a:spcPts val="1200"/>
              </a:spcBef>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amines mixtes sont nommées comme les amines primaires substituées à l’atome d’azote :  le groupe le plus long lié à l’azote (ou le plus compliqué ) est choisi pour constituer l’amine primaire. Les autres groupes liés à l’azote, sont précédés par la lettre N et énoncés dans l’ordre alphabétique.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2" name="Image 21">
            <a:extLst>
              <a:ext uri="{FF2B5EF4-FFF2-40B4-BE49-F238E27FC236}">
                <a16:creationId xmlns:a16="http://schemas.microsoft.com/office/drawing/2014/main" id="{15E00FD5-4470-99FF-E621-5073511DB9BF}"/>
              </a:ext>
            </a:extLst>
          </p:cNvPr>
          <p:cNvPicPr>
            <a:picLocks noChangeAspect="1"/>
          </p:cNvPicPr>
          <p:nvPr/>
        </p:nvPicPr>
        <p:blipFill rotWithShape="1">
          <a:blip r:embed="rId4"/>
          <a:srcRect b="27645"/>
          <a:stretch/>
        </p:blipFill>
        <p:spPr>
          <a:xfrm>
            <a:off x="3149303" y="5237004"/>
            <a:ext cx="5983808" cy="1025730"/>
          </a:xfrm>
          <a:prstGeom prst="rect">
            <a:avLst/>
          </a:prstGeom>
        </p:spPr>
      </p:pic>
    </p:spTree>
    <p:extLst>
      <p:ext uri="{BB962C8B-B14F-4D97-AF65-F5344CB8AC3E}">
        <p14:creationId xmlns:p14="http://schemas.microsoft.com/office/powerpoint/2010/main" val="746394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6C7E0-39AD-AFC5-BF08-64808BB8971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2F8A97E-56B7-2054-BCEC-1918D94E11F9}"/>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7B46C6F-7976-9107-CC38-C00A656FB5A8}"/>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DC740BB3-D2AA-AAD7-02C5-B8E28C16CBF5}"/>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BDD56919-D6D1-0D4B-B656-A41E59EF3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94A6814-610F-2279-5663-2C5EABC00BD7}"/>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60664816-629F-8B45-E7D8-E2C9E7505199}"/>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01D2D5C2-CACA-FE55-21F7-36C649B0E7B7}"/>
              </a:ext>
            </a:extLst>
          </p:cNvPr>
          <p:cNvSpPr>
            <a:spLocks noChangeArrowheads="1"/>
          </p:cNvSpPr>
          <p:nvPr/>
        </p:nvSpPr>
        <p:spPr bwMode="auto">
          <a:xfrm>
            <a:off x="1535140" y="1227177"/>
            <a:ext cx="26404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1.	Fonctions simples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161F42AF-7397-6EE6-3D00-A8F273D453B4}"/>
              </a:ext>
            </a:extLst>
          </p:cNvPr>
          <p:cNvSpPr>
            <a:spLocks noChangeArrowheads="1"/>
          </p:cNvSpPr>
          <p:nvPr/>
        </p:nvSpPr>
        <p:spPr bwMode="auto">
          <a:xfrm>
            <a:off x="1535140" y="1620996"/>
            <a:ext cx="17540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977900" algn="l"/>
                <a:tab pos="5756275" algn="r"/>
              </a:tabLst>
              <a:defRPr>
                <a:solidFill>
                  <a:schemeClr val="tx1"/>
                </a:solidFill>
                <a:latin typeface="Arial" panose="020B0604020202020204" pitchFamily="34" charset="0"/>
              </a:defRPr>
            </a:lvl9pPr>
          </a:lstStyle>
          <a:p>
            <a:pPr lvl="0" defTabSz="914400"/>
            <a:r>
              <a:rPr lang="fr-MA" altLang="en-US" sz="1600" b="1"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IV. 1. 10.	Ethers</a:t>
            </a:r>
            <a:endParaRPr kumimoji="0" lang="fr-FR" altLang="en-US" sz="2800" b="1"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E378738C-99F4-F44F-E821-ED9B1F31D129}"/>
              </a:ext>
            </a:extLst>
          </p:cNvPr>
          <p:cNvSpPr txBox="1"/>
          <p:nvPr/>
        </p:nvSpPr>
        <p:spPr>
          <a:xfrm>
            <a:off x="813815" y="2218816"/>
            <a:ext cx="10606245" cy="1130374"/>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éthers dérivés des alcools dans lesquels le proton hydroxylique est remplacé par un groupe alkyle –R’ (R-O-R’). Les éthers sont toujours désignés par le préfixe :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oxy</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(ne sont pas prioritaire).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chaîne la plus longue est le groupe principal R et le radical restant R’ est dérivé de l’alcool correspondant.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Image 15">
            <a:extLst>
              <a:ext uri="{FF2B5EF4-FFF2-40B4-BE49-F238E27FC236}">
                <a16:creationId xmlns:a16="http://schemas.microsoft.com/office/drawing/2014/main" id="{D2CD8032-2D95-4C51-142B-EF48EA03AB42}"/>
              </a:ext>
            </a:extLst>
          </p:cNvPr>
          <p:cNvPicPr>
            <a:picLocks noChangeAspect="1"/>
          </p:cNvPicPr>
          <p:nvPr/>
        </p:nvPicPr>
        <p:blipFill>
          <a:blip r:embed="rId3"/>
          <a:stretch>
            <a:fillRect/>
          </a:stretch>
        </p:blipFill>
        <p:spPr>
          <a:xfrm>
            <a:off x="2574441" y="3696710"/>
            <a:ext cx="5908128" cy="1540294"/>
          </a:xfrm>
          <a:prstGeom prst="rect">
            <a:avLst/>
          </a:prstGeom>
        </p:spPr>
      </p:pic>
    </p:spTree>
    <p:extLst>
      <p:ext uri="{BB962C8B-B14F-4D97-AF65-F5344CB8AC3E}">
        <p14:creationId xmlns:p14="http://schemas.microsoft.com/office/powerpoint/2010/main" val="3487207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09A8-96D7-13FD-DEBB-EBF66567A7B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0F0F720E-B45A-3376-9F4F-26EB156189D8}"/>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5C8719B-37F6-479C-9398-18DF4A16D7C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2BC6ED95-0393-F931-8D83-F9F1B8FA5AD1}"/>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144E677-A4D2-AC71-486B-D655A02ED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A3C32AAF-BF91-B932-FB42-FB935DE3489E}"/>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DD232AB3-A3B9-C1FE-FD4D-0BB1BC7DE484}"/>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66D7CAA1-28AE-E3B3-B4C5-0B99AE18E452}"/>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8DABC04E-DE3F-0D56-B478-0553D8A2B764}"/>
              </a:ext>
            </a:extLst>
          </p:cNvPr>
          <p:cNvSpPr txBox="1"/>
          <p:nvPr/>
        </p:nvSpPr>
        <p:spPr>
          <a:xfrm>
            <a:off x="813815" y="1820960"/>
            <a:ext cx="10675819" cy="3873176"/>
          </a:xfrm>
          <a:prstGeom prst="rect">
            <a:avLst/>
          </a:prstGeom>
          <a:noFill/>
        </p:spPr>
        <p:txBody>
          <a:bodyPr wrap="square">
            <a:spAutoFit/>
          </a:bodyPr>
          <a:lstStyle/>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n°10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IUPAC</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800"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La chaîne principale est celle qui contient le plus de fonctions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(maximum de fonctions)</a:t>
            </a:r>
            <a:r>
              <a:rPr lang="fr-FR" sz="1800"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le plus d'insaturations et plus de ramifications. </a:t>
            </a:r>
            <a:r>
              <a:rPr lang="fr-FR" sz="1800" kern="100" dirty="0">
                <a:solidFill>
                  <a:srgbClr val="FF0000"/>
                </a:solidFill>
                <a:effectLst/>
                <a:latin typeface="TimesNewRomanPSMT"/>
                <a:ea typeface="Calibri" panose="020F0502020204030204" pitchFamily="34" charset="0"/>
                <a:cs typeface="Arial" panose="020B0604020202020204" pitchFamily="34" charset="0"/>
              </a:rPr>
              <a:t>On numérote la chaîne principale de manière à attribuer à la fonction principale le plus petit indice possible</a:t>
            </a:r>
            <a:endParaRPr lang="en-US" sz="1600" kern="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PIN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La chaîne principale est celle qui possède la fonction prioritaire et le plus grand nombre de carbones.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endPar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n°11 :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nom de l’hydrocarbure (chaine principale) est suivi d’un suffixe, celui de la fonction prioritaire ; les ramifications et les autres fonctions (fonctions secondaires) sont mises en préfixe.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67628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D9FEE-38BC-8548-D671-D68BE2B3DB7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187FA1F-9B13-E688-883D-AD0B92FA1186}"/>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92866206-1F9F-70A2-4916-FFA368495702}"/>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B13533F4-2DFF-D423-FE7E-9CC5EAD3C84D}"/>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8BBEB292-F009-A011-23B3-573E1505CF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5960E00-58BA-34DC-BF0E-FE79E6F87AF1}"/>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FA7A552D-E49B-C9FF-602C-1FA8506D22AE}"/>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8FB3C985-732D-2B14-4043-CDB089317497}"/>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414B8C1A-BC65-2152-AA86-C651039E52D5}"/>
              </a:ext>
            </a:extLst>
          </p:cNvPr>
          <p:cNvSpPr txBox="1"/>
          <p:nvPr/>
        </p:nvSpPr>
        <p:spPr>
          <a:xfrm>
            <a:off x="813816" y="1652966"/>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1</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Image 7">
            <a:extLst>
              <a:ext uri="{FF2B5EF4-FFF2-40B4-BE49-F238E27FC236}">
                <a16:creationId xmlns:a16="http://schemas.microsoft.com/office/drawing/2014/main" id="{90BA54B3-75D6-F212-A123-EBA9A0215509}"/>
              </a:ext>
            </a:extLst>
          </p:cNvPr>
          <p:cNvPicPr>
            <a:picLocks noChangeAspect="1"/>
          </p:cNvPicPr>
          <p:nvPr/>
        </p:nvPicPr>
        <p:blipFill rotWithShape="1">
          <a:blip r:embed="rId3"/>
          <a:srcRect b="16013"/>
          <a:stretch/>
        </p:blipFill>
        <p:spPr>
          <a:xfrm>
            <a:off x="2496000" y="2138964"/>
            <a:ext cx="7200000" cy="3942903"/>
          </a:xfrm>
          <a:prstGeom prst="rect">
            <a:avLst/>
          </a:prstGeom>
        </p:spPr>
      </p:pic>
    </p:spTree>
    <p:extLst>
      <p:ext uri="{BB962C8B-B14F-4D97-AF65-F5344CB8AC3E}">
        <p14:creationId xmlns:p14="http://schemas.microsoft.com/office/powerpoint/2010/main" val="213512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D82C6-D64B-D92A-DD91-E799B7C8A05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7D74777-453F-6315-FD1B-BB034837D6EE}"/>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C7688A85-053A-9EF3-8BA2-BB0BE0AA5FF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354C29E-574F-75B0-3152-45BA595F4FD2}"/>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D651FC28-3835-D6AC-644A-2258A10C8F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8AF1264-AD24-191B-C98F-B62D3BBD3B0E}"/>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A978381A-523D-B82C-A102-C90E652F3FCA}"/>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2D930DC3-4C7B-BAEA-01D8-34A045E648AD}"/>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F3A85B19-DBF4-AA81-E188-0ED0B7156B04}"/>
              </a:ext>
            </a:extLst>
          </p:cNvPr>
          <p:cNvSpPr txBox="1"/>
          <p:nvPr/>
        </p:nvSpPr>
        <p:spPr>
          <a:xfrm>
            <a:off x="813816" y="1652966"/>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2</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911792C7-4AA7-2974-F891-FA69BA0916DD}"/>
              </a:ext>
            </a:extLst>
          </p:cNvPr>
          <p:cNvPicPr>
            <a:picLocks noChangeAspect="1"/>
          </p:cNvPicPr>
          <p:nvPr/>
        </p:nvPicPr>
        <p:blipFill rotWithShape="1">
          <a:blip r:embed="rId3"/>
          <a:srcRect b="9962"/>
          <a:stretch/>
        </p:blipFill>
        <p:spPr>
          <a:xfrm>
            <a:off x="2496000" y="2100107"/>
            <a:ext cx="7200000" cy="3786437"/>
          </a:xfrm>
          <a:prstGeom prst="rect">
            <a:avLst/>
          </a:prstGeom>
        </p:spPr>
      </p:pic>
    </p:spTree>
    <p:extLst>
      <p:ext uri="{BB962C8B-B14F-4D97-AF65-F5344CB8AC3E}">
        <p14:creationId xmlns:p14="http://schemas.microsoft.com/office/powerpoint/2010/main" val="1505823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8B9EA-E36F-D874-A048-F5BDCB61C7B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2A16F6C-8F70-A952-6CBD-7006491D1D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F9513302-EDEF-B1E9-9CC7-193F8F674790}"/>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476564FB-CF52-EB02-1A17-1D853B45EA04}"/>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CE86E848-BFB1-5771-D649-DDAF83F52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652DEE6F-4BD9-02D9-566F-0A79C233AAF6}"/>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EA2971B8-C1C7-B8B3-704F-083D9833B950}"/>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7303D6B8-6BA8-E086-B1C1-8B039F1033EE}"/>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65B78FD0-61B1-9C55-5C03-2E3DF3D71CBB}"/>
              </a:ext>
            </a:extLst>
          </p:cNvPr>
          <p:cNvSpPr txBox="1"/>
          <p:nvPr/>
        </p:nvSpPr>
        <p:spPr>
          <a:xfrm>
            <a:off x="813816" y="1652966"/>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Image 4">
            <a:extLst>
              <a:ext uri="{FF2B5EF4-FFF2-40B4-BE49-F238E27FC236}">
                <a16:creationId xmlns:a16="http://schemas.microsoft.com/office/drawing/2014/main" id="{5977B04C-F955-26C4-177C-0ADB5711EF1E}"/>
              </a:ext>
            </a:extLst>
          </p:cNvPr>
          <p:cNvPicPr>
            <a:picLocks noChangeAspect="1"/>
          </p:cNvPicPr>
          <p:nvPr/>
        </p:nvPicPr>
        <p:blipFill rotWithShape="1">
          <a:blip r:embed="rId3"/>
          <a:srcRect b="10778"/>
          <a:stretch/>
        </p:blipFill>
        <p:spPr>
          <a:xfrm>
            <a:off x="2496000" y="2179443"/>
            <a:ext cx="7200000" cy="3461652"/>
          </a:xfrm>
          <a:prstGeom prst="rect">
            <a:avLst/>
          </a:prstGeom>
        </p:spPr>
      </p:pic>
    </p:spTree>
    <p:extLst>
      <p:ext uri="{BB962C8B-B14F-4D97-AF65-F5344CB8AC3E}">
        <p14:creationId xmlns:p14="http://schemas.microsoft.com/office/powerpoint/2010/main" val="2790315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93CA-F3F0-2F5E-CB6B-AF5608025F7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0D1A0D4-20DF-507A-28EF-20937001D23C}"/>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17294562-297D-8734-D4C2-EB28BB790908}"/>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51DD1EB7-CBB9-69EA-3AE8-54D34781AC83}"/>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48DA21FF-A13B-D067-E482-AE17FA749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553B039-3403-ED14-615B-10B3DC22B5AC}"/>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BA6D065C-1C26-E05D-BFBD-69EDFAC0DF6A}"/>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8507DA46-9586-F2A8-12DD-1F989D28CA19}"/>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6B4C009F-E74F-4F80-767B-FC0DF29A07C4}"/>
              </a:ext>
            </a:extLst>
          </p:cNvPr>
          <p:cNvSpPr txBox="1"/>
          <p:nvPr/>
        </p:nvSpPr>
        <p:spPr>
          <a:xfrm>
            <a:off x="813816" y="1652966"/>
            <a:ext cx="6281530" cy="390684"/>
          </a:xfrm>
          <a:prstGeom prst="rect">
            <a:avLst/>
          </a:prstGeom>
          <a:noFill/>
        </p:spPr>
        <p:txBody>
          <a:bodyPr wrap="square">
            <a:spAutoFit/>
          </a:bodyPr>
          <a:lstStyle/>
          <a:p>
            <a:pPr algn="just">
              <a:lnSpc>
                <a:spcPct val="115000"/>
              </a:lnSpc>
              <a:spcAft>
                <a:spcPts val="800"/>
              </a:spcAft>
            </a:pP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4</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07965515-C304-6E0F-3924-F40A291C6C08}"/>
              </a:ext>
            </a:extLst>
          </p:cNvPr>
          <p:cNvSpPr txBox="1"/>
          <p:nvPr/>
        </p:nvSpPr>
        <p:spPr>
          <a:xfrm>
            <a:off x="3984830" y="2169594"/>
            <a:ext cx="7511714" cy="187006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CP contient 7 atomes de carbone avec la fonction cétone (principale) et la double liaison,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Arial" panose="020B0604020202020204" pitchFamily="34" charset="0"/>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c'est un hept-6-én-2-one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Arial" panose="020B0604020202020204" pitchFamily="34" charset="0"/>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(1-hydroxyéthyle) en position 5</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tabLst>
                <a:tab pos="1620520" algn="l"/>
              </a:tabLs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D'où le nom</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5-(l-</a:t>
            </a:r>
            <a:r>
              <a:rPr lang="fr-FR" sz="1800" b="1"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Hydroxyéthyl</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)hept-6-én-2-one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49BA2F7B-3E6D-FD85-AB68-90667946D8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1442" y="2176280"/>
            <a:ext cx="2356767" cy="1414060"/>
          </a:xfrm>
          <a:prstGeom prst="rect">
            <a:avLst/>
          </a:prstGeom>
          <a:noFill/>
          <a:ln>
            <a:noFill/>
          </a:ln>
        </p:spPr>
      </p:pic>
      <p:graphicFrame>
        <p:nvGraphicFramePr>
          <p:cNvPr id="16" name="Tableau 15">
            <a:extLst>
              <a:ext uri="{FF2B5EF4-FFF2-40B4-BE49-F238E27FC236}">
                <a16:creationId xmlns:a16="http://schemas.microsoft.com/office/drawing/2014/main" id="{FF42A642-C2E6-458A-018F-9EC74A52357E}"/>
              </a:ext>
            </a:extLst>
          </p:cNvPr>
          <p:cNvGraphicFramePr>
            <a:graphicFrameLocks noGrp="1"/>
          </p:cNvGraphicFramePr>
          <p:nvPr>
            <p:extLst>
              <p:ext uri="{D42A27DB-BD31-4B8C-83A1-F6EECF244321}">
                <p14:modId xmlns:p14="http://schemas.microsoft.com/office/powerpoint/2010/main" val="1683642229"/>
              </p:ext>
            </p:extLst>
          </p:nvPr>
        </p:nvGraphicFramePr>
        <p:xfrm>
          <a:off x="985955" y="4873161"/>
          <a:ext cx="10364531" cy="1097372"/>
        </p:xfrm>
        <a:graphic>
          <a:graphicData uri="http://schemas.openxmlformats.org/drawingml/2006/table">
            <a:tbl>
              <a:tblPr firstRow="1" firstCol="1" bandRow="1">
                <a:tableStyleId>{5940675A-B579-460E-94D1-54222C63F5DA}</a:tableStyleId>
              </a:tblPr>
              <a:tblGrid>
                <a:gridCol w="10364531">
                  <a:extLst>
                    <a:ext uri="{9D8B030D-6E8A-4147-A177-3AD203B41FA5}">
                      <a16:colId xmlns:a16="http://schemas.microsoft.com/office/drawing/2014/main" val="3100711669"/>
                    </a:ext>
                  </a:extLst>
                </a:gridCol>
              </a:tblGrid>
              <a:tr h="1097372">
                <a:tc>
                  <a:txBody>
                    <a:bodyPr/>
                    <a:lstStyle/>
                    <a:p>
                      <a:pPr algn="just">
                        <a:lnSpc>
                          <a:spcPct val="115000"/>
                        </a:lnSpc>
                        <a:spcAft>
                          <a:spcPts val="800"/>
                        </a:spcAft>
                      </a:pPr>
                      <a:r>
                        <a:rPr lang="fr-FR" sz="1800" b="1" kern="100" dirty="0">
                          <a:effectLst/>
                          <a:latin typeface="Times New Roman" panose="02020603050405020304" pitchFamily="18" charset="0"/>
                          <a:cs typeface="Times New Roman" panose="02020603050405020304" pitchFamily="18" charset="0"/>
                        </a:rPr>
                        <a:t>ATTENTION : Si on a deux chaines de même longueur, contenant la fonction principale, la chaine principale est celle qui contient aussi l'insaturation. Cette dernière devient prioritaire sur les fonctions secondaires.</a:t>
                      </a:r>
                      <a:endPar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8259549"/>
                  </a:ext>
                </a:extLst>
              </a:tr>
            </a:tbl>
          </a:graphicData>
        </a:graphic>
      </p:graphicFrame>
    </p:spTree>
    <p:extLst>
      <p:ext uri="{BB962C8B-B14F-4D97-AF65-F5344CB8AC3E}">
        <p14:creationId xmlns:p14="http://schemas.microsoft.com/office/powerpoint/2010/main" val="2485641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403B5-D77C-7C89-F6DE-3A11E4225998}"/>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2CDC2D1-FCD9-C050-1927-DEEB841B9C48}"/>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53DF7540-BC29-83DC-3A11-C72EE8DF8C70}"/>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25F02337-4C36-06E8-4ED0-5D22D2EBAF0B}"/>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E82F06BB-0301-02BB-E16A-B40ABAD2E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AF936448-EB4E-42E6-1203-F8B62A0659C9}"/>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715963"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IV.	Fonctions simples et multiples</a:t>
            </a:r>
          </a:p>
        </p:txBody>
      </p:sp>
      <p:sp>
        <p:nvSpPr>
          <p:cNvPr id="9" name="ZoneTexte 8">
            <a:extLst>
              <a:ext uri="{FF2B5EF4-FFF2-40B4-BE49-F238E27FC236}">
                <a16:creationId xmlns:a16="http://schemas.microsoft.com/office/drawing/2014/main" id="{1C802BA9-894C-1CF1-278D-B52D45F61E2E}"/>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12" name="Rectangle 1">
            <a:extLst>
              <a:ext uri="{FF2B5EF4-FFF2-40B4-BE49-F238E27FC236}">
                <a16:creationId xmlns:a16="http://schemas.microsoft.com/office/drawing/2014/main" id="{D18CF6E6-ACCC-27C8-A99B-D0A3C58FE27D}"/>
              </a:ext>
            </a:extLst>
          </p:cNvPr>
          <p:cNvSpPr>
            <a:spLocks noChangeArrowheads="1"/>
          </p:cNvSpPr>
          <p:nvPr/>
        </p:nvSpPr>
        <p:spPr bwMode="auto">
          <a:xfrm>
            <a:off x="1535140" y="1227177"/>
            <a:ext cx="2820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1pPr>
            <a:lvl2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2pPr>
            <a:lvl3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3pPr>
            <a:lvl4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4pPr>
            <a:lvl5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5pPr>
            <a:lvl6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6pPr>
            <a:lvl7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7pPr>
            <a:lvl8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8pPr>
            <a:lvl9pPr eaLnBrk="0" fontAlgn="base" hangingPunct="0">
              <a:spcBef>
                <a:spcPct val="0"/>
              </a:spcBef>
              <a:spcAft>
                <a:spcPct val="0"/>
              </a:spcAft>
              <a:tabLst>
                <a:tab pos="698500" algn="l"/>
                <a:tab pos="5756275" algn="r"/>
              </a:tabLst>
              <a:defRPr>
                <a:solidFill>
                  <a:schemeClr val="tx1"/>
                </a:solidFill>
                <a:latin typeface="Arial" panose="020B0604020202020204" pitchFamily="34" charset="0"/>
              </a:defRPr>
            </a:lvl9pPr>
          </a:lstStyle>
          <a:p>
            <a:pPr lvl="0" defTabSz="914400"/>
            <a:r>
              <a:rPr lang="fr-MA" altLang="en-US" b="1" kern="100" dirty="0">
                <a:latin typeface="Times New Roman" panose="02020603050405020304" pitchFamily="18" charset="0"/>
                <a:cs typeface="Arial" panose="020B0604020202020204" pitchFamily="34" charset="0"/>
              </a:rPr>
              <a:t>IV. 2.	Fonctions multiples</a:t>
            </a: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D4A3E496-E311-ABFD-D610-86CCE7274CF3}"/>
              </a:ext>
            </a:extLst>
          </p:cNvPr>
          <p:cNvSpPr txBox="1"/>
          <p:nvPr/>
        </p:nvSpPr>
        <p:spPr>
          <a:xfrm>
            <a:off x="801342" y="1711694"/>
            <a:ext cx="10913166" cy="1027782"/>
          </a:xfrm>
          <a:prstGeom prst="rect">
            <a:avLst/>
          </a:prstGeom>
          <a:noFill/>
        </p:spPr>
        <p:txBody>
          <a:bodyPr wrap="square">
            <a:spAutoFit/>
          </a:bodyPr>
          <a:lstStyle/>
          <a:p>
            <a:pPr algn="just">
              <a:lnSpc>
                <a:spcPct val="115000"/>
              </a:lnSpc>
              <a:spcBef>
                <a:spcPts val="1200"/>
              </a:spcBef>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Règle n°12 :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la molécule contient deux fois la molécule principale sur une chaîne carbonée, c’est cette dernière qui est la chaîne principale, selon les règles de nomenclature de l’IUPAC et les règles de nomenclature préférée de l’IUPAC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Preferred</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IUPAC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Names</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(PIN)).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ZoneTexte 10">
            <a:extLst>
              <a:ext uri="{FF2B5EF4-FFF2-40B4-BE49-F238E27FC236}">
                <a16:creationId xmlns:a16="http://schemas.microsoft.com/office/drawing/2014/main" id="{574659E7-7B87-43E8-7CB9-AF951B62AEDC}"/>
              </a:ext>
            </a:extLst>
          </p:cNvPr>
          <p:cNvSpPr txBox="1"/>
          <p:nvPr/>
        </p:nvSpPr>
        <p:spPr>
          <a:xfrm>
            <a:off x="3647247" y="2902015"/>
            <a:ext cx="7832449" cy="1417234"/>
          </a:xfrm>
          <a:prstGeom prst="rect">
            <a:avLst/>
          </a:prstGeom>
          <a:noFill/>
        </p:spPr>
        <p:txBody>
          <a:bodyPr wrap="square">
            <a:spAutoFit/>
          </a:bodyPr>
          <a:lstStyle/>
          <a:p>
            <a:pPr algn="just">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CP contient 5 atomes de carbone avec les deux fonctions alcools,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c'est pentane-1,5-diol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spcAft>
                <a:spcPts val="800"/>
              </a:spcAft>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méthyle en position 2 et propyle en position 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spcAft>
                <a:spcPts val="800"/>
              </a:spcAft>
              <a:tabLst>
                <a:tab pos="1620520" algn="l"/>
              </a:tabLs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D'où le nom</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2-méthyl-3-propylpentane-1,5-diol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9B9F318E-99A7-17E4-BCEC-EE05DE55B4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6044" y="2897151"/>
            <a:ext cx="2382542" cy="1364810"/>
          </a:xfrm>
          <a:prstGeom prst="rect">
            <a:avLst/>
          </a:prstGeom>
          <a:noFill/>
          <a:ln>
            <a:noFill/>
          </a:ln>
        </p:spPr>
      </p:pic>
      <p:sp>
        <p:nvSpPr>
          <p:cNvPr id="15" name="ZoneTexte 14">
            <a:extLst>
              <a:ext uri="{FF2B5EF4-FFF2-40B4-BE49-F238E27FC236}">
                <a16:creationId xmlns:a16="http://schemas.microsoft.com/office/drawing/2014/main" id="{1BA40CE8-8498-821D-9C58-32CEB9530DC9}"/>
              </a:ext>
            </a:extLst>
          </p:cNvPr>
          <p:cNvSpPr txBox="1"/>
          <p:nvPr/>
        </p:nvSpPr>
        <p:spPr>
          <a:xfrm>
            <a:off x="3647247" y="4763185"/>
            <a:ext cx="8285921" cy="1530162"/>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CP  contient 6 atomes de carbone avec les deux fonctions cétones,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c'est hexane-2,5-dione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Wingdings" panose="05000000000000000000" pitchFamily="2"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butyle en position 3</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r>
              <a:rPr lang="fr-FR" sz="1800" dirty="0">
                <a:solidFill>
                  <a:srgbClr val="000000"/>
                </a:solidFill>
                <a:effectLst/>
                <a:latin typeface="Times New Roman" panose="02020603050405020304" pitchFamily="18" charset="0"/>
                <a:ea typeface="Calibri" panose="020F0502020204030204" pitchFamily="34" charset="0"/>
              </a:rPr>
              <a:t>D'où le nom</a:t>
            </a:r>
            <a:r>
              <a:rPr lang="fr-FR" sz="1800" b="1" dirty="0">
                <a:solidFill>
                  <a:srgbClr val="000000"/>
                </a:solidFill>
                <a:effectLst/>
                <a:latin typeface="Times New Roman" panose="02020603050405020304" pitchFamily="18" charset="0"/>
                <a:ea typeface="Calibri" panose="020F0502020204030204" pitchFamily="34" charset="0"/>
              </a:rPr>
              <a:t> : 3-butylhexane-2,5-dione</a:t>
            </a:r>
            <a:endParaRPr lang="en-US" dirty="0"/>
          </a:p>
        </p:txBody>
      </p:sp>
      <p:pic>
        <p:nvPicPr>
          <p:cNvPr id="16" name="Image 15">
            <a:extLst>
              <a:ext uri="{FF2B5EF4-FFF2-40B4-BE49-F238E27FC236}">
                <a16:creationId xmlns:a16="http://schemas.microsoft.com/office/drawing/2014/main" id="{91B559A4-CFBC-8D29-426E-535E93202FC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0755" y="4955416"/>
            <a:ext cx="2657831" cy="1145483"/>
          </a:xfrm>
          <a:prstGeom prst="rect">
            <a:avLst/>
          </a:prstGeom>
          <a:noFill/>
          <a:ln>
            <a:noFill/>
          </a:ln>
        </p:spPr>
      </p:pic>
    </p:spTree>
    <p:extLst>
      <p:ext uri="{BB962C8B-B14F-4D97-AF65-F5344CB8AC3E}">
        <p14:creationId xmlns:p14="http://schemas.microsoft.com/office/powerpoint/2010/main" val="3213211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A065-8984-D159-D6E7-9044AF5E64B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38CE080-7CDF-0E40-91DD-7532A5278CB6}"/>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2EE70B61-3F54-EFDE-2298-F172533B88F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E8A108B9-8CB3-B7FB-B20B-98E7BC86ACDD}"/>
              </a:ext>
            </a:extLst>
          </p:cNvPr>
          <p:cNvSpPr>
            <a:spLocks noGrp="1"/>
          </p:cNvSpPr>
          <p:nvPr>
            <p:ph type="sldNum" sz="quarter" idx="12"/>
          </p:nvPr>
        </p:nvSpPr>
        <p:spPr>
          <a:xfrm>
            <a:off x="5804452" y="6419850"/>
            <a:ext cx="45347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4A50294A-0455-14ED-5293-7BE116E35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97D05BE4-5E89-9C3A-B557-0901C4A79BA4}"/>
              </a:ext>
            </a:extLst>
          </p:cNvPr>
          <p:cNvSpPr txBox="1"/>
          <p:nvPr/>
        </p:nvSpPr>
        <p:spPr>
          <a:xfrm>
            <a:off x="813816" y="584252"/>
            <a:ext cx="7777733" cy="579967"/>
          </a:xfrm>
          <a:prstGeom prst="rect">
            <a:avLst/>
          </a:prstGeom>
          <a:noFill/>
        </p:spPr>
        <p:txBody>
          <a:bodyPr wrap="square">
            <a:spAutoFit/>
          </a:bodyPr>
          <a:lstStyle/>
          <a:p>
            <a:pPr>
              <a:lnSpc>
                <a:spcPct val="150000"/>
              </a:lnSpc>
              <a:spcAft>
                <a:spcPts val="800"/>
              </a:spcAft>
              <a:tabLst>
                <a:tab pos="625475"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V.	Procédure pour désigner un composé organique</a:t>
            </a:r>
          </a:p>
        </p:txBody>
      </p:sp>
      <p:sp>
        <p:nvSpPr>
          <p:cNvPr id="9" name="ZoneTexte 8">
            <a:extLst>
              <a:ext uri="{FF2B5EF4-FFF2-40B4-BE49-F238E27FC236}">
                <a16:creationId xmlns:a16="http://schemas.microsoft.com/office/drawing/2014/main" id="{505F7BAA-494F-FB9A-999D-EFF5E656CD81}"/>
              </a:ext>
            </a:extLst>
          </p:cNvPr>
          <p:cNvSpPr txBox="1"/>
          <p:nvPr/>
        </p:nvSpPr>
        <p:spPr>
          <a:xfrm>
            <a:off x="813817" y="172346"/>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3: PRINCIPALES REGLES DE NOMENCLATURE</a:t>
            </a:r>
          </a:p>
        </p:txBody>
      </p:sp>
      <p:sp>
        <p:nvSpPr>
          <p:cNvPr id="7" name="ZoneTexte 6">
            <a:extLst>
              <a:ext uri="{FF2B5EF4-FFF2-40B4-BE49-F238E27FC236}">
                <a16:creationId xmlns:a16="http://schemas.microsoft.com/office/drawing/2014/main" id="{321F020E-E25F-E2CB-30BC-62677AFCAF96}"/>
              </a:ext>
            </a:extLst>
          </p:cNvPr>
          <p:cNvSpPr txBox="1"/>
          <p:nvPr/>
        </p:nvSpPr>
        <p:spPr>
          <a:xfrm>
            <a:off x="813815" y="1280800"/>
            <a:ext cx="11043567" cy="4634795"/>
          </a:xfrm>
          <a:prstGeom prst="rect">
            <a:avLst/>
          </a:prstGeom>
          <a:noFill/>
        </p:spPr>
        <p:txBody>
          <a:bodyPr wrap="square">
            <a:spAutoFit/>
          </a:bodyPr>
          <a:lstStyle/>
          <a:p>
            <a:pPr>
              <a:lnSpc>
                <a:spcPct val="115000"/>
              </a:lnSpc>
              <a:spcAft>
                <a:spcPts val="800"/>
              </a:spcAft>
            </a:pPr>
            <a:r>
              <a:rPr lang="fr-FR" sz="1200" b="1" u="sng" kern="100" dirty="0">
                <a:effectLst/>
                <a:latin typeface="Times New Roman" panose="02020603050405020304" pitchFamily="18" charset="0"/>
                <a:ea typeface="Calibri" panose="020F0502020204030204" pitchFamily="34" charset="0"/>
                <a:cs typeface="Arial" panose="020B0604020202020204" pitchFamily="34" charset="0"/>
              </a:rPr>
              <a:t>Étape 1 :</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Identifier la fonction principale et les fonctions secondaires en suivant la priorité de classement.</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b="1" u="sng" kern="100" dirty="0">
                <a:effectLst/>
                <a:latin typeface="Times New Roman" panose="02020603050405020304" pitchFamily="18" charset="0"/>
                <a:ea typeface="Calibri" panose="020F0502020204030204" pitchFamily="34" charset="0"/>
                <a:cs typeface="Arial" panose="020B0604020202020204" pitchFamily="34" charset="0"/>
              </a:rPr>
              <a:t>Étape 2 :</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Assurer que la chaîne principale inclut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La fonction principale (</a:t>
            </a:r>
            <a:r>
              <a:rPr lang="fr-FR" sz="1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fonction principale porte le plus petit indice possible</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Le plus de fonctions.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Le maximum de liaisons multiples (double et triple liaison).</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Privilégier les doubles liaisons.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Le plus grand nombre de substituants (en cas de choix, choisir celui qui portera l’indice le plus bas dans la numérotation de la chaîne ; en cas de choix persistant, tenir compte de l’ordre alphabétique pour la résolution).</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b="1" u="sng" kern="100" dirty="0">
                <a:effectLst/>
                <a:latin typeface="Times New Roman" panose="02020603050405020304" pitchFamily="18" charset="0"/>
                <a:ea typeface="Calibri" panose="020F0502020204030204" pitchFamily="34" charset="0"/>
                <a:cs typeface="Arial" panose="020B0604020202020204" pitchFamily="34" charset="0"/>
              </a:rPr>
              <a:t>Étape 3</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 Numéroter la chaîne principale en attribuant les indices les plus bas possibles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À la fonction principale.</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Aux liaisons multiples.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Aux doubles liaisons (en se basant sur l'ordre alphabétique, les suffixes en -</a:t>
            </a:r>
            <a:r>
              <a:rPr lang="fr-FR" sz="1200" kern="100" dirty="0" err="1">
                <a:effectLst/>
                <a:latin typeface="Times New Roman" panose="02020603050405020304" pitchFamily="18" charset="0"/>
                <a:ea typeface="Calibri" panose="020F0502020204030204" pitchFamily="34" charset="0"/>
                <a:cs typeface="Arial" panose="020B0604020202020204" pitchFamily="34" charset="0"/>
              </a:rPr>
              <a:t>ène</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avant -</a:t>
            </a:r>
            <a:r>
              <a:rPr lang="fr-FR" sz="1200" kern="100" dirty="0" err="1">
                <a:effectLst/>
                <a:latin typeface="Times New Roman" panose="02020603050405020304" pitchFamily="18" charset="0"/>
                <a:ea typeface="Calibri" panose="020F0502020204030204" pitchFamily="34" charset="0"/>
                <a:cs typeface="Arial" panose="020B0604020202020204" pitchFamily="34" charset="0"/>
              </a:rPr>
              <a:t>yne</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fr-FR" sz="12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Aux substituants (en cas de choix, choisir celui qui portera l’indice le plus bas dans la numérotation de la chaîne ; en cas de choix persistant, tenir compte de l’ordre alphabétique pour la résolution).</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200" b="1" u="sng" kern="100" dirty="0">
                <a:effectLst/>
                <a:latin typeface="Times New Roman" panose="02020603050405020304" pitchFamily="18" charset="0"/>
                <a:ea typeface="Calibri" panose="020F0502020204030204" pitchFamily="34" charset="0"/>
                <a:cs typeface="Arial" panose="020B0604020202020204" pitchFamily="34" charset="0"/>
              </a:rPr>
              <a:t>Étape 4 :</a:t>
            </a:r>
            <a:r>
              <a:rPr lang="fr-FR" sz="1200" kern="100" dirty="0">
                <a:effectLst/>
                <a:latin typeface="Times New Roman" panose="02020603050405020304" pitchFamily="18" charset="0"/>
                <a:ea typeface="Calibri" panose="020F0502020204030204" pitchFamily="34" charset="0"/>
                <a:cs typeface="Arial" panose="020B0604020202020204" pitchFamily="34" charset="0"/>
              </a:rPr>
              <a:t> Construire le nom du composé.</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00969194"/>
      </p:ext>
    </p:extLst>
  </p:cSld>
  <p:clrMapOvr>
    <a:masterClrMapping/>
  </p:clrMapOvr>
</p:sld>
</file>

<file path=ppt/theme/theme1.xml><?xml version="1.0" encoding="utf-8"?>
<a:theme xmlns:a="http://schemas.openxmlformats.org/drawingml/2006/main" name="Rétrospective">
  <a:themeElements>
    <a:clrScheme name="Personnalisé 6">
      <a:dk1>
        <a:sysClr val="windowText" lastClr="000000"/>
      </a:dk1>
      <a:lt1>
        <a:sysClr val="window" lastClr="FFFFFF"/>
      </a:lt1>
      <a:dk2>
        <a:srgbClr val="344068"/>
      </a:dk2>
      <a:lt2>
        <a:srgbClr val="D9E0E6"/>
      </a:lt2>
      <a:accent1>
        <a:srgbClr val="1CADE4"/>
      </a:accent1>
      <a:accent2>
        <a:srgbClr val="000072"/>
      </a:accent2>
      <a:accent3>
        <a:srgbClr val="28C4CC"/>
      </a:accent3>
      <a:accent4>
        <a:srgbClr val="42BA97"/>
      </a:accent4>
      <a:accent5>
        <a:srgbClr val="3E8853"/>
      </a:accent5>
      <a:accent6>
        <a:srgbClr val="62A39F"/>
      </a:accent6>
      <a:hlink>
        <a:srgbClr val="6EAC1C"/>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9507</TotalTime>
  <Words>3482</Words>
  <Application>Microsoft Office PowerPoint</Application>
  <PresentationFormat>Grand écran</PresentationFormat>
  <Paragraphs>478</Paragraphs>
  <Slides>38</Slides>
  <Notes>0</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2</vt:i4>
      </vt:variant>
      <vt:variant>
        <vt:lpstr>Titres des diapositives</vt:lpstr>
      </vt:variant>
      <vt:variant>
        <vt:i4>38</vt:i4>
      </vt:variant>
    </vt:vector>
  </HeadingPairs>
  <TitlesOfParts>
    <vt:vector size="49" baseType="lpstr">
      <vt:lpstr>Arial</vt:lpstr>
      <vt:lpstr>Calibri</vt:lpstr>
      <vt:lpstr>Calibri Light</vt:lpstr>
      <vt:lpstr>Segoe UI Symbol</vt:lpstr>
      <vt:lpstr>Times New Roman</vt:lpstr>
      <vt:lpstr>TimesNewRoman</vt:lpstr>
      <vt:lpstr>TimesNewRomanPSMT</vt:lpstr>
      <vt:lpstr>Wingdings</vt:lpstr>
      <vt:lpstr>Rétrospective</vt:lpstr>
      <vt:lpstr>Image bitmap</vt:lpstr>
      <vt:lpstr>CS ChemDraw Drawing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Aziz</dc:creator>
  <cp:lastModifiedBy>Aziz</cp:lastModifiedBy>
  <cp:revision>95</cp:revision>
  <dcterms:created xsi:type="dcterms:W3CDTF">2024-02-18T09:25:27Z</dcterms:created>
  <dcterms:modified xsi:type="dcterms:W3CDTF">2024-03-13T22:32:09Z</dcterms:modified>
</cp:coreProperties>
</file>