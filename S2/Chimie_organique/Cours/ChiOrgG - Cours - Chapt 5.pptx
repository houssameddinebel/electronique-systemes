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23"/>
  </p:notesMasterIdLst>
  <p:sldIdLst>
    <p:sldId id="257" r:id="rId2"/>
    <p:sldId id="271" r:id="rId3"/>
    <p:sldId id="275" r:id="rId4"/>
    <p:sldId id="274" r:id="rId5"/>
    <p:sldId id="276" r:id="rId6"/>
    <p:sldId id="277" r:id="rId7"/>
    <p:sldId id="278" r:id="rId8"/>
    <p:sldId id="282" r:id="rId9"/>
    <p:sldId id="283" r:id="rId10"/>
    <p:sldId id="284" r:id="rId11"/>
    <p:sldId id="285" r:id="rId12"/>
    <p:sldId id="279" r:id="rId13"/>
    <p:sldId id="287" r:id="rId14"/>
    <p:sldId id="286" r:id="rId15"/>
    <p:sldId id="290" r:id="rId16"/>
    <p:sldId id="291" r:id="rId17"/>
    <p:sldId id="296" r:id="rId18"/>
    <p:sldId id="28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ziz" initials="OA" lastIdx="2" clrIdx="0">
    <p:extLst>
      <p:ext uri="{19B8F6BF-5375-455C-9EA6-DF929625EA0E}">
        <p15:presenceInfo xmlns:p15="http://schemas.microsoft.com/office/powerpoint/2012/main" userId="Az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0B672A"/>
    <a:srgbClr val="FF33CC"/>
    <a:srgbClr val="BC57CD"/>
    <a:srgbClr val="FF8FE2"/>
    <a:srgbClr val="4F1A58"/>
    <a:srgbClr val="993366"/>
    <a:srgbClr val="000099"/>
    <a:srgbClr val="64430E"/>
    <a:srgbClr val="4B63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D2684-37C6-427D-A789-BC784710A539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1E153-059A-4831-B872-68D448D0B3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60F38-C9AE-4D77-A95C-8ABF16F766A3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81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60EA-96A2-4377-9E71-DF4FC4176FE9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5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A7F3D-7B9A-4C97-89DB-A2E2E031D79D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5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5AD0-642D-4333-A21E-555EB6BA133F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9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21FD-328D-420B-A334-100151A7F1B4}" type="datetime1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7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BFA-F23D-4CEF-A401-876E7839B6D2}" type="datetime1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6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596E-5750-4B26-A31D-9383A0F16FC9}" type="datetime1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8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ED8990-F4DA-46D7-8527-01686EFE815F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2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A72D-F3B4-489A-94E0-28182BAE299B}" type="datetime1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3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88F3-EBFB-4E9A-8AAC-62E662C55C03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9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7EA1C-FB7B-42BD-8156-51E079B019C1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471AB0-4FC5-4B4D-B6CC-558062AC61D8}" type="datetime1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74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60A4B8-720E-E2D1-A91D-B849E18A7155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6AA9BB-5949-6F3D-0C2B-315E84D772FA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D2252B-838F-2BEF-6BEC-D4408755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7584" y="6419850"/>
            <a:ext cx="296833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B11191D2-27DC-3168-DA2D-5A29342E0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490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4">
            <a:extLst>
              <a:ext uri="{FF2B5EF4-FFF2-40B4-BE49-F238E27FC236}">
                <a16:creationId xmlns:a16="http://schemas.microsoft.com/office/drawing/2014/main" id="{6DDA8709-2EBD-4C39-3385-AA731F49981F}"/>
              </a:ext>
            </a:extLst>
          </p:cNvPr>
          <p:cNvSpPr txBox="1">
            <a:spLocks/>
          </p:cNvSpPr>
          <p:nvPr/>
        </p:nvSpPr>
        <p:spPr>
          <a:xfrm>
            <a:off x="1066800" y="2254468"/>
            <a:ext cx="10058400" cy="30509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 de Chimie Organique Générale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 PC-Physique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M127</a:t>
            </a:r>
            <a:endParaRPr lang="en-US" b="1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3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DAC2-4773-7B03-0328-68AF5166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5A373CB-3CD0-AC03-0925-7D458C29938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F5200A-36B5-C4DD-9F4A-DBFB086BC04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7AACE-EA5B-4A63-E5CC-3E95C9DE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7D54EB2C-229D-C60C-AB22-DD69ADC96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91E7D58-D590-606B-A557-90813AF334E9}"/>
              </a:ext>
            </a:extLst>
          </p:cNvPr>
          <p:cNvSpPr txBox="1"/>
          <p:nvPr/>
        </p:nvSpPr>
        <p:spPr>
          <a:xfrm>
            <a:off x="541020" y="2680218"/>
            <a:ext cx="11109959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</p:spTree>
    <p:extLst>
      <p:ext uri="{BB962C8B-B14F-4D97-AF65-F5344CB8AC3E}">
        <p14:creationId xmlns:p14="http://schemas.microsoft.com/office/powerpoint/2010/main" val="9858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09AE91-94AD-B7A4-6492-5E96F1122513}"/>
              </a:ext>
            </a:extLst>
          </p:cNvPr>
          <p:cNvSpPr txBox="1"/>
          <p:nvPr/>
        </p:nvSpPr>
        <p:spPr>
          <a:xfrm>
            <a:off x="813817" y="1127889"/>
            <a:ext cx="9838662" cy="4602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tabLst>
                <a:tab pos="804863" algn="l"/>
              </a:tabLs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	Polarisation de la liaison	</a:t>
            </a: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tabLst>
                <a:tab pos="804863" algn="l"/>
              </a:tabLs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tabLst>
                <a:tab pos="804863" algn="l"/>
              </a:tabLs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tabLst>
                <a:tab pos="804863" algn="l"/>
              </a:tabLs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IV.	Aromaticité</a:t>
            </a: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tabLst>
                <a:tab pos="804863" algn="l"/>
              </a:tabLs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V.	Intermédiaires réactionnels en chimie organique</a:t>
            </a: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indent="804863">
              <a:spcBef>
                <a:spcPts val="800"/>
              </a:spcBef>
              <a:tabLst>
                <a:tab pos="1609725" algn="l"/>
              </a:tabLst>
            </a:pPr>
            <a:r>
              <a:rPr lang="fr-FR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V. 1.	Carbocations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indent="804863">
              <a:spcBef>
                <a:spcPts val="800"/>
              </a:spcBef>
              <a:tabLst>
                <a:tab pos="1609725" algn="l"/>
              </a:tabLst>
            </a:pPr>
            <a:r>
              <a:rPr lang="fr-FR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V. 2.	Carbanions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indent="804863">
              <a:spcBef>
                <a:spcPts val="800"/>
              </a:spcBef>
              <a:tabLst>
                <a:tab pos="1609725" algn="l"/>
              </a:tabLst>
            </a:pPr>
            <a:r>
              <a:rPr lang="fr-FR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V. 3.	Radicaux libres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804863" algn="l"/>
              </a:tabLst>
            </a:pPr>
            <a:endParaRPr lang="en-US" sz="24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1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	Polarisation de la liaison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A273E80-A0D6-65D9-B55E-5F693A8C6D46}"/>
              </a:ext>
            </a:extLst>
          </p:cNvPr>
          <p:cNvGrpSpPr/>
          <p:nvPr/>
        </p:nvGrpSpPr>
        <p:grpSpPr>
          <a:xfrm>
            <a:off x="813817" y="1735339"/>
            <a:ext cx="5775826" cy="369332"/>
            <a:chOff x="813817" y="1735339"/>
            <a:chExt cx="5775826" cy="36933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DD5447C-0F6B-6942-5B26-54F964A6007D}"/>
                </a:ext>
              </a:extLst>
            </p:cNvPr>
            <p:cNvSpPr txBox="1"/>
            <p:nvPr/>
          </p:nvSpPr>
          <p:spPr>
            <a:xfrm>
              <a:off x="813817" y="1735339"/>
              <a:ext cx="5775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MA" b="1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fr-MA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es effets électroniques</a:t>
              </a:r>
              <a:r>
                <a:rPr lang="fr-MA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Réactivité des molécules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lèche : droite 8">
              <a:extLst>
                <a:ext uri="{FF2B5EF4-FFF2-40B4-BE49-F238E27FC236}">
                  <a16:creationId xmlns:a16="http://schemas.microsoft.com/office/drawing/2014/main" id="{EBF1E081-44EA-CB25-ADA8-F4EA88CE0051}"/>
                </a:ext>
              </a:extLst>
            </p:cNvPr>
            <p:cNvSpPr/>
            <p:nvPr/>
          </p:nvSpPr>
          <p:spPr>
            <a:xfrm>
              <a:off x="3348890" y="1835522"/>
              <a:ext cx="705679" cy="168965"/>
            </a:xfrm>
            <a:prstGeom prst="right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01BA6C4C-6643-8006-AA68-432A7C116996}"/>
              </a:ext>
            </a:extLst>
          </p:cNvPr>
          <p:cNvSpPr/>
          <p:nvPr/>
        </p:nvSpPr>
        <p:spPr>
          <a:xfrm>
            <a:off x="6589642" y="1480556"/>
            <a:ext cx="238541" cy="878895"/>
          </a:xfrm>
          <a:prstGeom prst="leftBrace">
            <a:avLst>
              <a:gd name="adj1" fmla="val 17477"/>
              <a:gd name="adj2" fmla="val 48969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0A24EF4-1FA4-497E-2490-7422D041440E}"/>
              </a:ext>
            </a:extLst>
          </p:cNvPr>
          <p:cNvSpPr txBox="1"/>
          <p:nvPr/>
        </p:nvSpPr>
        <p:spPr>
          <a:xfrm>
            <a:off x="6708912" y="1477339"/>
            <a:ext cx="6003234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99"/>
              </a:buClr>
              <a:buFont typeface="Wingdings" panose="05000000000000000000" pitchFamily="2" charset="2"/>
              <a:buChar char="q"/>
            </a:pPr>
            <a:r>
              <a:rPr lang="fr-MA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Connaitre 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mécanismes de réaction</a:t>
            </a:r>
            <a:r>
              <a:rPr lang="fr-MA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000099"/>
              </a:buClr>
              <a:buFont typeface="Wingdings" panose="05000000000000000000" pitchFamily="2" charset="2"/>
              <a:buChar char="q"/>
            </a:pP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Prédire le comportement des composés organiques.</a:t>
            </a:r>
            <a:endParaRPr lang="en-US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A87A6BA-421D-AF57-7A9A-5758943F6150}"/>
              </a:ext>
            </a:extLst>
          </p:cNvPr>
          <p:cNvSpPr txBox="1"/>
          <p:nvPr/>
        </p:nvSpPr>
        <p:spPr>
          <a:xfrm>
            <a:off x="813817" y="3073351"/>
            <a:ext cx="1909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iaison covalente</a:t>
            </a:r>
            <a:endParaRPr lang="en-US" b="1" dirty="0"/>
          </a:p>
        </p:txBody>
      </p:sp>
      <p:sp>
        <p:nvSpPr>
          <p:cNvPr id="20" name="Accolade ouvrante 19">
            <a:extLst>
              <a:ext uri="{FF2B5EF4-FFF2-40B4-BE49-F238E27FC236}">
                <a16:creationId xmlns:a16="http://schemas.microsoft.com/office/drawing/2014/main" id="{BFBB1D76-92D4-3FE7-9A54-1607E752600D}"/>
              </a:ext>
            </a:extLst>
          </p:cNvPr>
          <p:cNvSpPr/>
          <p:nvPr/>
        </p:nvSpPr>
        <p:spPr>
          <a:xfrm>
            <a:off x="2722724" y="2818569"/>
            <a:ext cx="238541" cy="878895"/>
          </a:xfrm>
          <a:prstGeom prst="leftBrace">
            <a:avLst>
              <a:gd name="adj1" fmla="val 17477"/>
              <a:gd name="adj2" fmla="val 48969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BA89F560-CA55-F890-B4C1-0993CFF46BB4}"/>
              </a:ext>
            </a:extLst>
          </p:cNvPr>
          <p:cNvSpPr/>
          <p:nvPr/>
        </p:nvSpPr>
        <p:spPr>
          <a:xfrm>
            <a:off x="2961265" y="2882540"/>
            <a:ext cx="457797" cy="260385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B91DC792-DF5D-1E7F-EFB3-E58005D93BDF}"/>
              </a:ext>
            </a:extLst>
          </p:cNvPr>
          <p:cNvSpPr/>
          <p:nvPr/>
        </p:nvSpPr>
        <p:spPr>
          <a:xfrm>
            <a:off x="2961265" y="3394874"/>
            <a:ext cx="457797" cy="260385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029D91C-DE77-3EB6-2A3B-4F1C904E1D39}"/>
              </a:ext>
            </a:extLst>
          </p:cNvPr>
          <p:cNvSpPr txBox="1"/>
          <p:nvPr/>
        </p:nvSpPr>
        <p:spPr>
          <a:xfrm>
            <a:off x="3419062" y="2773593"/>
            <a:ext cx="328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même électronégativité (voisine)</a:t>
            </a:r>
            <a:endParaRPr lang="en-US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78741B3-F949-9B7B-05C5-0227177C923A}"/>
              </a:ext>
            </a:extLst>
          </p:cNvPr>
          <p:cNvSpPr txBox="1"/>
          <p:nvPr/>
        </p:nvSpPr>
        <p:spPr>
          <a:xfrm>
            <a:off x="3411605" y="3297642"/>
            <a:ext cx="635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électronégativités différentes</a:t>
            </a:r>
            <a:endParaRPr lang="en-US" dirty="0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B2B70994-EE9E-48E7-1557-2EE1A42628AD}"/>
              </a:ext>
            </a:extLst>
          </p:cNvPr>
          <p:cNvSpPr/>
          <p:nvPr/>
        </p:nvSpPr>
        <p:spPr>
          <a:xfrm>
            <a:off x="6808306" y="2856240"/>
            <a:ext cx="457797" cy="260385"/>
          </a:xfrm>
          <a:prstGeom prst="rightArrow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FF2B1B7D-1C05-359E-755A-45A51E6AA780}"/>
              </a:ext>
            </a:extLst>
          </p:cNvPr>
          <p:cNvSpPr/>
          <p:nvPr/>
        </p:nvSpPr>
        <p:spPr>
          <a:xfrm>
            <a:off x="6808306" y="3368574"/>
            <a:ext cx="457797" cy="260385"/>
          </a:xfrm>
          <a:prstGeom prst="rightArrow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A63267D-AE83-CD2B-2370-2DF903E8EC0B}"/>
              </a:ext>
            </a:extLst>
          </p:cNvPr>
          <p:cNvSpPr txBox="1"/>
          <p:nvPr/>
        </p:nvSpPr>
        <p:spPr>
          <a:xfrm>
            <a:off x="7266103" y="2773593"/>
            <a:ext cx="4422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liaison covalente est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non polarisée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apolaire)</a:t>
            </a:r>
            <a:endParaRPr lang="en-US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97FFA99-A45A-AAB9-07C8-88E433C93906}"/>
              </a:ext>
            </a:extLst>
          </p:cNvPr>
          <p:cNvSpPr txBox="1"/>
          <p:nvPr/>
        </p:nvSpPr>
        <p:spPr>
          <a:xfrm>
            <a:off x="7266103" y="3299010"/>
            <a:ext cx="635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liaison est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polarisée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polaire).</a:t>
            </a:r>
            <a:endParaRPr lang="en-US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80305B4-AEC0-6D46-96F4-029437EB57C6}"/>
              </a:ext>
            </a:extLst>
          </p:cNvPr>
          <p:cNvSpPr txBox="1"/>
          <p:nvPr/>
        </p:nvSpPr>
        <p:spPr>
          <a:xfrm>
            <a:off x="813817" y="4366679"/>
            <a:ext cx="382775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5"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fr-FR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Exemple : </a:t>
            </a: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molécule du dihydrogène H</a:t>
            </a:r>
            <a:r>
              <a:rPr lang="fr-FR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B9F7AB4-6454-113D-2A06-B3A5B7E6E5BA}"/>
              </a:ext>
            </a:extLst>
          </p:cNvPr>
          <p:cNvSpPr txBox="1"/>
          <p:nvPr/>
        </p:nvSpPr>
        <p:spPr>
          <a:xfrm>
            <a:off x="6708911" y="4366679"/>
            <a:ext cx="5049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Exemple 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molécule du chlorure d'hydrogène 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HCl</a:t>
            </a:r>
            <a:endParaRPr lang="en-US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D2D68A79-6F1F-7B32-011B-E60AB4FC5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29" y="4963448"/>
            <a:ext cx="3357083" cy="981539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FAF2B39-0B60-B6D1-6D9F-742C8E432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557246" y="4857531"/>
            <a:ext cx="3286345" cy="98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	Polarisation de la liaison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4B95652-0332-EE14-CDC7-8C397251927D}"/>
              </a:ext>
            </a:extLst>
          </p:cNvPr>
          <p:cNvSpPr txBox="1"/>
          <p:nvPr/>
        </p:nvSpPr>
        <p:spPr>
          <a:xfrm>
            <a:off x="813817" y="2704404"/>
            <a:ext cx="10775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polarisation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d’une liaison donne naissance à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 dipôle électrique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caractérisé par un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moment dipolaire μ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1FEB054-F2C4-D77B-35CB-795C743E3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543" y="3160424"/>
            <a:ext cx="951064" cy="864192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13C8A453-15F0-7434-DE84-1FF9752457D5}"/>
              </a:ext>
            </a:extLst>
          </p:cNvPr>
          <p:cNvGrpSpPr/>
          <p:nvPr/>
        </p:nvGrpSpPr>
        <p:grpSpPr>
          <a:xfrm>
            <a:off x="815765" y="1433265"/>
            <a:ext cx="11187683" cy="923367"/>
            <a:chOff x="813817" y="1335204"/>
            <a:chExt cx="11187683" cy="923367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76C8F7A6-4962-BEDD-4315-88217CD9A083}"/>
                </a:ext>
              </a:extLst>
            </p:cNvPr>
            <p:cNvSpPr txBox="1"/>
            <p:nvPr/>
          </p:nvSpPr>
          <p:spPr>
            <a:xfrm>
              <a:off x="813817" y="1614316"/>
              <a:ext cx="2645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Polarisation de la liaison</a:t>
              </a:r>
              <a:endParaRPr lang="en-US" b="1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DAB571B8-8A1F-6737-72C3-D99D07311558}"/>
                </a:ext>
              </a:extLst>
            </p:cNvPr>
            <p:cNvSpPr txBox="1"/>
            <p:nvPr/>
          </p:nvSpPr>
          <p:spPr>
            <a:xfrm>
              <a:off x="3602935" y="1335204"/>
              <a:ext cx="8398565" cy="8788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accent2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q"/>
              </a:pPr>
              <a:r>
                <a:rPr lang="fr-FR" sz="1800" u="sng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charge partielle négative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 (δ</a:t>
              </a:r>
              <a:r>
                <a:rPr lang="fr-FR" sz="1800" baseline="30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-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) du côté de l'atome le plus électronégatif</a:t>
              </a:r>
              <a:r>
                <a:rPr lang="fr-FR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Clr>
                  <a:schemeClr val="accent2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q"/>
              </a:pPr>
              <a:r>
                <a:rPr lang="fr-FR" sz="1800" u="sng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charge partielle positive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 (δ</a:t>
              </a:r>
              <a:r>
                <a:rPr lang="fr-FR" sz="1800" baseline="30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+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) du côté de l'atome le moins électronégatif.</a:t>
              </a:r>
              <a:endParaRPr lang="en-US" dirty="0"/>
            </a:p>
          </p:txBody>
        </p:sp>
        <p:sp>
          <p:nvSpPr>
            <p:cNvPr id="25" name="Accolade ouvrante 24">
              <a:extLst>
                <a:ext uri="{FF2B5EF4-FFF2-40B4-BE49-F238E27FC236}">
                  <a16:creationId xmlns:a16="http://schemas.microsoft.com/office/drawing/2014/main" id="{834AD5C7-5B57-4E86-115A-0DD2619907A3}"/>
                </a:ext>
              </a:extLst>
            </p:cNvPr>
            <p:cNvSpPr/>
            <p:nvPr/>
          </p:nvSpPr>
          <p:spPr>
            <a:xfrm>
              <a:off x="3364394" y="1379676"/>
              <a:ext cx="238541" cy="878895"/>
            </a:xfrm>
            <a:prstGeom prst="leftBrace">
              <a:avLst>
                <a:gd name="adj1" fmla="val 17477"/>
                <a:gd name="adj2" fmla="val 48969"/>
              </a:avLst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B33C5DAD-DE1C-3045-0942-86B7E47CCB00}"/>
              </a:ext>
            </a:extLst>
          </p:cNvPr>
          <p:cNvSpPr txBox="1"/>
          <p:nvPr/>
        </p:nvSpPr>
        <p:spPr>
          <a:xfrm>
            <a:off x="813817" y="4997587"/>
            <a:ext cx="10536272" cy="92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fr-FR" sz="20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ttention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cette convention est différente de celle des </a:t>
            </a:r>
            <a:r>
              <a:rPr lang="fr-FR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physiciens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pour lesquels </a:t>
            </a:r>
            <a:r>
              <a:rPr lang="fr-FR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grandeur vectorielle est orientée du pôle négatif vers le pôle positif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7897A81-D71C-AE67-D993-42123DF82C10}"/>
              </a:ext>
            </a:extLst>
          </p:cNvPr>
          <p:cNvSpPr txBox="1"/>
          <p:nvPr/>
        </p:nvSpPr>
        <p:spPr>
          <a:xfrm>
            <a:off x="773447" y="3915886"/>
            <a:ext cx="10617011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 moment dipolaire est une grandeur vectorielle qui possède une direction, un sens et un module. Il est représenté par une flèche orientée conventionnellement du pôle positif vers le pôle négatif.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	Polarisation de la liaison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4A153DC-7AB8-F72E-25A9-A4CF7CC10CDC}"/>
              </a:ext>
            </a:extLst>
          </p:cNvPr>
          <p:cNvSpPr txBox="1"/>
          <p:nvPr/>
        </p:nvSpPr>
        <p:spPr>
          <a:xfrm>
            <a:off x="813817" y="4218582"/>
            <a:ext cx="343976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5"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en-US" sz="1800" b="1" u="sng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Exemple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r>
              <a:rPr lang="en-US" sz="18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1,2-Dichloroéthylène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4B30CC21-801F-C097-F3AA-875697096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73270"/>
              </p:ext>
            </p:extLst>
          </p:nvPr>
        </p:nvGraphicFramePr>
        <p:xfrm>
          <a:off x="3175206" y="3276247"/>
          <a:ext cx="5841588" cy="74592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154689">
                  <a:extLst>
                    <a:ext uri="{9D8B030D-6E8A-4147-A177-3AD203B41FA5}">
                      <a16:colId xmlns:a16="http://schemas.microsoft.com/office/drawing/2014/main" val="2283906333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3363966861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4199086009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3265297866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145434155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213246502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1319866887"/>
                    </a:ext>
                  </a:extLst>
                </a:gridCol>
                <a:gridCol w="669557">
                  <a:extLst>
                    <a:ext uri="{9D8B030D-6E8A-4147-A177-3AD203B41FA5}">
                      <a16:colId xmlns:a16="http://schemas.microsoft.com/office/drawing/2014/main" val="886932745"/>
                    </a:ext>
                  </a:extLst>
                </a:gridCol>
              </a:tblGrid>
              <a:tr h="414779"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Liaison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C-H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C-Cl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C-I</a:t>
                      </a:r>
                      <a:endParaRPr lang="en-US" sz="18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N-C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O-C</a:t>
                      </a:r>
                      <a:endParaRPr lang="en-US" sz="18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F-H</a:t>
                      </a:r>
                      <a:endParaRPr lang="en-US" sz="18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I-H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8619285"/>
                  </a:ext>
                </a:extLst>
              </a:tr>
              <a:tr h="331143"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 (D)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1,46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1,19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0,22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0,74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1,82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35" algn="just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800"/>
                        </a:spcAft>
                      </a:pPr>
                      <a:r>
                        <a:rPr lang="fr-FR" sz="20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0,44</a:t>
                      </a:r>
                      <a:endParaRPr lang="en-US" sz="18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747860"/>
                  </a:ext>
                </a:extLst>
              </a:tr>
            </a:tbl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E873E081-5EC7-A94F-9B74-DF53F1633642}"/>
              </a:ext>
            </a:extLst>
          </p:cNvPr>
          <p:cNvSpPr txBox="1"/>
          <p:nvPr/>
        </p:nvSpPr>
        <p:spPr>
          <a:xfrm>
            <a:off x="813817" y="1325383"/>
            <a:ext cx="10464017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 appelle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dipôle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le système formé de deux charges égales mais de signe opposé, séparées par une distance d.</a:t>
            </a:r>
            <a:endParaRPr lang="en-US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A3E2085-C18E-19DF-02E8-26E94844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900" y="1802582"/>
            <a:ext cx="2317850" cy="500425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B0BA7A52-6BBC-4EB0-0A55-7886115E08A7}"/>
              </a:ext>
            </a:extLst>
          </p:cNvPr>
          <p:cNvSpPr txBox="1"/>
          <p:nvPr/>
        </p:nvSpPr>
        <p:spPr>
          <a:xfrm>
            <a:off x="4488638" y="2297763"/>
            <a:ext cx="323355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5"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 Debyes = 3,33564×10</a:t>
            </a:r>
            <a:r>
              <a:rPr lang="fr-FR" sz="1800" kern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-30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C.m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CF9085A-1C96-92DF-C2AF-84FCF1A46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8713" y="4738326"/>
            <a:ext cx="5073409" cy="147167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4AD09CE-EFC8-052B-890A-28012C2E384C}"/>
              </a:ext>
            </a:extLst>
          </p:cNvPr>
          <p:cNvSpPr txBox="1"/>
          <p:nvPr/>
        </p:nvSpPr>
        <p:spPr>
          <a:xfrm>
            <a:off x="813817" y="2816295"/>
            <a:ext cx="628153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5"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fr-FR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Moments dipolaires de quelques liaisons simples (D)</a:t>
            </a:r>
            <a:endParaRPr lang="en-US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6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21CC37-E64D-C0D3-1B67-DD94209E8FA4}"/>
              </a:ext>
            </a:extLst>
          </p:cNvPr>
          <p:cNvSpPr txBox="1"/>
          <p:nvPr/>
        </p:nvSpPr>
        <p:spPr>
          <a:xfrm>
            <a:off x="993085" y="1252177"/>
            <a:ext cx="628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II. 1.	Définition et classification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773187-9CD9-5047-7341-064E66767230}"/>
              </a:ext>
            </a:extLst>
          </p:cNvPr>
          <p:cNvSpPr txBox="1"/>
          <p:nvPr/>
        </p:nvSpPr>
        <p:spPr>
          <a:xfrm>
            <a:off x="813817" y="1877805"/>
            <a:ext cx="1090441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755" marR="68580" algn="just">
              <a:lnSpc>
                <a:spcPct val="115000"/>
              </a:lnSpc>
              <a:spcBef>
                <a:spcPts val="575"/>
              </a:spcBef>
              <a:spcAft>
                <a:spcPts val="800"/>
              </a:spcAf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polarisation de la liaison induit un déplacement d'électrons le long de la liaison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c'est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l'effet inductif (I)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17F6F3D-ECE1-C29B-2526-94DD59B083D1}"/>
              </a:ext>
            </a:extLst>
          </p:cNvPr>
          <p:cNvSpPr txBox="1"/>
          <p:nvPr/>
        </p:nvSpPr>
        <p:spPr>
          <a:xfrm>
            <a:off x="813817" y="2802496"/>
            <a:ext cx="1064600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755"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 classe les atomes ou les groupements d'atomes qui provoquent ce phénomène de polarisation à distance en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deux catégories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B8BBA28-EE3B-ACDA-CF31-4D0636B430E6}"/>
              </a:ext>
            </a:extLst>
          </p:cNvPr>
          <p:cNvSpPr txBox="1"/>
          <p:nvPr/>
        </p:nvSpPr>
        <p:spPr>
          <a:xfrm>
            <a:off x="1600199" y="3640084"/>
            <a:ext cx="628153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200"/>
              <a:buFont typeface="Wingdings" panose="05000000000000000000" pitchFamily="2" charset="2"/>
              <a:buChar char=""/>
              <a:tabLst>
                <a:tab pos="52197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Groupements à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effet inductif donneur</a:t>
            </a:r>
            <a:r>
              <a:rPr lang="fr-FR" sz="1800" b="1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(+I).</a:t>
            </a:r>
            <a:endParaRPr lang="en-US" sz="1600" kern="100" dirty="0">
              <a:effectLst/>
              <a:latin typeface="Calibri" panose="020F0502020204030204" pitchFamily="34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AFA7170-42D8-FC91-5CE6-F3430D579086}"/>
              </a:ext>
            </a:extLst>
          </p:cNvPr>
          <p:cNvSpPr txBox="1"/>
          <p:nvPr/>
        </p:nvSpPr>
        <p:spPr>
          <a:xfrm>
            <a:off x="1600199" y="5303441"/>
            <a:ext cx="628153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"/>
              <a:tabLst>
                <a:tab pos="52197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Groupements à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effet inductif attracteur</a:t>
            </a:r>
            <a:r>
              <a:rPr lang="fr-FR" sz="1800" b="1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Wingdings" panose="05000000000000000000" pitchFamily="2" charset="2"/>
              </a:rPr>
              <a:t>(-I).</a:t>
            </a:r>
            <a:endParaRPr lang="en-US" sz="1600" kern="100" dirty="0">
              <a:effectLst/>
              <a:latin typeface="Calibri" panose="020F0502020204030204" pitchFamily="34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FAB2F65-E261-85F6-A88E-543D808AB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070" y="3171267"/>
            <a:ext cx="2228960" cy="132831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60E9238-3CDD-8EA0-D86A-75A0BA88A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528" y="4904613"/>
            <a:ext cx="2209041" cy="1305389"/>
          </a:xfrm>
          <a:prstGeom prst="rect">
            <a:avLst/>
          </a:prstGeom>
        </p:spPr>
      </p:pic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66404B2D-2B67-0698-46BA-58E6656581C8}"/>
              </a:ext>
            </a:extLst>
          </p:cNvPr>
          <p:cNvSpPr/>
          <p:nvPr/>
        </p:nvSpPr>
        <p:spPr>
          <a:xfrm>
            <a:off x="6469654" y="3640083"/>
            <a:ext cx="1076270" cy="39068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A54171F1-2D34-B36D-6189-E4D6EA37CA83}"/>
              </a:ext>
            </a:extLst>
          </p:cNvPr>
          <p:cNvSpPr/>
          <p:nvPr/>
        </p:nvSpPr>
        <p:spPr>
          <a:xfrm>
            <a:off x="6488703" y="5298230"/>
            <a:ext cx="1076270" cy="39068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9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21CC37-E64D-C0D3-1B67-DD94209E8FA4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II. 2.	Groupements à effet inductif donneur (+I) &amp; attracteur (-I)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D08DB3-1F7F-4282-75D0-94018F255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40" y="1787871"/>
            <a:ext cx="6209720" cy="446561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98A22F9-6489-53B3-CF47-7D565E10422B}"/>
              </a:ext>
            </a:extLst>
          </p:cNvPr>
          <p:cNvSpPr txBox="1"/>
          <p:nvPr/>
        </p:nvSpPr>
        <p:spPr>
          <a:xfrm>
            <a:off x="9462053" y="1939029"/>
            <a:ext cx="2539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Groupement à effet inductif </a:t>
            </a:r>
            <a:r>
              <a:rPr lang="fr-FR" sz="14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donneur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fr-FR" sz="14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+I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400" b="1" dirty="0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6C90F97E-21FD-9AE1-92F8-322DBA88B6C8}"/>
              </a:ext>
            </a:extLst>
          </p:cNvPr>
          <p:cNvSpPr/>
          <p:nvPr/>
        </p:nvSpPr>
        <p:spPr>
          <a:xfrm>
            <a:off x="10528024" y="2700373"/>
            <a:ext cx="407505" cy="64633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D631D61-FB14-33AD-5793-DD6388E411D4}"/>
              </a:ext>
            </a:extLst>
          </p:cNvPr>
          <p:cNvSpPr txBox="1"/>
          <p:nvPr/>
        </p:nvSpPr>
        <p:spPr>
          <a:xfrm>
            <a:off x="9273054" y="3573984"/>
            <a:ext cx="2928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 (Groupement)</a:t>
            </a:r>
            <a:r>
              <a:rPr lang="fr-F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 (Carbone)</a:t>
            </a:r>
            <a:endParaRPr lang="en-US" sz="1400" b="1" dirty="0"/>
          </a:p>
        </p:txBody>
      </p:sp>
      <p:sp>
        <p:nvSpPr>
          <p:cNvPr id="22" name="Flèche : bas 21">
            <a:extLst>
              <a:ext uri="{FF2B5EF4-FFF2-40B4-BE49-F238E27FC236}">
                <a16:creationId xmlns:a16="http://schemas.microsoft.com/office/drawing/2014/main" id="{F1386DA8-CB52-931B-F9D1-64293BF0EA48}"/>
              </a:ext>
            </a:extLst>
          </p:cNvPr>
          <p:cNvSpPr/>
          <p:nvPr/>
        </p:nvSpPr>
        <p:spPr>
          <a:xfrm>
            <a:off x="10528023" y="4137260"/>
            <a:ext cx="407505" cy="64633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E8B40F1-BC80-8AD1-1FB1-7DBD9D9A7A6D}"/>
              </a:ext>
            </a:extLst>
          </p:cNvPr>
          <p:cNvSpPr txBox="1"/>
          <p:nvPr/>
        </p:nvSpPr>
        <p:spPr>
          <a:xfrm>
            <a:off x="9544053" y="5256410"/>
            <a:ext cx="23754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g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roupement exerce un effet </a:t>
            </a:r>
            <a:r>
              <a:rPr lang="fr-FR" sz="14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inductif donneur (+I) 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 le Carbone</a:t>
            </a:r>
            <a:endParaRPr lang="en-US" sz="1400" b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ADD1701-CAEB-B16B-7E4D-18245E13E49D}"/>
              </a:ext>
            </a:extLst>
          </p:cNvPr>
          <p:cNvSpPr txBox="1"/>
          <p:nvPr/>
        </p:nvSpPr>
        <p:spPr>
          <a:xfrm>
            <a:off x="272503" y="1915879"/>
            <a:ext cx="2539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Groupement à effet inductif </a:t>
            </a:r>
            <a:r>
              <a:rPr lang="fr-FR" sz="1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attracteur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fr-FR" sz="1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fr-FR" sz="1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400" b="1" dirty="0"/>
          </a:p>
        </p:txBody>
      </p: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B456C10F-74F1-3A87-E935-509C57DF4CD9}"/>
              </a:ext>
            </a:extLst>
          </p:cNvPr>
          <p:cNvSpPr/>
          <p:nvPr/>
        </p:nvSpPr>
        <p:spPr>
          <a:xfrm>
            <a:off x="1338474" y="2677223"/>
            <a:ext cx="407505" cy="646331"/>
          </a:xfrm>
          <a:prstGeom prst="downArrow">
            <a:avLst/>
          </a:prstGeom>
          <a:solidFill>
            <a:srgbClr val="FF8F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5E9D532-9315-06D1-9935-096A544A0524}"/>
              </a:ext>
            </a:extLst>
          </p:cNvPr>
          <p:cNvSpPr txBox="1"/>
          <p:nvPr/>
        </p:nvSpPr>
        <p:spPr>
          <a:xfrm>
            <a:off x="83504" y="3550834"/>
            <a:ext cx="2928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 (Groupement) </a:t>
            </a:r>
            <a:r>
              <a:rPr lang="fr-F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EN (Carbone)</a:t>
            </a:r>
            <a:endParaRPr lang="en-US" sz="1400" b="1" dirty="0"/>
          </a:p>
        </p:txBody>
      </p:sp>
      <p:sp>
        <p:nvSpPr>
          <p:cNvPr id="28" name="Flèche : bas 27">
            <a:extLst>
              <a:ext uri="{FF2B5EF4-FFF2-40B4-BE49-F238E27FC236}">
                <a16:creationId xmlns:a16="http://schemas.microsoft.com/office/drawing/2014/main" id="{D5026D54-9F01-A900-6CF7-33458DE0A8BB}"/>
              </a:ext>
            </a:extLst>
          </p:cNvPr>
          <p:cNvSpPr/>
          <p:nvPr/>
        </p:nvSpPr>
        <p:spPr>
          <a:xfrm>
            <a:off x="1338473" y="4114110"/>
            <a:ext cx="407505" cy="646331"/>
          </a:xfrm>
          <a:prstGeom prst="downArrow">
            <a:avLst/>
          </a:prstGeom>
          <a:solidFill>
            <a:srgbClr val="FF8F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7566065-646E-5481-4CB0-960C615FEAA4}"/>
              </a:ext>
            </a:extLst>
          </p:cNvPr>
          <p:cNvSpPr txBox="1"/>
          <p:nvPr/>
        </p:nvSpPr>
        <p:spPr>
          <a:xfrm>
            <a:off x="354503" y="5233260"/>
            <a:ext cx="23754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g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roupement exerce un effet </a:t>
            </a:r>
            <a:r>
              <a:rPr lang="fr-FR" sz="1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inductif attracteur (-I)</a:t>
            </a:r>
            <a:r>
              <a:rPr lang="fr-FR" sz="14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 le Carbone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5738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21CC37-E64D-C0D3-1B67-DD94209E8FA4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II. 3.	Additivité de l’effet inductif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1348BC-A696-DFE7-4696-68660B753134}"/>
              </a:ext>
            </a:extLst>
          </p:cNvPr>
          <p:cNvSpPr txBox="1"/>
          <p:nvPr/>
        </p:nvSpPr>
        <p:spPr>
          <a:xfrm>
            <a:off x="813817" y="1648875"/>
            <a:ext cx="10616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effets inductifs sont </a:t>
            </a:r>
            <a:r>
              <a:rPr lang="fr-MA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additifs</a:t>
            </a:r>
            <a:r>
              <a:rPr lang="fr-MA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(plus le nombre d’atome ou de groupement ont un effet inductif </a:t>
            </a:r>
            <a:r>
              <a:rPr lang="fr-MA" b="0" i="0" u="heavy" dirty="0">
                <a:effectLst/>
                <a:highlight>
                  <a:srgbClr val="FFFFFF"/>
                </a:highlight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donneur</a:t>
            </a:r>
            <a:r>
              <a:rPr lang="fr-MA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fr-MA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b="0" i="0" u="heavy" dirty="0">
                <a:solidFill>
                  <a:srgbClr val="000000"/>
                </a:solidFill>
                <a:effectLst/>
                <a:highlight>
                  <a:srgbClr val="FFFFFF"/>
                </a:highlight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attracteur</a:t>
            </a:r>
            <a:r>
              <a:rPr lang="fr-MA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plus leur effet augmente).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6F0D838-C896-F814-9677-81F3A48BDA6D}"/>
              </a:ext>
            </a:extLst>
          </p:cNvPr>
          <p:cNvGrpSpPr/>
          <p:nvPr/>
        </p:nvGrpSpPr>
        <p:grpSpPr>
          <a:xfrm>
            <a:off x="813817" y="2165365"/>
            <a:ext cx="10477020" cy="1735619"/>
            <a:chOff x="813817" y="2320890"/>
            <a:chExt cx="10477020" cy="1735619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2B38EF64-920B-CE85-7F47-527B127C1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240" r="19435"/>
            <a:stretch/>
          </p:blipFill>
          <p:spPr>
            <a:xfrm>
              <a:off x="813817" y="2413043"/>
              <a:ext cx="4974298" cy="1643466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BA9D0D04-179D-0E37-3492-0B6BD0150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9174" r="19809"/>
            <a:stretch/>
          </p:blipFill>
          <p:spPr>
            <a:xfrm>
              <a:off x="6430601" y="2320890"/>
              <a:ext cx="4860236" cy="1733255"/>
            </a:xfrm>
            <a:prstGeom prst="rect">
              <a:avLst/>
            </a:prstGeom>
          </p:spPr>
        </p:pic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29BA9356-5C26-B2F3-111A-7FCC15A39C5E}"/>
                </a:ext>
              </a:extLst>
            </p:cNvPr>
            <p:cNvCxnSpPr/>
            <p:nvPr/>
          </p:nvCxnSpPr>
          <p:spPr>
            <a:xfrm flipV="1">
              <a:off x="6126229" y="2484783"/>
              <a:ext cx="0" cy="1569362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Image 29">
            <a:extLst>
              <a:ext uri="{FF2B5EF4-FFF2-40B4-BE49-F238E27FC236}">
                <a16:creationId xmlns:a16="http://schemas.microsoft.com/office/drawing/2014/main" id="{2536C00F-C6E1-CB95-1195-DB4730309E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43" t="10925" r="4560" b="19520"/>
          <a:stretch/>
        </p:blipFill>
        <p:spPr>
          <a:xfrm>
            <a:off x="2925551" y="4813034"/>
            <a:ext cx="6340898" cy="1394944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D7685EF7-4F86-F338-7FCC-7E85D9933580}"/>
              </a:ext>
            </a:extLst>
          </p:cNvPr>
          <p:cNvSpPr txBox="1"/>
          <p:nvPr/>
        </p:nvSpPr>
        <p:spPr>
          <a:xfrm>
            <a:off x="813816" y="4092254"/>
            <a:ext cx="10705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i="0" u="sng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MA" b="1" i="0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Les effets inductifs se propagent le long d'une chaîne hydrocarbonée, diminuant rapidement avec la distance et devenant négligeables après quatre liaisons.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62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4817" y="6530008"/>
            <a:ext cx="513108" cy="259173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690635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21CC37-E64D-C0D3-1B67-DD94209E8FA4}"/>
              </a:ext>
            </a:extLst>
          </p:cNvPr>
          <p:cNvSpPr txBox="1"/>
          <p:nvPr/>
        </p:nvSpPr>
        <p:spPr>
          <a:xfrm>
            <a:off x="993084" y="1182605"/>
            <a:ext cx="8538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II. 4.	Influence de l’effet inductif sur l’acidité des acides carboxyliques 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CF7EFF2-4FAE-12B7-65BA-DDF375D0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231" y="1607633"/>
            <a:ext cx="4687171" cy="849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BABB395-EED4-184C-B575-56321D5FFFB2}"/>
              </a:ext>
            </a:extLst>
          </p:cNvPr>
          <p:cNvSpPr txBox="1"/>
          <p:nvPr/>
        </p:nvSpPr>
        <p:spPr>
          <a:xfrm>
            <a:off x="1671759" y="2685278"/>
            <a:ext cx="2193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roupement </a:t>
            </a:r>
            <a:r>
              <a:rPr lang="fr-FR" sz="1600" kern="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donneur</a:t>
            </a:r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/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(Effet</a:t>
            </a:r>
            <a:r>
              <a:rPr lang="fr-FR" sz="1600" kern="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+I</a:t>
            </a:r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6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5ED25A8-6E9C-7D22-218A-673FF1EEBBF1}"/>
              </a:ext>
            </a:extLst>
          </p:cNvPr>
          <p:cNvSpPr txBox="1"/>
          <p:nvPr/>
        </p:nvSpPr>
        <p:spPr>
          <a:xfrm>
            <a:off x="5005805" y="2685277"/>
            <a:ext cx="258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Enrichir </a:t>
            </a:r>
            <a:r>
              <a:rPr lang="fr-MA" sz="16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 liaison O─H</a:t>
            </a:r>
          </a:p>
          <a:p>
            <a:pPr algn="ctr"/>
            <a:r>
              <a:rPr lang="fr-MA" sz="16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MA" sz="1600" i="0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difficile à rompre</a:t>
            </a:r>
            <a:r>
              <a:rPr lang="fr-MA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A93D9F3-7690-6089-E381-FB66845AEC39}"/>
              </a:ext>
            </a:extLst>
          </p:cNvPr>
          <p:cNvSpPr txBox="1"/>
          <p:nvPr/>
        </p:nvSpPr>
        <p:spPr>
          <a:xfrm>
            <a:off x="1702434" y="3395110"/>
            <a:ext cx="2253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roupement </a:t>
            </a:r>
            <a:r>
              <a:rPr lang="fr-FR" sz="1600" kern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attracteur</a:t>
            </a:r>
          </a:p>
          <a:p>
            <a:pPr algn="ctr"/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(Effet </a:t>
            </a:r>
            <a:r>
              <a:rPr lang="fr-FR" sz="1600" kern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-I</a:t>
            </a:r>
            <a:r>
              <a:rPr lang="fr-FR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endParaRPr lang="en-US" sz="16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E1E0402-C6B9-7471-F54D-59A6CE43B01C}"/>
              </a:ext>
            </a:extLst>
          </p:cNvPr>
          <p:cNvSpPr txBox="1"/>
          <p:nvPr/>
        </p:nvSpPr>
        <p:spPr>
          <a:xfrm>
            <a:off x="4986446" y="3386088"/>
            <a:ext cx="2587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Appauvrir </a:t>
            </a:r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 liaison O─H</a:t>
            </a:r>
          </a:p>
          <a:p>
            <a:pPr algn="ctr"/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MA" sz="1600" b="0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facile à rompre</a:t>
            </a:r>
            <a:r>
              <a:rPr lang="fr-MA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D383B4E-FAE3-BF19-880E-92CB61DA5879}"/>
              </a:ext>
            </a:extLst>
          </p:cNvPr>
          <p:cNvSpPr txBox="1"/>
          <p:nvPr/>
        </p:nvSpPr>
        <p:spPr>
          <a:xfrm>
            <a:off x="8733585" y="2685276"/>
            <a:ext cx="1405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MA" sz="1600" b="0" i="0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cide faible</a:t>
            </a:r>
            <a:b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MA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grand)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A029461-9784-3AA2-A96E-0A39E47AFC33}"/>
              </a:ext>
            </a:extLst>
          </p:cNvPr>
          <p:cNvSpPr txBox="1"/>
          <p:nvPr/>
        </p:nvSpPr>
        <p:spPr>
          <a:xfrm>
            <a:off x="8733584" y="3371494"/>
            <a:ext cx="1405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MA" sz="1600" b="0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cide fort</a:t>
            </a:r>
            <a:b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MA" sz="16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lang="fr-MA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faible)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930249F8-6D46-BD9D-B7DC-14991C4927A5}"/>
              </a:ext>
            </a:extLst>
          </p:cNvPr>
          <p:cNvSpPr/>
          <p:nvPr/>
        </p:nvSpPr>
        <p:spPr>
          <a:xfrm>
            <a:off x="4109155" y="2845948"/>
            <a:ext cx="653006" cy="263429"/>
          </a:xfrm>
          <a:prstGeom prst="rightArrow">
            <a:avLst/>
          </a:prstGeom>
          <a:solidFill>
            <a:srgbClr val="BC57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CBAFA982-6D64-1290-740D-D6D444E13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26" y="4297353"/>
            <a:ext cx="8080513" cy="1541496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F54AE881-CFD7-C26F-F484-01BF25C4CB2D}"/>
              </a:ext>
            </a:extLst>
          </p:cNvPr>
          <p:cNvSpPr txBox="1"/>
          <p:nvPr/>
        </p:nvSpPr>
        <p:spPr>
          <a:xfrm>
            <a:off x="640348" y="4104942"/>
            <a:ext cx="1174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44" name="Flèche : droite 43">
            <a:extLst>
              <a:ext uri="{FF2B5EF4-FFF2-40B4-BE49-F238E27FC236}">
                <a16:creationId xmlns:a16="http://schemas.microsoft.com/office/drawing/2014/main" id="{C9F04957-A0D8-1121-3522-E19C9E9BD9CD}"/>
              </a:ext>
            </a:extLst>
          </p:cNvPr>
          <p:cNvSpPr/>
          <p:nvPr/>
        </p:nvSpPr>
        <p:spPr>
          <a:xfrm>
            <a:off x="7836935" y="2822514"/>
            <a:ext cx="653006" cy="263429"/>
          </a:xfrm>
          <a:prstGeom prst="rightArrow">
            <a:avLst/>
          </a:prstGeom>
          <a:solidFill>
            <a:srgbClr val="BC57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èche : droite 45">
            <a:extLst>
              <a:ext uri="{FF2B5EF4-FFF2-40B4-BE49-F238E27FC236}">
                <a16:creationId xmlns:a16="http://schemas.microsoft.com/office/drawing/2014/main" id="{9B8AC5CB-56B7-E811-672E-FAD731AC3420}"/>
              </a:ext>
            </a:extLst>
          </p:cNvPr>
          <p:cNvSpPr/>
          <p:nvPr/>
        </p:nvSpPr>
        <p:spPr>
          <a:xfrm>
            <a:off x="4087048" y="3532312"/>
            <a:ext cx="653006" cy="26342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èche : droite 46">
            <a:extLst>
              <a:ext uri="{FF2B5EF4-FFF2-40B4-BE49-F238E27FC236}">
                <a16:creationId xmlns:a16="http://schemas.microsoft.com/office/drawing/2014/main" id="{E082E8EB-553D-DA17-7F89-22A077133439}"/>
              </a:ext>
            </a:extLst>
          </p:cNvPr>
          <p:cNvSpPr/>
          <p:nvPr/>
        </p:nvSpPr>
        <p:spPr>
          <a:xfrm>
            <a:off x="7834186" y="3506489"/>
            <a:ext cx="653006" cy="26342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7B283248-92F6-174D-FCE9-313FF5714596}"/>
              </a:ext>
            </a:extLst>
          </p:cNvPr>
          <p:cNvCxnSpPr>
            <a:cxnSpLocks/>
          </p:cNvCxnSpPr>
          <p:nvPr/>
        </p:nvCxnSpPr>
        <p:spPr>
          <a:xfrm>
            <a:off x="1794479" y="3339624"/>
            <a:ext cx="8369941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3BAAE701-F3F1-BB7F-AD6A-6DD03CE7936A}"/>
              </a:ext>
            </a:extLst>
          </p:cNvPr>
          <p:cNvCxnSpPr>
            <a:cxnSpLocks/>
          </p:cNvCxnSpPr>
          <p:nvPr/>
        </p:nvCxnSpPr>
        <p:spPr>
          <a:xfrm>
            <a:off x="1794479" y="2665398"/>
            <a:ext cx="8369941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ABAFFD85-D378-706F-D1A8-283569DD1E35}"/>
              </a:ext>
            </a:extLst>
          </p:cNvPr>
          <p:cNvCxnSpPr>
            <a:cxnSpLocks/>
          </p:cNvCxnSpPr>
          <p:nvPr/>
        </p:nvCxnSpPr>
        <p:spPr>
          <a:xfrm>
            <a:off x="1794479" y="4004070"/>
            <a:ext cx="8369941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ECE427FF-E83F-BA39-E31E-C9CDE8D64976}"/>
              </a:ext>
            </a:extLst>
          </p:cNvPr>
          <p:cNvSpPr txBox="1"/>
          <p:nvPr/>
        </p:nvSpPr>
        <p:spPr>
          <a:xfrm>
            <a:off x="640347" y="5889605"/>
            <a:ext cx="8990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i="0" u="sng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MA" b="1" i="0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 même raisonnement s’applique pour expliquer l’acidité des alcools.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1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4817" y="6530008"/>
            <a:ext cx="513108" cy="259173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	Effet inductif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21CC37-E64D-C0D3-1B67-DD94209E8FA4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II. 5.	Influence de l’effet inductif sur la basicité </a:t>
            </a:r>
            <a:endParaRPr lang="en-US" b="1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6736D4-4ADB-C2E3-93F5-E80D70566D72}"/>
              </a:ext>
            </a:extLst>
          </p:cNvPr>
          <p:cNvSpPr txBox="1"/>
          <p:nvPr/>
        </p:nvSpPr>
        <p:spPr>
          <a:xfrm>
            <a:off x="813817" y="1875329"/>
            <a:ext cx="10754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</a:t>
            </a:r>
            <a:r>
              <a:rPr lang="fr-FR" sz="1800" b="1" kern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basicité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(selon Bronsted) est l'aptitude d’un espèce chimique à capter un</a:t>
            </a:r>
            <a:r>
              <a:rPr lang="fr-FR" sz="1800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proton.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DEAB0D5-5604-7B68-EB00-62A9537CE4AC}"/>
              </a:ext>
            </a:extLst>
          </p:cNvPr>
          <p:cNvSpPr txBox="1"/>
          <p:nvPr/>
        </p:nvSpPr>
        <p:spPr>
          <a:xfrm>
            <a:off x="813817" y="2498480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Ammoniac NH</a:t>
            </a:r>
            <a:r>
              <a:rPr lang="en-US" baseline="-250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35976E5-1A00-0C9C-B33B-E72890030A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699"/>
          <a:stretch/>
        </p:blipFill>
        <p:spPr>
          <a:xfrm>
            <a:off x="2358917" y="3014730"/>
            <a:ext cx="7663938" cy="16354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BFECAD-C652-3F63-3185-2C9854B3F1C1}"/>
              </a:ext>
            </a:extLst>
          </p:cNvPr>
          <p:cNvSpPr txBox="1"/>
          <p:nvPr/>
        </p:nvSpPr>
        <p:spPr>
          <a:xfrm>
            <a:off x="1247824" y="4918262"/>
            <a:ext cx="282390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330"/>
              </a:spcBef>
              <a:spcAft>
                <a:spcPts val="800"/>
              </a:spcAft>
            </a:pP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L’effet inductif donneur </a:t>
            </a:r>
            <a:r>
              <a:rPr lang="fr-FR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(+I)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451DEE4-2229-7B40-80DA-61C3A0FA8981}"/>
              </a:ext>
            </a:extLst>
          </p:cNvPr>
          <p:cNvSpPr txBox="1"/>
          <p:nvPr/>
        </p:nvSpPr>
        <p:spPr>
          <a:xfrm>
            <a:off x="813817" y="5791043"/>
            <a:ext cx="10993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i="0" u="sng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MA" b="1" i="0" dirty="0">
                <a:solidFill>
                  <a:srgbClr val="9933F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effets donneurs </a:t>
            </a:r>
            <a:r>
              <a:rPr lang="fr-FR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(+I)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augmente la basicité par contre les effets attracteurs </a:t>
            </a:r>
            <a:r>
              <a:rPr lang="fr-FR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(-I)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diminuent la basicité.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E281452-92D9-FBA4-DF58-F70F190213EE}"/>
              </a:ext>
            </a:extLst>
          </p:cNvPr>
          <p:cNvSpPr txBox="1"/>
          <p:nvPr/>
        </p:nvSpPr>
        <p:spPr>
          <a:xfrm>
            <a:off x="5344999" y="4790439"/>
            <a:ext cx="2317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Augmente la densité électronique de l’azote</a:t>
            </a:r>
            <a:endParaRPr lang="en-US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8DC6DFA-6DD5-E7F9-A926-A45026E8FE24}"/>
              </a:ext>
            </a:extLst>
          </p:cNvPr>
          <p:cNvSpPr txBox="1"/>
          <p:nvPr/>
        </p:nvSpPr>
        <p:spPr>
          <a:xfrm>
            <a:off x="8935277" y="4790438"/>
            <a:ext cx="190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Basicité augmente</a:t>
            </a:r>
          </a:p>
          <a:p>
            <a:pPr algn="ctr"/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(base </a:t>
            </a:r>
            <a:r>
              <a:rPr lang="fr-FR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orte)</a:t>
            </a:r>
            <a:endParaRPr lang="en-US" dirty="0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D298E0F6-AB7E-E9AD-2093-84F7C76F0BE8}"/>
              </a:ext>
            </a:extLst>
          </p:cNvPr>
          <p:cNvSpPr/>
          <p:nvPr/>
        </p:nvSpPr>
        <p:spPr>
          <a:xfrm>
            <a:off x="4381861" y="4983161"/>
            <a:ext cx="653006" cy="2634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76936E55-FA66-FAE6-C9EA-E98211569CF4}"/>
              </a:ext>
            </a:extLst>
          </p:cNvPr>
          <p:cNvSpPr/>
          <p:nvPr/>
        </p:nvSpPr>
        <p:spPr>
          <a:xfrm>
            <a:off x="7972140" y="5045517"/>
            <a:ext cx="653006" cy="2634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980795-F624-64BE-F7C4-A63DBAF85A39}"/>
              </a:ext>
            </a:extLst>
          </p:cNvPr>
          <p:cNvSpPr txBox="1"/>
          <p:nvPr/>
        </p:nvSpPr>
        <p:spPr>
          <a:xfrm>
            <a:off x="813817" y="1656793"/>
            <a:ext cx="106161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MA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mésomérie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MA" b="1" i="0" u="sng" dirty="0">
                <a:effectLst/>
                <a:highlight>
                  <a:srgbClr val="FFFFFF"/>
                </a:highlight>
                <a:uFill>
                  <a:solidFill>
                    <a:schemeClr val="accent2">
                      <a:lumMod val="60000"/>
                      <a:lumOff val="40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résonnance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symbolisée par </a:t>
            </a:r>
            <a:r>
              <a:rPr lang="fr-MA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fr-MA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décrit la délocalisation des électrons π, des doublets d'électrons libres n et des charges dans les molécules conjuguées.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69F4DF9-6A52-A590-DB08-F95AA298F85B}"/>
              </a:ext>
            </a:extLst>
          </p:cNvPr>
          <p:cNvSpPr txBox="1"/>
          <p:nvPr/>
        </p:nvSpPr>
        <p:spPr>
          <a:xfrm>
            <a:off x="813816" y="2386466"/>
            <a:ext cx="106161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MA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système conjugué</a:t>
            </a:r>
            <a:r>
              <a:rPr lang="fr-MA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MA" b="1" i="0" u="sng" dirty="0">
                <a:solidFill>
                  <a:srgbClr val="0D0D0D"/>
                </a:solidFill>
                <a:effectLst/>
                <a:highlight>
                  <a:srgbClr val="FFFFFF"/>
                </a:highlight>
                <a:uFill>
                  <a:solidFill>
                    <a:schemeClr val="accent5">
                      <a:lumMod val="75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</a:t>
            </a:r>
            <a:r>
              <a:rPr lang="fr-MA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), se produit lorsqu'il y a une alternance entre une liaison multiple ou doublet libre et une simple liaison, impliquant les électrons π ou n (doublets libres) ainsi que les électrons radicaux ou les charges.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8D091FC-96B1-AB9E-592D-8FDB86FC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22" y="3997825"/>
            <a:ext cx="6419256" cy="92333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808E62C-548B-59C6-9778-1F08181C7EAB}"/>
              </a:ext>
            </a:extLst>
          </p:cNvPr>
          <p:cNvSpPr txBox="1"/>
          <p:nvPr/>
        </p:nvSpPr>
        <p:spPr>
          <a:xfrm>
            <a:off x="813817" y="3244334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Buta-1,3-diène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05813D6-8869-B8F0-57EF-DE3BE466A1B1}"/>
              </a:ext>
            </a:extLst>
          </p:cNvPr>
          <p:cNvSpPr txBox="1"/>
          <p:nvPr/>
        </p:nvSpPr>
        <p:spPr>
          <a:xfrm>
            <a:off x="813817" y="3578579"/>
            <a:ext cx="10795089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555"/>
              </a:spcBef>
              <a:spcAft>
                <a:spcPts val="800"/>
              </a:spcAf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Les structures (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fr-FR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II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et </a:t>
            </a:r>
            <a:r>
              <a:rPr lang="fr-FR" b="1" kern="0" dirty="0">
                <a:latin typeface="Times New Roman" panose="02020603050405020304" pitchFamily="18" charset="0"/>
                <a:cs typeface="Arial" panose="020B0604020202020204" pitchFamily="34" charset="0"/>
              </a:rPr>
              <a:t>III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sont appelées: structures de résonance ou formes mésomères ou encore formes limites.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29BD08C-55C1-E748-BA59-59FA5BA49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209" y="3886818"/>
            <a:ext cx="2086303" cy="633085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BF1E9A2D-FF9B-4FD7-DF8C-4A3B06F425D1}"/>
              </a:ext>
            </a:extLst>
          </p:cNvPr>
          <p:cNvSpPr txBox="1"/>
          <p:nvPr/>
        </p:nvSpPr>
        <p:spPr>
          <a:xfrm>
            <a:off x="8311607" y="4503758"/>
            <a:ext cx="2445506" cy="324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14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Hybride de résonance</a:t>
            </a:r>
            <a:endParaRPr lang="en-US" sz="12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F765C444-6B05-C9DA-BA22-AA6BE45C1B49}"/>
              </a:ext>
            </a:extLst>
          </p:cNvPr>
          <p:cNvSpPr/>
          <p:nvPr/>
        </p:nvSpPr>
        <p:spPr>
          <a:xfrm>
            <a:off x="7368840" y="4253232"/>
            <a:ext cx="942767" cy="324384"/>
          </a:xfrm>
          <a:prstGeom prst="rightArrow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2A5F840-FD5D-ED8A-7BDF-21A2D94EBB06}"/>
              </a:ext>
            </a:extLst>
          </p:cNvPr>
          <p:cNvSpPr txBox="1"/>
          <p:nvPr/>
        </p:nvSpPr>
        <p:spPr>
          <a:xfrm>
            <a:off x="813816" y="5093352"/>
            <a:ext cx="11378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Hybride de résonance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une combinaison de toutes les formes mésomères (une moyenne de toutes ces 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limites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75DA9A6-C1AD-C916-6658-9A371F473EB6}"/>
              </a:ext>
            </a:extLst>
          </p:cNvPr>
          <p:cNvSpPr txBox="1"/>
          <p:nvPr/>
        </p:nvSpPr>
        <p:spPr>
          <a:xfrm>
            <a:off x="813816" y="5798451"/>
            <a:ext cx="1102368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520"/>
              </a:spcBef>
              <a:spcAft>
                <a:spcPts val="800"/>
              </a:spcAft>
            </a:pPr>
            <a:r>
              <a:rPr lang="fr-FR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sz="1800" b="1" kern="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Pour un composé donné, plus le nombre de formules mésomères est élève, plus la stabilité est grande.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6B3C8B6-249B-66C6-7E2F-4B03A837A2BB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1.	Définitions</a:t>
            </a:r>
          </a:p>
        </p:txBody>
      </p:sp>
    </p:spTree>
    <p:extLst>
      <p:ext uri="{BB962C8B-B14F-4D97-AF65-F5344CB8AC3E}">
        <p14:creationId xmlns:p14="http://schemas.microsoft.com/office/powerpoint/2010/main" val="1666668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6C539F1-6D55-EA35-240E-DF0EFBDCC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59" y="2753345"/>
            <a:ext cx="7839075" cy="25812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E4753A-C6AE-29C4-6AFE-15D37367FF5D}"/>
              </a:ext>
            </a:extLst>
          </p:cNvPr>
          <p:cNvSpPr txBox="1"/>
          <p:nvPr/>
        </p:nvSpPr>
        <p:spPr>
          <a:xfrm>
            <a:off x="993084" y="1252179"/>
            <a:ext cx="83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2.	Groupements à effet mésomère donneur (+M) &amp; attracteur (-M)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133394F-411A-1D35-18A4-8BAED2F57A54}"/>
              </a:ext>
            </a:extLst>
          </p:cNvPr>
          <p:cNvSpPr txBox="1"/>
          <p:nvPr/>
        </p:nvSpPr>
        <p:spPr>
          <a:xfrm>
            <a:off x="725556" y="1783411"/>
            <a:ext cx="10863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effets mésomères peuvent être </a:t>
            </a:r>
            <a:r>
              <a:rPr lang="fr-MA" sz="1800" b="0" i="0" u="heavy" dirty="0">
                <a:effectLst/>
                <a:uFill>
                  <a:solidFill>
                    <a:schemeClr val="accent2">
                      <a:lumMod val="60000"/>
                      <a:lumOff val="40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donneurs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MA" sz="1800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+M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ou </a:t>
            </a:r>
            <a:r>
              <a:rPr lang="fr-MA" sz="1800" b="0" i="0" u="heavy" dirty="0">
                <a:solidFill>
                  <a:srgbClr val="000000"/>
                </a:solidFill>
                <a:effectLst/>
                <a:uFill>
                  <a:solidFill>
                    <a:schemeClr val="accent5">
                      <a:lumMod val="75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attracteurs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MA" sz="1800" b="1" i="0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par rapport à une double liaison carbone-carbone.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C22CF00-261D-B93A-BC41-C9CC87CBAC0A}"/>
              </a:ext>
            </a:extLst>
          </p:cNvPr>
          <p:cNvCxnSpPr/>
          <p:nvPr/>
        </p:nvCxnSpPr>
        <p:spPr>
          <a:xfrm>
            <a:off x="2104195" y="2584174"/>
            <a:ext cx="79235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9BDD3F6-F66F-0AE3-7C8A-991A5AA6C3D0}"/>
              </a:ext>
            </a:extLst>
          </p:cNvPr>
          <p:cNvCxnSpPr/>
          <p:nvPr/>
        </p:nvCxnSpPr>
        <p:spPr>
          <a:xfrm>
            <a:off x="2104195" y="3435612"/>
            <a:ext cx="79235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8118F3B-A4C0-7F3B-5B06-FB1B94CC7C58}"/>
              </a:ext>
            </a:extLst>
          </p:cNvPr>
          <p:cNvCxnSpPr/>
          <p:nvPr/>
        </p:nvCxnSpPr>
        <p:spPr>
          <a:xfrm>
            <a:off x="2104195" y="5734876"/>
            <a:ext cx="79235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EB3497E-F209-967D-E013-D313C2CEC179}"/>
              </a:ext>
            </a:extLst>
          </p:cNvPr>
          <p:cNvCxnSpPr>
            <a:cxnSpLocks/>
          </p:cNvCxnSpPr>
          <p:nvPr/>
        </p:nvCxnSpPr>
        <p:spPr>
          <a:xfrm>
            <a:off x="6065974" y="2594113"/>
            <a:ext cx="1" cy="31217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0346B8D-6E45-886F-6732-0A6A52ECC2CF}"/>
              </a:ext>
            </a:extLst>
          </p:cNvPr>
          <p:cNvCxnSpPr>
            <a:cxnSpLocks/>
          </p:cNvCxnSpPr>
          <p:nvPr/>
        </p:nvCxnSpPr>
        <p:spPr>
          <a:xfrm>
            <a:off x="2104194" y="2584174"/>
            <a:ext cx="1" cy="31507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BF462CB-66D0-8463-0FF7-D7D35B02C070}"/>
              </a:ext>
            </a:extLst>
          </p:cNvPr>
          <p:cNvCxnSpPr/>
          <p:nvPr/>
        </p:nvCxnSpPr>
        <p:spPr>
          <a:xfrm>
            <a:off x="10021738" y="2604052"/>
            <a:ext cx="1" cy="31217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147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E4753A-C6AE-29C4-6AFE-15D37367FF5D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2.	Différents cas possibles de mésoméries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BD8164-6A1C-BA20-9FDE-86DC60F7EF3F}"/>
              </a:ext>
            </a:extLst>
          </p:cNvPr>
          <p:cNvSpPr txBox="1"/>
          <p:nvPr/>
        </p:nvSpPr>
        <p:spPr>
          <a:xfrm>
            <a:off x="813816" y="1684542"/>
            <a:ext cx="790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1.	Plusieurs liaisons multiples séparées par des liaisons simples (π−σ−π)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94A523-A0B6-60A2-0DF1-96EC685EDC72}"/>
              </a:ext>
            </a:extLst>
          </p:cNvPr>
          <p:cNvSpPr txBox="1"/>
          <p:nvPr/>
        </p:nvSpPr>
        <p:spPr>
          <a:xfrm>
            <a:off x="813815" y="4290733"/>
            <a:ext cx="790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2.	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Doublet libre en α d'une liaison multiple (n-σ-π)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C9696D8-3EFD-0D37-083A-5D88660B9973}"/>
              </a:ext>
            </a:extLst>
          </p:cNvPr>
          <p:cNvSpPr txBox="1"/>
          <p:nvPr/>
        </p:nvSpPr>
        <p:spPr>
          <a:xfrm>
            <a:off x="813815" y="2172308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5C5E062A-50B4-3F68-9ACC-2F87DA7D46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39" b="36212"/>
          <a:stretch/>
        </p:blipFill>
        <p:spPr bwMode="auto">
          <a:xfrm>
            <a:off x="4133850" y="2172307"/>
            <a:ext cx="3600806" cy="3362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3F8A518-42C2-67E3-E0A6-E0BA342D89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509" y="2591823"/>
            <a:ext cx="8892932" cy="133114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706A07B8-3F39-A825-8C61-5C57B3DE59EC}"/>
              </a:ext>
            </a:extLst>
          </p:cNvPr>
          <p:cNvSpPr txBox="1"/>
          <p:nvPr/>
        </p:nvSpPr>
        <p:spPr>
          <a:xfrm>
            <a:off x="813815" y="4746605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" name="Objet 28">
            <a:extLst>
              <a:ext uri="{FF2B5EF4-FFF2-40B4-BE49-F238E27FC236}">
                <a16:creationId xmlns:a16="http://schemas.microsoft.com/office/drawing/2014/main" id="{8AAE1343-6597-71B0-561E-9157676F7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658872"/>
              </p:ext>
            </p:extLst>
          </p:nvPr>
        </p:nvGraphicFramePr>
        <p:xfrm>
          <a:off x="4133850" y="4645188"/>
          <a:ext cx="1565961" cy="470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1625684" imgH="533522" progId="Paint.Picture">
                  <p:embed/>
                </p:oleObj>
              </mc:Choice>
              <mc:Fallback>
                <p:oleObj name="Image bitmap" r:id="rId5" imgW="1625684" imgH="533522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821" b="9201"/>
                      <a:stretch>
                        <a:fillRect/>
                      </a:stretch>
                    </p:blipFill>
                    <p:spPr bwMode="auto">
                      <a:xfrm>
                        <a:off x="4133850" y="4645188"/>
                        <a:ext cx="1565961" cy="470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Image 29">
            <a:extLst>
              <a:ext uri="{FF2B5EF4-FFF2-40B4-BE49-F238E27FC236}">
                <a16:creationId xmlns:a16="http://schemas.microsoft.com/office/drawing/2014/main" id="{DF0AA751-C592-1549-6F85-ADA60FCDE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33" y="5276052"/>
            <a:ext cx="4731385" cy="566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607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E4753A-C6AE-29C4-6AFE-15D37367FF5D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2.	Différents cas possibles de mésoméries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BD8164-6A1C-BA20-9FDE-86DC60F7EF3F}"/>
              </a:ext>
            </a:extLst>
          </p:cNvPr>
          <p:cNvSpPr txBox="1"/>
          <p:nvPr/>
        </p:nvSpPr>
        <p:spPr>
          <a:xfrm>
            <a:off x="813816" y="1813750"/>
            <a:ext cx="832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3.	Orbital vide (charge positive) en α d'une liaison multiple 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-σ-π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94A523-A0B6-60A2-0DF1-96EC685EDC72}"/>
              </a:ext>
            </a:extLst>
          </p:cNvPr>
          <p:cNvSpPr txBox="1"/>
          <p:nvPr/>
        </p:nvSpPr>
        <p:spPr>
          <a:xfrm>
            <a:off x="813815" y="4012439"/>
            <a:ext cx="790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4.	Doublet libre en α d'une orbitale vide n-σ- 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C9696D8-3EFD-0D37-083A-5D88660B9973}"/>
              </a:ext>
            </a:extLst>
          </p:cNvPr>
          <p:cNvSpPr txBox="1"/>
          <p:nvPr/>
        </p:nvSpPr>
        <p:spPr>
          <a:xfrm>
            <a:off x="813815" y="2301515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06A07B8-3F39-A825-8C61-5C57B3DE59EC}"/>
              </a:ext>
            </a:extLst>
          </p:cNvPr>
          <p:cNvSpPr txBox="1"/>
          <p:nvPr/>
        </p:nvSpPr>
        <p:spPr>
          <a:xfrm>
            <a:off x="813815" y="4468311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D28A1E1-BD0A-1362-F4CC-AFABEC72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128" y="2183082"/>
            <a:ext cx="2342630" cy="5281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25821B1-9B04-C007-D50A-43B6E53466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37" y="2827772"/>
            <a:ext cx="9593726" cy="585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687F78B-5429-E355-3C44-A719CAC55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128" y="4334745"/>
            <a:ext cx="2369363" cy="57298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F667212-4B9E-3E91-CBFC-BC563D66E4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81" y="4948375"/>
            <a:ext cx="6231306" cy="685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199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E4753A-C6AE-29C4-6AFE-15D37367FF5D}"/>
              </a:ext>
            </a:extLst>
          </p:cNvPr>
          <p:cNvSpPr txBox="1"/>
          <p:nvPr/>
        </p:nvSpPr>
        <p:spPr>
          <a:xfrm>
            <a:off x="993084" y="12521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2.	Différents cas possibles de mésoméries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BD8164-6A1C-BA20-9FDE-86DC60F7EF3F}"/>
              </a:ext>
            </a:extLst>
          </p:cNvPr>
          <p:cNvSpPr txBox="1"/>
          <p:nvPr/>
        </p:nvSpPr>
        <p:spPr>
          <a:xfrm>
            <a:off x="813816" y="1684542"/>
            <a:ext cx="790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5.	Charge négative en α d’une liaison multiple </a:t>
            </a:r>
            <a:r>
              <a:rPr lang="fr-MA" sz="14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ebdings" panose="05030102010509060703" pitchFamily="18" charset="2"/>
              </a:rPr>
              <a:t>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-σ-π 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94A523-A0B6-60A2-0DF1-96EC685EDC72}"/>
              </a:ext>
            </a:extLst>
          </p:cNvPr>
          <p:cNvSpPr txBox="1"/>
          <p:nvPr/>
        </p:nvSpPr>
        <p:spPr>
          <a:xfrm>
            <a:off x="813815" y="3952804"/>
            <a:ext cx="790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2. 6.	Radical en α d'une liaison multiple </a:t>
            </a:r>
            <a:r>
              <a:rPr lang="fr-F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sym typeface="Webdings" panose="05030102010509060703" pitchFamily="18" charset="2"/>
              </a:rPr>
              <a:t></a:t>
            </a:r>
            <a:r>
              <a:rPr lang="fr-MA" sz="1800" b="1" dirty="0">
                <a:solidFill>
                  <a:srgbClr val="0B672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-σ-π</a:t>
            </a:r>
            <a:endParaRPr lang="en-US" b="1" dirty="0">
              <a:solidFill>
                <a:srgbClr val="0B6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C9696D8-3EFD-0D37-083A-5D88660B9973}"/>
              </a:ext>
            </a:extLst>
          </p:cNvPr>
          <p:cNvSpPr txBox="1"/>
          <p:nvPr/>
        </p:nvSpPr>
        <p:spPr>
          <a:xfrm>
            <a:off x="813815" y="2172308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06A07B8-3F39-A825-8C61-5C57B3DE59EC}"/>
              </a:ext>
            </a:extLst>
          </p:cNvPr>
          <p:cNvSpPr txBox="1"/>
          <p:nvPr/>
        </p:nvSpPr>
        <p:spPr>
          <a:xfrm>
            <a:off x="813815" y="4408676"/>
            <a:ext cx="3410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Formes mésomères de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A3E989-CE35-9AAD-B6DA-2DA89EE3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1983304"/>
            <a:ext cx="2124075" cy="5891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40A642B-56DA-D3A2-8850-0CF6D27DB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0" y="4399047"/>
            <a:ext cx="1504685" cy="36933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618B84-61A7-1CD7-3735-AD6FA1524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843" y="4920376"/>
            <a:ext cx="4862610" cy="62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743D1F5-D925-1EFF-1230-C4738A72E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4122" y="2679210"/>
            <a:ext cx="6867484" cy="5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9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4026" y="6419850"/>
            <a:ext cx="38389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Mésomérie et Résonance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5E4753A-C6AE-29C4-6AFE-15D37367FF5D}"/>
              </a:ext>
            </a:extLst>
          </p:cNvPr>
          <p:cNvSpPr txBox="1"/>
          <p:nvPr/>
        </p:nvSpPr>
        <p:spPr>
          <a:xfrm>
            <a:off x="993084" y="1252179"/>
            <a:ext cx="83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III. 3.	Groupements à effet mésomère donneur (+M) &amp; attracteur (-M)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21F2B36-27A5-6E9F-B309-72FBCC76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75" y="4159908"/>
            <a:ext cx="5353051" cy="144591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716F1F4-D3BD-CFA4-AD51-33CE9B5A1F1D}"/>
              </a:ext>
            </a:extLst>
          </p:cNvPr>
          <p:cNvSpPr txBox="1"/>
          <p:nvPr/>
        </p:nvSpPr>
        <p:spPr>
          <a:xfrm>
            <a:off x="723537" y="1736446"/>
            <a:ext cx="8062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kern="0" dirty="0" err="1">
                <a:latin typeface="Times New Roman" panose="02020603050405020304" pitchFamily="18" charset="0"/>
              </a:rPr>
              <a:t>Acétophénone</a:t>
            </a:r>
            <a:r>
              <a:rPr lang="en-US" kern="0" dirty="0">
                <a:latin typeface="Times New Roman" panose="02020603050405020304" pitchFamily="18" charset="0"/>
              </a:rPr>
              <a:t> (1-phényléthanone)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 effet attracteur (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-M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de CO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A84AAF0-928E-3098-37DC-6D6EEDEE4F02}"/>
              </a:ext>
            </a:extLst>
          </p:cNvPr>
          <p:cNvSpPr txBox="1"/>
          <p:nvPr/>
        </p:nvSpPr>
        <p:spPr>
          <a:xfrm>
            <a:off x="723536" y="3577680"/>
            <a:ext cx="5070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Aniline - effet donneurs (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+M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de NH</a:t>
            </a:r>
            <a:r>
              <a:rPr lang="fr-FR" sz="1800" kern="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800" kern="100" baseline="-25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70713BB-166D-7C79-F96F-699974A963FB}"/>
              </a:ext>
            </a:extLst>
          </p:cNvPr>
          <p:cNvSpPr txBox="1"/>
          <p:nvPr/>
        </p:nvSpPr>
        <p:spPr>
          <a:xfrm>
            <a:off x="6487353" y="4093881"/>
            <a:ext cx="6102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forte </a:t>
            </a:r>
            <a:r>
              <a:rPr lang="fr-M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groupements </a:t>
            </a:r>
            <a:r>
              <a:rPr lang="fr-MA" sz="1600" u="heavy" dirty="0">
                <a:solidFill>
                  <a:srgbClr val="000000"/>
                </a:solidFill>
                <a:uFill>
                  <a:solidFill>
                    <a:schemeClr val="accent1">
                      <a:lumMod val="50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donneurs</a:t>
            </a:r>
            <a:r>
              <a:rPr lang="fr-M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son </a:t>
            </a:r>
            <a:r>
              <a:rPr lang="fr-MA" sz="1600" u="heavy" dirty="0">
                <a:solidFill>
                  <a:srgbClr val="000000"/>
                </a:solidFill>
                <a:uFill>
                  <a:solidFill>
                    <a:schemeClr val="accent1">
                      <a:lumMod val="50000"/>
                    </a:schemeClr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doublet est disponible</a:t>
            </a:r>
            <a:endParaRPr lang="en-US" sz="1600" u="heavy" dirty="0">
              <a:solidFill>
                <a:srgbClr val="000000"/>
              </a:solidFill>
              <a:uFill>
                <a:solidFill>
                  <a:schemeClr val="accent1">
                    <a:lumMod val="50000"/>
                  </a:schemeClr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E57CE04-373F-FD89-804A-176FE639D303}"/>
              </a:ext>
            </a:extLst>
          </p:cNvPr>
          <p:cNvSpPr txBox="1"/>
          <p:nvPr/>
        </p:nvSpPr>
        <p:spPr>
          <a:xfrm>
            <a:off x="6576804" y="5502120"/>
            <a:ext cx="57046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Cyclohexylamine</a:t>
            </a:r>
            <a:r>
              <a:rPr lang="fr-M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l’azote est riche en électron grâce à son effet (–I)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7F7C323-2FEB-F9D7-F596-09737B9959A8}"/>
              </a:ext>
            </a:extLst>
          </p:cNvPr>
          <p:cNvSpPr txBox="1"/>
          <p:nvPr/>
        </p:nvSpPr>
        <p:spPr>
          <a:xfrm>
            <a:off x="6584878" y="5929389"/>
            <a:ext cx="55228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Aniline le doublet libre de l’atome d’azote </a:t>
            </a:r>
            <a:r>
              <a:rPr lang="fr-M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n’</a:t>
            </a:r>
            <a:r>
              <a:rPr lang="fr-MA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pas disponible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E924A57-125A-FE6D-488E-C925663D710E}"/>
              </a:ext>
            </a:extLst>
          </p:cNvPr>
          <p:cNvSpPr txBox="1"/>
          <p:nvPr/>
        </p:nvSpPr>
        <p:spPr>
          <a:xfrm>
            <a:off x="7681497" y="3613989"/>
            <a:ext cx="3150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Etude basicité des amine RNH</a:t>
            </a:r>
            <a:r>
              <a:rPr lang="fr-MA" sz="1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MA" sz="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0F2B27D-8493-5798-80DE-71E1FB1A5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264" y="4525976"/>
            <a:ext cx="3848169" cy="928217"/>
          </a:xfrm>
          <a:prstGeom prst="rect">
            <a:avLst/>
          </a:prstGeom>
        </p:spPr>
      </p:pic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3636CE83-3D40-E908-92DC-2F410BE9EE2C}"/>
              </a:ext>
            </a:extLst>
          </p:cNvPr>
          <p:cNvCxnSpPr/>
          <p:nvPr/>
        </p:nvCxnSpPr>
        <p:spPr>
          <a:xfrm>
            <a:off x="6096000" y="3762346"/>
            <a:ext cx="0" cy="2465841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3F6CD49B-4E42-1BD5-40D4-41E219DEACFC}"/>
              </a:ext>
            </a:extLst>
          </p:cNvPr>
          <p:cNvSpPr txBox="1"/>
          <p:nvPr/>
        </p:nvSpPr>
        <p:spPr>
          <a:xfrm>
            <a:off x="6137828" y="5409787"/>
            <a:ext cx="360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b="0" i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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316A287-5B89-DDF9-78AB-31B4858B3F26}"/>
              </a:ext>
            </a:extLst>
          </p:cNvPr>
          <p:cNvSpPr txBox="1"/>
          <p:nvPr/>
        </p:nvSpPr>
        <p:spPr>
          <a:xfrm>
            <a:off x="6181206" y="5840674"/>
            <a:ext cx="360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b="0" i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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1F61E4-084C-5670-DB3B-1EEE48061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500" y="2215375"/>
            <a:ext cx="4115628" cy="133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94513" y="6490252"/>
            <a:ext cx="463412" cy="298930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IV.	Intermédiaires réactionnels en chimie organique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7A6274-946C-3E3C-18BF-133838D443DA}"/>
              </a:ext>
            </a:extLst>
          </p:cNvPr>
          <p:cNvSpPr txBox="1"/>
          <p:nvPr/>
        </p:nvSpPr>
        <p:spPr>
          <a:xfrm>
            <a:off x="865351" y="1227176"/>
            <a:ext cx="10785148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</a:t>
            </a:r>
            <a:r>
              <a:rPr lang="en-US" sz="1800" b="1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intermédiaire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réactionnel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espèce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chimique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formée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réaction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puis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consommée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45537F5-4B37-BD17-336F-239F064EE510}"/>
              </a:ext>
            </a:extLst>
          </p:cNvPr>
          <p:cNvSpPr txBox="1"/>
          <p:nvPr/>
        </p:nvSpPr>
        <p:spPr>
          <a:xfrm>
            <a:off x="993084" y="1639799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IV. 1.	Carbocations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F1F47FA9-87E3-A1E8-E587-8637F77ABAF6}"/>
              </a:ext>
            </a:extLst>
          </p:cNvPr>
          <p:cNvGrpSpPr/>
          <p:nvPr/>
        </p:nvGrpSpPr>
        <p:grpSpPr>
          <a:xfrm>
            <a:off x="865351" y="1837116"/>
            <a:ext cx="11187684" cy="646331"/>
            <a:chOff x="813816" y="1923870"/>
            <a:chExt cx="11187684" cy="646331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56907610-D747-5A48-35DE-771453BD9604}"/>
                </a:ext>
              </a:extLst>
            </p:cNvPr>
            <p:cNvSpPr txBox="1"/>
            <p:nvPr/>
          </p:nvSpPr>
          <p:spPr>
            <a:xfrm>
              <a:off x="813816" y="2053608"/>
              <a:ext cx="8489209" cy="385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8580" algn="just">
                <a:lnSpc>
                  <a:spcPct val="115000"/>
                </a:lnSpc>
              </a:pP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Carbocation 		  un carbone qui </a:t>
              </a:r>
              <a:r>
                <a:rPr lang="fr-FR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porte une charge positive (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déficitaire en électrons</a:t>
              </a:r>
              <a:r>
                <a:rPr lang="fr-FR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) </a:t>
              </a:r>
              <a:endPara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201CB39C-3C1B-B504-0C96-31A24B3EF441}"/>
                </a:ext>
              </a:extLst>
            </p:cNvPr>
            <p:cNvSpPr txBox="1"/>
            <p:nvPr/>
          </p:nvSpPr>
          <p:spPr>
            <a:xfrm>
              <a:off x="9761792" y="1923870"/>
              <a:ext cx="2239708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Stabilisé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par les </a:t>
              </a:r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effets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800" dirty="0" err="1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donneurs</a:t>
              </a:r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(+I) et (+M)</a:t>
              </a:r>
              <a:endPara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lèche : droite 16">
              <a:extLst>
                <a:ext uri="{FF2B5EF4-FFF2-40B4-BE49-F238E27FC236}">
                  <a16:creationId xmlns:a16="http://schemas.microsoft.com/office/drawing/2014/main" id="{1A715CB8-9855-8F1F-83EB-DAFA6B596917}"/>
                </a:ext>
              </a:extLst>
            </p:cNvPr>
            <p:cNvSpPr/>
            <p:nvPr/>
          </p:nvSpPr>
          <p:spPr>
            <a:xfrm>
              <a:off x="2124903" y="2181812"/>
              <a:ext cx="618297" cy="188480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èche : droite 17">
              <a:extLst>
                <a:ext uri="{FF2B5EF4-FFF2-40B4-BE49-F238E27FC236}">
                  <a16:creationId xmlns:a16="http://schemas.microsoft.com/office/drawing/2014/main" id="{2EC24D0D-526E-8F13-942D-02815ABCE5CA}"/>
                </a:ext>
              </a:extLst>
            </p:cNvPr>
            <p:cNvSpPr/>
            <p:nvPr/>
          </p:nvSpPr>
          <p:spPr>
            <a:xfrm>
              <a:off x="9099894" y="2175647"/>
              <a:ext cx="618297" cy="188480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E41F7D5-5927-81C9-FEE6-CB677C566F18}"/>
              </a:ext>
            </a:extLst>
          </p:cNvPr>
          <p:cNvGrpSpPr/>
          <p:nvPr/>
        </p:nvGrpSpPr>
        <p:grpSpPr>
          <a:xfrm>
            <a:off x="2784174" y="2361116"/>
            <a:ext cx="6367255" cy="1485309"/>
            <a:chOff x="2842591" y="2686345"/>
            <a:chExt cx="6367255" cy="1485309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43CF6B0-AC5F-D96D-0E8F-F427F920A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2591" y="2686345"/>
              <a:ext cx="6367255" cy="1485309"/>
            </a:xfrm>
            <a:prstGeom prst="rect">
              <a:avLst/>
            </a:prstGeom>
          </p:spPr>
        </p:pic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E6737FB2-2A0F-28B0-9236-D8DCD211E41D}"/>
                </a:ext>
              </a:extLst>
            </p:cNvPr>
            <p:cNvCxnSpPr/>
            <p:nvPr/>
          </p:nvCxnSpPr>
          <p:spPr>
            <a:xfrm>
              <a:off x="4035287" y="4055165"/>
              <a:ext cx="3836504" cy="0"/>
            </a:xfrm>
            <a:prstGeom prst="straightConnector1">
              <a:avLst/>
            </a:prstGeom>
            <a:ln w="2857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BE1FC136-1A36-4684-1C94-CE76EA431158}"/>
              </a:ext>
            </a:extLst>
          </p:cNvPr>
          <p:cNvSpPr txBox="1"/>
          <p:nvPr/>
        </p:nvSpPr>
        <p:spPr>
          <a:xfrm>
            <a:off x="746081" y="4077378"/>
            <a:ext cx="1102368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520"/>
              </a:spcBef>
              <a:spcAft>
                <a:spcPts val="800"/>
              </a:spcAft>
            </a:pPr>
            <a:r>
              <a:rPr lang="fr-FR" b="1" u="sng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sz="1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:</a:t>
            </a:r>
            <a:r>
              <a:rPr lang="fr-FR" sz="1800" b="1" kern="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stabilisation par </a:t>
            </a:r>
            <a:r>
              <a:rPr lang="fr-MA" sz="1800" u="heavy" kern="0" dirty="0">
                <a:effectLst/>
                <a:uFill>
                  <a:solidFill>
                    <a:schemeClr val="accent2">
                      <a:lumMod val="40000"/>
                      <a:lumOff val="60000"/>
                    </a:schemeClr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effet mésomère </a:t>
            </a:r>
            <a:r>
              <a:rPr lang="fr-MA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est </a:t>
            </a:r>
            <a:r>
              <a:rPr lang="fr-MA" sz="18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plus importante </a:t>
            </a:r>
            <a:r>
              <a:rPr lang="fr-MA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que par </a:t>
            </a:r>
            <a:r>
              <a:rPr lang="fr-MA" u="heavy" kern="0" dirty="0">
                <a:uFill>
                  <a:solidFill>
                    <a:schemeClr val="accent2">
                      <a:lumMod val="40000"/>
                      <a:lumOff val="60000"/>
                    </a:schemeClr>
                  </a:solidFill>
                </a:uFill>
                <a:latin typeface="Times New Roman" panose="02020603050405020304" pitchFamily="18" charset="0"/>
                <a:cs typeface="Arial" panose="020B0604020202020204" pitchFamily="34" charset="0"/>
              </a:rPr>
              <a:t>effet inductif</a:t>
            </a:r>
            <a:r>
              <a:rPr lang="fr-MA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6B01309-6BC2-20FB-1AC4-FB76839355EA}"/>
              </a:ext>
            </a:extLst>
          </p:cNvPr>
          <p:cNvSpPr txBox="1"/>
          <p:nvPr/>
        </p:nvSpPr>
        <p:spPr>
          <a:xfrm>
            <a:off x="746081" y="4593936"/>
            <a:ext cx="11151058" cy="703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8580">
              <a:lnSpc>
                <a:spcPct val="115000"/>
              </a:lnSpc>
            </a:pPr>
            <a:r>
              <a:rPr lang="fr-FR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1800" b="1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Candara" panose="020E0502030303020204" pitchFamily="34" charset="0"/>
              </a:rPr>
              <a:t> :</a:t>
            </a:r>
            <a:r>
              <a:rPr lang="fr-FR" sz="18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Candara" panose="020E0502030303020204" pitchFamily="34" charset="0"/>
              </a:rPr>
              <a:t> </a:t>
            </a:r>
            <a:r>
              <a:rPr lang="fr-FR" sz="1800" dirty="0">
                <a:effectLst/>
                <a:latin typeface="Times New Roman" panose="02020603050405020304" pitchFamily="18" charset="0"/>
                <a:ea typeface="Candara" panose="020E0502030303020204" pitchFamily="34" charset="0"/>
              </a:rPr>
              <a:t>Un carbocation, même primaire, stabilisé par mésomérie est plus stable qu’un carbocation tertiaire stabilisé par effet inductif.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47BBD830-1A73-5809-68F4-2D474A93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28" y="4921513"/>
            <a:ext cx="3872518" cy="13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82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94513" y="6490252"/>
            <a:ext cx="463412" cy="298930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IV.	Intermédiaires réactionnels en chimie organique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B37E7C-DAD6-5C05-4A67-C7F41A506A36}"/>
              </a:ext>
            </a:extLst>
          </p:cNvPr>
          <p:cNvSpPr txBox="1"/>
          <p:nvPr/>
        </p:nvSpPr>
        <p:spPr>
          <a:xfrm>
            <a:off x="993085" y="13108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IV. 2.	Carbanions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10D8A52-6776-FFA6-A2B5-2C8A292992B6}"/>
              </a:ext>
            </a:extLst>
          </p:cNvPr>
          <p:cNvGrpSpPr/>
          <p:nvPr/>
        </p:nvGrpSpPr>
        <p:grpSpPr>
          <a:xfrm>
            <a:off x="865351" y="1668153"/>
            <a:ext cx="11008600" cy="646331"/>
            <a:chOff x="813816" y="1923870"/>
            <a:chExt cx="11008600" cy="646331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EC0DA870-BA2E-1706-806B-C98E8AAEFE60}"/>
                </a:ext>
              </a:extLst>
            </p:cNvPr>
            <p:cNvSpPr txBox="1"/>
            <p:nvPr/>
          </p:nvSpPr>
          <p:spPr>
            <a:xfrm>
              <a:off x="813816" y="2053608"/>
              <a:ext cx="8489209" cy="385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8580" algn="just">
                <a:lnSpc>
                  <a:spcPct val="115000"/>
                </a:lnSpc>
              </a:pP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Carbanion 		  un carbone qui </a:t>
              </a:r>
              <a:r>
                <a:rPr lang="fr-FR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porte une charge négative (</a:t>
              </a:r>
              <a:r>
                <a: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riche en électrons</a:t>
              </a:r>
              <a:r>
                <a:rPr lang="fr-FR" sz="18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) </a:t>
              </a:r>
              <a:endPara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4FABE5DF-0EB3-117E-E3A6-B31BB4DA2557}"/>
                </a:ext>
              </a:extLst>
            </p:cNvPr>
            <p:cNvSpPr txBox="1"/>
            <p:nvPr/>
          </p:nvSpPr>
          <p:spPr>
            <a:xfrm>
              <a:off x="9443743" y="1923870"/>
              <a:ext cx="2378673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Stabilisé</a:t>
              </a:r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par les </a:t>
              </a:r>
              <a:r>
                <a:rPr lang="en-US" sz="1800" dirty="0" err="1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effets</a:t>
              </a:r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800" dirty="0" err="1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attracteurs</a:t>
              </a:r>
              <a:r>
                <a:rPr lang="en-US" sz="180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Candara" panose="020E0502030303020204" pitchFamily="34" charset="0"/>
                  <a:cs typeface="Times New Roman" panose="02020603050405020304" pitchFamily="18" charset="0"/>
                </a:rPr>
                <a:t> (-I) et (-M)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5D739B69-2B8B-089A-DF7D-BC20BA3BE278}"/>
                </a:ext>
              </a:extLst>
            </p:cNvPr>
            <p:cNvSpPr/>
            <p:nvPr/>
          </p:nvSpPr>
          <p:spPr>
            <a:xfrm>
              <a:off x="2075208" y="2181812"/>
              <a:ext cx="618297" cy="18848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èche : droite 11">
              <a:extLst>
                <a:ext uri="{FF2B5EF4-FFF2-40B4-BE49-F238E27FC236}">
                  <a16:creationId xmlns:a16="http://schemas.microsoft.com/office/drawing/2014/main" id="{D8C5B39E-7F1E-F6F8-B864-6C748DF8BFC7}"/>
                </a:ext>
              </a:extLst>
            </p:cNvPr>
            <p:cNvSpPr/>
            <p:nvPr/>
          </p:nvSpPr>
          <p:spPr>
            <a:xfrm>
              <a:off x="8781846" y="2175647"/>
              <a:ext cx="618297" cy="18848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ACDFF322-36BB-CBBD-9F42-9EB973BE558B}"/>
              </a:ext>
            </a:extLst>
          </p:cNvPr>
          <p:cNvGrpSpPr/>
          <p:nvPr/>
        </p:nvGrpSpPr>
        <p:grpSpPr>
          <a:xfrm>
            <a:off x="2807247" y="2432313"/>
            <a:ext cx="6437944" cy="1235353"/>
            <a:chOff x="2706056" y="2301649"/>
            <a:chExt cx="6837056" cy="1485830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5B3102AE-B34D-6225-1BAF-F348DC1D9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6056" y="2301649"/>
              <a:ext cx="6837056" cy="1485830"/>
            </a:xfrm>
            <a:prstGeom prst="rect">
              <a:avLst/>
            </a:prstGeom>
          </p:spPr>
        </p:pic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B9DD2CCE-208B-4398-505A-1D1EEF344A24}"/>
                </a:ext>
              </a:extLst>
            </p:cNvPr>
            <p:cNvCxnSpPr>
              <a:cxnSpLocks/>
            </p:cNvCxnSpPr>
            <p:nvPr/>
          </p:nvCxnSpPr>
          <p:spPr>
            <a:xfrm>
              <a:off x="4061440" y="3679528"/>
              <a:ext cx="4126290" cy="0"/>
            </a:xfrm>
            <a:prstGeom prst="straightConnector1">
              <a:avLst/>
            </a:prstGeom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5FB80555-57B6-A5C7-7823-D718F0B3F33B}"/>
              </a:ext>
            </a:extLst>
          </p:cNvPr>
          <p:cNvSpPr txBox="1"/>
          <p:nvPr/>
        </p:nvSpPr>
        <p:spPr>
          <a:xfrm>
            <a:off x="796372" y="3916727"/>
            <a:ext cx="10923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L’effet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mésomère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l’emporte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l’effet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inductif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carbanion,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même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primaire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stabilisé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mésomérie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plus stable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qu’un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carbanion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tertiaire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stabilisé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effet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inductif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E8741A4-07CA-A023-AB2A-06904BFC3E58}"/>
              </a:ext>
            </a:extLst>
          </p:cNvPr>
          <p:cNvSpPr txBox="1"/>
          <p:nvPr/>
        </p:nvSpPr>
        <p:spPr>
          <a:xfrm>
            <a:off x="796372" y="4644641"/>
            <a:ext cx="133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9933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1800" b="1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Candara" panose="020E0502030303020204" pitchFamily="34" charset="0"/>
              </a:rPr>
              <a:t> :</a:t>
            </a:r>
            <a:r>
              <a:rPr lang="fr-FR" sz="1800" dirty="0"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Candara" panose="020E0502030303020204" pitchFamily="34" charset="0"/>
              </a:rPr>
              <a:t> 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B4845111-99C9-6C7E-A2FB-6FE48A602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022" y="5013973"/>
            <a:ext cx="4259125" cy="118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6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94513" y="6490252"/>
            <a:ext cx="463412" cy="298930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IV.	Intermédiaires réactionnels en chimie organique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BF0FC0-9B1F-D26B-1C6B-A4079D1B6A45}"/>
              </a:ext>
            </a:extLst>
          </p:cNvPr>
          <p:cNvSpPr txBox="1"/>
          <p:nvPr/>
        </p:nvSpPr>
        <p:spPr>
          <a:xfrm>
            <a:off x="993085" y="13108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IV. 3.	Radicaux libres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0DC879-3A13-5644-CEE2-7A0BCD5F89F2}"/>
              </a:ext>
            </a:extLst>
          </p:cNvPr>
          <p:cNvGrpSpPr/>
          <p:nvPr/>
        </p:nvGrpSpPr>
        <p:grpSpPr>
          <a:xfrm>
            <a:off x="3324914" y="3404119"/>
            <a:ext cx="4939197" cy="1102644"/>
            <a:chOff x="2907470" y="1789093"/>
            <a:chExt cx="5684080" cy="141589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167301F6-E83E-DF9B-5927-C1B0688E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7470" y="1789093"/>
              <a:ext cx="5684080" cy="1415890"/>
            </a:xfrm>
            <a:prstGeom prst="rect">
              <a:avLst/>
            </a:prstGeom>
          </p:spPr>
        </p:pic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7C042E6C-76C5-BEEA-8892-D8C1973886D0}"/>
                </a:ext>
              </a:extLst>
            </p:cNvPr>
            <p:cNvCxnSpPr>
              <a:cxnSpLocks/>
            </p:cNvCxnSpPr>
            <p:nvPr/>
          </p:nvCxnSpPr>
          <p:spPr>
            <a:xfrm>
              <a:off x="4015409" y="3071367"/>
              <a:ext cx="349959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15A3B651-7455-1167-3BAE-F63B0BCF2C85}"/>
              </a:ext>
            </a:extLst>
          </p:cNvPr>
          <p:cNvSpPr txBox="1"/>
          <p:nvPr/>
        </p:nvSpPr>
        <p:spPr>
          <a:xfrm>
            <a:off x="755373" y="1775036"/>
            <a:ext cx="10754139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radical est une molécule organique portant </a:t>
            </a:r>
            <a:r>
              <a:rPr lang="fr-FR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électron célibataire</a:t>
            </a:r>
            <a:r>
              <a:rPr lang="fr-FR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       ruptures homolytiques des liaisons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63321ED-143E-233F-5852-032563E3F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384" y="2115976"/>
            <a:ext cx="4252727" cy="648835"/>
          </a:xfrm>
          <a:prstGeom prst="rect">
            <a:avLst/>
          </a:prstGeom>
        </p:spPr>
      </p:pic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E225155E-035A-34AB-5210-2BF6CD8437E5}"/>
              </a:ext>
            </a:extLst>
          </p:cNvPr>
          <p:cNvSpPr/>
          <p:nvPr/>
        </p:nvSpPr>
        <p:spPr>
          <a:xfrm>
            <a:off x="7395736" y="1911689"/>
            <a:ext cx="618297" cy="18848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4491CAC-3A2F-C59C-7BD2-2006D8910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956" y="5173040"/>
            <a:ext cx="6186088" cy="973557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0D8C5B83-C90E-0608-4A5C-96921277CF0F}"/>
              </a:ext>
            </a:extLst>
          </p:cNvPr>
          <p:cNvSpPr txBox="1"/>
          <p:nvPr/>
        </p:nvSpPr>
        <p:spPr>
          <a:xfrm>
            <a:off x="813817" y="2918609"/>
            <a:ext cx="9082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stabilité des radicaux libres augmente avec les </a:t>
            </a:r>
            <a:r>
              <a:rPr lang="fr-MA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effets électrodonneurs 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(+I, +M).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DFA3D81-4B22-C7A3-0B2F-BA719D7FA528}"/>
              </a:ext>
            </a:extLst>
          </p:cNvPr>
          <p:cNvSpPr txBox="1"/>
          <p:nvPr/>
        </p:nvSpPr>
        <p:spPr>
          <a:xfrm>
            <a:off x="755374" y="4812119"/>
            <a:ext cx="1075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sz="1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: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stabilité des intermédiaires réactionnels augmente avec le nombre des formes limites.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09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94513" y="6490252"/>
            <a:ext cx="463412" cy="298930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813817" y="740330"/>
            <a:ext cx="9838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5475" indent="-625475">
              <a:tabLst>
                <a:tab pos="804863" algn="l"/>
              </a:tabLs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IV.	Intermédiaires réactionnels en chimie organique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190147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5 : EFFETS ELECTRONIQUES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BF0FC0-9B1F-D26B-1C6B-A4079D1B6A45}"/>
              </a:ext>
            </a:extLst>
          </p:cNvPr>
          <p:cNvSpPr txBox="1"/>
          <p:nvPr/>
        </p:nvSpPr>
        <p:spPr>
          <a:xfrm>
            <a:off x="993085" y="1310878"/>
            <a:ext cx="759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25475">
              <a:spcBef>
                <a:spcPts val="800"/>
              </a:spcBef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IV. 4.	Géométrie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0A3047-EC8A-B307-FB5F-9134887B313C}"/>
              </a:ext>
            </a:extLst>
          </p:cNvPr>
          <p:cNvSpPr txBox="1"/>
          <p:nvPr/>
        </p:nvSpPr>
        <p:spPr>
          <a:xfrm>
            <a:off x="813817" y="1680210"/>
            <a:ext cx="628153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 admet que les </a:t>
            </a:r>
            <a:r>
              <a:rPr lang="fr-FR" sz="1800" u="heavy" kern="0" dirty="0">
                <a:effectLst/>
                <a:uFill>
                  <a:solidFill>
                    <a:schemeClr val="accent2">
                      <a:lumMod val="60000"/>
                      <a:lumOff val="40000"/>
                    </a:schemeClr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carbocations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et les </a:t>
            </a:r>
            <a:r>
              <a:rPr lang="fr-FR" u="heavy" kern="0" dirty="0">
                <a:uFill>
                  <a:solidFill>
                    <a:schemeClr val="accent2">
                      <a:lumMod val="60000"/>
                      <a:lumOff val="40000"/>
                    </a:schemeClr>
                  </a:solidFill>
                </a:uFill>
                <a:latin typeface="Times New Roman" panose="02020603050405020304" pitchFamily="18" charset="0"/>
                <a:cs typeface="Arial" panose="020B0604020202020204" pitchFamily="34" charset="0"/>
              </a:rPr>
              <a:t>radicaux libres 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sont </a:t>
            </a:r>
            <a:r>
              <a:rPr lang="fr-FR" sz="1800" b="1" kern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plans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1F5FAD4-A9AA-62DB-9DD4-30A37B527575}"/>
              </a:ext>
            </a:extLst>
          </p:cNvPr>
          <p:cNvSpPr txBox="1"/>
          <p:nvPr/>
        </p:nvSpPr>
        <p:spPr>
          <a:xfrm>
            <a:off x="832867" y="4060706"/>
            <a:ext cx="628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 contre, les </a:t>
            </a:r>
            <a:r>
              <a:rPr lang="fr-FR" sz="1800" u="heavy" dirty="0">
                <a:solidFill>
                  <a:srgbClr val="000000"/>
                </a:solidFill>
                <a:effectLst/>
                <a:uFill>
                  <a:solidFill>
                    <a:srgbClr val="FF33CC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</a:rPr>
              <a:t>carbanions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sont </a:t>
            </a:r>
            <a:r>
              <a:rPr lang="fr-FR" sz="18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tétraédriques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94948C4-D943-836D-E026-FBA67EA3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18" y="2073411"/>
            <a:ext cx="1714286" cy="1838095"/>
          </a:xfrm>
          <a:prstGeom prst="rect">
            <a:avLst/>
          </a:prstGeom>
        </p:spPr>
      </p:pic>
      <p:graphicFrame>
        <p:nvGraphicFramePr>
          <p:cNvPr id="21" name="Objet 20">
            <a:extLst>
              <a:ext uri="{FF2B5EF4-FFF2-40B4-BE49-F238E27FC236}">
                <a16:creationId xmlns:a16="http://schemas.microsoft.com/office/drawing/2014/main" id="{B621C235-1E72-2A30-680D-358CA9662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407479"/>
              </p:ext>
            </p:extLst>
          </p:nvPr>
        </p:nvGraphicFramePr>
        <p:xfrm>
          <a:off x="7114397" y="2082706"/>
          <a:ext cx="16383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4" imgW="2203563" imgH="2463927" progId="Paint.Picture">
                  <p:embed/>
                </p:oleObj>
              </mc:Choice>
              <mc:Fallback>
                <p:oleObj name="Image bitmap" r:id="rId4" imgW="2203563" imgH="2463927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4397" y="2082706"/>
                        <a:ext cx="16383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Image 22">
            <a:extLst>
              <a:ext uri="{FF2B5EF4-FFF2-40B4-BE49-F238E27FC236}">
                <a16:creationId xmlns:a16="http://schemas.microsoft.com/office/drawing/2014/main" id="{A226BB89-614E-AB88-15C0-F93EE5562D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129" y="4525149"/>
            <a:ext cx="1948180" cy="1799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91127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Personnalisé 6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000072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28275</TotalTime>
  <Words>1674</Words>
  <Application>Microsoft Office PowerPoint</Application>
  <PresentationFormat>Grand écran</PresentationFormat>
  <Paragraphs>234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Calibri</vt:lpstr>
      <vt:lpstr>Calibri Light</vt:lpstr>
      <vt:lpstr>Times New Roman</vt:lpstr>
      <vt:lpstr>Wingdings</vt:lpstr>
      <vt:lpstr>Rétrospective</vt:lpstr>
      <vt:lpstr>Image bitmap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Aziz</dc:creator>
  <cp:lastModifiedBy>Aziz</cp:lastModifiedBy>
  <cp:revision>184</cp:revision>
  <dcterms:created xsi:type="dcterms:W3CDTF">2024-02-18T09:25:27Z</dcterms:created>
  <dcterms:modified xsi:type="dcterms:W3CDTF">2024-05-10T15:01:48Z</dcterms:modified>
</cp:coreProperties>
</file>